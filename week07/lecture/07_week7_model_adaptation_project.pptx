
<file path=[Content_Types].xml><?xml version="1.0" encoding="utf-8"?>
<Types xmlns="http://schemas.openxmlformats.org/package/2006/content-types">
  <Default Extension="xml" ContentType="application/vnd.openxmlformats-package.core-properties+xml"/>
  <Default Extension="png" ContentType="image/png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8.xml" ContentType="application/vnd.openxmlformats-officedocument.presentationml.notesSlide+xml"/>
  <Override PartName="/ppt/slides/slide9.xml" ContentType="application/vnd.openxmlformats-officedocument.presentationml.slide+xml"/>
  <Override PartName="/ppt/notesSlides/notesSlide9.xml" ContentType="application/vnd.openxmlformats-officedocument.presentationml.notesSlide+xml"/>
  <Override PartName="/ppt/slides/slide10.xml" ContentType="application/vnd.openxmlformats-officedocument.presentationml.slide+xml"/>
  <Override PartName="/ppt/notesSlides/notesSlide10.xml" ContentType="application/vnd.openxmlformats-officedocument.presentationml.notesSlide+xml"/>
  <Override PartName="/ppt/slides/slide11.xml" ContentType="application/vnd.openxmlformats-officedocument.presentationml.slide+xml"/>
  <Override PartName="/ppt/notesSlides/notesSlide11.xml" ContentType="application/vnd.openxmlformats-officedocument.presentationml.notesSlide+xml"/>
  <Override PartName="/ppt/slides/slide12.xml" ContentType="application/vnd.openxmlformats-officedocument.presentationml.slide+xml"/>
  <Override PartName="/ppt/notesSlides/notesSlide12.xml" ContentType="application/vnd.openxmlformats-officedocument.presentationml.notesSlide+xml"/>
  <Override PartName="/ppt/slides/slide13.xml" ContentType="application/vnd.openxmlformats-officedocument.presentationml.slide+xml"/>
  <Override PartName="/ppt/notesSlides/notesSlide13.xml" ContentType="application/vnd.openxmlformats-officedocument.presentationml.notesSlide+xml"/>
  <Override PartName="/ppt/slides/slide14.xml" ContentType="application/vnd.openxmlformats-officedocument.presentationml.slide+xml"/>
  <Override PartName="/ppt/notesSlides/notesSlide14.xml" ContentType="application/vnd.openxmlformats-officedocument.presentationml.notesSlide+xml"/>
  <Override PartName="/ppt/slides/slide15.xml" ContentType="application/vnd.openxmlformats-officedocument.presentationml.slide+xml"/>
  <Override PartName="/ppt/notesSlides/notesSlide15.xml" ContentType="application/vnd.openxmlformats-officedocument.presentationml.notesSlide+xml"/>
  <Override PartName="/ppt/slides/slide16.xml" ContentType="application/vnd.openxmlformats-officedocument.presentationml.slide+xml"/>
  <Override PartName="/ppt/notesSlides/notesSlide16.xml" ContentType="application/vnd.openxmlformats-officedocument.presentationml.notesSlide+xml"/>
  <Override PartName="/ppt/slides/slide17.xml" ContentType="application/vnd.openxmlformats-officedocument.presentationml.slide+xml"/>
  <Override PartName="/ppt/notesSlides/notesSlide17.xml" ContentType="application/vnd.openxmlformats-officedocument.presentationml.notesSlide+xml"/>
  <Override PartName="/ppt/slides/slide18.xml" ContentType="application/vnd.openxmlformats-officedocument.presentationml.slide+xml"/>
  <Override PartName="/ppt/notesSlides/notesSlide18.xml" ContentType="application/vnd.openxmlformats-officedocument.presentationml.notesSlide+xml"/>
  <Override PartName="/ppt/slides/slide19.xml" ContentType="application/vnd.openxmlformats-officedocument.presentationml.slide+xml"/>
  <Override PartName="/ppt/notesSlides/notesSlide19.xml" ContentType="application/vnd.openxmlformats-officedocument.presentationml.notesSlide+xml"/>
  <Override PartName="/ppt/slides/slide20.xml" ContentType="application/vnd.openxmlformats-officedocument.presentationml.slide+xml"/>
  <Override PartName="/ppt/notesSlides/notesSlide20.xml" ContentType="application/vnd.openxmlformats-officedocument.presentationml.notesSlide+xml"/>
  <Override PartName="/ppt/slides/slide21.xml" ContentType="application/vnd.openxmlformats-officedocument.presentationml.slide+xml"/>
  <Override PartName="/ppt/notesSlides/notesSlide21.xml" ContentType="application/vnd.openxmlformats-officedocument.presentationml.notesSlide+xml"/>
  <Override PartName="/ppt/slides/slide22.xml" ContentType="application/vnd.openxmlformats-officedocument.presentationml.slide+xml"/>
  <Override PartName="/ppt/notesSlides/notesSlide22.xml" ContentType="application/vnd.openxmlformats-officedocument.presentationml.notesSlide+xml"/>
  <Override PartName="/ppt/slides/slide23.xml" ContentType="application/vnd.openxmlformats-officedocument.presentationml.slide+xml"/>
  <Override PartName="/ppt/notesSlides/notesSlide23.xml" ContentType="application/vnd.openxmlformats-officedocument.presentationml.notesSlide+xml"/>
  <Override PartName="/ppt/slides/slide24.xml" ContentType="application/vnd.openxmlformats-officedocument.presentationml.slide+xml"/>
  <Override PartName="/ppt/notesSlides/notesSlide24.xml" ContentType="application/vnd.openxmlformats-officedocument.presentationml.notesSlide+xml"/>
  <Override PartName="/ppt/slides/slide25.xml" ContentType="application/vnd.openxmlformats-officedocument.presentationml.slide+xml"/>
  <Override PartName="/ppt/notesSlides/notesSlide25.xml" ContentType="application/vnd.openxmlformats-officedocument.presentationml.notesSlide+xml"/>
  <Override PartName="/ppt/slides/slide26.xml" ContentType="application/vnd.openxmlformats-officedocument.presentationml.slide+xml"/>
  <Override PartName="/ppt/notesSlides/notesSlide26.xml" ContentType="application/vnd.openxmlformats-officedocument.presentationml.notesSlide+xml"/>
  <Override PartName="/ppt/slides/slide27.xml" ContentType="application/vnd.openxmlformats-officedocument.presentationml.slide+xml"/>
  <Override PartName="/ppt/notesSlides/notesSlide27.xml" ContentType="application/vnd.openxmlformats-officedocument.presentationml.notesSlide+xml"/>
  <Override PartName="/ppt/slides/slide28.xml" ContentType="application/vnd.openxmlformats-officedocument.presentationml.slide+xml"/>
  <Override PartName="/ppt/slides/charts/chart1.xml" ContentType="application/vnd.openxmlformats-officedocument.drawingml.chart+xml"/>
  <Override PartName="/ppt/notesSlides/notesSlide28.xml" ContentType="application/vnd.openxmlformats-officedocument.presentationml.notesSlide+xml"/>
  <Override PartName="/ppt/slides/slide29.xml" ContentType="application/vnd.openxmlformats-officedocument.presentationml.slide+xml"/>
  <Override PartName="/ppt/notesSlides/notesSlide29.xml" ContentType="application/vnd.openxmlformats-officedocument.presentationml.notesSlide+xml"/>
  <Override PartName="/ppt/slides/slide30.xml" ContentType="application/vnd.openxmlformats-officedocument.presentationml.slide+xml"/>
  <Override PartName="/ppt/slides/charts/chart2.xml" ContentType="application/vnd.openxmlformats-officedocument.drawingml.chart+xml"/>
  <Override PartName="/ppt/notesSlides/notesSlide30.xml" ContentType="application/vnd.openxmlformats-officedocument.presentationml.notesSlide+xml"/>
  <Override PartName="/ppt/slides/slide31.xml" ContentType="application/vnd.openxmlformats-officedocument.presentationml.slide+xml"/>
  <Override PartName="/ppt/notesSlides/notesSlide31.xml" ContentType="application/vnd.openxmlformats-officedocument.presentationml.notesSlide+xml"/>
  <Override PartName="/ppt/slides/slide32.xml" ContentType="application/vnd.openxmlformats-officedocument.presentationml.slide+xml"/>
  <Override PartName="/ppt/notesSlides/notesSlide32.xml" ContentType="application/vnd.openxmlformats-officedocument.presentationml.notesSlide+xml"/>
  <Override PartName="/ppt/slides/slide33.xml" ContentType="application/vnd.openxmlformats-officedocument.presentationml.slide+xml"/>
  <Override PartName="/ppt/notesSlides/notesSlide33.xml" ContentType="application/vnd.openxmlformats-officedocument.presentationml.notesSlide+xml"/>
  <Override PartName="/ppt/slides/slide34.xml" ContentType="application/vnd.openxmlformats-officedocument.presentationml.slide+xml"/>
  <Override PartName="/ppt/notesSlides/notesSlide34.xml" ContentType="application/vnd.openxmlformats-officedocument.presentationml.notesSlide+xml"/>
  <Override PartName="/ppt/slides/slide35.xml" ContentType="application/vnd.openxmlformats-officedocument.presentationml.slide+xml"/>
  <Override PartName="/ppt/notesSlides/notesSlide35.xml" ContentType="application/vnd.openxmlformats-officedocument.presentationml.notesSlide+xml"/>
  <Override PartName="/ppt/slides/slide36.xml" ContentType="application/vnd.openxmlformats-officedocument.presentationml.slide+xml"/>
  <Override PartName="/ppt/notesSlides/notesSlide36.xml" ContentType="application/vnd.openxmlformats-officedocument.presentationml.notesSlide+xml"/>
  <Override PartName="/ppt/slides/slide37.xml" ContentType="application/vnd.openxmlformats-officedocument.presentationml.slide+xml"/>
  <Override PartName="/ppt/notesSlides/notesSlide37.xml" ContentType="application/vnd.openxmlformats-officedocument.presentationml.notesSlide+xml"/>
  <Override PartName="/ppt/slides/slide38.xml" ContentType="application/vnd.openxmlformats-officedocument.presentationml.slide+xml"/>
  <Override PartName="/ppt/notesSlides/notesSlide38.xml" ContentType="application/vnd.openxmlformats-officedocument.presentationml.notesSlide+xml"/>
  <Override PartName="/ppt/slides/slide39.xml" ContentType="application/vnd.openxmlformats-officedocument.presentationml.slide+xml"/>
  <Override PartName="/ppt/notesSlides/notesSlide39.xml" ContentType="application/vnd.openxmlformats-officedocument.presentationml.notesSlide+xml"/>
  <Override PartName="/ppt/slides/slide40.xml" ContentType="application/vnd.openxmlformats-officedocument.presentationml.slide+xml"/>
  <Override PartName="/ppt/notesSlides/notesSlide40.xml" ContentType="application/vnd.openxmlformats-officedocument.presentationml.notesSlide+xml"/>
  <Override PartName="/ppt/slides/slide41.xml" ContentType="application/vnd.openxmlformats-officedocument.presentationml.slide+xml"/>
  <Override PartName="/ppt/notesSlides/notesSlide41.xml" ContentType="application/vnd.openxmlformats-officedocument.presentationml.notesSlide+xml"/>
  <Override PartName="/ppt/slides/slide42.xml" ContentType="application/vnd.openxmlformats-officedocument.presentationml.slide+xml"/>
  <Override PartName="/ppt/notesSlides/notesSlide42.xml" ContentType="application/vnd.openxmlformats-officedocument.presentationml.notesSlide+xml"/>
  <Override PartName="/ppt/slides/slide43.xml" ContentType="application/vnd.openxmlformats-officedocument.presentationml.slide+xml"/>
  <Override PartName="/ppt/notesSlides/notesSlide43.xml" ContentType="application/vnd.openxmlformats-officedocument.presentationml.notesSlide+xml"/>
  <Override PartName="/ppt/slides/slide44.xml" ContentType="application/vnd.openxmlformats-officedocument.presentationml.slide+xml"/>
  <Override PartName="/ppt/notesSlides/notesSlide44.xml" ContentType="application/vnd.openxmlformats-officedocument.presentationml.notesSlide+xml"/>
  <Override PartName="/ppt/slides/slide45.xml" ContentType="application/vnd.openxmlformats-officedocument.presentationml.slide+xml"/>
  <Override PartName="/ppt/notesSlides/notesSlide45.xml" ContentType="application/vnd.openxmlformats-officedocument.presentationml.notesSlide+xml"/>
  <Override PartName="/ppt/slides/slide46.xml" ContentType="application/vnd.openxmlformats-officedocument.presentationml.slide+xml"/>
  <Override PartName="/ppt/slides/charts/chart3.xml" ContentType="application/vnd.openxmlformats-officedocument.drawingml.chart+xml"/>
  <Override PartName="/ppt/notesSlides/notesSlide46.xml" ContentType="application/vnd.openxmlformats-officedocument.presentationml.notesSlide+xml"/>
  <Override PartName="/ppt/slides/slide47.xml" ContentType="application/vnd.openxmlformats-officedocument.presentationml.slide+xml"/>
  <Override PartName="/ppt/notesSlides/notesSlide47.xml" ContentType="application/vnd.openxmlformats-officedocument.presentationml.notesSlide+xml"/>
  <Override PartName="/ppt/slides/slide48.xml" ContentType="application/vnd.openxmlformats-officedocument.presentationml.slide+xml"/>
  <Override PartName="/ppt/notesSlides/notesSlide48.xml" ContentType="application/vnd.openxmlformats-officedocument.presentationml.notesSlide+xml"/>
  <Override PartName="/ppt/slides/slide49.xml" ContentType="application/vnd.openxmlformats-officedocument.presentationml.slide+xml"/>
  <Override PartName="/ppt/notesSlides/notesSlide49.xml" ContentType="application/vnd.openxmlformats-officedocument.presentationml.notesSlide+xml"/>
  <Override PartName="/ppt/slides/slide50.xml" ContentType="application/vnd.openxmlformats-officedocument.presentationml.slide+xml"/>
  <Override PartName="/ppt/notesSlides/notesSlide50.xml" ContentType="application/vnd.openxmlformats-officedocument.presentationml.notesSlide+xml"/>
  <Override PartName="/ppt/slides/slide51.xml" ContentType="application/vnd.openxmlformats-officedocument.presentationml.slide+xml"/>
  <Override PartName="/ppt/notesSlides/notesSlide51.xml" ContentType="application/vnd.openxmlformats-officedocument.presentationml.notesSlide+xml"/>
  <Override PartName="/ppt/slides/slide52.xml" ContentType="application/vnd.openxmlformats-officedocument.presentationml.slide+xml"/>
  <Override PartName="/ppt/notesSlides/notesSlide52.xml" ContentType="application/vnd.openxmlformats-officedocument.presentationml.notesSlide+xml"/>
  <Override PartName="/ppt/slides/slide53.xml" ContentType="application/vnd.openxmlformats-officedocument.presentationml.slide+xml"/>
  <Override PartName="/ppt/notesSlides/notesSlide53.xml" ContentType="application/vnd.openxmlformats-officedocument.presentationml.notesSlide+xml"/>
  <Override PartName="/ppt/slides/slide54.xml" ContentType="application/vnd.openxmlformats-officedocument.presentationml.slide+xml"/>
  <Override PartName="/ppt/notesSlides/notesSlide54.xml" ContentType="application/vnd.openxmlformats-officedocument.presentationml.notesSlide+xml"/>
  <Override PartName="/ppt/slides/slide55.xml" ContentType="application/vnd.openxmlformats-officedocument.presentationml.slide+xml"/>
  <Override PartName="/ppt/notesSlides/notesSlide55.xml" ContentType="application/vnd.openxmlformats-officedocument.presentationml.notesSlide+xml"/>
  <Override PartName="/ppt/slides/slide56.xml" ContentType="application/vnd.openxmlformats-officedocument.presentationml.slide+xml"/>
  <Override PartName="/ppt/notesSlides/notesSlide56.xml" ContentType="application/vnd.openxmlformats-officedocument.presentationml.notesSlide+xml"/>
  <Override PartName="/ppt/slides/slide57.xml" ContentType="application/vnd.openxmlformats-officedocument.presentationml.slide+xml"/>
  <Override PartName="/ppt/notesSlides/notesSlide57.xml" ContentType="application/vnd.openxmlformats-officedocument.presentationml.notesSlide+xml"/>
  <Override PartName="/ppt/slides/slide58.xml" ContentType="application/vnd.openxmlformats-officedocument.presentationml.slide+xml"/>
  <Override PartName="/ppt/notesSlides/notesSlide58.xml" ContentType="application/vnd.openxmlformats-officedocument.presentationml.notesSlide+xml"/>
  <Override PartName="/ppt/slides/slide59.xml" ContentType="application/vnd.openxmlformats-officedocument.presentationml.slide+xml"/>
  <Override PartName="/ppt/notesSlides/notesSlide59.xml" ContentType="application/vnd.openxmlformats-officedocument.presentationml.notesSlide+xml"/>
  <Override PartName="/ppt/slides/slide60.xml" ContentType="application/vnd.openxmlformats-officedocument.presentationml.slide+xml"/>
  <Override PartName="/ppt/notesSlides/notesSlide60.xml" ContentType="application/vnd.openxmlformats-officedocument.presentationml.notesSlide+xml"/>
  <Override PartName="/ppt/slides/slide61.xml" ContentType="application/vnd.openxmlformats-officedocument.presentationml.slide+xml"/>
  <Override PartName="/ppt/notesSlides/notesSlide61.xml" ContentType="application/vnd.openxmlformats-officedocument.presentationml.notesSlide+xml"/>
  <Override PartName="/ppt/slides/slide62.xml" ContentType="application/vnd.openxmlformats-officedocument.presentationml.slide+xml"/>
  <Override PartName="/ppt/notesSlides/notesSlide62.xml" ContentType="application/vnd.openxmlformats-officedocument.presentationml.notesSlide+xml"/>
  <Override PartName="/ppt/slides/slide63.xml" ContentType="application/vnd.openxmlformats-officedocument.presentationml.slide+xml"/>
  <Override PartName="/ppt/notesSlides/notesSlide63.xml" ContentType="application/vnd.openxmlformats-officedocument.presentationml.notesSlide+xml"/>
  <Override PartName="/ppt/slides/slide64.xml" ContentType="application/vnd.openxmlformats-officedocument.presentationml.slide+xml"/>
  <Override PartName="/ppt/notesSlides/notesSlide64.xml" ContentType="application/vnd.openxmlformats-officedocument.presentationml.notesSlide+xml"/>
  <Override PartName="/ppt/slides/slide65.xml" ContentType="application/vnd.openxmlformats-officedocument.presentationml.slide+xml"/>
  <Override PartName="/ppt/notesSlides/notesSlide65.xml" ContentType="application/vnd.openxmlformats-officedocument.presentationml.notesSlide+xml"/>
  <Override PartName="/ppt/slides/slide66.xml" ContentType="application/vnd.openxmlformats-officedocument.presentationml.slide+xml"/>
  <Override PartName="/ppt/notesSlides/notesSlide66.xml" ContentType="application/vnd.openxmlformats-officedocument.presentationml.notesSlide+xml"/>
  <Override PartName="/ppt/slides/slide67.xml" ContentType="application/vnd.openxmlformats-officedocument.presentationml.slide+xml"/>
  <Override PartName="/ppt/notesSlides/notesSlide67.xml" ContentType="application/vnd.openxmlformats-officedocument.presentationml.notesSlide+xml"/>
  <Override PartName="/ppt/slides/slide68.xml" ContentType="application/vnd.openxmlformats-officedocument.presentationml.slide+xml"/>
  <Override PartName="/ppt/notesSlides/notesSlide68.xml" ContentType="application/vnd.openxmlformats-officedocument.presentationml.notesSlide+xml"/>
  <Override PartName="/ppt/slides/slide69.xml" ContentType="application/vnd.openxmlformats-officedocument.presentationml.slide+xml"/>
  <Override PartName="/ppt/notesSlides/notesSlide69.xml" ContentType="application/vnd.openxmlformats-officedocument.presentationml.notesSlide+xml"/>
  <Override PartName="/ppt/slides/slide70.xml" ContentType="application/vnd.openxmlformats-officedocument.presentationml.slide+xml"/>
  <Override PartName="/ppt/notesSlides/notesSlide70.xml" ContentType="application/vnd.openxmlformats-officedocument.presentationml.notesSlide+xml"/>
  <Override PartName="/ppt/slides/slide71.xml" ContentType="application/vnd.openxmlformats-officedocument.presentationml.slide+xml"/>
  <Override PartName="/ppt/notesSlides/notesSlide71.xml" ContentType="application/vnd.openxmlformats-officedocument.presentationml.notesSlide+xml"/>
  <Override PartName="/ppt/slides/slide72.xml" ContentType="application/vnd.openxmlformats-officedocument.presentationml.slide+xml"/>
  <Override PartName="/ppt/notesSlides/notesSlide72.xml" ContentType="application/vnd.openxmlformats-officedocument.presentationml.notesSlide+xml"/>
  <Override PartName="/ppt/slides/slide73.xml" ContentType="application/vnd.openxmlformats-officedocument.presentationml.slide+xml"/>
  <Override PartName="/ppt/notesSlides/notesSlide73.xml" ContentType="application/vnd.openxmlformats-officedocument.presentationml.notesSlide+xml"/>
  <Override PartName="/ppt/slides/slide74.xml" ContentType="application/vnd.openxmlformats-officedocument.presentationml.slide+xml"/>
  <Override PartName="/ppt/notesSlides/notesSlide74.xml" ContentType="application/vnd.openxmlformats-officedocument.presentationml.notesSlide+xml"/>
  <Override PartName="/ppt/slides/slide75.xml" ContentType="application/vnd.openxmlformats-officedocument.presentationml.slide+xml"/>
  <Override PartName="/ppt/notesSlides/notesSlide75.xml" ContentType="application/vnd.openxmlformats-officedocument.presentationml.notesSlide+xml"/>
  <Override PartName="/ppt/slides/slide76.xml" ContentType="application/vnd.openxmlformats-officedocument.presentationml.slide+xml"/>
  <Override PartName="/ppt/notesSlides/notesSlide76.xml" ContentType="application/vnd.openxmlformats-officedocument.presentationml.notesSlide+xml"/>
  <Override PartName="/ppt/slides/slide77.xml" ContentType="application/vnd.openxmlformats-officedocument.presentationml.slide+xml"/>
  <Override PartName="/ppt/notesSlides/notesSlide77.xml" ContentType="application/vnd.openxmlformats-officedocument.presentationml.notesSlide+xml"/>
  <Default Extension="xlsx" ContentType="application/vnd.openxmlformats-officedocument.spreadsheetml.sheet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ffb979be622e4909" /><Relationship Type="http://schemas.openxmlformats.org/officeDocument/2006/relationships/extended-properties" Target="/docProps/app.xml" Id="R0f441d47dc0544dc" /><Relationship Type="http://schemas.openxmlformats.org/officeDocument/2006/relationships/officeDocument" Target="/ppt/presentation.xml" Id="Ra980454377a842b9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a81e014694c54b7a"/>
  </p:sldMasterIdLst>
  <p:notesMasterIdLst>
    <p:notesMasterId xmlns:r="http://schemas.openxmlformats.org/officeDocument/2006/relationships" r:id="R52ade8e902cf4bbf"/>
  </p:notesMasterIdLst>
  <p:sldIdLst>
    <p:sldId xmlns:r="http://schemas.openxmlformats.org/officeDocument/2006/relationships" id="256" r:id="R5479950727c5450c"/>
    <p:sldId xmlns:r="http://schemas.openxmlformats.org/officeDocument/2006/relationships" id="257" r:id="R6b76d7c962014163"/>
    <p:sldId xmlns:r="http://schemas.openxmlformats.org/officeDocument/2006/relationships" id="258" r:id="R02d4f3b31c5a449a"/>
    <p:sldId xmlns:r="http://schemas.openxmlformats.org/officeDocument/2006/relationships" id="259" r:id="R13bcf45657c44486"/>
    <p:sldId xmlns:r="http://schemas.openxmlformats.org/officeDocument/2006/relationships" id="260" r:id="R2042a841a7434c76"/>
    <p:sldId xmlns:r="http://schemas.openxmlformats.org/officeDocument/2006/relationships" id="261" r:id="R7f4411fe35e54703"/>
    <p:sldId xmlns:r="http://schemas.openxmlformats.org/officeDocument/2006/relationships" id="262" r:id="R1982534967464a01"/>
    <p:sldId xmlns:r="http://schemas.openxmlformats.org/officeDocument/2006/relationships" id="263" r:id="Rc8c998d43b5f4340"/>
    <p:sldId xmlns:r="http://schemas.openxmlformats.org/officeDocument/2006/relationships" id="264" r:id="R3190bed7e5e740bc"/>
    <p:sldId xmlns:r="http://schemas.openxmlformats.org/officeDocument/2006/relationships" id="265" r:id="R0e93586d5d97459e"/>
    <p:sldId xmlns:r="http://schemas.openxmlformats.org/officeDocument/2006/relationships" id="266" r:id="Rdbb593ede4a64634"/>
    <p:sldId xmlns:r="http://schemas.openxmlformats.org/officeDocument/2006/relationships" id="267" r:id="Readc7d6daaaa4d04"/>
    <p:sldId xmlns:r="http://schemas.openxmlformats.org/officeDocument/2006/relationships" id="268" r:id="R038a02fe16d44b7b"/>
    <p:sldId xmlns:r="http://schemas.openxmlformats.org/officeDocument/2006/relationships" id="269" r:id="R70ab5bc53e144236"/>
    <p:sldId xmlns:r="http://schemas.openxmlformats.org/officeDocument/2006/relationships" id="270" r:id="Rf8a7dafe45ad4b60"/>
    <p:sldId xmlns:r="http://schemas.openxmlformats.org/officeDocument/2006/relationships" id="271" r:id="R2cd16e6ada1341a6"/>
    <p:sldId xmlns:r="http://schemas.openxmlformats.org/officeDocument/2006/relationships" id="272" r:id="Rc1d34b0ddda64efb"/>
    <p:sldId xmlns:r="http://schemas.openxmlformats.org/officeDocument/2006/relationships" id="273" r:id="R51d5b344277348fb"/>
    <p:sldId xmlns:r="http://schemas.openxmlformats.org/officeDocument/2006/relationships" id="274" r:id="R437a421ebe144d1f"/>
    <p:sldId xmlns:r="http://schemas.openxmlformats.org/officeDocument/2006/relationships" id="275" r:id="R50873163ce514d15"/>
    <p:sldId xmlns:r="http://schemas.openxmlformats.org/officeDocument/2006/relationships" id="276" r:id="R68073fb20c0c471e"/>
    <p:sldId xmlns:r="http://schemas.openxmlformats.org/officeDocument/2006/relationships" id="277" r:id="R96181535cb8d41ae"/>
    <p:sldId xmlns:r="http://schemas.openxmlformats.org/officeDocument/2006/relationships" id="278" r:id="Rb92cc41043ff4824"/>
    <p:sldId xmlns:r="http://schemas.openxmlformats.org/officeDocument/2006/relationships" id="279" r:id="R2bf912070b104f72"/>
    <p:sldId xmlns:r="http://schemas.openxmlformats.org/officeDocument/2006/relationships" id="280" r:id="R9f3ce0c17b67471a"/>
    <p:sldId xmlns:r="http://schemas.openxmlformats.org/officeDocument/2006/relationships" id="281" r:id="Ra554815afcec49fc"/>
    <p:sldId xmlns:r="http://schemas.openxmlformats.org/officeDocument/2006/relationships" id="282" r:id="R14f8067fa16046da"/>
    <p:sldId xmlns:r="http://schemas.openxmlformats.org/officeDocument/2006/relationships" id="283" r:id="Rcf813e8ea7784621"/>
    <p:sldId xmlns:r="http://schemas.openxmlformats.org/officeDocument/2006/relationships" id="284" r:id="R69b7af31c50144e6"/>
    <p:sldId xmlns:r="http://schemas.openxmlformats.org/officeDocument/2006/relationships" id="285" r:id="R395bc537f5354e6a"/>
    <p:sldId xmlns:r="http://schemas.openxmlformats.org/officeDocument/2006/relationships" id="286" r:id="R67b54e40b1964bbf"/>
    <p:sldId xmlns:r="http://schemas.openxmlformats.org/officeDocument/2006/relationships" id="287" r:id="R4270b9dd1d6b4a53"/>
    <p:sldId xmlns:r="http://schemas.openxmlformats.org/officeDocument/2006/relationships" id="288" r:id="R743dd1d78dbe4639"/>
    <p:sldId xmlns:r="http://schemas.openxmlformats.org/officeDocument/2006/relationships" id="289" r:id="Rb54ef10570ea4fa8"/>
    <p:sldId xmlns:r="http://schemas.openxmlformats.org/officeDocument/2006/relationships" id="290" r:id="R3eb0f5f57e844a08"/>
    <p:sldId xmlns:r="http://schemas.openxmlformats.org/officeDocument/2006/relationships" id="291" r:id="R3153afef60224511"/>
    <p:sldId xmlns:r="http://schemas.openxmlformats.org/officeDocument/2006/relationships" id="292" r:id="R1ca231ec6b904ffb"/>
    <p:sldId xmlns:r="http://schemas.openxmlformats.org/officeDocument/2006/relationships" id="293" r:id="R38961cbe821e4527"/>
    <p:sldId xmlns:r="http://schemas.openxmlformats.org/officeDocument/2006/relationships" id="294" r:id="R2b21279b148a44e4"/>
    <p:sldId xmlns:r="http://schemas.openxmlformats.org/officeDocument/2006/relationships" id="295" r:id="Re95fda7e95b8427f"/>
    <p:sldId xmlns:r="http://schemas.openxmlformats.org/officeDocument/2006/relationships" id="296" r:id="R9810172e250a4c66"/>
    <p:sldId xmlns:r="http://schemas.openxmlformats.org/officeDocument/2006/relationships" id="297" r:id="R4a7e7ac07f00422f"/>
    <p:sldId xmlns:r="http://schemas.openxmlformats.org/officeDocument/2006/relationships" id="298" r:id="R63d6e852c7d5486f"/>
    <p:sldId xmlns:r="http://schemas.openxmlformats.org/officeDocument/2006/relationships" id="299" r:id="R7324d3d983934896"/>
    <p:sldId xmlns:r="http://schemas.openxmlformats.org/officeDocument/2006/relationships" id="300" r:id="R675434c74b084034"/>
    <p:sldId xmlns:r="http://schemas.openxmlformats.org/officeDocument/2006/relationships" id="301" r:id="Rdd32558747eb4484"/>
    <p:sldId xmlns:r="http://schemas.openxmlformats.org/officeDocument/2006/relationships" id="302" r:id="Rb3b040a6756c49a2"/>
    <p:sldId xmlns:r="http://schemas.openxmlformats.org/officeDocument/2006/relationships" id="303" r:id="R2e05d594ea7d4d17"/>
    <p:sldId xmlns:r="http://schemas.openxmlformats.org/officeDocument/2006/relationships" id="304" r:id="R4bfb7d76e0e1490e"/>
    <p:sldId xmlns:r="http://schemas.openxmlformats.org/officeDocument/2006/relationships" id="305" r:id="R1f746d043ec14155"/>
    <p:sldId xmlns:r="http://schemas.openxmlformats.org/officeDocument/2006/relationships" id="306" r:id="R70f4493b60e74890"/>
    <p:sldId xmlns:r="http://schemas.openxmlformats.org/officeDocument/2006/relationships" id="307" r:id="R3d845e23aeda450e"/>
    <p:sldId xmlns:r="http://schemas.openxmlformats.org/officeDocument/2006/relationships" id="308" r:id="R0f98ebad130242aa"/>
    <p:sldId xmlns:r="http://schemas.openxmlformats.org/officeDocument/2006/relationships" id="309" r:id="Rca593bd84c4a446d"/>
    <p:sldId xmlns:r="http://schemas.openxmlformats.org/officeDocument/2006/relationships" id="310" r:id="Ref52c5643d8643d9"/>
    <p:sldId xmlns:r="http://schemas.openxmlformats.org/officeDocument/2006/relationships" id="311" r:id="Rb546aac93de14cc0"/>
    <p:sldId xmlns:r="http://schemas.openxmlformats.org/officeDocument/2006/relationships" id="312" r:id="Ra13e8594a8554fa5"/>
    <p:sldId xmlns:r="http://schemas.openxmlformats.org/officeDocument/2006/relationships" id="313" r:id="R84e6c5c14a43421f"/>
    <p:sldId xmlns:r="http://schemas.openxmlformats.org/officeDocument/2006/relationships" id="314" r:id="Reb250235db014622"/>
    <p:sldId xmlns:r="http://schemas.openxmlformats.org/officeDocument/2006/relationships" id="315" r:id="Rb0ac305162724d86"/>
    <p:sldId xmlns:r="http://schemas.openxmlformats.org/officeDocument/2006/relationships" id="316" r:id="Rdbbc1822bdd34016"/>
    <p:sldId xmlns:r="http://schemas.openxmlformats.org/officeDocument/2006/relationships" id="317" r:id="R4eabd22496fc4152"/>
    <p:sldId xmlns:r="http://schemas.openxmlformats.org/officeDocument/2006/relationships" id="318" r:id="R1bd2880eaa6f4cf4"/>
    <p:sldId xmlns:r="http://schemas.openxmlformats.org/officeDocument/2006/relationships" id="319" r:id="R1bff2ecdae24483f"/>
    <p:sldId xmlns:r="http://schemas.openxmlformats.org/officeDocument/2006/relationships" id="320" r:id="R27d64e15a6b640df"/>
    <p:sldId xmlns:r="http://schemas.openxmlformats.org/officeDocument/2006/relationships" id="321" r:id="Rb72f52c4018c45e7"/>
    <p:sldId xmlns:r="http://schemas.openxmlformats.org/officeDocument/2006/relationships" id="322" r:id="Rc9a3c6c4e54146e7"/>
    <p:sldId xmlns:r="http://schemas.openxmlformats.org/officeDocument/2006/relationships" id="323" r:id="R97f14fda41d04667"/>
    <p:sldId xmlns:r="http://schemas.openxmlformats.org/officeDocument/2006/relationships" id="324" r:id="Rd890699c48e94212"/>
    <p:sldId xmlns:r="http://schemas.openxmlformats.org/officeDocument/2006/relationships" id="325" r:id="Rf61acc9620134616"/>
    <p:sldId xmlns:r="http://schemas.openxmlformats.org/officeDocument/2006/relationships" id="326" r:id="Re9731ba66e194df4"/>
    <p:sldId xmlns:r="http://schemas.openxmlformats.org/officeDocument/2006/relationships" id="327" r:id="Rd3f580eb70384f91"/>
    <p:sldId xmlns:r="http://schemas.openxmlformats.org/officeDocument/2006/relationships" id="328" r:id="Ra8e42257a16345ad"/>
    <p:sldId xmlns:r="http://schemas.openxmlformats.org/officeDocument/2006/relationships" id="329" r:id="R0759ddf29d804066"/>
    <p:sldId xmlns:r="http://schemas.openxmlformats.org/officeDocument/2006/relationships" id="330" r:id="Re39891e31d244b6e"/>
    <p:sldId xmlns:r="http://schemas.openxmlformats.org/officeDocument/2006/relationships" id="331" r:id="Rc9b979703eeb4984"/>
    <p:sldId xmlns:r="http://schemas.openxmlformats.org/officeDocument/2006/relationships" id="332" r:id="R1b9cfef4236d4c72"/>
  </p:sldIdLst>
  <p:sldSz cx="12192000" cy="6858000"/>
  <p:notesSz cx="6858000" cy="9144000"/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6bbb468a60c340f8" /><Relationship Type="http://schemas.openxmlformats.org/officeDocument/2006/relationships/slideMaster" Target="/ppt/slideMasters/slideMaster1.xml" Id="Ra81e014694c54b7a" /><Relationship Type="http://schemas.openxmlformats.org/officeDocument/2006/relationships/notesMaster" Target="/ppt/notesMasters/notesMaster1.xml" Id="R52ade8e902cf4bbf" /><Relationship Type="http://schemas.openxmlformats.org/officeDocument/2006/relationships/presProps" Target="/ppt/presProps.xml" Id="R027476d1b7f3466b" /><Relationship Type="http://schemas.openxmlformats.org/officeDocument/2006/relationships/tableStyles" Target="/ppt/tableStyles.xml" Id="R731df6f5a69847a9" /><Relationship Type="http://schemas.openxmlformats.org/officeDocument/2006/relationships/slide" Target="/ppt/slides/slide1.xml" Id="R5479950727c5450c" /><Relationship Type="http://schemas.openxmlformats.org/officeDocument/2006/relationships/slide" Target="/ppt/slides/slide2.xml" Id="R6b76d7c962014163" /><Relationship Type="http://schemas.openxmlformats.org/officeDocument/2006/relationships/slide" Target="/ppt/slides/slide3.xml" Id="R02d4f3b31c5a449a" /><Relationship Type="http://schemas.openxmlformats.org/officeDocument/2006/relationships/slide" Target="/ppt/slides/slide4.xml" Id="R13bcf45657c44486" /><Relationship Type="http://schemas.openxmlformats.org/officeDocument/2006/relationships/slide" Target="/ppt/slides/slide5.xml" Id="R2042a841a7434c76" /><Relationship Type="http://schemas.openxmlformats.org/officeDocument/2006/relationships/slide" Target="/ppt/slides/slide6.xml" Id="R7f4411fe35e54703" /><Relationship Type="http://schemas.openxmlformats.org/officeDocument/2006/relationships/slide" Target="/ppt/slides/slide7.xml" Id="R1982534967464a01" /><Relationship Type="http://schemas.openxmlformats.org/officeDocument/2006/relationships/slide" Target="/ppt/slides/slide8.xml" Id="Rc8c998d43b5f4340" /><Relationship Type="http://schemas.openxmlformats.org/officeDocument/2006/relationships/slide" Target="/ppt/slides/slide9.xml" Id="R3190bed7e5e740bc" /><Relationship Type="http://schemas.openxmlformats.org/officeDocument/2006/relationships/slide" Target="/ppt/slides/slide10.xml" Id="R0e93586d5d97459e" /><Relationship Type="http://schemas.openxmlformats.org/officeDocument/2006/relationships/slide" Target="/ppt/slides/slide11.xml" Id="Rdbb593ede4a64634" /><Relationship Type="http://schemas.openxmlformats.org/officeDocument/2006/relationships/slide" Target="/ppt/slides/slide12.xml" Id="Readc7d6daaaa4d04" /><Relationship Type="http://schemas.openxmlformats.org/officeDocument/2006/relationships/slide" Target="/ppt/slides/slide13.xml" Id="R038a02fe16d44b7b" /><Relationship Type="http://schemas.openxmlformats.org/officeDocument/2006/relationships/slide" Target="/ppt/slides/slide14.xml" Id="R70ab5bc53e144236" /><Relationship Type="http://schemas.openxmlformats.org/officeDocument/2006/relationships/slide" Target="/ppt/slides/slide15.xml" Id="Rf8a7dafe45ad4b60" /><Relationship Type="http://schemas.openxmlformats.org/officeDocument/2006/relationships/slide" Target="/ppt/slides/slide16.xml" Id="R2cd16e6ada1341a6" /><Relationship Type="http://schemas.openxmlformats.org/officeDocument/2006/relationships/slide" Target="/ppt/slides/slide17.xml" Id="Rc1d34b0ddda64efb" /><Relationship Type="http://schemas.openxmlformats.org/officeDocument/2006/relationships/slide" Target="/ppt/slides/slide18.xml" Id="R51d5b344277348fb" /><Relationship Type="http://schemas.openxmlformats.org/officeDocument/2006/relationships/slide" Target="/ppt/slides/slide19.xml" Id="R437a421ebe144d1f" /><Relationship Type="http://schemas.openxmlformats.org/officeDocument/2006/relationships/slide" Target="/ppt/slides/slide20.xml" Id="R50873163ce514d15" /><Relationship Type="http://schemas.openxmlformats.org/officeDocument/2006/relationships/slide" Target="/ppt/slides/slide21.xml" Id="R68073fb20c0c471e" /><Relationship Type="http://schemas.openxmlformats.org/officeDocument/2006/relationships/slide" Target="/ppt/slides/slide22.xml" Id="R96181535cb8d41ae" /><Relationship Type="http://schemas.openxmlformats.org/officeDocument/2006/relationships/slide" Target="/ppt/slides/slide23.xml" Id="Rb92cc41043ff4824" /><Relationship Type="http://schemas.openxmlformats.org/officeDocument/2006/relationships/slide" Target="/ppt/slides/slide24.xml" Id="R2bf912070b104f72" /><Relationship Type="http://schemas.openxmlformats.org/officeDocument/2006/relationships/slide" Target="/ppt/slides/slide25.xml" Id="R9f3ce0c17b67471a" /><Relationship Type="http://schemas.openxmlformats.org/officeDocument/2006/relationships/slide" Target="/ppt/slides/slide26.xml" Id="Ra554815afcec49fc" /><Relationship Type="http://schemas.openxmlformats.org/officeDocument/2006/relationships/slide" Target="/ppt/slides/slide27.xml" Id="R14f8067fa16046da" /><Relationship Type="http://schemas.openxmlformats.org/officeDocument/2006/relationships/slide" Target="/ppt/slides/slide28.xml" Id="Rcf813e8ea7784621" /><Relationship Type="http://schemas.openxmlformats.org/officeDocument/2006/relationships/slide" Target="/ppt/slides/slide29.xml" Id="R69b7af31c50144e6" /><Relationship Type="http://schemas.openxmlformats.org/officeDocument/2006/relationships/slide" Target="/ppt/slides/slide30.xml" Id="R395bc537f5354e6a" /><Relationship Type="http://schemas.openxmlformats.org/officeDocument/2006/relationships/slide" Target="/ppt/slides/slide31.xml" Id="R67b54e40b1964bbf" /><Relationship Type="http://schemas.openxmlformats.org/officeDocument/2006/relationships/slide" Target="/ppt/slides/slide32.xml" Id="R4270b9dd1d6b4a53" /><Relationship Type="http://schemas.openxmlformats.org/officeDocument/2006/relationships/slide" Target="/ppt/slides/slide33.xml" Id="R743dd1d78dbe4639" /><Relationship Type="http://schemas.openxmlformats.org/officeDocument/2006/relationships/slide" Target="/ppt/slides/slide34.xml" Id="Rb54ef10570ea4fa8" /><Relationship Type="http://schemas.openxmlformats.org/officeDocument/2006/relationships/slide" Target="/ppt/slides/slide35.xml" Id="R3eb0f5f57e844a08" /><Relationship Type="http://schemas.openxmlformats.org/officeDocument/2006/relationships/slide" Target="/ppt/slides/slide36.xml" Id="R3153afef60224511" /><Relationship Type="http://schemas.openxmlformats.org/officeDocument/2006/relationships/slide" Target="/ppt/slides/slide37.xml" Id="R1ca231ec6b904ffb" /><Relationship Type="http://schemas.openxmlformats.org/officeDocument/2006/relationships/slide" Target="/ppt/slides/slide38.xml" Id="R38961cbe821e4527" /><Relationship Type="http://schemas.openxmlformats.org/officeDocument/2006/relationships/slide" Target="/ppt/slides/slide39.xml" Id="R2b21279b148a44e4" /><Relationship Type="http://schemas.openxmlformats.org/officeDocument/2006/relationships/slide" Target="/ppt/slides/slide40.xml" Id="Re95fda7e95b8427f" /><Relationship Type="http://schemas.openxmlformats.org/officeDocument/2006/relationships/slide" Target="/ppt/slides/slide41.xml" Id="R9810172e250a4c66" /><Relationship Type="http://schemas.openxmlformats.org/officeDocument/2006/relationships/slide" Target="/ppt/slides/slide42.xml" Id="R4a7e7ac07f00422f" /><Relationship Type="http://schemas.openxmlformats.org/officeDocument/2006/relationships/slide" Target="/ppt/slides/slide43.xml" Id="R63d6e852c7d5486f" /><Relationship Type="http://schemas.openxmlformats.org/officeDocument/2006/relationships/slide" Target="/ppt/slides/slide44.xml" Id="R7324d3d983934896" /><Relationship Type="http://schemas.openxmlformats.org/officeDocument/2006/relationships/slide" Target="/ppt/slides/slide45.xml" Id="R675434c74b084034" /><Relationship Type="http://schemas.openxmlformats.org/officeDocument/2006/relationships/slide" Target="/ppt/slides/slide46.xml" Id="Rdd32558747eb4484" /><Relationship Type="http://schemas.openxmlformats.org/officeDocument/2006/relationships/slide" Target="/ppt/slides/slide47.xml" Id="Rb3b040a6756c49a2" /><Relationship Type="http://schemas.openxmlformats.org/officeDocument/2006/relationships/slide" Target="/ppt/slides/slide48.xml" Id="R2e05d594ea7d4d17" /><Relationship Type="http://schemas.openxmlformats.org/officeDocument/2006/relationships/slide" Target="/ppt/slides/slide49.xml" Id="R4bfb7d76e0e1490e" /><Relationship Type="http://schemas.openxmlformats.org/officeDocument/2006/relationships/slide" Target="/ppt/slides/slide50.xml" Id="R1f746d043ec14155" /><Relationship Type="http://schemas.openxmlformats.org/officeDocument/2006/relationships/slide" Target="/ppt/slides/slide51.xml" Id="R70f4493b60e74890" /><Relationship Type="http://schemas.openxmlformats.org/officeDocument/2006/relationships/slide" Target="/ppt/slides/slide52.xml" Id="R3d845e23aeda450e" /><Relationship Type="http://schemas.openxmlformats.org/officeDocument/2006/relationships/slide" Target="/ppt/slides/slide53.xml" Id="R0f98ebad130242aa" /><Relationship Type="http://schemas.openxmlformats.org/officeDocument/2006/relationships/slide" Target="/ppt/slides/slide54.xml" Id="Rca593bd84c4a446d" /><Relationship Type="http://schemas.openxmlformats.org/officeDocument/2006/relationships/slide" Target="/ppt/slides/slide55.xml" Id="Ref52c5643d8643d9" /><Relationship Type="http://schemas.openxmlformats.org/officeDocument/2006/relationships/slide" Target="/ppt/slides/slide56.xml" Id="Rb546aac93de14cc0" /><Relationship Type="http://schemas.openxmlformats.org/officeDocument/2006/relationships/slide" Target="/ppt/slides/slide57.xml" Id="Ra13e8594a8554fa5" /><Relationship Type="http://schemas.openxmlformats.org/officeDocument/2006/relationships/slide" Target="/ppt/slides/slide58.xml" Id="R84e6c5c14a43421f" /><Relationship Type="http://schemas.openxmlformats.org/officeDocument/2006/relationships/slide" Target="/ppt/slides/slide59.xml" Id="Reb250235db014622" /><Relationship Type="http://schemas.openxmlformats.org/officeDocument/2006/relationships/slide" Target="/ppt/slides/slide60.xml" Id="Rb0ac305162724d86" /><Relationship Type="http://schemas.openxmlformats.org/officeDocument/2006/relationships/slide" Target="/ppt/slides/slide61.xml" Id="Rdbbc1822bdd34016" /><Relationship Type="http://schemas.openxmlformats.org/officeDocument/2006/relationships/slide" Target="/ppt/slides/slide62.xml" Id="R4eabd22496fc4152" /><Relationship Type="http://schemas.openxmlformats.org/officeDocument/2006/relationships/slide" Target="/ppt/slides/slide63.xml" Id="R1bd2880eaa6f4cf4" /><Relationship Type="http://schemas.openxmlformats.org/officeDocument/2006/relationships/slide" Target="/ppt/slides/slide64.xml" Id="R1bff2ecdae24483f" /><Relationship Type="http://schemas.openxmlformats.org/officeDocument/2006/relationships/slide" Target="/ppt/slides/slide65.xml" Id="R27d64e15a6b640df" /><Relationship Type="http://schemas.openxmlformats.org/officeDocument/2006/relationships/slide" Target="/ppt/slides/slide66.xml" Id="Rb72f52c4018c45e7" /><Relationship Type="http://schemas.openxmlformats.org/officeDocument/2006/relationships/slide" Target="/ppt/slides/slide67.xml" Id="Rc9a3c6c4e54146e7" /><Relationship Type="http://schemas.openxmlformats.org/officeDocument/2006/relationships/slide" Target="/ppt/slides/slide68.xml" Id="R97f14fda41d04667" /><Relationship Type="http://schemas.openxmlformats.org/officeDocument/2006/relationships/slide" Target="/ppt/slides/slide69.xml" Id="Rd890699c48e94212" /><Relationship Type="http://schemas.openxmlformats.org/officeDocument/2006/relationships/slide" Target="/ppt/slides/slide70.xml" Id="Rf61acc9620134616" /><Relationship Type="http://schemas.openxmlformats.org/officeDocument/2006/relationships/slide" Target="/ppt/slides/slide71.xml" Id="Re9731ba66e194df4" /><Relationship Type="http://schemas.openxmlformats.org/officeDocument/2006/relationships/slide" Target="/ppt/slides/slide72.xml" Id="Rd3f580eb70384f91" /><Relationship Type="http://schemas.openxmlformats.org/officeDocument/2006/relationships/slide" Target="/ppt/slides/slide73.xml" Id="Ra8e42257a16345ad" /><Relationship Type="http://schemas.openxmlformats.org/officeDocument/2006/relationships/slide" Target="/ppt/slides/slide74.xml" Id="R0759ddf29d804066" /><Relationship Type="http://schemas.openxmlformats.org/officeDocument/2006/relationships/slide" Target="/ppt/slides/slide75.xml" Id="Re39891e31d244b6e" /><Relationship Type="http://schemas.openxmlformats.org/officeDocument/2006/relationships/slide" Target="/ppt/slides/slide76.xml" Id="Rc9b979703eeb4984" /><Relationship Type="http://schemas.openxmlformats.org/officeDocument/2006/relationships/slide" Target="/ppt/slides/slide77.xml" Id="R1b9cfef4236d4c72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04d81206c87f4493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hatGPT">
  <a:themeElements>
    <a:clrScheme name="LLMOPS EDITORIAL">
      <a:dk1>
        <a:srgbClr val="0A0B0C"/>
      </a:dk1>
      <a:lt1>
        <a:srgbClr val="FFFFFF"/>
      </a:lt1>
      <a:dk2>
        <a:srgbClr val="17283B"/>
      </a:dk2>
      <a:lt2>
        <a:srgbClr val="F7F7F5"/>
      </a:lt2>
      <a:accent1>
        <a:srgbClr val="284B72"/>
      </a:accent1>
      <a:accent2>
        <a:srgbClr val="17283B"/>
      </a:accent2>
      <a:accent3>
        <a:srgbClr val="52606B"/>
      </a:accent3>
      <a:accent4>
        <a:srgbClr val="EDF1F6"/>
      </a:accent4>
      <a:accent5>
        <a:srgbClr val="17191B"/>
      </a:accent5>
      <a:accent6>
        <a:srgbClr val="CFD5D3"/>
      </a:accent6>
      <a:hlink>
        <a:srgbClr val="284B72"/>
      </a:hlink>
      <a:folHlink>
        <a:srgbClr val="17283B"/>
      </a:folHlink>
    </a:clrScheme>
    <a:fontScheme name="">
      <a:majorFont>
        <a:latin typeface="Aptos"/>
        <a:ea typeface=""/>
        <a:cs typeface=""/>
      </a:majorFont>
      <a:minorFont>
        <a:latin typeface="Aptos"/>
        <a:ea typeface=""/>
        <a:cs typeface=""/>
      </a:minorFont>
    </a:fontScheme>
    <a:fmtScheme name="LLMOPS EDITORIAL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fa3364eee80442e7" /><Relationship Type="http://schemas.openxmlformats.org/officeDocument/2006/relationships/notesMaster" Target="/ppt/notesMasters/notesMaster1.xml" Id="Rebee79e00b3344b4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48f0729d9c3a43c0" /><Relationship Type="http://schemas.openxmlformats.org/officeDocument/2006/relationships/notesMaster" Target="/ppt/notesMasters/notesMaster1.xml" Id="R770ee76bc6b84d30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44ef13e06c36446f" /><Relationship Type="http://schemas.openxmlformats.org/officeDocument/2006/relationships/notesMaster" Target="/ppt/notesMasters/notesMaster1.xml" Id="R333c493bce2c428b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12bdc1954f664ad2" /><Relationship Type="http://schemas.openxmlformats.org/officeDocument/2006/relationships/notesMaster" Target="/ppt/notesMasters/notesMaster1.xml" Id="R5d44601e58d04321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cc7ea604f9f24bbb" /><Relationship Type="http://schemas.openxmlformats.org/officeDocument/2006/relationships/notesMaster" Target="/ppt/notesMasters/notesMaster1.xml" Id="R201124b505374a22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73db1b2133634e44" /><Relationship Type="http://schemas.openxmlformats.org/officeDocument/2006/relationships/notesMaster" Target="/ppt/notesMasters/notesMaster1.xml" Id="R122b4ec247304e9f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ab7354c6456443e9" /><Relationship Type="http://schemas.openxmlformats.org/officeDocument/2006/relationships/notesMaster" Target="/ppt/notesMasters/notesMaster1.xml" Id="R5b1ddecdf959473b" /></Relationships>
</file>

<file path=ppt/notesSlides/_rels/notesSlide8.xml.rels>&#65279;<?xml version="1.0" encoding="utf-8"?><Relationships xmlns="http://schemas.openxmlformats.org/package/2006/relationships"><Relationship Type="http://schemas.openxmlformats.org/officeDocument/2006/relationships/slide" Target="/ppt/slides/slide8.xml" Id="R16f68b7159094b51" /><Relationship Type="http://schemas.openxmlformats.org/officeDocument/2006/relationships/notesMaster" Target="/ppt/notesMasters/notesMaster1.xml" Id="R1be17be4d8fc4406" /></Relationships>
</file>

<file path=ppt/notesSlides/_rels/notesSlide9.xml.rels>&#65279;<?xml version="1.0" encoding="utf-8"?><Relationships xmlns="http://schemas.openxmlformats.org/package/2006/relationships"><Relationship Type="http://schemas.openxmlformats.org/officeDocument/2006/relationships/slide" Target="/ppt/slides/slide9.xml" Id="R50a8c58b4a4e4316" /><Relationship Type="http://schemas.openxmlformats.org/officeDocument/2006/relationships/notesMaster" Target="/ppt/notesMasters/notesMaster1.xml" Id="R972461b3c67f496a" /></Relationships>
</file>

<file path=ppt/notesSlides/_rels/notesSlide10.xml.rels>&#65279;<?xml version="1.0" encoding="utf-8"?><Relationships xmlns="http://schemas.openxmlformats.org/package/2006/relationships"><Relationship Type="http://schemas.openxmlformats.org/officeDocument/2006/relationships/slide" Target="/ppt/slides/slide10.xml" Id="Rd447d2fe9b974b25" /><Relationship Type="http://schemas.openxmlformats.org/officeDocument/2006/relationships/notesMaster" Target="/ppt/notesMasters/notesMaster1.xml" Id="R61f3509c1cfd4b62" /></Relationships>
</file>

<file path=ppt/notesSlides/_rels/notesSlide11.xml.rels>&#65279;<?xml version="1.0" encoding="utf-8"?><Relationships xmlns="http://schemas.openxmlformats.org/package/2006/relationships"><Relationship Type="http://schemas.openxmlformats.org/officeDocument/2006/relationships/slide" Target="/ppt/slides/slide11.xml" Id="Rc5c85d20e77a410a" /><Relationship Type="http://schemas.openxmlformats.org/officeDocument/2006/relationships/notesMaster" Target="/ppt/notesMasters/notesMaster1.xml" Id="R8546d0e033874022" /></Relationships>
</file>

<file path=ppt/notesSlides/_rels/notesSlide12.xml.rels>&#65279;<?xml version="1.0" encoding="utf-8"?><Relationships xmlns="http://schemas.openxmlformats.org/package/2006/relationships"><Relationship Type="http://schemas.openxmlformats.org/officeDocument/2006/relationships/slide" Target="/ppt/slides/slide12.xml" Id="Rcfd2dd805005414d" /><Relationship Type="http://schemas.openxmlformats.org/officeDocument/2006/relationships/notesMaster" Target="/ppt/notesMasters/notesMaster1.xml" Id="R7569ff53b41a4c8c" /></Relationships>
</file>

<file path=ppt/notesSlides/_rels/notesSlide13.xml.rels>&#65279;<?xml version="1.0" encoding="utf-8"?><Relationships xmlns="http://schemas.openxmlformats.org/package/2006/relationships"><Relationship Type="http://schemas.openxmlformats.org/officeDocument/2006/relationships/slide" Target="/ppt/slides/slide13.xml" Id="R59e2098ecde441c3" /><Relationship Type="http://schemas.openxmlformats.org/officeDocument/2006/relationships/notesMaster" Target="/ppt/notesMasters/notesMaster1.xml" Id="R647b6712aca1464c" /></Relationships>
</file>

<file path=ppt/notesSlides/_rels/notesSlide14.xml.rels>&#65279;<?xml version="1.0" encoding="utf-8"?><Relationships xmlns="http://schemas.openxmlformats.org/package/2006/relationships"><Relationship Type="http://schemas.openxmlformats.org/officeDocument/2006/relationships/slide" Target="/ppt/slides/slide14.xml" Id="Rff20e625b11d4621" /><Relationship Type="http://schemas.openxmlformats.org/officeDocument/2006/relationships/notesMaster" Target="/ppt/notesMasters/notesMaster1.xml" Id="R505eb5b5dc0844df" /></Relationships>
</file>

<file path=ppt/notesSlides/_rels/notesSlide15.xml.rels>&#65279;<?xml version="1.0" encoding="utf-8"?><Relationships xmlns="http://schemas.openxmlformats.org/package/2006/relationships"><Relationship Type="http://schemas.openxmlformats.org/officeDocument/2006/relationships/slide" Target="/ppt/slides/slide15.xml" Id="R7ffd8b639df64c8b" /><Relationship Type="http://schemas.openxmlformats.org/officeDocument/2006/relationships/notesMaster" Target="/ppt/notesMasters/notesMaster1.xml" Id="R7d940ddc39c145de" /></Relationships>
</file>

<file path=ppt/notesSlides/_rels/notesSlide16.xml.rels>&#65279;<?xml version="1.0" encoding="utf-8"?><Relationships xmlns="http://schemas.openxmlformats.org/package/2006/relationships"><Relationship Type="http://schemas.openxmlformats.org/officeDocument/2006/relationships/slide" Target="/ppt/slides/slide16.xml" Id="R297c72ffe2fe4bed" /><Relationship Type="http://schemas.openxmlformats.org/officeDocument/2006/relationships/notesMaster" Target="/ppt/notesMasters/notesMaster1.xml" Id="R23160b99b1f449d4" /></Relationships>
</file>

<file path=ppt/notesSlides/_rels/notesSlide17.xml.rels>&#65279;<?xml version="1.0" encoding="utf-8"?><Relationships xmlns="http://schemas.openxmlformats.org/package/2006/relationships"><Relationship Type="http://schemas.openxmlformats.org/officeDocument/2006/relationships/slide" Target="/ppt/slides/slide17.xml" Id="Rafd06d5d838249ff" /><Relationship Type="http://schemas.openxmlformats.org/officeDocument/2006/relationships/notesMaster" Target="/ppt/notesMasters/notesMaster1.xml" Id="Rac66aeab421540dc" /></Relationships>
</file>

<file path=ppt/notesSlides/_rels/notesSlide18.xml.rels>&#65279;<?xml version="1.0" encoding="utf-8"?><Relationships xmlns="http://schemas.openxmlformats.org/package/2006/relationships"><Relationship Type="http://schemas.openxmlformats.org/officeDocument/2006/relationships/slide" Target="/ppt/slides/slide18.xml" Id="R0f9bf6e5c03d4ff7" /><Relationship Type="http://schemas.openxmlformats.org/officeDocument/2006/relationships/notesMaster" Target="/ppt/notesMasters/notesMaster1.xml" Id="Rb36c1ef3d4834c1d" /></Relationships>
</file>

<file path=ppt/notesSlides/_rels/notesSlide19.xml.rels>&#65279;<?xml version="1.0" encoding="utf-8"?><Relationships xmlns="http://schemas.openxmlformats.org/package/2006/relationships"><Relationship Type="http://schemas.openxmlformats.org/officeDocument/2006/relationships/slide" Target="/ppt/slides/slide19.xml" Id="R58aa9e7d04a64426" /><Relationship Type="http://schemas.openxmlformats.org/officeDocument/2006/relationships/notesMaster" Target="/ppt/notesMasters/notesMaster1.xml" Id="R6febff1cebfc43c7" /></Relationships>
</file>

<file path=ppt/notesSlides/_rels/notesSlide20.xml.rels>&#65279;<?xml version="1.0" encoding="utf-8"?><Relationships xmlns="http://schemas.openxmlformats.org/package/2006/relationships"><Relationship Type="http://schemas.openxmlformats.org/officeDocument/2006/relationships/slide" Target="/ppt/slides/slide20.xml" Id="Rce417d5e819f4542" /><Relationship Type="http://schemas.openxmlformats.org/officeDocument/2006/relationships/notesMaster" Target="/ppt/notesMasters/notesMaster1.xml" Id="Rc49a7d7cd8ec4119" /></Relationships>
</file>

<file path=ppt/notesSlides/_rels/notesSlide21.xml.rels>&#65279;<?xml version="1.0" encoding="utf-8"?><Relationships xmlns="http://schemas.openxmlformats.org/package/2006/relationships"><Relationship Type="http://schemas.openxmlformats.org/officeDocument/2006/relationships/slide" Target="/ppt/slides/slide21.xml" Id="R1bdb79bdfa3f4015" /><Relationship Type="http://schemas.openxmlformats.org/officeDocument/2006/relationships/notesMaster" Target="/ppt/notesMasters/notesMaster1.xml" Id="Rc98eb8bbfc824550" /></Relationships>
</file>

<file path=ppt/notesSlides/_rels/notesSlide22.xml.rels>&#65279;<?xml version="1.0" encoding="utf-8"?><Relationships xmlns="http://schemas.openxmlformats.org/package/2006/relationships"><Relationship Type="http://schemas.openxmlformats.org/officeDocument/2006/relationships/slide" Target="/ppt/slides/slide22.xml" Id="Rf8cbb8271eb84271" /><Relationship Type="http://schemas.openxmlformats.org/officeDocument/2006/relationships/notesMaster" Target="/ppt/notesMasters/notesMaster1.xml" Id="R739ccd1c65014a8b" /></Relationships>
</file>

<file path=ppt/notesSlides/_rels/notesSlide23.xml.rels>&#65279;<?xml version="1.0" encoding="utf-8"?><Relationships xmlns="http://schemas.openxmlformats.org/package/2006/relationships"><Relationship Type="http://schemas.openxmlformats.org/officeDocument/2006/relationships/slide" Target="/ppt/slides/slide23.xml" Id="R68bb47004ac14e63" /><Relationship Type="http://schemas.openxmlformats.org/officeDocument/2006/relationships/notesMaster" Target="/ppt/notesMasters/notesMaster1.xml" Id="R6d5084733d0341de" /></Relationships>
</file>

<file path=ppt/notesSlides/_rels/notesSlide24.xml.rels>&#65279;<?xml version="1.0" encoding="utf-8"?><Relationships xmlns="http://schemas.openxmlformats.org/package/2006/relationships"><Relationship Type="http://schemas.openxmlformats.org/officeDocument/2006/relationships/slide" Target="/ppt/slides/slide24.xml" Id="R8bf82c12300848b5" /><Relationship Type="http://schemas.openxmlformats.org/officeDocument/2006/relationships/notesMaster" Target="/ppt/notesMasters/notesMaster1.xml" Id="Rceb103dc6e55431d" /></Relationships>
</file>

<file path=ppt/notesSlides/_rels/notesSlide25.xml.rels>&#65279;<?xml version="1.0" encoding="utf-8"?><Relationships xmlns="http://schemas.openxmlformats.org/package/2006/relationships"><Relationship Type="http://schemas.openxmlformats.org/officeDocument/2006/relationships/slide" Target="/ppt/slides/slide25.xml" Id="Rec6cb7c9d2f8412f" /><Relationship Type="http://schemas.openxmlformats.org/officeDocument/2006/relationships/notesMaster" Target="/ppt/notesMasters/notesMaster1.xml" Id="Ra154b47c3e984f13" /></Relationships>
</file>

<file path=ppt/notesSlides/_rels/notesSlide26.xml.rels>&#65279;<?xml version="1.0" encoding="utf-8"?><Relationships xmlns="http://schemas.openxmlformats.org/package/2006/relationships"><Relationship Type="http://schemas.openxmlformats.org/officeDocument/2006/relationships/slide" Target="/ppt/slides/slide26.xml" Id="Rd1ee5e0fbf854572" /><Relationship Type="http://schemas.openxmlformats.org/officeDocument/2006/relationships/notesMaster" Target="/ppt/notesMasters/notesMaster1.xml" Id="R896ccc404e7546b3" /></Relationships>
</file>

<file path=ppt/notesSlides/_rels/notesSlide27.xml.rels>&#65279;<?xml version="1.0" encoding="utf-8"?><Relationships xmlns="http://schemas.openxmlformats.org/package/2006/relationships"><Relationship Type="http://schemas.openxmlformats.org/officeDocument/2006/relationships/slide" Target="/ppt/slides/slide27.xml" Id="Rf84c61dd6d094770" /><Relationship Type="http://schemas.openxmlformats.org/officeDocument/2006/relationships/notesMaster" Target="/ppt/notesMasters/notesMaster1.xml" Id="R7770f519006c4d9d" /></Relationships>
</file>

<file path=ppt/notesSlides/_rels/notesSlide28.xml.rels>&#65279;<?xml version="1.0" encoding="utf-8"?><Relationships xmlns="http://schemas.openxmlformats.org/package/2006/relationships"><Relationship Type="http://schemas.openxmlformats.org/officeDocument/2006/relationships/slide" Target="/ppt/slides/slide28.xml" Id="R2410bbf8e6aa4231" /><Relationship Type="http://schemas.openxmlformats.org/officeDocument/2006/relationships/notesMaster" Target="/ppt/notesMasters/notesMaster1.xml" Id="R7c3aaee3df00413e" /></Relationships>
</file>

<file path=ppt/notesSlides/_rels/notesSlide29.xml.rels>&#65279;<?xml version="1.0" encoding="utf-8"?><Relationships xmlns="http://schemas.openxmlformats.org/package/2006/relationships"><Relationship Type="http://schemas.openxmlformats.org/officeDocument/2006/relationships/slide" Target="/ppt/slides/slide29.xml" Id="R4c171bc95b8142ed" /><Relationship Type="http://schemas.openxmlformats.org/officeDocument/2006/relationships/notesMaster" Target="/ppt/notesMasters/notesMaster1.xml" Id="Re90734fdba4f47e5" /></Relationships>
</file>

<file path=ppt/notesSlides/_rels/notesSlide30.xml.rels>&#65279;<?xml version="1.0" encoding="utf-8"?><Relationships xmlns="http://schemas.openxmlformats.org/package/2006/relationships"><Relationship Type="http://schemas.openxmlformats.org/officeDocument/2006/relationships/slide" Target="/ppt/slides/slide30.xml" Id="Rd2a680b495e24cf2" /><Relationship Type="http://schemas.openxmlformats.org/officeDocument/2006/relationships/notesMaster" Target="/ppt/notesMasters/notesMaster1.xml" Id="Re647dc39541d48aa" /></Relationships>
</file>

<file path=ppt/notesSlides/_rels/notesSlide31.xml.rels>&#65279;<?xml version="1.0" encoding="utf-8"?><Relationships xmlns="http://schemas.openxmlformats.org/package/2006/relationships"><Relationship Type="http://schemas.openxmlformats.org/officeDocument/2006/relationships/slide" Target="/ppt/slides/slide31.xml" Id="R91714ce5ea50436c" /><Relationship Type="http://schemas.openxmlformats.org/officeDocument/2006/relationships/notesMaster" Target="/ppt/notesMasters/notesMaster1.xml" Id="R2b443dd0aa4c43c1" /></Relationships>
</file>

<file path=ppt/notesSlides/_rels/notesSlide32.xml.rels>&#65279;<?xml version="1.0" encoding="utf-8"?><Relationships xmlns="http://schemas.openxmlformats.org/package/2006/relationships"><Relationship Type="http://schemas.openxmlformats.org/officeDocument/2006/relationships/slide" Target="/ppt/slides/slide32.xml" Id="Rab39b2c68fc743f2" /><Relationship Type="http://schemas.openxmlformats.org/officeDocument/2006/relationships/notesMaster" Target="/ppt/notesMasters/notesMaster1.xml" Id="R5d2c75ba48024c5d" /></Relationships>
</file>

<file path=ppt/notesSlides/_rels/notesSlide33.xml.rels>&#65279;<?xml version="1.0" encoding="utf-8"?><Relationships xmlns="http://schemas.openxmlformats.org/package/2006/relationships"><Relationship Type="http://schemas.openxmlformats.org/officeDocument/2006/relationships/slide" Target="/ppt/slides/slide33.xml" Id="R69404fa145934a96" /><Relationship Type="http://schemas.openxmlformats.org/officeDocument/2006/relationships/notesMaster" Target="/ppt/notesMasters/notesMaster1.xml" Id="Rfdc39d4f144144f8" /></Relationships>
</file>

<file path=ppt/notesSlides/_rels/notesSlide34.xml.rels>&#65279;<?xml version="1.0" encoding="utf-8"?><Relationships xmlns="http://schemas.openxmlformats.org/package/2006/relationships"><Relationship Type="http://schemas.openxmlformats.org/officeDocument/2006/relationships/slide" Target="/ppt/slides/slide34.xml" Id="Rea3c55da266c4c90" /><Relationship Type="http://schemas.openxmlformats.org/officeDocument/2006/relationships/notesMaster" Target="/ppt/notesMasters/notesMaster1.xml" Id="Ra467ff4934334b9e" /></Relationships>
</file>

<file path=ppt/notesSlides/_rels/notesSlide35.xml.rels>&#65279;<?xml version="1.0" encoding="utf-8"?><Relationships xmlns="http://schemas.openxmlformats.org/package/2006/relationships"><Relationship Type="http://schemas.openxmlformats.org/officeDocument/2006/relationships/slide" Target="/ppt/slides/slide35.xml" Id="R01c9169798a64cfe" /><Relationship Type="http://schemas.openxmlformats.org/officeDocument/2006/relationships/notesMaster" Target="/ppt/notesMasters/notesMaster1.xml" Id="Ra19c7dd8cd344a86" /></Relationships>
</file>

<file path=ppt/notesSlides/_rels/notesSlide36.xml.rels>&#65279;<?xml version="1.0" encoding="utf-8"?><Relationships xmlns="http://schemas.openxmlformats.org/package/2006/relationships"><Relationship Type="http://schemas.openxmlformats.org/officeDocument/2006/relationships/slide" Target="/ppt/slides/slide36.xml" Id="R8c539030bccc4811" /><Relationship Type="http://schemas.openxmlformats.org/officeDocument/2006/relationships/notesMaster" Target="/ppt/notesMasters/notesMaster1.xml" Id="R8ac6722db92f4e95" /></Relationships>
</file>

<file path=ppt/notesSlides/_rels/notesSlide37.xml.rels>&#65279;<?xml version="1.0" encoding="utf-8"?><Relationships xmlns="http://schemas.openxmlformats.org/package/2006/relationships"><Relationship Type="http://schemas.openxmlformats.org/officeDocument/2006/relationships/slide" Target="/ppt/slides/slide37.xml" Id="R15ab2609c0414a94" /><Relationship Type="http://schemas.openxmlformats.org/officeDocument/2006/relationships/notesMaster" Target="/ppt/notesMasters/notesMaster1.xml" Id="Red8f1f1381854580" /></Relationships>
</file>

<file path=ppt/notesSlides/_rels/notesSlide38.xml.rels>&#65279;<?xml version="1.0" encoding="utf-8"?><Relationships xmlns="http://schemas.openxmlformats.org/package/2006/relationships"><Relationship Type="http://schemas.openxmlformats.org/officeDocument/2006/relationships/slide" Target="/ppt/slides/slide38.xml" Id="R385ac4f31c5e4a32" /><Relationship Type="http://schemas.openxmlformats.org/officeDocument/2006/relationships/notesMaster" Target="/ppt/notesMasters/notesMaster1.xml" Id="R79f146e4782448e9" /></Relationships>
</file>

<file path=ppt/notesSlides/_rels/notesSlide39.xml.rels>&#65279;<?xml version="1.0" encoding="utf-8"?><Relationships xmlns="http://schemas.openxmlformats.org/package/2006/relationships"><Relationship Type="http://schemas.openxmlformats.org/officeDocument/2006/relationships/slide" Target="/ppt/slides/slide39.xml" Id="Rbad4c8d108b74436" /><Relationship Type="http://schemas.openxmlformats.org/officeDocument/2006/relationships/notesMaster" Target="/ppt/notesMasters/notesMaster1.xml" Id="R9a56ebce43494bc3" /></Relationships>
</file>

<file path=ppt/notesSlides/_rels/notesSlide40.xml.rels>&#65279;<?xml version="1.0" encoding="utf-8"?><Relationships xmlns="http://schemas.openxmlformats.org/package/2006/relationships"><Relationship Type="http://schemas.openxmlformats.org/officeDocument/2006/relationships/slide" Target="/ppt/slides/slide40.xml" Id="Reab4171619914916" /><Relationship Type="http://schemas.openxmlformats.org/officeDocument/2006/relationships/notesMaster" Target="/ppt/notesMasters/notesMaster1.xml" Id="Rff8cddb146ad45c9" /></Relationships>
</file>

<file path=ppt/notesSlides/_rels/notesSlide41.xml.rels>&#65279;<?xml version="1.0" encoding="utf-8"?><Relationships xmlns="http://schemas.openxmlformats.org/package/2006/relationships"><Relationship Type="http://schemas.openxmlformats.org/officeDocument/2006/relationships/slide" Target="/ppt/slides/slide41.xml" Id="Rb5063bddaf7142c5" /><Relationship Type="http://schemas.openxmlformats.org/officeDocument/2006/relationships/notesMaster" Target="/ppt/notesMasters/notesMaster1.xml" Id="R5c701c73e83a48e2" /></Relationships>
</file>

<file path=ppt/notesSlides/_rels/notesSlide42.xml.rels>&#65279;<?xml version="1.0" encoding="utf-8"?><Relationships xmlns="http://schemas.openxmlformats.org/package/2006/relationships"><Relationship Type="http://schemas.openxmlformats.org/officeDocument/2006/relationships/slide" Target="/ppt/slides/slide42.xml" Id="R86cf60370f394fa8" /><Relationship Type="http://schemas.openxmlformats.org/officeDocument/2006/relationships/notesMaster" Target="/ppt/notesMasters/notesMaster1.xml" Id="R4ed6ba4b9cdd4082" /></Relationships>
</file>

<file path=ppt/notesSlides/_rels/notesSlide43.xml.rels>&#65279;<?xml version="1.0" encoding="utf-8"?><Relationships xmlns="http://schemas.openxmlformats.org/package/2006/relationships"><Relationship Type="http://schemas.openxmlformats.org/officeDocument/2006/relationships/slide" Target="/ppt/slides/slide43.xml" Id="R7dd7492d63c14e92" /><Relationship Type="http://schemas.openxmlformats.org/officeDocument/2006/relationships/notesMaster" Target="/ppt/notesMasters/notesMaster1.xml" Id="R15f35f71a265494b" /></Relationships>
</file>

<file path=ppt/notesSlides/_rels/notesSlide44.xml.rels>&#65279;<?xml version="1.0" encoding="utf-8"?><Relationships xmlns="http://schemas.openxmlformats.org/package/2006/relationships"><Relationship Type="http://schemas.openxmlformats.org/officeDocument/2006/relationships/slide" Target="/ppt/slides/slide44.xml" Id="R194a806b728d4ce6" /><Relationship Type="http://schemas.openxmlformats.org/officeDocument/2006/relationships/notesMaster" Target="/ppt/notesMasters/notesMaster1.xml" Id="Rfdf7959cee6a4c4a" /></Relationships>
</file>

<file path=ppt/notesSlides/_rels/notesSlide45.xml.rels>&#65279;<?xml version="1.0" encoding="utf-8"?><Relationships xmlns="http://schemas.openxmlformats.org/package/2006/relationships"><Relationship Type="http://schemas.openxmlformats.org/officeDocument/2006/relationships/slide" Target="/ppt/slides/slide45.xml" Id="Rf95d52aa9fad4f11" /><Relationship Type="http://schemas.openxmlformats.org/officeDocument/2006/relationships/notesMaster" Target="/ppt/notesMasters/notesMaster1.xml" Id="R108ebb70d8304e43" /></Relationships>
</file>

<file path=ppt/notesSlides/_rels/notesSlide46.xml.rels>&#65279;<?xml version="1.0" encoding="utf-8"?><Relationships xmlns="http://schemas.openxmlformats.org/package/2006/relationships"><Relationship Type="http://schemas.openxmlformats.org/officeDocument/2006/relationships/slide" Target="/ppt/slides/slide46.xml" Id="R6618a81170464a91" /><Relationship Type="http://schemas.openxmlformats.org/officeDocument/2006/relationships/notesMaster" Target="/ppt/notesMasters/notesMaster1.xml" Id="R0f09f4f3c4574328" /></Relationships>
</file>

<file path=ppt/notesSlides/_rels/notesSlide47.xml.rels>&#65279;<?xml version="1.0" encoding="utf-8"?><Relationships xmlns="http://schemas.openxmlformats.org/package/2006/relationships"><Relationship Type="http://schemas.openxmlformats.org/officeDocument/2006/relationships/slide" Target="/ppt/slides/slide47.xml" Id="R4faab4100a1741e8" /><Relationship Type="http://schemas.openxmlformats.org/officeDocument/2006/relationships/notesMaster" Target="/ppt/notesMasters/notesMaster1.xml" Id="R4d71c681e1ec445c" /></Relationships>
</file>

<file path=ppt/notesSlides/_rels/notesSlide48.xml.rels>&#65279;<?xml version="1.0" encoding="utf-8"?><Relationships xmlns="http://schemas.openxmlformats.org/package/2006/relationships"><Relationship Type="http://schemas.openxmlformats.org/officeDocument/2006/relationships/slide" Target="/ppt/slides/slide48.xml" Id="Rdc7c8d6c5eae41c5" /><Relationship Type="http://schemas.openxmlformats.org/officeDocument/2006/relationships/notesMaster" Target="/ppt/notesMasters/notesMaster1.xml" Id="R3bf9d599d90d4e01" /></Relationships>
</file>

<file path=ppt/notesSlides/_rels/notesSlide49.xml.rels>&#65279;<?xml version="1.0" encoding="utf-8"?><Relationships xmlns="http://schemas.openxmlformats.org/package/2006/relationships"><Relationship Type="http://schemas.openxmlformats.org/officeDocument/2006/relationships/slide" Target="/ppt/slides/slide49.xml" Id="R6714dc2588b14e33" /><Relationship Type="http://schemas.openxmlformats.org/officeDocument/2006/relationships/notesMaster" Target="/ppt/notesMasters/notesMaster1.xml" Id="Rff84dddaf2114113" /></Relationships>
</file>

<file path=ppt/notesSlides/_rels/notesSlide50.xml.rels>&#65279;<?xml version="1.0" encoding="utf-8"?><Relationships xmlns="http://schemas.openxmlformats.org/package/2006/relationships"><Relationship Type="http://schemas.openxmlformats.org/officeDocument/2006/relationships/slide" Target="/ppt/slides/slide50.xml" Id="R0352734f39c5440a" /><Relationship Type="http://schemas.openxmlformats.org/officeDocument/2006/relationships/notesMaster" Target="/ppt/notesMasters/notesMaster1.xml" Id="Rb2a51da20bab45c9" /></Relationships>
</file>

<file path=ppt/notesSlides/_rels/notesSlide51.xml.rels>&#65279;<?xml version="1.0" encoding="utf-8"?><Relationships xmlns="http://schemas.openxmlformats.org/package/2006/relationships"><Relationship Type="http://schemas.openxmlformats.org/officeDocument/2006/relationships/slide" Target="/ppt/slides/slide51.xml" Id="Rf977c0dd26d84f2f" /><Relationship Type="http://schemas.openxmlformats.org/officeDocument/2006/relationships/notesMaster" Target="/ppt/notesMasters/notesMaster1.xml" Id="R5e2c42922339422e" /></Relationships>
</file>

<file path=ppt/notesSlides/_rels/notesSlide52.xml.rels>&#65279;<?xml version="1.0" encoding="utf-8"?><Relationships xmlns="http://schemas.openxmlformats.org/package/2006/relationships"><Relationship Type="http://schemas.openxmlformats.org/officeDocument/2006/relationships/slide" Target="/ppt/slides/slide52.xml" Id="Rdada74ba1a664b05" /><Relationship Type="http://schemas.openxmlformats.org/officeDocument/2006/relationships/notesMaster" Target="/ppt/notesMasters/notesMaster1.xml" Id="Ra12ace0c243d448a" /></Relationships>
</file>

<file path=ppt/notesSlides/_rels/notesSlide53.xml.rels>&#65279;<?xml version="1.0" encoding="utf-8"?><Relationships xmlns="http://schemas.openxmlformats.org/package/2006/relationships"><Relationship Type="http://schemas.openxmlformats.org/officeDocument/2006/relationships/slide" Target="/ppt/slides/slide53.xml" Id="R0f1bb60071d64627" /><Relationship Type="http://schemas.openxmlformats.org/officeDocument/2006/relationships/notesMaster" Target="/ppt/notesMasters/notesMaster1.xml" Id="Ra6ab3bd2bcd04b40" /></Relationships>
</file>

<file path=ppt/notesSlides/_rels/notesSlide54.xml.rels>&#65279;<?xml version="1.0" encoding="utf-8"?><Relationships xmlns="http://schemas.openxmlformats.org/package/2006/relationships"><Relationship Type="http://schemas.openxmlformats.org/officeDocument/2006/relationships/slide" Target="/ppt/slides/slide54.xml" Id="Re667de580dcb4b0d" /><Relationship Type="http://schemas.openxmlformats.org/officeDocument/2006/relationships/notesMaster" Target="/ppt/notesMasters/notesMaster1.xml" Id="Ra1fc85514d424c93" /></Relationships>
</file>

<file path=ppt/notesSlides/_rels/notesSlide55.xml.rels>&#65279;<?xml version="1.0" encoding="utf-8"?><Relationships xmlns="http://schemas.openxmlformats.org/package/2006/relationships"><Relationship Type="http://schemas.openxmlformats.org/officeDocument/2006/relationships/slide" Target="/ppt/slides/slide55.xml" Id="R03ca6f0badd94684" /><Relationship Type="http://schemas.openxmlformats.org/officeDocument/2006/relationships/notesMaster" Target="/ppt/notesMasters/notesMaster1.xml" Id="R2cff9fd1273d4a63" /></Relationships>
</file>

<file path=ppt/notesSlides/_rels/notesSlide56.xml.rels>&#65279;<?xml version="1.0" encoding="utf-8"?><Relationships xmlns="http://schemas.openxmlformats.org/package/2006/relationships"><Relationship Type="http://schemas.openxmlformats.org/officeDocument/2006/relationships/slide" Target="/ppt/slides/slide56.xml" Id="R08d06f5aaca34aac" /><Relationship Type="http://schemas.openxmlformats.org/officeDocument/2006/relationships/notesMaster" Target="/ppt/notesMasters/notesMaster1.xml" Id="Rba3fa3cb88f74c7a" /></Relationships>
</file>

<file path=ppt/notesSlides/_rels/notesSlide57.xml.rels>&#65279;<?xml version="1.0" encoding="utf-8"?><Relationships xmlns="http://schemas.openxmlformats.org/package/2006/relationships"><Relationship Type="http://schemas.openxmlformats.org/officeDocument/2006/relationships/slide" Target="/ppt/slides/slide57.xml" Id="Ra84ea8eb46684cb6" /><Relationship Type="http://schemas.openxmlformats.org/officeDocument/2006/relationships/notesMaster" Target="/ppt/notesMasters/notesMaster1.xml" Id="R270629fd3e7148f2" /></Relationships>
</file>

<file path=ppt/notesSlides/_rels/notesSlide58.xml.rels>&#65279;<?xml version="1.0" encoding="utf-8"?><Relationships xmlns="http://schemas.openxmlformats.org/package/2006/relationships"><Relationship Type="http://schemas.openxmlformats.org/officeDocument/2006/relationships/slide" Target="/ppt/slides/slide58.xml" Id="Rad3aa47b400c41fe" /><Relationship Type="http://schemas.openxmlformats.org/officeDocument/2006/relationships/notesMaster" Target="/ppt/notesMasters/notesMaster1.xml" Id="Ref15f05676ac48b5" /></Relationships>
</file>

<file path=ppt/notesSlides/_rels/notesSlide59.xml.rels>&#65279;<?xml version="1.0" encoding="utf-8"?><Relationships xmlns="http://schemas.openxmlformats.org/package/2006/relationships"><Relationship Type="http://schemas.openxmlformats.org/officeDocument/2006/relationships/slide" Target="/ppt/slides/slide59.xml" Id="R767fbc2131874f6a" /><Relationship Type="http://schemas.openxmlformats.org/officeDocument/2006/relationships/notesMaster" Target="/ppt/notesMasters/notesMaster1.xml" Id="R6b1bd8ce48be4ee5" /></Relationships>
</file>

<file path=ppt/notesSlides/_rels/notesSlide60.xml.rels>&#65279;<?xml version="1.0" encoding="utf-8"?><Relationships xmlns="http://schemas.openxmlformats.org/package/2006/relationships"><Relationship Type="http://schemas.openxmlformats.org/officeDocument/2006/relationships/slide" Target="/ppt/slides/slide60.xml" Id="Rfade1a97a09742b9" /><Relationship Type="http://schemas.openxmlformats.org/officeDocument/2006/relationships/notesMaster" Target="/ppt/notesMasters/notesMaster1.xml" Id="R55a1afd318f44e3d" /></Relationships>
</file>

<file path=ppt/notesSlides/_rels/notesSlide61.xml.rels>&#65279;<?xml version="1.0" encoding="utf-8"?><Relationships xmlns="http://schemas.openxmlformats.org/package/2006/relationships"><Relationship Type="http://schemas.openxmlformats.org/officeDocument/2006/relationships/slide" Target="/ppt/slides/slide61.xml" Id="R91ae5f046b2048ff" /><Relationship Type="http://schemas.openxmlformats.org/officeDocument/2006/relationships/notesMaster" Target="/ppt/notesMasters/notesMaster1.xml" Id="Re28697ba3cfe4bdd" /></Relationships>
</file>

<file path=ppt/notesSlides/_rels/notesSlide62.xml.rels>&#65279;<?xml version="1.0" encoding="utf-8"?><Relationships xmlns="http://schemas.openxmlformats.org/package/2006/relationships"><Relationship Type="http://schemas.openxmlformats.org/officeDocument/2006/relationships/slide" Target="/ppt/slides/slide62.xml" Id="R25a7e76342ae4741" /><Relationship Type="http://schemas.openxmlformats.org/officeDocument/2006/relationships/notesMaster" Target="/ppt/notesMasters/notesMaster1.xml" Id="Rc8aae8d656dd4c82" /></Relationships>
</file>

<file path=ppt/notesSlides/_rels/notesSlide63.xml.rels>&#65279;<?xml version="1.0" encoding="utf-8"?><Relationships xmlns="http://schemas.openxmlformats.org/package/2006/relationships"><Relationship Type="http://schemas.openxmlformats.org/officeDocument/2006/relationships/slide" Target="/ppt/slides/slide63.xml" Id="Rfd71847d85f04485" /><Relationship Type="http://schemas.openxmlformats.org/officeDocument/2006/relationships/notesMaster" Target="/ppt/notesMasters/notesMaster1.xml" Id="R771bb86767f64ac7" /></Relationships>
</file>

<file path=ppt/notesSlides/_rels/notesSlide64.xml.rels>&#65279;<?xml version="1.0" encoding="utf-8"?><Relationships xmlns="http://schemas.openxmlformats.org/package/2006/relationships"><Relationship Type="http://schemas.openxmlformats.org/officeDocument/2006/relationships/slide" Target="/ppt/slides/slide64.xml" Id="Ra62f075080604c0c" /><Relationship Type="http://schemas.openxmlformats.org/officeDocument/2006/relationships/notesMaster" Target="/ppt/notesMasters/notesMaster1.xml" Id="R7b5058a5ec584bce" /></Relationships>
</file>

<file path=ppt/notesSlides/_rels/notesSlide65.xml.rels>&#65279;<?xml version="1.0" encoding="utf-8"?><Relationships xmlns="http://schemas.openxmlformats.org/package/2006/relationships"><Relationship Type="http://schemas.openxmlformats.org/officeDocument/2006/relationships/slide" Target="/ppt/slides/slide65.xml" Id="R794a0218bed94f83" /><Relationship Type="http://schemas.openxmlformats.org/officeDocument/2006/relationships/notesMaster" Target="/ppt/notesMasters/notesMaster1.xml" Id="Re2383e2ca5a44911" /></Relationships>
</file>

<file path=ppt/notesSlides/_rels/notesSlide66.xml.rels>&#65279;<?xml version="1.0" encoding="utf-8"?><Relationships xmlns="http://schemas.openxmlformats.org/package/2006/relationships"><Relationship Type="http://schemas.openxmlformats.org/officeDocument/2006/relationships/slide" Target="/ppt/slides/slide66.xml" Id="R194298b2507b43e8" /><Relationship Type="http://schemas.openxmlformats.org/officeDocument/2006/relationships/notesMaster" Target="/ppt/notesMasters/notesMaster1.xml" Id="R2e458e659b814a99" /></Relationships>
</file>

<file path=ppt/notesSlides/_rels/notesSlide67.xml.rels>&#65279;<?xml version="1.0" encoding="utf-8"?><Relationships xmlns="http://schemas.openxmlformats.org/package/2006/relationships"><Relationship Type="http://schemas.openxmlformats.org/officeDocument/2006/relationships/slide" Target="/ppt/slides/slide67.xml" Id="Ra6e72c0cb54b4ae8" /><Relationship Type="http://schemas.openxmlformats.org/officeDocument/2006/relationships/notesMaster" Target="/ppt/notesMasters/notesMaster1.xml" Id="R6fca15f2171b4073" /></Relationships>
</file>

<file path=ppt/notesSlides/_rels/notesSlide68.xml.rels>&#65279;<?xml version="1.0" encoding="utf-8"?><Relationships xmlns="http://schemas.openxmlformats.org/package/2006/relationships"><Relationship Type="http://schemas.openxmlformats.org/officeDocument/2006/relationships/slide" Target="/ppt/slides/slide68.xml" Id="Rced9cd5859374c8b" /><Relationship Type="http://schemas.openxmlformats.org/officeDocument/2006/relationships/notesMaster" Target="/ppt/notesMasters/notesMaster1.xml" Id="R8ee5bcf34f224670" /></Relationships>
</file>

<file path=ppt/notesSlides/_rels/notesSlide69.xml.rels>&#65279;<?xml version="1.0" encoding="utf-8"?><Relationships xmlns="http://schemas.openxmlformats.org/package/2006/relationships"><Relationship Type="http://schemas.openxmlformats.org/officeDocument/2006/relationships/slide" Target="/ppt/slides/slide69.xml" Id="Rabfe6e2be2df47e2" /><Relationship Type="http://schemas.openxmlformats.org/officeDocument/2006/relationships/notesMaster" Target="/ppt/notesMasters/notesMaster1.xml" Id="R857e8d40f09f4f72" /></Relationships>
</file>

<file path=ppt/notesSlides/_rels/notesSlide70.xml.rels>&#65279;<?xml version="1.0" encoding="utf-8"?><Relationships xmlns="http://schemas.openxmlformats.org/package/2006/relationships"><Relationship Type="http://schemas.openxmlformats.org/officeDocument/2006/relationships/slide" Target="/ppt/slides/slide70.xml" Id="R97c60b6bdc714e19" /><Relationship Type="http://schemas.openxmlformats.org/officeDocument/2006/relationships/notesMaster" Target="/ppt/notesMasters/notesMaster1.xml" Id="Red92f2ed522a4ff4" /></Relationships>
</file>

<file path=ppt/notesSlides/_rels/notesSlide71.xml.rels>&#65279;<?xml version="1.0" encoding="utf-8"?><Relationships xmlns="http://schemas.openxmlformats.org/package/2006/relationships"><Relationship Type="http://schemas.openxmlformats.org/officeDocument/2006/relationships/slide" Target="/ppt/slides/slide71.xml" Id="R115f7b0559bf4900" /><Relationship Type="http://schemas.openxmlformats.org/officeDocument/2006/relationships/notesMaster" Target="/ppt/notesMasters/notesMaster1.xml" Id="R56e0cadf7209456c" /></Relationships>
</file>

<file path=ppt/notesSlides/_rels/notesSlide72.xml.rels>&#65279;<?xml version="1.0" encoding="utf-8"?><Relationships xmlns="http://schemas.openxmlformats.org/package/2006/relationships"><Relationship Type="http://schemas.openxmlformats.org/officeDocument/2006/relationships/slide" Target="/ppt/slides/slide72.xml" Id="R4b40202f79c04781" /><Relationship Type="http://schemas.openxmlformats.org/officeDocument/2006/relationships/notesMaster" Target="/ppt/notesMasters/notesMaster1.xml" Id="R27771fb2f7364939" /></Relationships>
</file>

<file path=ppt/notesSlides/_rels/notesSlide73.xml.rels>&#65279;<?xml version="1.0" encoding="utf-8"?><Relationships xmlns="http://schemas.openxmlformats.org/package/2006/relationships"><Relationship Type="http://schemas.openxmlformats.org/officeDocument/2006/relationships/slide" Target="/ppt/slides/slide73.xml" Id="R84ea2beab7304593" /><Relationship Type="http://schemas.openxmlformats.org/officeDocument/2006/relationships/notesMaster" Target="/ppt/notesMasters/notesMaster1.xml" Id="R4ce39f2d96b54a6d" /></Relationships>
</file>

<file path=ppt/notesSlides/_rels/notesSlide74.xml.rels>&#65279;<?xml version="1.0" encoding="utf-8"?><Relationships xmlns="http://schemas.openxmlformats.org/package/2006/relationships"><Relationship Type="http://schemas.openxmlformats.org/officeDocument/2006/relationships/slide" Target="/ppt/slides/slide74.xml" Id="Re19d215083054cf1" /><Relationship Type="http://schemas.openxmlformats.org/officeDocument/2006/relationships/notesMaster" Target="/ppt/notesMasters/notesMaster1.xml" Id="Rad5b7235eff744a8" /></Relationships>
</file>

<file path=ppt/notesSlides/_rels/notesSlide75.xml.rels>&#65279;<?xml version="1.0" encoding="utf-8"?><Relationships xmlns="http://schemas.openxmlformats.org/package/2006/relationships"><Relationship Type="http://schemas.openxmlformats.org/officeDocument/2006/relationships/slide" Target="/ppt/slides/slide75.xml" Id="R4a4f109a803941ac" /><Relationship Type="http://schemas.openxmlformats.org/officeDocument/2006/relationships/notesMaster" Target="/ppt/notesMasters/notesMaster1.xml" Id="Rbfb8846ab6554600" /></Relationships>
</file>

<file path=ppt/notesSlides/_rels/notesSlide76.xml.rels>&#65279;<?xml version="1.0" encoding="utf-8"?><Relationships xmlns="http://schemas.openxmlformats.org/package/2006/relationships"><Relationship Type="http://schemas.openxmlformats.org/officeDocument/2006/relationships/slide" Target="/ppt/slides/slide76.xml" Id="R4caef459818049e9" /><Relationship Type="http://schemas.openxmlformats.org/officeDocument/2006/relationships/notesMaster" Target="/ppt/notesMasters/notesMaster1.xml" Id="R3fa465c19b2d4d06" /></Relationships>
</file>

<file path=ppt/notesSlides/_rels/notesSlide77.xml.rels>&#65279;<?xml version="1.0" encoding="utf-8"?><Relationships xmlns="http://schemas.openxmlformats.org/package/2006/relationships"><Relationship Type="http://schemas.openxmlformats.org/officeDocument/2006/relationships/slide" Target="/ppt/slides/slide77.xml" Id="R0d2ac401b1f543c5" /><Relationship Type="http://schemas.openxmlformats.org/officeDocument/2006/relationships/notesMaster" Target="/ppt/notesMasters/notesMaster1.xml" Id="Rc4b2334e17b1426a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/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repo:curriculum/2026-2/00_운영_커리큘럼.md</a:t>
            </a:r>
          </a:p>
          <a:p xmlns:a="http://schemas.openxmlformats.org/drawingml/2006/main">
            <a:r>
              <a:t>- repo:course_labs/adaptation.py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/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repo:curriculum/2026-2/00_운영_커리큘럼.md</a:t>
            </a:r>
          </a:p>
          <a:p xmlns:a="http://schemas.openxmlformats.org/drawingml/2006/main">
            <a:r>
              <a:t>- repo:course_labs/adaptation.py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/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repo:curriculum/2026-2/00_운영_커리큘럼.md</a:t>
            </a:r>
          </a:p>
          <a:p xmlns:a="http://schemas.openxmlformats.org/drawingml/2006/main">
            <a:r>
              <a:t>- repo:course_labs/adaptation.py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/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repo:curriculum/2026-2/00_운영_커리큘럼.md</a:t>
            </a:r>
          </a:p>
          <a:p xmlns:a="http://schemas.openxmlformats.org/drawingml/2006/main">
            <a:r>
              <a:t>- repo:course_labs/adaptation.py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/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repo:curriculum/2026-2/00_운영_커리큘럼.md</a:t>
            </a:r>
          </a:p>
          <a:p xmlns:a="http://schemas.openxmlformats.org/drawingml/2006/main">
            <a:r>
              <a:t>- repo:course_labs/adaptation.py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/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repo:curriculum/2026-2/00_운영_커리큘럼.md</a:t>
            </a:r>
          </a:p>
          <a:p xmlns:a="http://schemas.openxmlformats.org/drawingml/2006/main">
            <a:r>
              <a:t>- repo:course_labs/adaptation.py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/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repo:curriculum/2026-2/00_운영_커리큘럼.md</a:t>
            </a:r>
          </a:p>
          <a:p xmlns:a="http://schemas.openxmlformats.org/drawingml/2006/main">
            <a:r>
              <a:t>- repo:course_labs/adaptation.py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/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repo:curriculum/2026-2/00_운영_커리큘럼.md</a:t>
            </a:r>
          </a:p>
          <a:p xmlns:a="http://schemas.openxmlformats.org/drawingml/2006/main">
            <a:r>
              <a:t>- repo:course_labs/adaptation.py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/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repo:curriculum/2026-2/00_운영_커리큘럼.md</a:t>
            </a:r>
          </a:p>
          <a:p xmlns:a="http://schemas.openxmlformats.org/drawingml/2006/main">
            <a:r>
              <a:t>- repo:course_labs/adaptation.py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/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repo:curriculum/2026-2/00_운영_커리큘럼.md</a:t>
            </a:r>
          </a:p>
          <a:p xmlns:a="http://schemas.openxmlformats.org/drawingml/2006/main">
            <a:r>
              <a:t>- repo:course_labs/adaptation.py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/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repo:curriculum/2026-2/00_운영_커리큘럼.md</a:t>
            </a:r>
          </a:p>
          <a:p xmlns:a="http://schemas.openxmlformats.org/drawingml/2006/main">
            <a:r>
              <a:t>- repo:course_labs/adaptation.py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/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repo:curriculum/2026-2/00_운영_커리큘럼.md</a:t>
            </a:r>
          </a:p>
          <a:p xmlns:a="http://schemas.openxmlformats.org/drawingml/2006/main">
            <a:r>
              <a:t>- repo:course_labs/adaptation.py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토큰이 한 칸 이동한 labels와 다음 토큰 예측을 비교한다. 손실 감소는 학습 예시를 더 잘 맞춘다는 신호이며 실제 업무 품질은 보류 입력에서 별도로 평가한다.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https://huggingface.co/docs/trl/sft_trainer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/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repo:curriculum/2026-2/00_운영_커리큘럼.md</a:t>
            </a:r>
          </a:p>
          <a:p xmlns:a="http://schemas.openxmlformats.org/drawingml/2006/main">
            <a:r>
              <a:t>- repo:course_labs/adaptation.py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/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repo:curriculum/2026-2/00_운영_커리큘럼.md</a:t>
            </a:r>
          </a:p>
          <a:p xmlns:a="http://schemas.openxmlformats.org/drawingml/2006/main">
            <a:r>
              <a:t>- repo:course_labs/adaptation.py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/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repo:curriculum/2026-2/00_운영_커리큘럼.md</a:t>
            </a:r>
          </a:p>
          <a:p xmlns:a="http://schemas.openxmlformats.org/drawingml/2006/main">
            <a:r>
              <a:t>- repo:course_labs/adaptation.py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/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repo:curriculum/2026-2/00_운영_커리큘럼.md</a:t>
            </a:r>
          </a:p>
          <a:p xmlns:a="http://schemas.openxmlformats.org/drawingml/2006/main">
            <a:r>
              <a:t>- repo:course_labs/adaptation.py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/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repo:curriculum/2026-2/00_운영_커리큘럼.md</a:t>
            </a:r>
          </a:p>
          <a:p xmlns:a="http://schemas.openxmlformats.org/drawingml/2006/main">
            <a:r>
              <a:t>- repo:course_labs/adaptation.py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/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repo:curriculum/2026-2/00_운영_커리큘럼.md</a:t>
            </a:r>
          </a:p>
          <a:p xmlns:a="http://schemas.openxmlformats.org/drawingml/2006/main">
            <a:r>
              <a:t>- repo:course_labs/adaptation.py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/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repo:curriculum/2026-2/00_운영_커리큘럼.md</a:t>
            </a:r>
          </a:p>
          <a:p xmlns:a="http://schemas.openxmlformats.org/drawingml/2006/main">
            <a:r>
              <a:t>- repo:course_labs/adaptation.py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/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repo:curriculum/2026-2/00_운영_커리큘럼.md</a:t>
            </a:r>
          </a:p>
          <a:p xmlns:a="http://schemas.openxmlformats.org/drawingml/2006/main">
            <a:r>
              <a:t>- repo:course_labs/adaptation.py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Notebook 01의 -100 labels 예제와 연결한다. 이 그림은 대화 역할을 구분한 것이며, 실제 모델의 토큰 경계와 템플릿을 실행 검증했다는 뜻은 아니다.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https://huggingface.co/docs/trl/sft_trainer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/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repo:curriculum/2026-2/00_운영_커리큘럼.md</a:t>
            </a:r>
          </a:p>
          <a:p xmlns:a="http://schemas.openxmlformats.org/drawingml/2006/main">
            <a:r>
              <a:t>- repo:course_labs/adaptation.py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/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repo:curriculum/2026-2/00_운영_커리큘럼.md</a:t>
            </a:r>
          </a:p>
          <a:p xmlns:a="http://schemas.openxmlformats.org/drawingml/2006/main">
            <a:r>
              <a:t>- repo:course_labs/adaptation.py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/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https://arxiv.org/abs/2106.09685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원 논문의 A 무작위/B=0 초기화로 시작 시 변화량은 0이다. 오른쪽 차원은 수업용 12×8 행렬의 예시이며 원 논문 실험의 크기와 구분한다.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https://arxiv.org/abs/2106.09685</a:t>
            </a:r>
          </a:p>
          <a:p xmlns:a="http://schemas.openxmlformats.org/drawingml/2006/main">
            <a:r>
              <a:t>- repo:course_labs/adaptation.py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/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repo:curriculum/2026-2/00_운영_커리큘럼.md</a:t>
            </a:r>
          </a:p>
          <a:p xmlns:a="http://schemas.openxmlformats.org/drawingml/2006/main">
            <a:r>
              <a:t>- repo:course_labs/adaptation.py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/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repo:curriculum/2026-2/00_운영_커리큘럼.md</a:t>
            </a:r>
          </a:p>
          <a:p xmlns:a="http://schemas.openxmlformats.org/drawingml/2006/main">
            <a:r>
              <a:t>- repo:course_labs/adaptation.py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/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repo:curriculum/2026-2/00_운영_커리큘럼.md</a:t>
            </a:r>
          </a:p>
          <a:p xmlns:a="http://schemas.openxmlformats.org/drawingml/2006/main">
            <a:r>
              <a:t>- repo:course_labs/adaptation.py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/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repo:curriculum/2026-2/00_운영_커리큘럼.md</a:t>
            </a:r>
          </a:p>
          <a:p xmlns:a="http://schemas.openxmlformats.org/drawingml/2006/main">
            <a:r>
              <a:t>- repo:course_labs/adaptation.py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/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repo:curriculum/2026-2/00_운영_커리큘럼.md</a:t>
            </a:r>
          </a:p>
          <a:p xmlns:a="http://schemas.openxmlformats.org/drawingml/2006/main">
            <a:r>
              <a:t>- repo:course_labs/adaptation.py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QLoRA는 Quantized Low-Rank Adaptation, 양자화 기반 LoRA다. 모델 저장 정밀도와 계산 정밀도를 구분한다. 고정 모델을 통과한 gradient와 모델 가중치의 업데이트는 다른 개념이다. 도식 면적을 실측 메모리 수치로 읽지 않는다.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https://arxiv.org/abs/2305.14314</a:t>
            </a:r>
          </a:p>
          <a:p xmlns:a="http://schemas.openxmlformats.org/drawingml/2006/main">
            <a:r>
              <a:t>- https://arxiv.org/abs/2106.09685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/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repo:curriculum/2026-2/00_운영_커리큘럼.md</a:t>
            </a:r>
          </a:p>
          <a:p xmlns:a="http://schemas.openxmlformats.org/drawingml/2006/main">
            <a:r>
              <a:t>- repo:course_labs/adaptation.py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/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repo:curriculum/2026-2/00_운영_커리큘럼.md</a:t>
            </a:r>
          </a:p>
          <a:p xmlns:a="http://schemas.openxmlformats.org/drawingml/2006/main">
            <a:r>
              <a:t>- repo:course_labs/adaptation.py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/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repo:curriculum/2026-2/00_운영_커리큘럼.md</a:t>
            </a:r>
          </a:p>
          <a:p xmlns:a="http://schemas.openxmlformats.org/drawingml/2006/main">
            <a:r>
              <a:t>- repo:course_labs/adaptation.py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/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repo:curriculum/2026-2/00_운영_커리큘럼.md</a:t>
            </a:r>
          </a:p>
          <a:p xmlns:a="http://schemas.openxmlformats.org/drawingml/2006/main">
            <a:r>
              <a:t>- repo:course_labs/adaptation.py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/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https://arxiv.org/abs/2305.18290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/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repo:curriculum/2026-2/00_운영_커리큘럼.md</a:t>
            </a:r>
          </a:p>
          <a:p xmlns:a="http://schemas.openxmlformats.org/drawingml/2006/main">
            <a:r>
              <a:t>- repo:course_labs/adaptation.py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/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repo:curriculum/2026-2/00_운영_커리큘럼.md</a:t>
            </a:r>
          </a:p>
          <a:p xmlns:a="http://schemas.openxmlformats.org/drawingml/2006/main">
            <a:r>
              <a:t>- repo:course_labs/adaptation.py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/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repo:curriculum/2026-2/00_운영_커리큘럼.md</a:t>
            </a:r>
          </a:p>
          <a:p xmlns:a="http://schemas.openxmlformats.org/drawingml/2006/main">
            <a:r>
              <a:t>- repo:course_labs/adaptation.py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/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repo:curriculum/2026-2/00_운영_커리큘럼.md</a:t>
            </a:r>
          </a:p>
          <a:p xmlns:a="http://schemas.openxmlformats.org/drawingml/2006/main">
            <a:r>
              <a:t>- repo:course_labs/adaptation.py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/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https://arxiv.org/abs/2305.18290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/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https://arxiv.org/abs/2305.18290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/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repo:curriculum/2026-2/00_운영_커리큘럼.md</a:t>
            </a:r>
          </a:p>
          <a:p xmlns:a="http://schemas.openxmlformats.org/drawingml/2006/main">
            <a:r>
              <a:t>- repo:course_labs/adaptation.py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/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repo:curriculum/2026-2/00_운영_커리큘럼.md</a:t>
            </a:r>
          </a:p>
          <a:p xmlns:a="http://schemas.openxmlformats.org/drawingml/2006/main">
            <a:r>
              <a:t>- repo:course_labs/adaptation.py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/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https://arxiv.org/abs/2305.18290</a:t>
            </a:r>
          </a:p>
          <a:p xmlns:a="http://schemas.openxmlformats.org/drawingml/2006/main">
            <a:r>
              <a:t>- repo:course_labs/adaptation.py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/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repo:curriculum/2026-2/00_운영_커리큘럼.md</a:t>
            </a:r>
          </a:p>
          <a:p xmlns:a="http://schemas.openxmlformats.org/drawingml/2006/main">
            <a:r>
              <a:t>- repo:course_labs/adaptation.py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/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https://arxiv.org/abs/2305.18290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/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repo:curriculum/2026-2/00_운영_커리큘럼.md</a:t>
            </a:r>
          </a:p>
          <a:p xmlns:a="http://schemas.openxmlformats.org/drawingml/2006/main">
            <a:r>
              <a:t>- repo:course_labs/adaptation.py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/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repo:curriculum/2026-2/00_운영_커리큘럼.md</a:t>
            </a:r>
          </a:p>
          <a:p xmlns:a="http://schemas.openxmlformats.org/drawingml/2006/main">
            <a:r>
              <a:t>- repo:course_labs/adaptation.py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/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repo:curriculum/2026-2/00_운영_커리큘럼.md</a:t>
            </a:r>
          </a:p>
          <a:p xmlns:a="http://schemas.openxmlformats.org/drawingml/2006/main">
            <a:r>
              <a:t>- repo:course_labs/adaptation.py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/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repo:curriculum/2026-2/00_운영_커리큘럼.md</a:t>
            </a:r>
          </a:p>
          <a:p xmlns:a="http://schemas.openxmlformats.org/drawingml/2006/main">
            <a:r>
              <a:t>- repo:course_labs/adaptation.py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/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repo:curriculum/2026-2/00_운영_커리큘럼.md</a:t>
            </a:r>
          </a:p>
          <a:p xmlns:a="http://schemas.openxmlformats.org/drawingml/2006/main">
            <a:r>
              <a:t>- repo:course_labs/adaptation.py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/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repo:curriculum/2026-2/00_운영_커리큘럼.md</a:t>
            </a:r>
          </a:p>
          <a:p xmlns:a="http://schemas.openxmlformats.org/drawingml/2006/main">
            <a:r>
              <a:t>- repo:course_labs/adaptation.py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/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repo:curriculum/2026-2/00_운영_커리큘럼.md</a:t>
            </a:r>
          </a:p>
          <a:p xmlns:a="http://schemas.openxmlformats.org/drawingml/2006/main">
            <a:r>
              <a:t>- repo:course_labs/adaptation.py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/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repo:curriculum/2026-2/00_운영_커리큘럼.md</a:t>
            </a:r>
          </a:p>
          <a:p xmlns:a="http://schemas.openxmlformats.org/drawingml/2006/main">
            <a:r>
              <a:t>- repo:course_labs/adaptation.py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/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repo:curriculum/2026-2/00_운영_커리큘럼.md</a:t>
            </a:r>
          </a:p>
          <a:p xmlns:a="http://schemas.openxmlformats.org/drawingml/2006/main">
            <a:r>
              <a:t>- repo:course_labs/adaptation.py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/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repo:curriculum/2026-2/00_운영_커리큘럼.md</a:t>
            </a:r>
          </a:p>
          <a:p xmlns:a="http://schemas.openxmlformats.org/drawingml/2006/main">
            <a:r>
              <a:t>- repo:course_labs/adaptation.py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/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repo:curriculum/2026-2/00_운영_커리큘럼.md</a:t>
            </a:r>
          </a:p>
          <a:p xmlns:a="http://schemas.openxmlformats.org/drawingml/2006/main">
            <a:r>
              <a:t>- repo:course_labs/adaptation.py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/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repo:curriculum/2026-2/00_운영_커리큘럼.md</a:t>
            </a:r>
          </a:p>
          <a:p xmlns:a="http://schemas.openxmlformats.org/drawingml/2006/main">
            <a:r>
              <a:t>- repo:course_labs/adaptation.py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/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repo:curriculum/2026-2/00_운영_커리큘럼.md</a:t>
            </a:r>
          </a:p>
          <a:p xmlns:a="http://schemas.openxmlformats.org/drawingml/2006/main">
            <a:r>
              <a:t>- repo:course_labs/adaptation.py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/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repo:curriculum/2026-2/00_운영_커리큘럼.md</a:t>
            </a:r>
          </a:p>
          <a:p xmlns:a="http://schemas.openxmlformats.org/drawingml/2006/main">
            <a:r>
              <a:t>- repo:course_labs/adaptation.py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/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repo:curriculum/2026-2/00_운영_커리큘럼.md</a:t>
            </a:r>
          </a:p>
          <a:p xmlns:a="http://schemas.openxmlformats.org/drawingml/2006/main">
            <a:r>
              <a:t>- repo:course_labs/adaptation.py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/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repo:curriculum/2026-2/00_운영_커리큘럼.md</a:t>
            </a:r>
          </a:p>
          <a:p xmlns:a="http://schemas.openxmlformats.org/drawingml/2006/main">
            <a:r>
              <a:t>- repo:course_labs/adaptation.py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/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repo:curriculum/2026-2/00_운영_커리큘럼.md</a:t>
            </a:r>
          </a:p>
          <a:p xmlns:a="http://schemas.openxmlformats.org/drawingml/2006/main">
            <a:r>
              <a:t>- repo:course_labs/adaptation.py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/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repo:curriculum/2026-2/00_운영_커리큘럼.md</a:t>
            </a:r>
          </a:p>
          <a:p xmlns:a="http://schemas.openxmlformats.org/drawingml/2006/main">
            <a:r>
              <a:t>- repo:course_labs/adaptation.py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/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repo:curriculum/2026-2/00_운영_커리큘럼.md</a:t>
            </a:r>
          </a:p>
          <a:p xmlns:a="http://schemas.openxmlformats.org/drawingml/2006/main">
            <a:r>
              <a:t>- repo:course_labs/adaptation.py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/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repo:curriculum/2026-2/00_운영_커리큘럼.md</a:t>
            </a:r>
          </a:p>
          <a:p xmlns:a="http://schemas.openxmlformats.org/drawingml/2006/main">
            <a:r>
              <a:t>- repo:course_labs/adaptation.py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/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repo:curriculum/2026-2/00_운영_커리큘럼.md</a:t>
            </a:r>
          </a:p>
          <a:p xmlns:a="http://schemas.openxmlformats.org/drawingml/2006/main">
            <a:r>
              <a:t>- repo:course_labs/adaptation.py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/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repo:curriculum/2026-2/00_운영_커리큘럼.md</a:t>
            </a:r>
          </a:p>
          <a:p xmlns:a="http://schemas.openxmlformats.org/drawingml/2006/main">
            <a:r>
              <a:t>- repo:course_labs/adaptation.py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/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repo:curriculum/2026-2/00_운영_커리큘럼.md</a:t>
            </a:r>
          </a:p>
          <a:p xmlns:a="http://schemas.openxmlformats.org/drawingml/2006/main">
            <a:r>
              <a:t>- repo:course_labs/adaptation.py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/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repo:curriculum/2026-2/00_운영_커리큘럼.md</a:t>
            </a:r>
          </a:p>
          <a:p xmlns:a="http://schemas.openxmlformats.org/drawingml/2006/main">
            <a:r>
              <a:t>- repo:course_labs/adaptation.py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/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repo:curriculum/2026-2/00_운영_커리큘럼.md</a:t>
            </a:r>
          </a:p>
          <a:p xmlns:a="http://schemas.openxmlformats.org/drawingml/2006/main">
            <a:r>
              <a:t>- repo:course_labs/adaptation.py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/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repo:curriculum/2026-2/00_운영_커리큘럼.md</a:t>
            </a:r>
          </a:p>
          <a:p xmlns:a="http://schemas.openxmlformats.org/drawingml/2006/main">
            <a:r>
              <a:t>- repo:course_labs/adaptation.py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/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repo:curriculum/2026-2/00_운영_커리큘럼.md</a:t>
            </a:r>
          </a:p>
          <a:p xmlns:a="http://schemas.openxmlformats.org/drawingml/2006/main">
            <a:r>
              <a:t>- repo:course_labs/adaptation.py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/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repo:curriculum/2026-2/00_운영_커리큘럼.md</a:t>
            </a:r>
          </a:p>
          <a:p xmlns:a="http://schemas.openxmlformats.org/drawingml/2006/main">
            <a:r>
              <a:t>- repo:course_labs/adaptation.py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/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https://arxiv.org/abs/2106.09685</a:t>
            </a:r>
          </a:p>
          <a:p xmlns:a="http://schemas.openxmlformats.org/drawingml/2006/main">
            <a:r>
              <a:t>- https://arxiv.org/abs/2305.14314</a:t>
            </a:r>
          </a:p>
          <a:p xmlns:a="http://schemas.openxmlformats.org/drawingml/2006/main">
            <a:r>
              <a:t>- https://arxiv.org/abs/2305.18290</a:t>
            </a:r>
          </a:p>
          <a:p xmlns:a="http://schemas.openxmlformats.org/drawingml/2006/main">
            <a:r>
              <a:t>- repo:curriculum/2026-2/00_운영_커리큘럼.md</a:t>
            </a:r>
          </a:p>
          <a:p xmlns:a="http://schemas.openxmlformats.org/drawingml/2006/main">
            <a:r>
              <a:t>- repo:course_labs/adaptation.py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3c3e3da0669e4756" /></Relationships>
</file>

<file path=ppt/slideLayouts/_rels/slideLayout2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44ab097d986e4c4d" /></Relationships>
</file>

<file path=ppt/slideLayouts/_rels/slideLayout3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2d4f67da0e29436a" /></Relationships>
</file>

<file path=ppt/slideLayouts/_rels/slideLayout4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41b34d0314bb4940" /></Relationships>
</file>

<file path=ppt/slideLayouts/_rels/slideLayout5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9349b4433a904fc7" /></Relationships>
</file>

<file path=ppt/slideLayouts/_rels/slideLayout6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fbd926d632b643ca" 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" name="Title">
            <a:extLst xmlns:a="http://schemas.openxmlformats.org/drawingml/2006/main">
              <a:ext uri="{FF2B5EF4-FFF2-40B4-BE49-F238E27FC236}">
                <a16:creationId xmlns:a16="http://schemas.microsoft.com/office/drawing/2014/main" id="{01FAB389-8338-4DE8-A1BB-1165E610123B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1219200" y="2590800"/>
            <a:ext cx="975360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>
            <a:defPPr algn="ctr"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 xmlns:a="http://schemas.openxmlformats.org/drawingml/2006/main"/>
        </p:txBody>
      </p:sp>
      <p:sp>
        <p:nvSpPr>
          <p:cNvPr id="2" name="Subtitle">
            <a:extLst xmlns:a="http://schemas.openxmlformats.org/drawingml/2006/main">
              <a:ext uri="{FF2B5EF4-FFF2-40B4-BE49-F238E27FC236}">
                <a16:creationId xmlns:a16="http://schemas.microsoft.com/office/drawing/2014/main" id="{39A4F103-36BF-4091-9BDD-EA86613D9C42}"/>
              </a:ext>
            </a:extLst>
          </p:cNvPr>
          <p:cNvSpPr>
            <a:spLocks xmlns:a="http://schemas.openxmlformats.org/drawingml/2006/main" noGrp="1"/>
          </p:cNvSpPr>
          <p:nvPr>
            <p:ph type="subTitle" idx="1"/>
          </p:nvPr>
        </p:nvSpPr>
        <p:spPr>
          <a:xfrm xmlns:a="http://schemas.openxmlformats.org/drawingml/2006/main">
            <a:off x="1828800" y="3771900"/>
            <a:ext cx="853440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>
            <a:defPPr algn="ctr"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 xmlns:a="http://schemas.openxmlformats.org/drawingml/2006/main"/>
        </p:txBody>
      </p:sp>
    </p:spTree>
  </p:cSld>
</p:sldLayout>
</file>

<file path=ppt/slideLayouts/slideLayout2.xml><?xml version="1.0" encoding="utf-8"?>
<p:sldLayout xmlns:p="http://schemas.openxmlformats.org/presentationml/2006/main">
  <p:cSld name="Section Header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ection title">
            <a:extLst xmlns:a="http://schemas.openxmlformats.org/drawingml/2006/main">
              <a:ext uri="{FF2B5EF4-FFF2-40B4-BE49-F238E27FC236}">
                <a16:creationId xmlns:a16="http://schemas.microsoft.com/office/drawing/2014/main" id="{2D2385B2-D733-4378-9087-F8E43CC4D331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1219200" y="2857500"/>
            <a:ext cx="9753600" cy="1143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>
            <a:defPPr algn="ctr"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 xmlns:a="http://schemas.openxmlformats.org/drawingml/2006/main"/>
        </p:txBody>
      </p:sp>
    </p:spTree>
  </p:cSld>
</p:sldLayout>
</file>

<file path=ppt/slideLayouts/slideLayout3.xml><?xml version="1.0" encoding="utf-8"?>
<p:sldLayout xmlns:p="http://schemas.openxmlformats.org/presentationml/2006/main">
  <p:cSld name="Title and Body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" name="Title">
            <a:extLst xmlns:a="http://schemas.openxmlformats.org/drawingml/2006/main">
              <a:ext uri="{FF2B5EF4-FFF2-40B4-BE49-F238E27FC236}">
                <a16:creationId xmlns:a16="http://schemas.microsoft.com/office/drawing/2014/main" id="{36790F9C-68DA-46C5-AC07-5917C7A29D9B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85800" y="533400"/>
            <a:ext cx="108204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 xmlns:a="http://schemas.openxmlformats.org/drawingml/2006/main"/>
        </p:txBody>
      </p:sp>
      <p:sp>
        <p:nvSpPr>
          <p:cNvPr id="2" name="Body">
            <a:extLst xmlns:a="http://schemas.openxmlformats.org/drawingml/2006/main">
              <a:ext uri="{FF2B5EF4-FFF2-40B4-BE49-F238E27FC236}">
                <a16:creationId xmlns:a16="http://schemas.microsoft.com/office/drawing/2014/main" id="{C00DE6CA-DB68-4A25-BD92-3071B8F366D8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685800" y="1905000"/>
            <a:ext cx="10820400" cy="426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1pPr>
            <a:lvl2pPr marL="533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2pPr>
            <a:lvl3pPr marL="838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3pPr>
            <a:lvl4pPr marL="1143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4pPr>
            <a:lvl5pPr marL="14478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5pPr>
            <a:lvl6pPr marL="1752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6pPr>
            <a:lvl7pPr marL="2057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7pPr>
            <a:lvl8pPr marL="2362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8pPr>
            <a:lvl9pPr marL="2667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9pPr>
          </a:lstStyle>
          <a:p xmlns:a="http://schemas.openxmlformats.org/drawingml/2006/main"/>
        </p:txBody>
      </p:sp>
    </p:spTree>
  </p:cSld>
</p:sldLayout>
</file>

<file path=ppt/slideLayouts/slideLayout4.xml><?xml version="1.0" encoding="utf-8"?>
<p:sldLayout xmlns:p="http://schemas.openxmlformats.org/presentationml/2006/main">
  <p:cSld name="Title and Two Column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" name="Title">
            <a:extLst xmlns:a="http://schemas.openxmlformats.org/drawingml/2006/main">
              <a:ext uri="{FF2B5EF4-FFF2-40B4-BE49-F238E27FC236}">
                <a16:creationId xmlns:a16="http://schemas.microsoft.com/office/drawing/2014/main" id="{5BB29B43-02D6-4E84-81B7-4CA9A86487DA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85800" y="533400"/>
            <a:ext cx="108204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 xmlns:a="http://schemas.openxmlformats.org/drawingml/2006/main"/>
        </p:txBody>
      </p:sp>
      <p:sp>
        <p:nvSpPr>
          <p:cNvPr id="2" name="Left column">
            <a:extLst xmlns:a="http://schemas.openxmlformats.org/drawingml/2006/main">
              <a:ext uri="{FF2B5EF4-FFF2-40B4-BE49-F238E27FC236}">
                <a16:creationId xmlns:a16="http://schemas.microsoft.com/office/drawing/2014/main" id="{2D5BBE19-7650-4C0C-BFBD-DED3B3158AF1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685800" y="1905000"/>
            <a:ext cx="5029200" cy="426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1pPr>
            <a:lvl2pPr marL="533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2pPr>
            <a:lvl3pPr marL="838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3pPr>
            <a:lvl4pPr marL="1143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4pPr>
            <a:lvl5pPr marL="14478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5pPr>
            <a:lvl6pPr marL="1752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6pPr>
            <a:lvl7pPr marL="2057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7pPr>
            <a:lvl8pPr marL="2362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8pPr>
            <a:lvl9pPr marL="2667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9pPr>
          </a:lstStyle>
          <a:p xmlns:a="http://schemas.openxmlformats.org/drawingml/2006/main"/>
        </p:txBody>
      </p:sp>
      <p:sp>
        <p:nvSpPr>
          <p:cNvPr id="3" name="Right column">
            <a:extLst xmlns:a="http://schemas.openxmlformats.org/drawingml/2006/main">
              <a:ext uri="{FF2B5EF4-FFF2-40B4-BE49-F238E27FC236}">
                <a16:creationId xmlns:a16="http://schemas.microsoft.com/office/drawing/2014/main" id="{B5405781-B3AD-48FB-AF2A-18D81D27B669}"/>
              </a:ext>
            </a:extLst>
          </p:cNvPr>
          <p:cNvSpPr>
            <a:spLocks xmlns:a="http://schemas.openxmlformats.org/drawingml/2006/main" noGrp="1"/>
          </p:cNvSpPr>
          <p:nvPr>
            <p:ph type="body" idx="2"/>
          </p:nvPr>
        </p:nvSpPr>
        <p:spPr>
          <a:xfrm xmlns:a="http://schemas.openxmlformats.org/drawingml/2006/main">
            <a:off x="6477000" y="1905000"/>
            <a:ext cx="5029200" cy="426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1pPr>
            <a:lvl2pPr marL="533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2pPr>
            <a:lvl3pPr marL="838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3pPr>
            <a:lvl4pPr marL="1143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4pPr>
            <a:lvl5pPr marL="14478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5pPr>
            <a:lvl6pPr marL="1752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6pPr>
            <a:lvl7pPr marL="2057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7pPr>
            <a:lvl8pPr marL="2362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8pPr>
            <a:lvl9pPr marL="2667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9pPr>
          </a:lstStyle>
          <a:p xmlns:a="http://schemas.openxmlformats.org/drawingml/2006/main"/>
        </p:txBody>
      </p:sp>
    </p:spTree>
  </p:cSld>
</p:sldLayout>
</file>

<file path=ppt/slideLayouts/slideLayout5.xml><?xml version="1.0" encoding="utf-8"?>
<p:sldLayout xmlns:p="http://schemas.openxmlformats.org/presentationml/2006/main">
  <p:cSld name="Title and One Column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" name="Title">
            <a:extLst xmlns:a="http://schemas.openxmlformats.org/drawingml/2006/main">
              <a:ext uri="{FF2B5EF4-FFF2-40B4-BE49-F238E27FC236}">
                <a16:creationId xmlns:a16="http://schemas.microsoft.com/office/drawing/2014/main" id="{52093076-80BB-4F67-8BBC-D50E17AC5E62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85800" y="533400"/>
            <a:ext cx="108204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 xmlns:a="http://schemas.openxmlformats.org/drawingml/2006/main"/>
        </p:txBody>
      </p:sp>
      <p:sp>
        <p:nvSpPr>
          <p:cNvPr id="2" name="Left column">
            <a:extLst xmlns:a="http://schemas.openxmlformats.org/drawingml/2006/main">
              <a:ext uri="{FF2B5EF4-FFF2-40B4-BE49-F238E27FC236}">
                <a16:creationId xmlns:a16="http://schemas.microsoft.com/office/drawing/2014/main" id="{09278173-8307-4A4D-BA69-ED5F1B4B0BF2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685800" y="1905000"/>
            <a:ext cx="5029200" cy="426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1pPr>
            <a:lvl2pPr marL="533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2pPr>
            <a:lvl3pPr marL="838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3pPr>
            <a:lvl4pPr marL="1143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4pPr>
            <a:lvl5pPr marL="14478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5pPr>
            <a:lvl6pPr marL="1752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6pPr>
            <a:lvl7pPr marL="2057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7pPr>
            <a:lvl8pPr marL="2362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8pPr>
            <a:lvl9pPr marL="2667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9pPr>
          </a:lstStyle>
          <a:p xmlns:a="http://schemas.openxmlformats.org/drawingml/2006/main"/>
        </p:txBody>
      </p:sp>
    </p:spTree>
  </p:cSld>
</p:sldLayout>
</file>

<file path=ppt/slideLayouts/slideLayout6.xml><?xml version="1.0" encoding="utf-8"?>
<p:sldLayout xmlns:p="http://schemas.openxmlformats.org/presentationml/2006/main" type="blank">
  <p:cSld name="Blank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57c46eb265b64b46" /><Relationship Type="http://schemas.openxmlformats.org/officeDocument/2006/relationships/slideLayout" Target="/ppt/slideLayouts/slideLayout1.xml" Id="R86eac3779d3a4acc" /><Relationship Type="http://schemas.openxmlformats.org/officeDocument/2006/relationships/slideLayout" Target="/ppt/slideLayouts/slideLayout2.xml" Id="Rd15f2fc6d6a54fec" /><Relationship Type="http://schemas.openxmlformats.org/officeDocument/2006/relationships/slideLayout" Target="/ppt/slideLayouts/slideLayout3.xml" Id="Reb452fbe74e94f5a" /><Relationship Type="http://schemas.openxmlformats.org/officeDocument/2006/relationships/slideLayout" Target="/ppt/slideLayouts/slideLayout4.xml" Id="R0be0dfb13f9a40b5" /><Relationship Type="http://schemas.openxmlformats.org/officeDocument/2006/relationships/slideLayout" Target="/ppt/slideLayouts/slideLayout5.xml" Id="R748e071b266b4bd3" /><Relationship Type="http://schemas.openxmlformats.org/officeDocument/2006/relationships/slideLayout" Target="/ppt/slideLayouts/slideLayout6.xml" Id="R1b60b97407264b37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86eac3779d3a4acc"/>
    <p:sldLayoutId xmlns:r="http://schemas.openxmlformats.org/officeDocument/2006/relationships" id="2147483650" r:id="Rd15f2fc6d6a54fec"/>
    <p:sldLayoutId xmlns:r="http://schemas.openxmlformats.org/officeDocument/2006/relationships" id="2147483651" r:id="Reb452fbe74e94f5a"/>
    <p:sldLayoutId xmlns:r="http://schemas.openxmlformats.org/officeDocument/2006/relationships" id="2147483652" r:id="R0be0dfb13f9a40b5"/>
    <p:sldLayoutId xmlns:r="http://schemas.openxmlformats.org/officeDocument/2006/relationships" id="2147483653" r:id="R748e071b266b4bd3"/>
    <p:sldLayoutId xmlns:r="http://schemas.openxmlformats.org/officeDocument/2006/relationships" id="2147483654" r:id="R1b60b97407264b37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LLMOPS EDITORIAL">
      <a:dk1>
        <a:srgbClr val="0A0B0C"/>
      </a:dk1>
      <a:lt1>
        <a:srgbClr val="FFFFFF"/>
      </a:lt1>
      <a:dk2>
        <a:srgbClr val="17283B"/>
      </a:dk2>
      <a:lt2>
        <a:srgbClr val="F7F7F5"/>
      </a:lt2>
      <a:accent1>
        <a:srgbClr val="284B72"/>
      </a:accent1>
      <a:accent2>
        <a:srgbClr val="17283B"/>
      </a:accent2>
      <a:accent3>
        <a:srgbClr val="52606B"/>
      </a:accent3>
      <a:accent4>
        <a:srgbClr val="EDF1F6"/>
      </a:accent4>
      <a:accent5>
        <a:srgbClr val="17191B"/>
      </a:accent5>
      <a:accent6>
        <a:srgbClr val="CFD5D3"/>
      </a:accent6>
      <a:hlink>
        <a:srgbClr val="284B72"/>
      </a:hlink>
      <a:folHlink>
        <a:srgbClr val="17283B"/>
      </a:folHlink>
    </a:clrScheme>
    <a:fontScheme name="">
      <a:majorFont>
        <a:latin typeface="Aptos"/>
        <a:ea typeface=""/>
        <a:cs typeface=""/>
      </a:majorFont>
      <a:minorFont>
        <a:latin typeface="Aptos"/>
        <a:ea typeface=""/>
        <a:cs typeface=""/>
      </a:minorFont>
    </a:fontScheme>
    <a:fmtScheme name="LLMOPS EDITORIAL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fbe34c8806554110" /><Relationship Type="http://schemas.openxmlformats.org/officeDocument/2006/relationships/notesSlide" Target="/ppt/notesSlides/notesSlide1.xml" Id="R9646ce08ac5348a2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2a8f6c7d0dad43ea" /><Relationship Type="http://schemas.openxmlformats.org/officeDocument/2006/relationships/notesSlide" Target="/ppt/notesSlides/notesSlide2.xml" Id="R022e275398ae46d1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a49c0d38fd11477b" /><Relationship Type="http://schemas.openxmlformats.org/officeDocument/2006/relationships/notesSlide" Target="/ppt/notesSlides/notesSlide3.xml" Id="Rf1ae121cf8264f2c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556a76db75b6479c" /><Relationship Type="http://schemas.openxmlformats.org/officeDocument/2006/relationships/notesSlide" Target="/ppt/notesSlides/notesSlide4.xml" Id="R996dc58665464239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cbafde75d4c74a8f" /><Relationship Type="http://schemas.openxmlformats.org/officeDocument/2006/relationships/notesSlide" Target="/ppt/notesSlides/notesSlide5.xml" Id="R76fda888e9954762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75667f979f7f48bd" /><Relationship Type="http://schemas.openxmlformats.org/officeDocument/2006/relationships/notesSlide" Target="/ppt/notesSlides/notesSlide6.xml" Id="Rabbac801e6a84e13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cae0df6d2ace459f" /><Relationship Type="http://schemas.openxmlformats.org/officeDocument/2006/relationships/notesSlide" Target="/ppt/notesSlides/notesSlide7.xml" Id="R2f20679ffe8848a4" /></Relationships>
</file>

<file path=ppt/slides/_rels/slide8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b28ac3b34a5447cd" /><Relationship Type="http://schemas.openxmlformats.org/officeDocument/2006/relationships/notesSlide" Target="/ppt/notesSlides/notesSlide8.xml" Id="R27249404a44645c3" /></Relationships>
</file>

<file path=ppt/slides/_rels/slide9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69c50ecab6ff4a06" /><Relationship Type="http://schemas.openxmlformats.org/officeDocument/2006/relationships/notesSlide" Target="/ppt/notesSlides/notesSlide9.xml" Id="Rd52adb6ff6b14880" /></Relationships>
</file>

<file path=ppt/slides/_rels/slide10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81b6a95a238b40cb" /><Relationship Type="http://schemas.openxmlformats.org/officeDocument/2006/relationships/notesSlide" Target="/ppt/notesSlides/notesSlide10.xml" Id="Reafd7c8ef2564601" /></Relationships>
</file>

<file path=ppt/slides/_rels/slide11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60a9ca3d71ec48a9" /><Relationship Type="http://schemas.openxmlformats.org/officeDocument/2006/relationships/notesSlide" Target="/ppt/notesSlides/notesSlide11.xml" Id="R85a9cd320e68415b" /></Relationships>
</file>

<file path=ppt/slides/_rels/slide12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e962a33522604a34" /><Relationship Type="http://schemas.openxmlformats.org/officeDocument/2006/relationships/notesSlide" Target="/ppt/notesSlides/notesSlide12.xml" Id="R47b263ca871a4339" /></Relationships>
</file>

<file path=ppt/slides/_rels/slide13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38a7d7105c5d476d" /><Relationship Type="http://schemas.openxmlformats.org/officeDocument/2006/relationships/image" Target="/ppt/media/image.png" Id="Rc32f4d1752834417" /><Relationship Type="http://schemas.openxmlformats.org/officeDocument/2006/relationships/notesSlide" Target="/ppt/notesSlides/notesSlide13.xml" Id="R0792f42fdf5243ab" /></Relationships>
</file>

<file path=ppt/slides/_rels/slide14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f30d25869b2c4248" /><Relationship Type="http://schemas.openxmlformats.org/officeDocument/2006/relationships/notesSlide" Target="/ppt/notesSlides/notesSlide14.xml" Id="R3f060f1167a54c35" /></Relationships>
</file>

<file path=ppt/slides/_rels/slide15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07d211999ad84568" /><Relationship Type="http://schemas.openxmlformats.org/officeDocument/2006/relationships/notesSlide" Target="/ppt/notesSlides/notesSlide15.xml" Id="R0c2199484c39482c" /></Relationships>
</file>

<file path=ppt/slides/_rels/slide16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f2db35ca8762438e" /><Relationship Type="http://schemas.openxmlformats.org/officeDocument/2006/relationships/notesSlide" Target="/ppt/notesSlides/notesSlide16.xml" Id="R5a88f28e358a4876" /></Relationships>
</file>

<file path=ppt/slides/_rels/slide17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d67e4539d3db41b5" /><Relationship Type="http://schemas.openxmlformats.org/officeDocument/2006/relationships/notesSlide" Target="/ppt/notesSlides/notesSlide17.xml" Id="R8ae081b9b02442d6" /></Relationships>
</file>

<file path=ppt/slides/_rels/slide18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fa8ed3fcc4454e23" /><Relationship Type="http://schemas.openxmlformats.org/officeDocument/2006/relationships/notesSlide" Target="/ppt/notesSlides/notesSlide18.xml" Id="Rc58cc41e36144142" /></Relationships>
</file>

<file path=ppt/slides/_rels/slide19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92478930538b465c" /><Relationship Type="http://schemas.openxmlformats.org/officeDocument/2006/relationships/notesSlide" Target="/ppt/notesSlides/notesSlide19.xml" Id="R1dcc87be4f4648e1" /></Relationships>
</file>

<file path=ppt/slides/_rels/slide20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b929f46acad341bf" /><Relationship Type="http://schemas.openxmlformats.org/officeDocument/2006/relationships/notesSlide" Target="/ppt/notesSlides/notesSlide20.xml" Id="Rb4388c1dec4f46fc" /></Relationships>
</file>

<file path=ppt/slides/_rels/slide21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d1e0a471c19c4fbe" /><Relationship Type="http://schemas.openxmlformats.org/officeDocument/2006/relationships/notesSlide" Target="/ppt/notesSlides/notesSlide21.xml" Id="R6346decce2d940c8" /></Relationships>
</file>

<file path=ppt/slides/_rels/slide22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533db35e6a80423a" /><Relationship Type="http://schemas.openxmlformats.org/officeDocument/2006/relationships/image" Target="/ppt/media/image2.png" Id="Rdcc5297744104c06" /><Relationship Type="http://schemas.openxmlformats.org/officeDocument/2006/relationships/notesSlide" Target="/ppt/notesSlides/notesSlide22.xml" Id="R33860519c22e484a" /></Relationships>
</file>

<file path=ppt/slides/_rels/slide23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0c3ea093709b4a19" /><Relationship Type="http://schemas.openxmlformats.org/officeDocument/2006/relationships/notesSlide" Target="/ppt/notesSlides/notesSlide23.xml" Id="R630eedd36260471e" /></Relationships>
</file>

<file path=ppt/slides/_rels/slide24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b885bce528fe4b0d" /><Relationship Type="http://schemas.openxmlformats.org/officeDocument/2006/relationships/notesSlide" Target="/ppt/notesSlides/notesSlide24.xml" Id="R14e4d2da4861449d" /></Relationships>
</file>

<file path=ppt/slides/_rels/slide25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9d10a0da63a24b4c" /><Relationship Type="http://schemas.openxmlformats.org/officeDocument/2006/relationships/notesSlide" Target="/ppt/notesSlides/notesSlide25.xml" Id="Rd4aa13e57be74526" /></Relationships>
</file>

<file path=ppt/slides/_rels/slide26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f0c8b66608e64068" /><Relationship Type="http://schemas.openxmlformats.org/officeDocument/2006/relationships/image" Target="/ppt/media/image3.png" Id="R4c36c6ed29874417" /><Relationship Type="http://schemas.openxmlformats.org/officeDocument/2006/relationships/notesSlide" Target="/ppt/notesSlides/notesSlide26.xml" Id="Rcf33b0c9387a4dad" /></Relationships>
</file>

<file path=ppt/slides/_rels/slide27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bd0e58d925db4e34" /><Relationship Type="http://schemas.openxmlformats.org/officeDocument/2006/relationships/notesSlide" Target="/ppt/notesSlides/notesSlide27.xml" Id="R3a4208e1c6c84370" /></Relationships>
</file>

<file path=ppt/slides/_rels/slide28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882a6a469b3d453e" /><Relationship Type="http://schemas.openxmlformats.org/officeDocument/2006/relationships/chart" Target="/ppt/slides/charts/chart1.xml" Id="R05188fb373e540db" /><Relationship Type="http://schemas.openxmlformats.org/officeDocument/2006/relationships/notesSlide" Target="/ppt/notesSlides/notesSlide28.xml" Id="Reff638bab1914767" /></Relationships>
</file>

<file path=ppt/slides/_rels/slide29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52bfefc7e4304e6f" /><Relationship Type="http://schemas.openxmlformats.org/officeDocument/2006/relationships/notesSlide" Target="/ppt/notesSlides/notesSlide29.xml" Id="Rd9e8bcf14f564f9d" /></Relationships>
</file>

<file path=ppt/slides/_rels/slide30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fdf907a4820d4eec" /><Relationship Type="http://schemas.openxmlformats.org/officeDocument/2006/relationships/chart" Target="/ppt/slides/charts/chart2.xml" Id="R0525ae6e1c284d21" /><Relationship Type="http://schemas.openxmlformats.org/officeDocument/2006/relationships/notesSlide" Target="/ppt/notesSlides/notesSlide30.xml" Id="Rb42580cc4a1043fa" /></Relationships>
</file>

<file path=ppt/slides/_rels/slide31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81d674b5f2424499" /><Relationship Type="http://schemas.openxmlformats.org/officeDocument/2006/relationships/notesSlide" Target="/ppt/notesSlides/notesSlide31.xml" Id="R938f68ff1c544c01" /></Relationships>
</file>

<file path=ppt/slides/_rels/slide32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1595d2552faa4d49" /><Relationship Type="http://schemas.openxmlformats.org/officeDocument/2006/relationships/image" Target="/ppt/media/image4.png" Id="Rb997ea4201a84fa4" /><Relationship Type="http://schemas.openxmlformats.org/officeDocument/2006/relationships/notesSlide" Target="/ppt/notesSlides/notesSlide32.xml" Id="Rdd711fb880a6433e" /></Relationships>
</file>

<file path=ppt/slides/_rels/slide33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f536c1002e54417b" /><Relationship Type="http://schemas.openxmlformats.org/officeDocument/2006/relationships/notesSlide" Target="/ppt/notesSlides/notesSlide33.xml" Id="R8e20879974854ac0" /></Relationships>
</file>

<file path=ppt/slides/_rels/slide34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139dab6191c44566" /><Relationship Type="http://schemas.openxmlformats.org/officeDocument/2006/relationships/notesSlide" Target="/ppt/notesSlides/notesSlide34.xml" Id="Rcaf11bebc11e4090" /></Relationships>
</file>

<file path=ppt/slides/_rels/slide35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379ee6bad3e44231" /><Relationship Type="http://schemas.openxmlformats.org/officeDocument/2006/relationships/notesSlide" Target="/ppt/notesSlides/notesSlide35.xml" Id="R40aafa5949dc4635" /></Relationships>
</file>

<file path=ppt/slides/_rels/slide36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e9f38f4a488f4188" /><Relationship Type="http://schemas.openxmlformats.org/officeDocument/2006/relationships/notesSlide" Target="/ppt/notesSlides/notesSlide36.xml" Id="R37a8589bd6484c30" /></Relationships>
</file>

<file path=ppt/slides/_rels/slide37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0e9b91d80d65468e" /><Relationship Type="http://schemas.openxmlformats.org/officeDocument/2006/relationships/notesSlide" Target="/ppt/notesSlides/notesSlide37.xml" Id="R61af7ae0083f444b" /></Relationships>
</file>

<file path=ppt/slides/_rels/slide38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f122ce50f2404214" /><Relationship Type="http://schemas.openxmlformats.org/officeDocument/2006/relationships/notesSlide" Target="/ppt/notesSlides/notesSlide38.xml" Id="R1fd99247c89248c6" /></Relationships>
</file>

<file path=ppt/slides/_rels/slide39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f9a7f1fae78940ae" /><Relationship Type="http://schemas.openxmlformats.org/officeDocument/2006/relationships/notesSlide" Target="/ppt/notesSlides/notesSlide39.xml" Id="R43c03f78294a41ca" /></Relationships>
</file>

<file path=ppt/slides/_rels/slide40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1b94b542f96e4b26" /><Relationship Type="http://schemas.openxmlformats.org/officeDocument/2006/relationships/notesSlide" Target="/ppt/notesSlides/notesSlide40.xml" Id="R8ec2066830914f36" /></Relationships>
</file>

<file path=ppt/slides/_rels/slide41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f0f2c61179574846" /><Relationship Type="http://schemas.openxmlformats.org/officeDocument/2006/relationships/notesSlide" Target="/ppt/notesSlides/notesSlide41.xml" Id="Rb32ab67ae7c7452f" /></Relationships>
</file>

<file path=ppt/slides/_rels/slide42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16b08f1e90124722" /><Relationship Type="http://schemas.openxmlformats.org/officeDocument/2006/relationships/notesSlide" Target="/ppt/notesSlides/notesSlide42.xml" Id="Rfdc84aeabebb4e43" /></Relationships>
</file>

<file path=ppt/slides/_rels/slide43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158403626682497a" /><Relationship Type="http://schemas.openxmlformats.org/officeDocument/2006/relationships/notesSlide" Target="/ppt/notesSlides/notesSlide43.xml" Id="Rac3f7eb4493d4424" /></Relationships>
</file>

<file path=ppt/slides/_rels/slide44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146ba9980f374c0f" /><Relationship Type="http://schemas.openxmlformats.org/officeDocument/2006/relationships/notesSlide" Target="/ppt/notesSlides/notesSlide44.xml" Id="R80b30819bded442d" /></Relationships>
</file>

<file path=ppt/slides/_rels/slide45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051467180ecd4392" /><Relationship Type="http://schemas.openxmlformats.org/officeDocument/2006/relationships/notesSlide" Target="/ppt/notesSlides/notesSlide45.xml" Id="Ra86a6fcd02914579" /></Relationships>
</file>

<file path=ppt/slides/_rels/slide46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e6a35a8593cc4b8b" /><Relationship Type="http://schemas.openxmlformats.org/officeDocument/2006/relationships/chart" Target="/ppt/slides/charts/chart3.xml" Id="R9222b762d31c42eb" /><Relationship Type="http://schemas.openxmlformats.org/officeDocument/2006/relationships/notesSlide" Target="/ppt/notesSlides/notesSlide46.xml" Id="R543d6c19ab74471e" /></Relationships>
</file>

<file path=ppt/slides/_rels/slide47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b139cda9961f4541" /><Relationship Type="http://schemas.openxmlformats.org/officeDocument/2006/relationships/notesSlide" Target="/ppt/notesSlides/notesSlide47.xml" Id="Re53e9261c7214cf7" /></Relationships>
</file>

<file path=ppt/slides/_rels/slide48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0b30eee3f6984147" /><Relationship Type="http://schemas.openxmlformats.org/officeDocument/2006/relationships/notesSlide" Target="/ppt/notesSlides/notesSlide48.xml" Id="Rfbe5a487b5994a85" /></Relationships>
</file>

<file path=ppt/slides/_rels/slide49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dc57cbab297c4271" /><Relationship Type="http://schemas.openxmlformats.org/officeDocument/2006/relationships/notesSlide" Target="/ppt/notesSlides/notesSlide49.xml" Id="R5ec6b7b25a974daa" /></Relationships>
</file>

<file path=ppt/slides/_rels/slide50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e646284cee264604" /><Relationship Type="http://schemas.openxmlformats.org/officeDocument/2006/relationships/notesSlide" Target="/ppt/notesSlides/notesSlide50.xml" Id="Red9e5370a3654b96" /></Relationships>
</file>

<file path=ppt/slides/_rels/slide51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e823bfe39674446e" /><Relationship Type="http://schemas.openxmlformats.org/officeDocument/2006/relationships/notesSlide" Target="/ppt/notesSlides/notesSlide51.xml" Id="R43e494f6933f40c6" /></Relationships>
</file>

<file path=ppt/slides/_rels/slide52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9a796e8b7fd542d7" /><Relationship Type="http://schemas.openxmlformats.org/officeDocument/2006/relationships/notesSlide" Target="/ppt/notesSlides/notesSlide52.xml" Id="Rf5bf25ca82ff4a4c" /></Relationships>
</file>

<file path=ppt/slides/_rels/slide53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efc095f9d156462f" /><Relationship Type="http://schemas.openxmlformats.org/officeDocument/2006/relationships/notesSlide" Target="/ppt/notesSlides/notesSlide53.xml" Id="Rc7535e7e4fcf4388" /></Relationships>
</file>

<file path=ppt/slides/_rels/slide54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6a46a6f012634805" /><Relationship Type="http://schemas.openxmlformats.org/officeDocument/2006/relationships/notesSlide" Target="/ppt/notesSlides/notesSlide54.xml" Id="Re96a8139dcc94335" /></Relationships>
</file>

<file path=ppt/slides/_rels/slide55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2c76d7284f8844f9" /><Relationship Type="http://schemas.openxmlformats.org/officeDocument/2006/relationships/notesSlide" Target="/ppt/notesSlides/notesSlide55.xml" Id="R40cec62e1ae5474a" /></Relationships>
</file>

<file path=ppt/slides/_rels/slide56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656349624ffa426c" /><Relationship Type="http://schemas.openxmlformats.org/officeDocument/2006/relationships/notesSlide" Target="/ppt/notesSlides/notesSlide56.xml" Id="Re8be32785e904474" /></Relationships>
</file>

<file path=ppt/slides/_rels/slide57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c8b2a77941f54abf" /><Relationship Type="http://schemas.openxmlformats.org/officeDocument/2006/relationships/notesSlide" Target="/ppt/notesSlides/notesSlide57.xml" Id="R63deef67da9c43f6" /></Relationships>
</file>

<file path=ppt/slides/_rels/slide58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bf04b6fc147a4791" /><Relationship Type="http://schemas.openxmlformats.org/officeDocument/2006/relationships/notesSlide" Target="/ppt/notesSlides/notesSlide58.xml" Id="R0dfcf89d69bf4767" /></Relationships>
</file>

<file path=ppt/slides/_rels/slide59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81499a1e1ac24c44" /><Relationship Type="http://schemas.openxmlformats.org/officeDocument/2006/relationships/notesSlide" Target="/ppt/notesSlides/notesSlide59.xml" Id="Rabb87bbdcb3f4d5d" /></Relationships>
</file>

<file path=ppt/slides/_rels/slide60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acef8dfc7507463e" /><Relationship Type="http://schemas.openxmlformats.org/officeDocument/2006/relationships/notesSlide" Target="/ppt/notesSlides/notesSlide60.xml" Id="Rb55513d28af04e75" /></Relationships>
</file>

<file path=ppt/slides/_rels/slide61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dc5b43258d384123" /><Relationship Type="http://schemas.openxmlformats.org/officeDocument/2006/relationships/notesSlide" Target="/ppt/notesSlides/notesSlide61.xml" Id="R5c4db935eea847d1" /></Relationships>
</file>

<file path=ppt/slides/_rels/slide62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88eece1fe0ff412d" /><Relationship Type="http://schemas.openxmlformats.org/officeDocument/2006/relationships/notesSlide" Target="/ppt/notesSlides/notesSlide62.xml" Id="Re4628a88473b490d" /></Relationships>
</file>

<file path=ppt/slides/_rels/slide63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91a4797d04444f8c" /><Relationship Type="http://schemas.openxmlformats.org/officeDocument/2006/relationships/notesSlide" Target="/ppt/notesSlides/notesSlide63.xml" Id="Re373925db60345f2" /></Relationships>
</file>

<file path=ppt/slides/_rels/slide64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e5967c0136824b39" /><Relationship Type="http://schemas.openxmlformats.org/officeDocument/2006/relationships/notesSlide" Target="/ppt/notesSlides/notesSlide64.xml" Id="R58a3c47a385242f1" /></Relationships>
</file>

<file path=ppt/slides/_rels/slide65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a8f03bbd87014b07" /><Relationship Type="http://schemas.openxmlformats.org/officeDocument/2006/relationships/notesSlide" Target="/ppt/notesSlides/notesSlide65.xml" Id="R109afa2037c74e59" /></Relationships>
</file>

<file path=ppt/slides/_rels/slide66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7336150790964ac4" /><Relationship Type="http://schemas.openxmlformats.org/officeDocument/2006/relationships/notesSlide" Target="/ppt/notesSlides/notesSlide66.xml" Id="R83b2110b2aad4cdc" /></Relationships>
</file>

<file path=ppt/slides/_rels/slide67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bae0cee6aabc4abc" /><Relationship Type="http://schemas.openxmlformats.org/officeDocument/2006/relationships/notesSlide" Target="/ppt/notesSlides/notesSlide67.xml" Id="Reb2a06800e664b6b" /></Relationships>
</file>

<file path=ppt/slides/_rels/slide68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f92f2bc914b745c4" /><Relationship Type="http://schemas.openxmlformats.org/officeDocument/2006/relationships/notesSlide" Target="/ppt/notesSlides/notesSlide68.xml" Id="R9a248c3cc20b457b" /></Relationships>
</file>

<file path=ppt/slides/_rels/slide69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3af5e299690f4a12" /><Relationship Type="http://schemas.openxmlformats.org/officeDocument/2006/relationships/notesSlide" Target="/ppt/notesSlides/notesSlide69.xml" Id="Rb9b7ce2a4a034025" /></Relationships>
</file>

<file path=ppt/slides/_rels/slide70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d9c5bb7b71a64467" /><Relationship Type="http://schemas.openxmlformats.org/officeDocument/2006/relationships/notesSlide" Target="/ppt/notesSlides/notesSlide70.xml" Id="R0e22b71796c645ed" /></Relationships>
</file>

<file path=ppt/slides/_rels/slide71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df76f61fd7914b17" /><Relationship Type="http://schemas.openxmlformats.org/officeDocument/2006/relationships/notesSlide" Target="/ppt/notesSlides/notesSlide71.xml" Id="Re9621e08133348c1" /></Relationships>
</file>

<file path=ppt/slides/_rels/slide72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366bdc6d37fa47bd" /><Relationship Type="http://schemas.openxmlformats.org/officeDocument/2006/relationships/notesSlide" Target="/ppt/notesSlides/notesSlide72.xml" Id="Rca749e811aef45de" /></Relationships>
</file>

<file path=ppt/slides/_rels/slide73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bbf1e240b10241ae" /><Relationship Type="http://schemas.openxmlformats.org/officeDocument/2006/relationships/notesSlide" Target="/ppt/notesSlides/notesSlide73.xml" Id="R67463f59c4fc439b" /></Relationships>
</file>

<file path=ppt/slides/_rels/slide74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e9f8d47fad7d422d" /><Relationship Type="http://schemas.openxmlformats.org/officeDocument/2006/relationships/notesSlide" Target="/ppt/notesSlides/notesSlide74.xml" Id="Rb18d94171e6b4f91" /></Relationships>
</file>

<file path=ppt/slides/_rels/slide75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4913e0e8d54347a0" /><Relationship Type="http://schemas.openxmlformats.org/officeDocument/2006/relationships/notesSlide" Target="/ppt/notesSlides/notesSlide75.xml" Id="Rdddfd37f6fd742b0" /></Relationships>
</file>

<file path=ppt/slides/_rels/slide76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55c054a18d974650" /><Relationship Type="http://schemas.openxmlformats.org/officeDocument/2006/relationships/notesSlide" Target="/ppt/notesSlides/notesSlide76.xml" Id="R9bf6fba9c2ad4a47" /></Relationships>
</file>

<file path=ppt/slides/_rels/slide77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a9a3d27826244c3f" /><Relationship Type="http://schemas.openxmlformats.org/officeDocument/2006/relationships/notesSlide" Target="/ppt/notesSlides/notesSlide77.xml" Id="R34f83b5890e6411e" /></Relationships>
</file>

<file path=ppt/slides/charts/_rels/chart1.xml.rels><Relationships xmlns="http://schemas.openxmlformats.org/package/2006/relationships"><Relationship Id="rIdChartSnapshot1" Type="http://schemas.openxmlformats.org/officeDocument/2006/relationships/package" Target="../../embeddings/chart-data-snapshot-001.xlsx"/></Relationships>
</file>

<file path=ppt/slides/charts/_rels/chart2.xml.rels><Relationships xmlns="http://schemas.openxmlformats.org/package/2006/relationships"><Relationship Id="rIdChartSnapshot1" Type="http://schemas.openxmlformats.org/officeDocument/2006/relationships/package" Target="../../embeddings/chart-data-snapshot-002.xlsx"/></Relationships>
</file>

<file path=ppt/slides/charts/_rels/chart3.xml.rels><Relationships xmlns="http://schemas.openxmlformats.org/package/2006/relationships"><Relationship Id="rIdChartSnapshot1" Type="http://schemas.openxmlformats.org/officeDocument/2006/relationships/package" Target="../../embeddings/chart-data-snapshot-003.xlsx"/></Relationships>
</file>

<file path=ppt/slides/charts/chart1.xml><?xml version="1.0" encoding="utf-8"?>
<c:chartSpace xmlns:c="http://schemas.openxmlformats.org/drawingml/2006/chart" xmlns:r="http://schemas.openxmlformats.org/officeDocument/2006/relationships">
  <c:lang val="en-US"/>
  <c:chart>
    <c:plotArea>
      <c:barChart>
        <c:barDir val="col"/>
        <c:grouping val="clustered"/>
        <c:varyColors val="0"/>
        <c:ser>
          <c:idx val="0"/>
          <c:order val="0"/>
          <c:tx>
            <c:v>전체 행렬</c:v>
          </c:tx>
          <c:spPr>
            <a:solidFill xmlns:a="http://schemas.openxmlformats.org/drawingml/2006/main">
              <a:srgbClr val="284B72"/>
            </a:solidFill>
            <a:ln xmlns:a="http://schemas.openxmlformats.org/drawingml/2006/main" w="19050">
              <a:solidFill>
                <a:srgbClr val="284B72"/>
              </a:solidFill>
            </a:ln>
          </c:spPr>
          <c:invertIfNegative val="0"/>
          <c:cat>
            <c:strRef>
              <c:f>'Chart Data'!$A$2:$A$5</c:f>
              <c:strCache>
                <c:ptCount val="4"/>
                <c:pt idx="0">
                  <c:v>rank1</c:v>
                </c:pt>
                <c:pt idx="1">
                  <c:v>rank2</c:v>
                </c:pt>
                <c:pt idx="2">
                  <c:v>rank4</c:v>
                </c:pt>
                <c:pt idx="3">
                  <c:v>rank8</c:v>
                </c:pt>
              </c:strCache>
            </c:strRef>
          </c:cat>
          <c:val>
            <c:numRef>
              <c:f>'Chart Data'!$B$2:$B$5</c:f>
              <c:numCache>
                <c:formatCode>0</c:formatCode>
                <c:ptCount val="4"/>
                <c:pt idx="0">
                  <c:v>96</c:v>
                </c:pt>
                <c:pt idx="1">
                  <c:v>96</c:v>
                </c:pt>
                <c:pt idx="2">
                  <c:v>96</c:v>
                </c:pt>
                <c:pt idx="3">
                  <c:v>96</c:v>
                </c:pt>
              </c:numCache>
            </c:numRef>
          </c:val>
        </c:ser>
        <c:ser>
          <c:idx val="1"/>
          <c:order val="1"/>
          <c:tx>
            <c:v>두 행렬 합계</c:v>
          </c:tx>
          <c:spPr>
            <a:solidFill xmlns:a="http://schemas.openxmlformats.org/drawingml/2006/main">
              <a:srgbClr val="17283B"/>
            </a:solidFill>
            <a:ln xmlns:a="http://schemas.openxmlformats.org/drawingml/2006/main" w="19050">
              <a:solidFill>
                <a:srgbClr val="17283B"/>
              </a:solidFill>
            </a:ln>
          </c:spPr>
          <c:invertIfNegative val="0"/>
          <c:cat>
            <c:strRef>
              <c:f>'Chart Data'!$C$2:$C$5</c:f>
              <c:strCache>
                <c:ptCount val="4"/>
                <c:pt idx="0">
                  <c:v>rank1</c:v>
                </c:pt>
                <c:pt idx="1">
                  <c:v>rank2</c:v>
                </c:pt>
                <c:pt idx="2">
                  <c:v>rank4</c:v>
                </c:pt>
                <c:pt idx="3">
                  <c:v>rank8</c:v>
                </c:pt>
              </c:strCache>
            </c:strRef>
          </c:cat>
          <c:val>
            <c:numRef>
              <c:f>'Chart Data'!$D$2:$D$5</c:f>
              <c:numCache>
                <c:formatCode>0</c:formatCode>
                <c:ptCount val="4"/>
                <c:pt idx="0">
                  <c:v>20</c:v>
                </c:pt>
                <c:pt idx="1">
                  <c:v>40</c:v>
                </c:pt>
                <c:pt idx="2">
                  <c:v>80</c:v>
                </c:pt>
                <c:pt idx="3">
                  <c:v>160</c:v>
                </c:pt>
              </c:numCache>
            </c:numRef>
          </c:val>
        </c:ser>
        <c:dLbls>
          <c:numFmt formatCode="0" sourceLinked="0"/>
          <c:txPr>
            <a:bodyPr xmlns:a="http://schemas.openxmlformats.org/drawingml/2006/main" anchorCtr="1"/>
            <a:lstStyle xmlns:a="http://schemas.openxmlformats.org/drawingml/2006/main"/>
            <a:p xmlns:a="http://schemas.openxmlformats.org/drawingml/2006/main">
              <a:pPr>
                <a:defRPr sz="1500">
                  <a:solidFill>
                    <a:srgbClr val="52606B"/>
                  </a:solidFill>
                  <a:latin typeface="AppleGothic"/>
                  <a:ea typeface="AppleGothic"/>
                  <a:cs typeface="AppleGothic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axId val="48650112"/>
        <c:axId val="48672768"/>
      </c:barChart>
      <c:catAx>
        <c:axId val="48650112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xmlns:a="http://schemas.openxmlformats.org/drawingml/2006/main" w="9525">
            <a:solidFill>
              <a:srgbClr val="D4D4D4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1500">
                <a:solidFill>
                  <a:srgbClr val="52606B"/>
                </a:solidFill>
                <a:latin typeface="AppleGothic"/>
                <a:ea typeface="AppleGothic"/>
                <a:cs typeface="AppleGothic"/>
              </a:defRPr>
            </a:pPr>
          </a:p>
        </c:txPr>
        <c:crossAx val="48672768"/>
      </c:catAx>
      <c:valAx>
        <c:axId val="48672768"/>
        <c:scaling>
          <c:orientation val="minMax"/>
        </c:scaling>
        <c:delete val="0"/>
        <c:axPos val="l"/>
        <c:numFmt formatCode="0"/>
        <c:majorTickMark val="none"/>
        <c:minorTickMark val="none"/>
        <c:spPr>
          <a:ln xmlns:a="http://schemas.openxmlformats.org/drawingml/2006/main" w="9525">
            <a:solidFill>
              <a:srgbClr val="D4D4D4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1500">
                <a:solidFill>
                  <a:srgbClr val="52606B"/>
                </a:solidFill>
                <a:latin typeface="AppleGothic"/>
                <a:ea typeface="AppleGothic"/>
                <a:cs typeface="AppleGothic"/>
              </a:defRPr>
            </a:pPr>
          </a:p>
        </c:txPr>
        <c:crossAx val="48650112"/>
        <c:crossBetween val="between"/>
      </c:valAx>
      <c:spPr>
        <a:noFill xmlns:a="http://schemas.openxmlformats.org/drawingml/2006/main"/>
        <a:ln xmlns:a="http://schemas.openxmlformats.org/drawingml/2006/main" w="0">
          <a:noFill/>
        </a:ln>
      </c:spPr>
    </c:plotArea>
    <c:legend>
      <c:legendPos val="b"/>
      <c:overlay val="0"/>
      <c:txPr>
        <a:bodyPr xmlns:a="http://schemas.openxmlformats.org/drawingml/2006/main" anchorCtr="1"/>
        <a:lstStyle xmlns:a="http://schemas.openxmlformats.org/drawingml/2006/main"/>
        <a:p xmlns:a="http://schemas.openxmlformats.org/drawingml/2006/main">
          <a:pPr>
            <a:defRPr sz="1500">
              <a:solidFill>
                <a:srgbClr val="52606B"/>
              </a:solidFill>
              <a:latin typeface="AppleGothic"/>
              <a:ea typeface="AppleGothic"/>
              <a:cs typeface="AppleGothic"/>
            </a:defRPr>
          </a:pPr>
        </a:p>
      </c:txPr>
    </c:legend>
    <c:plotVisOnly val="1"/>
  </c:chart>
  <c:spPr>
    <a:noFill xmlns:a="http://schemas.openxmlformats.org/drawingml/2006/main"/>
    <a:ln xmlns:a="http://schemas.openxmlformats.org/drawingml/2006/main" w="0">
      <a:noFill/>
    </a:ln>
  </c:spPr>
  <c:externalData r:id="rIdChartSnapshot1">
    <c:autoUpdate val="0"/>
  </c:externalData>
</c:chartSpace>
</file>

<file path=ppt/slides/charts/chart2.xml><?xml version="1.0" encoding="utf-8"?>
<c:chartSpace xmlns:c="http://schemas.openxmlformats.org/drawingml/2006/chart" xmlns:r="http://schemas.openxmlformats.org/officeDocument/2006/relationships">
  <c:lang val="en-US"/>
  <c:chart>
    <c:plotArea>
      <c:barChart>
        <c:barDir val="col"/>
        <c:grouping val="clustered"/>
        <c:varyColors val="0"/>
        <c:ser>
          <c:idx val="0"/>
          <c:order val="0"/>
          <c:tx>
            <c:v>상대 행렬 오차</c:v>
          </c:tx>
          <c:spPr>
            <a:solidFill xmlns:a="http://schemas.openxmlformats.org/drawingml/2006/main">
              <a:srgbClr val="284B72"/>
            </a:solidFill>
            <a:ln xmlns:a="http://schemas.openxmlformats.org/drawingml/2006/main" w="19050">
              <a:solidFill>
                <a:srgbClr val="284B72"/>
              </a:solidFill>
            </a:ln>
          </c:spPr>
          <c:invertIfNegative val="0"/>
          <c:cat>
            <c:strRef>
              <c:f>'Chart Data'!$A$2:$A$5</c:f>
              <c:strCache>
                <c:ptCount val="4"/>
                <c:pt idx="0">
                  <c:v>rank1</c:v>
                </c:pt>
                <c:pt idx="1">
                  <c:v>rank2</c:v>
                </c:pt>
                <c:pt idx="2">
                  <c:v>rank4</c:v>
                </c:pt>
                <c:pt idx="3">
                  <c:v>rank8</c:v>
                </c:pt>
              </c:strCache>
            </c:strRef>
          </c:cat>
          <c:val>
            <c:numRef>
              <c:f>'Chart Data'!$B$2:$B$5</c:f>
              <c:numCache>
                <c:formatCode>0.000</c:formatCode>
                <c:ptCount val="4"/>
                <c:pt idx="0">
                  <c:v>0.829759</c:v>
                </c:pt>
                <c:pt idx="1">
                  <c:v>0.695374</c:v>
                </c:pt>
                <c:pt idx="2">
                  <c:v>0.442577</c:v>
                </c:pt>
                <c:pt idx="3">
                  <c:v>0</c:v>
                </c:pt>
              </c:numCache>
            </c:numRef>
          </c:val>
        </c:ser>
        <c:dLbls>
          <c:numFmt formatCode="0.000" sourceLinked="0"/>
          <c:txPr>
            <a:bodyPr xmlns:a="http://schemas.openxmlformats.org/drawingml/2006/main" anchorCtr="1"/>
            <a:lstStyle xmlns:a="http://schemas.openxmlformats.org/drawingml/2006/main"/>
            <a:p xmlns:a="http://schemas.openxmlformats.org/drawingml/2006/main">
              <a:pPr>
                <a:defRPr sz="1500">
                  <a:solidFill>
                    <a:srgbClr val="52606B"/>
                  </a:solidFill>
                  <a:latin typeface="AppleGothic"/>
                  <a:ea typeface="AppleGothic"/>
                  <a:cs typeface="AppleGothic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axId val="48650112"/>
        <c:axId val="48672768"/>
      </c:barChart>
      <c:catAx>
        <c:axId val="48650112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xmlns:a="http://schemas.openxmlformats.org/drawingml/2006/main" w="9525">
            <a:solidFill>
              <a:srgbClr val="D4D4D4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1500">
                <a:solidFill>
                  <a:srgbClr val="52606B"/>
                </a:solidFill>
                <a:latin typeface="AppleGothic"/>
                <a:ea typeface="AppleGothic"/>
                <a:cs typeface="AppleGothic"/>
              </a:defRPr>
            </a:pPr>
          </a:p>
        </c:txPr>
        <c:crossAx val="48672768"/>
      </c:catAx>
      <c:valAx>
        <c:axId val="48672768"/>
        <c:scaling>
          <c:orientation val="minMax"/>
          <c:max val="1"/>
          <c:min val="0"/>
        </c:scaling>
        <c:delete val="0"/>
        <c:axPos val="l"/>
        <c:numFmt formatCode="0.000"/>
        <c:majorTickMark val="none"/>
        <c:minorTickMark val="none"/>
        <c:spPr>
          <a:ln xmlns:a="http://schemas.openxmlformats.org/drawingml/2006/main" w="9525">
            <a:solidFill>
              <a:srgbClr val="D4D4D4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1500">
                <a:solidFill>
                  <a:srgbClr val="52606B"/>
                </a:solidFill>
                <a:latin typeface="AppleGothic"/>
                <a:ea typeface="AppleGothic"/>
                <a:cs typeface="AppleGothic"/>
              </a:defRPr>
            </a:pPr>
          </a:p>
        </c:txPr>
        <c:crossAx val="48650112"/>
        <c:crossBetween val="between"/>
      </c:valAx>
      <c:spPr>
        <a:noFill xmlns:a="http://schemas.openxmlformats.org/drawingml/2006/main"/>
        <a:ln xmlns:a="http://schemas.openxmlformats.org/drawingml/2006/main" w="0">
          <a:noFill/>
        </a:ln>
      </c:spPr>
    </c:plotArea>
    <c:plotVisOnly val="1"/>
  </c:chart>
  <c:spPr>
    <a:noFill xmlns:a="http://schemas.openxmlformats.org/drawingml/2006/main"/>
    <a:ln xmlns:a="http://schemas.openxmlformats.org/drawingml/2006/main" w="0">
      <a:noFill/>
    </a:ln>
  </c:spPr>
  <c:externalData r:id="rIdChartSnapshot1">
    <c:autoUpdate val="0"/>
  </c:externalData>
</c:chartSpace>
</file>

<file path=ppt/slides/charts/chart3.xml><?xml version="1.0" encoding="utf-8"?>
<c:chartSpace xmlns:c="http://schemas.openxmlformats.org/drawingml/2006/chart" xmlns:r="http://schemas.openxmlformats.org/officeDocument/2006/relationships">
  <c:lang val="en-US"/>
  <c:chart>
    <c:plotArea>
      <c:lineChart>
        <c:grouping val="standard"/>
        <c:varyColors val="0"/>
        <c:ser>
          <c:idx val="0"/>
          <c:order val="0"/>
          <c:tx>
            <c:v>DPO loss · beta=0.1</c:v>
          </c:tx>
          <c:spPr>
            <a:solidFill xmlns:a="http://schemas.openxmlformats.org/drawingml/2006/main">
              <a:srgbClr val="284B72"/>
            </a:solidFill>
            <a:ln xmlns:a="http://schemas.openxmlformats.org/drawingml/2006/main" w="19050">
              <a:solidFill>
                <a:srgbClr val="284B72"/>
              </a:solidFill>
            </a:ln>
          </c:spPr>
          <c:marker>
            <c:symbol val="none"/>
          </c:marker>
          <c:cat>
            <c:numRef>
              <c:f>'Chart Data'!$A$2:$A$6</c:f>
              <c:numCache>
                <c:formatCode>General</c:formatCode>
                <c:ptCount val="5"/>
                <c:pt idx="0">
                  <c:v>-6</c:v>
                </c:pt>
                <c:pt idx="1">
                  <c:v>-3</c:v>
                </c:pt>
                <c:pt idx="2">
                  <c:v>0</c:v>
                </c:pt>
                <c:pt idx="3">
                  <c:v>3</c:v>
                </c:pt>
                <c:pt idx="4">
                  <c:v>6</c:v>
                </c:pt>
              </c:numCache>
            </c:numRef>
          </c:cat>
          <c:val>
            <c:numRef>
              <c:f>'Chart Data'!$B$2:$B$6</c:f>
              <c:numCache>
                <c:formatCode>0.000</c:formatCode>
                <c:ptCount val="5"/>
                <c:pt idx="0">
                  <c:v>1.037488</c:v>
                </c:pt>
                <c:pt idx="1">
                  <c:v>0.854355</c:v>
                </c:pt>
                <c:pt idx="2">
                  <c:v>0.693147</c:v>
                </c:pt>
                <c:pt idx="3">
                  <c:v>0.554355</c:v>
                </c:pt>
                <c:pt idx="4">
                  <c:v>0.437488</c:v>
                </c:pt>
              </c:numCache>
            </c:numRef>
          </c:val>
          <c:smooth val="0"/>
        </c:ser>
        <c:dLbls>
          <c:numFmt formatCode="0.000" sourceLinked="0"/>
          <c:txPr>
            <a:bodyPr xmlns:a="http://schemas.openxmlformats.org/drawingml/2006/main" anchorCtr="1"/>
            <a:lstStyle xmlns:a="http://schemas.openxmlformats.org/drawingml/2006/main"/>
            <a:p xmlns:a="http://schemas.openxmlformats.org/drawingml/2006/main">
              <a:pPr>
                <a:defRPr sz="1500">
                  <a:solidFill>
                    <a:srgbClr val="52606B"/>
                  </a:solidFill>
                  <a:latin typeface="AppleGothic"/>
                  <a:ea typeface="AppleGothic"/>
                  <a:cs typeface="AppleGothic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smooth val="0"/>
        <c:axId val="48650112"/>
        <c:axId val="48672768"/>
      </c:lineChart>
      <c:catAx>
        <c:axId val="48650112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xmlns:a="http://schemas.openxmlformats.org/drawingml/2006/main" w="9525">
            <a:solidFill>
              <a:srgbClr val="D4D4D4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1500">
                <a:solidFill>
                  <a:srgbClr val="52606B"/>
                </a:solidFill>
                <a:latin typeface="AppleGothic"/>
                <a:ea typeface="AppleGothic"/>
                <a:cs typeface="AppleGothic"/>
              </a:defRPr>
            </a:pPr>
          </a:p>
        </c:txPr>
        <c:crossAx val="48672768"/>
      </c:catAx>
      <c:valAx>
        <c:axId val="48672768"/>
        <c:scaling>
          <c:orientation val="minMax"/>
        </c:scaling>
        <c:delete val="0"/>
        <c:axPos val="l"/>
        <c:numFmt formatCode="0.000"/>
        <c:majorTickMark val="none"/>
        <c:minorTickMark val="none"/>
        <c:spPr>
          <a:ln xmlns:a="http://schemas.openxmlformats.org/drawingml/2006/main" w="9525">
            <a:solidFill>
              <a:srgbClr val="D4D4D4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1500">
                <a:solidFill>
                  <a:srgbClr val="52606B"/>
                </a:solidFill>
                <a:latin typeface="AppleGothic"/>
                <a:ea typeface="AppleGothic"/>
                <a:cs typeface="AppleGothic"/>
              </a:defRPr>
            </a:pPr>
          </a:p>
        </c:txPr>
        <c:crossAx val="48650112"/>
        <c:crossBetween val="between"/>
      </c:valAx>
      <c:spPr>
        <a:noFill xmlns:a="http://schemas.openxmlformats.org/drawingml/2006/main"/>
        <a:ln xmlns:a="http://schemas.openxmlformats.org/drawingml/2006/main" w="0">
          <a:noFill/>
        </a:ln>
      </c:spPr>
    </c:plotArea>
    <c:plotVisOnly val="1"/>
  </c:chart>
  <c:spPr>
    <a:noFill xmlns:a="http://schemas.openxmlformats.org/drawingml/2006/main"/>
    <a:ln xmlns:a="http://schemas.openxmlformats.org/drawingml/2006/main" w="0">
      <a:noFill/>
    </a:ln>
  </c:spPr>
  <c:externalData r:id="rIdChartSnapshot1">
    <c:autoUpdate val="0"/>
  </c:externalData>
</c:chartSpace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0A0B0C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DBBB460E-AFEA-4BC5-8DD1-1B98BA932B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00050"/>
            <a:ext cx="10477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1400" b="0">
                <a:solidFill>
                  <a:srgbClr val="BDC7C4"/>
                </a:solidFill>
                <a:latin typeface="AppleGothic"/>
                <a:ea typeface="AppleGothic"/>
                <a:cs typeface="AppleGothic"/>
              </a:defRPr>
            </a:defPPr>
          </a:lstStyle>
          <a:p xmlns:a="http://schemas.openxmlformats.org/drawingml/2006/main">
            <a:pPr algn="l">
              <a:lnSpc>
                <a:spcPct val="116000"/>
              </a:lnSpc>
              <a:buNone/>
              <a:defRPr sz="1400" b="0">
                <a:solidFill>
                  <a:srgbClr val="BDC7C4"/>
                </a:solidFill>
                <a:latin typeface="AppleGothic"/>
                <a:ea typeface="AppleGothic"/>
                <a:cs typeface="AppleGothic"/>
              </a:defRPr>
            </a:pPr>
            <a:r>
              <a:rPr sz="1400" b="0">
                <a:solidFill>
                  <a:srgbClr val="BDC7C4"/>
                </a:solidFill>
                <a:latin typeface="AppleGothic"/>
                <a:ea typeface="AppleGothic"/>
                <a:cs typeface="AppleGothic"/>
              </a:rPr>
              <a:t>LLMOPS / WEEK 07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C92C767F-E696-45E5-8E94-E066CCEB76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57350"/>
            <a:ext cx="10972800" cy="1905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5400" b="1">
                <a:solidFill>
                  <a:srgbClr val="FFFFFF"/>
                </a:solidFill>
                <a:latin typeface="AppleGothic"/>
                <a:ea typeface="AppleGothic"/>
                <a:cs typeface="AppleGothic"/>
              </a:defRPr>
            </a:defPPr>
          </a:lstStyle>
          <a:p xmlns:a="http://schemas.openxmlformats.org/drawingml/2006/main">
            <a:pPr algn="l">
              <a:lnSpc>
                <a:spcPct val="116000"/>
              </a:lnSpc>
              <a:buNone/>
              <a:defRPr sz="5400" b="1">
                <a:solidFill>
                  <a:srgbClr val="FFFFFF"/>
                </a:solidFill>
                <a:latin typeface="AppleGothic"/>
                <a:ea typeface="AppleGothic"/>
                <a:cs typeface="AppleGothic"/>
              </a:defRPr>
            </a:pPr>
            <a:r>
              <a:rPr sz="5400" b="1">
                <a:solidFill>
                  <a:srgbClr val="FFFFFF"/>
                </a:solidFill>
                <a:latin typeface="AppleGothic"/>
                <a:ea typeface="AppleGothic"/>
                <a:cs typeface="AppleGothic"/>
              </a:rPr>
              <a:t>모델 적응과 서비스 기획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CB90E0E9-1165-4566-AE55-6DE62D3FC9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05765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52606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58381DC5-1290-425F-B8D2-7825BE7F82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419600"/>
            <a:ext cx="10668000" cy="32321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2000" b="0">
                <a:solidFill>
                  <a:srgbClr val="BDC7C4"/>
                </a:solidFill>
                <a:latin typeface="AppleGothic"/>
                <a:ea typeface="AppleGothic"/>
                <a:cs typeface="AppleGothic"/>
              </a:defRPr>
            </a:defPPr>
          </a:lstStyle>
          <a:p xmlns:a="http://schemas.openxmlformats.org/drawingml/2006/main">
            <a:pPr algn="l">
              <a:lnSpc>
                <a:spcPct val="116000"/>
              </a:lnSpc>
              <a:buNone/>
              <a:defRPr sz="2000" b="0">
                <a:solidFill>
                  <a:srgbClr val="BDC7C4"/>
                </a:solidFill>
                <a:latin typeface="AppleGothic"/>
                <a:ea typeface="AppleGothic"/>
                <a:cs typeface="AppleGothic"/>
              </a:defRPr>
            </a:pPr>
            <a:r>
              <a:rPr sz="2000" b="0">
                <a:solidFill>
                  <a:srgbClr val="BDC7C4"/>
                </a:solidFill>
                <a:latin typeface="AppleGothic"/>
                <a:ea typeface="AppleGothic"/>
                <a:cs typeface="AppleGothic"/>
              </a:rPr>
              <a:t>WEEK 07 · 2026.10.16 · 온라인 실시간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20ACFBD8-4120-47C5-B5A1-2CE40AC03A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895215"/>
            <a:ext cx="10668000" cy="32321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2000" b="0">
                <a:solidFill>
                  <a:srgbClr val="BDC7C4"/>
                </a:solidFill>
                <a:latin typeface="AppleGothic"/>
                <a:ea typeface="AppleGothic"/>
                <a:cs typeface="AppleGothic"/>
              </a:defRPr>
            </a:defPPr>
          </a:lstStyle>
          <a:p xmlns:a="http://schemas.openxmlformats.org/drawingml/2006/main">
            <a:pPr algn="l">
              <a:lnSpc>
                <a:spcPct val="116000"/>
              </a:lnSpc>
              <a:buNone/>
              <a:defRPr sz="2000" b="0">
                <a:solidFill>
                  <a:srgbClr val="BDC7C4"/>
                </a:solidFill>
                <a:latin typeface="AppleGothic"/>
                <a:ea typeface="AppleGothic"/>
                <a:cs typeface="AppleGothic"/>
              </a:defRPr>
            </a:pPr>
            <a:r>
              <a:rPr sz="2000" b="0">
                <a:solidFill>
                  <a:srgbClr val="BDC7C4"/>
                </a:solidFill>
                <a:latin typeface="AppleGothic"/>
                <a:ea typeface="AppleGothic"/>
                <a:cs typeface="AppleGothic"/>
              </a:rPr>
              <a:t>검색 이후의 기술 선택과 기획서 초안 0.1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A584894B-5106-4892-A26C-EE23AFF644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370830"/>
            <a:ext cx="10668000" cy="32321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2000" b="0">
                <a:solidFill>
                  <a:srgbClr val="BDC7C4"/>
                </a:solidFill>
                <a:latin typeface="AppleGothic"/>
                <a:ea typeface="AppleGothic"/>
                <a:cs typeface="AppleGothic"/>
              </a:defRPr>
            </a:defPPr>
          </a:lstStyle>
          <a:p xmlns:a="http://schemas.openxmlformats.org/drawingml/2006/main">
            <a:pPr algn="l">
              <a:lnSpc>
                <a:spcPct val="116000"/>
              </a:lnSpc>
              <a:buNone/>
              <a:defRPr sz="2000" b="0">
                <a:solidFill>
                  <a:srgbClr val="BDC7C4"/>
                </a:solidFill>
                <a:latin typeface="AppleGothic"/>
                <a:ea typeface="AppleGothic"/>
                <a:cs typeface="AppleGothic"/>
              </a:defRPr>
            </a:pPr>
            <a:r>
              <a:rPr sz="2000" b="0">
                <a:solidFill>
                  <a:srgbClr val="BDC7C4"/>
                </a:solidFill>
                <a:latin typeface="AppleGothic"/>
                <a:ea typeface="AppleGothic"/>
                <a:cs typeface="AppleGothic"/>
              </a:rPr>
              <a:t>차성재 · 무신사 Core AI PM × AI 대학원 겸임교수</a:t>
            </a:r>
          </a:p>
        </p:txBody>
      </p:sp>
    </p:spTree>
    <p:extLst>
      <p:ext uri="{BB962C8B-B14F-4D97-AF65-F5344CB8AC3E}">
        <p14:creationId xmlns:p14="http://schemas.microsoft.com/office/powerpoint/2010/main" val="1457760919"/>
      </p:ext>
    </p:extLst>
  </p:cSld>
</p:sld>
</file>

<file path=ppt/slides/slide2.xml><?xml version="1.0" encoding="utf-8"?>
<p:sld xmlns:p="http://schemas.openxmlformats.org/presentationml/2006/main">
  <p:cSld>
    <p:bg>
      <p:bgPr>
        <a:solidFill xmlns:a="http://schemas.openxmlformats.org/drawingml/2006/main">
          <a:srgbClr val="F7F7F5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8D5B0C94-9FE8-4FA9-84DA-76DF8FC76A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47650"/>
            <a:ext cx="9525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1400" b="0">
                <a:solidFill>
                  <a:srgbClr val="52606B"/>
                </a:solidFill>
                <a:latin typeface="AppleGothic"/>
                <a:ea typeface="AppleGothic"/>
                <a:cs typeface="AppleGothic"/>
              </a:defRPr>
            </a:defPPr>
          </a:lstStyle>
          <a:p xmlns:a="http://schemas.openxmlformats.org/drawingml/2006/main">
            <a:pPr algn="l">
              <a:lnSpc>
                <a:spcPct val="116000"/>
              </a:lnSpc>
              <a:buNone/>
              <a:defRPr sz="1400" b="0">
                <a:solidFill>
                  <a:srgbClr val="52606B"/>
                </a:solidFill>
                <a:latin typeface="AppleGothic"/>
                <a:ea typeface="AppleGothic"/>
                <a:cs typeface="AppleGothic"/>
              </a:defRPr>
            </a:pPr>
            <a:r>
              <a:rPr sz="1400" b="0">
                <a:solidFill>
                  <a:srgbClr val="52606B"/>
                </a:solidFill>
                <a:latin typeface="AppleGothic"/>
                <a:ea typeface="AppleGothic"/>
                <a:cs typeface="AppleGothic"/>
              </a:rPr>
              <a:t>LLMOPS / W07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82D67B24-E5CA-409E-A12A-02E8EA139A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8500" y="247650"/>
            <a:ext cx="7239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r">
              <a:defRPr sz="1400" b="0">
                <a:solidFill>
                  <a:srgbClr val="52606B"/>
                </a:solidFill>
                <a:latin typeface="Menlo"/>
                <a:ea typeface="Menlo"/>
                <a:cs typeface="Menlo"/>
              </a:defRPr>
            </a:defPPr>
          </a:lstStyle>
          <a:p xmlns:a="http://schemas.openxmlformats.org/drawingml/2006/main">
            <a:pPr algn="r">
              <a:lnSpc>
                <a:spcPct val="116000"/>
              </a:lnSpc>
              <a:buNone/>
              <a:defRPr sz="1400" b="0">
                <a:solidFill>
                  <a:srgbClr val="52606B"/>
                </a:solidFill>
                <a:latin typeface="Menlo"/>
                <a:ea typeface="Menlo"/>
                <a:cs typeface="Menlo"/>
              </a:defRPr>
            </a:pPr>
            <a:r>
              <a:rPr sz="1400" b="0">
                <a:solidFill>
                  <a:srgbClr val="52606B"/>
                </a:solidFill>
                <a:latin typeface="Menlo"/>
                <a:ea typeface="Menlo"/>
                <a:cs typeface="Menlo"/>
              </a:rPr>
              <a:t>02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1E0FFB81-7902-416B-8C15-5F11656BED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23900"/>
            <a:ext cx="109728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3400" b="1">
                <a:solidFill>
                  <a:srgbClr val="17191B"/>
                </a:solidFill>
                <a:latin typeface="AppleGothic"/>
                <a:ea typeface="AppleGothic"/>
                <a:cs typeface="AppleGothic"/>
              </a:defRPr>
            </a:defPPr>
          </a:lstStyle>
          <a:p xmlns:a="http://schemas.openxmlformats.org/drawingml/2006/main">
            <a:pPr algn="l">
              <a:lnSpc>
                <a:spcPct val="116000"/>
              </a:lnSpc>
              <a:buNone/>
              <a:defRPr sz="3400" b="1">
                <a:solidFill>
                  <a:srgbClr val="17191B"/>
                </a:solidFill>
                <a:latin typeface="AppleGothic"/>
                <a:ea typeface="AppleGothic"/>
                <a:cs typeface="AppleGothic"/>
              </a:defRPr>
            </a:pPr>
            <a:r>
              <a:rPr sz="3400" b="1">
                <a:solidFill>
                  <a:srgbClr val="17191B"/>
                </a:solidFill>
                <a:latin typeface="AppleGothic"/>
                <a:ea typeface="AppleGothic"/>
                <a:cs typeface="AppleGothic"/>
              </a:rPr>
              <a:t>이번 주의 학습 목표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30CA860C-0682-40A6-B32B-77250498A6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315075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FD5D3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C6DE08BB-FA35-4536-88D8-23BAEC78E5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77000"/>
            <a:ext cx="109728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1400" b="0">
                <a:solidFill>
                  <a:srgbClr val="52606B"/>
                </a:solidFill>
                <a:latin typeface="AppleGothic"/>
                <a:ea typeface="AppleGothic"/>
                <a:cs typeface="AppleGothic"/>
              </a:defRPr>
            </a:defPPr>
          </a:lstStyle>
          <a:p xmlns:a="http://schemas.openxmlformats.org/drawingml/2006/main">
            <a:pPr algn="l">
              <a:lnSpc>
                <a:spcPct val="116000"/>
              </a:lnSpc>
              <a:buNone/>
              <a:defRPr sz="1400" b="0">
                <a:solidFill>
                  <a:srgbClr val="52606B"/>
                </a:solidFill>
                <a:latin typeface="AppleGothic"/>
                <a:ea typeface="AppleGothic"/>
                <a:cs typeface="AppleGothic"/>
              </a:defRPr>
            </a:pPr>
            <a:r>
              <a:rPr sz="1400" b="0">
                <a:solidFill>
                  <a:srgbClr val="52606B"/>
                </a:solidFill>
                <a:latin typeface="AppleGothic"/>
                <a:ea typeface="AppleGothic"/>
                <a:cs typeface="AppleGothic"/>
              </a:rPr>
              <a:t>데이터 · 모델 적응 · 비교 평가 · 기획서 초안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387015CA-B148-4CC4-B002-642C819920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847850"/>
            <a:ext cx="5715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1800" b="0">
                <a:solidFill>
                  <a:srgbClr val="284B72"/>
                </a:solidFill>
                <a:latin typeface="Menlo"/>
                <a:ea typeface="Menlo"/>
                <a:cs typeface="Menlo"/>
              </a:defRPr>
            </a:defPPr>
          </a:lstStyle>
          <a:p xmlns:a="http://schemas.openxmlformats.org/drawingml/2006/main">
            <a:pPr algn="l">
              <a:lnSpc>
                <a:spcPct val="116000"/>
              </a:lnSpc>
              <a:buNone/>
              <a:defRPr sz="1800" b="0">
                <a:solidFill>
                  <a:srgbClr val="284B72"/>
                </a:solidFill>
                <a:latin typeface="Menlo"/>
                <a:ea typeface="Menlo"/>
                <a:cs typeface="Menlo"/>
              </a:defRPr>
            </a:pPr>
            <a:r>
              <a:rPr sz="1800" b="0">
                <a:solidFill>
                  <a:srgbClr val="284B72"/>
                </a:solidFill>
                <a:latin typeface="Menlo"/>
                <a:ea typeface="Menlo"/>
                <a:cs typeface="Menlo"/>
              </a:rPr>
              <a:t>01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12A4F3D8-49CD-448C-9013-E563E9FF7F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90650" y="1828800"/>
            <a:ext cx="3000375" cy="36741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2300" b="1">
                <a:solidFill>
                  <a:srgbClr val="17191B"/>
                </a:solidFill>
                <a:latin typeface="AppleGothic"/>
                <a:ea typeface="AppleGothic"/>
                <a:cs typeface="AppleGothic"/>
              </a:defRPr>
            </a:defPPr>
          </a:lstStyle>
          <a:p xmlns:a="http://schemas.openxmlformats.org/drawingml/2006/main">
            <a:pPr algn="l">
              <a:lnSpc>
                <a:spcPct val="116000"/>
              </a:lnSpc>
              <a:buNone/>
              <a:defRPr sz="2300" b="1">
                <a:solidFill>
                  <a:srgbClr val="17191B"/>
                </a:solidFill>
                <a:latin typeface="AppleGothic"/>
                <a:ea typeface="AppleGothic"/>
                <a:cs typeface="AppleGothic"/>
              </a:defRPr>
            </a:pPr>
            <a:r>
              <a:rPr sz="2300" b="1">
                <a:solidFill>
                  <a:srgbClr val="17191B"/>
                </a:solidFill>
                <a:latin typeface="AppleGothic"/>
                <a:ea typeface="AppleGothic"/>
                <a:cs typeface="AppleGothic"/>
              </a:rPr>
              <a:t>기술 선택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9BBBA27E-E992-4BA4-A55D-B508B761CF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81550" y="1828800"/>
            <a:ext cx="6781800" cy="36741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2100" b="0">
                <a:solidFill>
                  <a:srgbClr val="52606B"/>
                </a:solidFill>
                <a:latin typeface="AppleGothic"/>
                <a:ea typeface="AppleGothic"/>
                <a:cs typeface="AppleGothic"/>
              </a:defRPr>
            </a:defPPr>
          </a:lstStyle>
          <a:p xmlns:a="http://schemas.openxmlformats.org/drawingml/2006/main">
            <a:pPr algn="l">
              <a:lnSpc>
                <a:spcPct val="116000"/>
              </a:lnSpc>
              <a:buNone/>
              <a:defRPr sz="2100" b="0">
                <a:solidFill>
                  <a:srgbClr val="52606B"/>
                </a:solidFill>
                <a:latin typeface="AppleGothic"/>
                <a:ea typeface="AppleGothic"/>
                <a:cs typeface="AppleGothic"/>
              </a:defRPr>
            </a:pPr>
            <a:r>
              <a:rPr sz="2100" b="0">
                <a:solidFill>
                  <a:srgbClr val="52606B"/>
                </a:solidFill>
                <a:latin typeface="AppleGothic"/>
                <a:ea typeface="AppleGothic"/>
                <a:cs typeface="AppleGothic"/>
              </a:rPr>
              <a:t>검색·프롬프트·학습의 개선 대상 구분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A8AFB48D-B1CF-4D1A-804E-1B2A98AFDD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90650" y="2329561"/>
            <a:ext cx="1019175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FD5D3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62B9A5FE-1F72-4BBE-B102-8A21CF6656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086100"/>
            <a:ext cx="5715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1800" b="0">
                <a:solidFill>
                  <a:srgbClr val="284B72"/>
                </a:solidFill>
                <a:latin typeface="Menlo"/>
                <a:ea typeface="Menlo"/>
                <a:cs typeface="Menlo"/>
              </a:defRPr>
            </a:defPPr>
          </a:lstStyle>
          <a:p xmlns:a="http://schemas.openxmlformats.org/drawingml/2006/main">
            <a:pPr algn="l">
              <a:lnSpc>
                <a:spcPct val="116000"/>
              </a:lnSpc>
              <a:buNone/>
              <a:defRPr sz="1800" b="0">
                <a:solidFill>
                  <a:srgbClr val="284B72"/>
                </a:solidFill>
                <a:latin typeface="Menlo"/>
                <a:ea typeface="Menlo"/>
                <a:cs typeface="Menlo"/>
              </a:defRPr>
            </a:pPr>
            <a:r>
              <a:rPr sz="1800" b="0">
                <a:solidFill>
                  <a:srgbClr val="284B72"/>
                </a:solidFill>
                <a:latin typeface="Menlo"/>
                <a:ea typeface="Menlo"/>
                <a:cs typeface="Menlo"/>
              </a:rPr>
              <a:t>02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8FECAF43-F5AA-4AFE-9140-ADB1ACEA8C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90650" y="3067050"/>
            <a:ext cx="3000375" cy="36741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2300" b="1">
                <a:solidFill>
                  <a:srgbClr val="17191B"/>
                </a:solidFill>
                <a:latin typeface="AppleGothic"/>
                <a:ea typeface="AppleGothic"/>
                <a:cs typeface="AppleGothic"/>
              </a:defRPr>
            </a:defPPr>
          </a:lstStyle>
          <a:p xmlns:a="http://schemas.openxmlformats.org/drawingml/2006/main">
            <a:pPr algn="l">
              <a:lnSpc>
                <a:spcPct val="116000"/>
              </a:lnSpc>
              <a:buNone/>
              <a:defRPr sz="2300" b="1">
                <a:solidFill>
                  <a:srgbClr val="17191B"/>
                </a:solidFill>
                <a:latin typeface="AppleGothic"/>
                <a:ea typeface="AppleGothic"/>
                <a:cs typeface="AppleGothic"/>
              </a:defRPr>
            </a:pPr>
            <a:r>
              <a:rPr sz="2300" b="1">
                <a:solidFill>
                  <a:srgbClr val="17191B"/>
                </a:solidFill>
                <a:latin typeface="AppleGothic"/>
                <a:ea typeface="AppleGothic"/>
                <a:cs typeface="AppleGothic"/>
              </a:rPr>
              <a:t>직접 실험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E2C03E11-FE08-414B-B73E-2CBC06B7B3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81550" y="3067050"/>
            <a:ext cx="6781800" cy="36741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2100" b="0">
                <a:solidFill>
                  <a:srgbClr val="52606B"/>
                </a:solidFill>
                <a:latin typeface="AppleGothic"/>
                <a:ea typeface="AppleGothic"/>
                <a:cs typeface="AppleGothic"/>
              </a:defRPr>
            </a:defPPr>
          </a:lstStyle>
          <a:p xmlns:a="http://schemas.openxmlformats.org/drawingml/2006/main">
            <a:pPr algn="l">
              <a:lnSpc>
                <a:spcPct val="116000"/>
              </a:lnSpc>
              <a:buNone/>
              <a:defRPr sz="2100" b="0">
                <a:solidFill>
                  <a:srgbClr val="52606B"/>
                </a:solidFill>
                <a:latin typeface="AppleGothic"/>
                <a:ea typeface="AppleGothic"/>
                <a:cs typeface="AppleGothic"/>
              </a:defRPr>
            </a:pPr>
            <a:r>
              <a:rPr sz="2100" b="0">
                <a:solidFill>
                  <a:srgbClr val="52606B"/>
                </a:solidFill>
                <a:latin typeface="AppleGothic"/>
                <a:ea typeface="AppleGothic"/>
                <a:cs typeface="AppleGothic"/>
              </a:rPr>
              <a:t>데이터 누출·행렬 구조·선호 손실 확인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0EBA3708-E391-43D5-91B3-69458A09C8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90650" y="3567811"/>
            <a:ext cx="1019175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FD5D3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66FF490E-3CFE-4219-A832-9810FA2BDD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324350"/>
            <a:ext cx="5715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1800" b="0">
                <a:solidFill>
                  <a:srgbClr val="284B72"/>
                </a:solidFill>
                <a:latin typeface="Menlo"/>
                <a:ea typeface="Menlo"/>
                <a:cs typeface="Menlo"/>
              </a:defRPr>
            </a:defPPr>
          </a:lstStyle>
          <a:p xmlns:a="http://schemas.openxmlformats.org/drawingml/2006/main">
            <a:pPr algn="l">
              <a:lnSpc>
                <a:spcPct val="116000"/>
              </a:lnSpc>
              <a:buNone/>
              <a:defRPr sz="1800" b="0">
                <a:solidFill>
                  <a:srgbClr val="284B72"/>
                </a:solidFill>
                <a:latin typeface="Menlo"/>
                <a:ea typeface="Menlo"/>
                <a:cs typeface="Menlo"/>
              </a:defRPr>
            </a:pPr>
            <a:r>
              <a:rPr sz="1800" b="0">
                <a:solidFill>
                  <a:srgbClr val="284B72"/>
                </a:solidFill>
                <a:latin typeface="Menlo"/>
                <a:ea typeface="Menlo"/>
                <a:cs typeface="Menlo"/>
              </a:rPr>
              <a:t>03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2CFBC97C-E198-4DC9-A700-42A63E3650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90650" y="4305300"/>
            <a:ext cx="3000375" cy="36741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2300" b="1">
                <a:solidFill>
                  <a:srgbClr val="17191B"/>
                </a:solidFill>
                <a:latin typeface="AppleGothic"/>
                <a:ea typeface="AppleGothic"/>
                <a:cs typeface="AppleGothic"/>
              </a:defRPr>
            </a:defPPr>
          </a:lstStyle>
          <a:p xmlns:a="http://schemas.openxmlformats.org/drawingml/2006/main">
            <a:pPr algn="l">
              <a:lnSpc>
                <a:spcPct val="116000"/>
              </a:lnSpc>
              <a:buNone/>
              <a:defRPr sz="2300" b="1">
                <a:solidFill>
                  <a:srgbClr val="17191B"/>
                </a:solidFill>
                <a:latin typeface="AppleGothic"/>
                <a:ea typeface="AppleGothic"/>
                <a:cs typeface="AppleGothic"/>
              </a:defRPr>
            </a:pPr>
            <a:r>
              <a:rPr sz="2300" b="1">
                <a:solidFill>
                  <a:srgbClr val="17191B"/>
                </a:solidFill>
                <a:latin typeface="AppleGothic"/>
                <a:ea typeface="AppleGothic"/>
                <a:cs typeface="AppleGothic"/>
              </a:rPr>
              <a:t>기획서 리뷰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1DF6FB38-B384-49AD-8846-31334429F5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81550" y="4305300"/>
            <a:ext cx="6781800" cy="36741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2100" b="0">
                <a:solidFill>
                  <a:srgbClr val="52606B"/>
                </a:solidFill>
                <a:latin typeface="AppleGothic"/>
                <a:ea typeface="AppleGothic"/>
                <a:cs typeface="AppleGothic"/>
              </a:defRPr>
            </a:defPPr>
          </a:lstStyle>
          <a:p xmlns:a="http://schemas.openxmlformats.org/drawingml/2006/main">
            <a:pPr algn="l">
              <a:lnSpc>
                <a:spcPct val="116000"/>
              </a:lnSpc>
              <a:buNone/>
              <a:defRPr sz="2100" b="0">
                <a:solidFill>
                  <a:srgbClr val="52606B"/>
                </a:solidFill>
                <a:latin typeface="AppleGothic"/>
                <a:ea typeface="AppleGothic"/>
                <a:cs typeface="AppleGothic"/>
              </a:defRPr>
            </a:pPr>
            <a:r>
              <a:rPr sz="2100" b="0">
                <a:solidFill>
                  <a:srgbClr val="52606B"/>
                </a:solidFill>
                <a:latin typeface="AppleGothic"/>
                <a:ea typeface="AppleGothic"/>
                <a:cs typeface="AppleGothic"/>
              </a:rPr>
              <a:t>사용자·범위·평가·위험의 근거 연결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C52E89AF-7924-4B9B-BB3D-EF7230FB16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90650" y="4806061"/>
            <a:ext cx="1019175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FD5D3"/>
          </a:solidFill>
          <a:ln xmlns:a="http://schemas.openxmlformats.org/drawingml/2006/main" w="0">
            <a:noFill/>
            <a:prstDash val="solid"/>
          </a:ln>
        </p:spPr>
      </p:sp>
    </p:spTree>
    <p:extLst>
      <p:ext uri="{BB962C8B-B14F-4D97-AF65-F5344CB8AC3E}">
        <p14:creationId xmlns:p14="http://schemas.microsoft.com/office/powerpoint/2010/main" val="1271136348"/>
      </p:ext>
    </p:extLst>
  </p:cSld>
</p:sld>
</file>

<file path=ppt/slides/slide3.xml><?xml version="1.0" encoding="utf-8"?>
<p:sld xmlns:p="http://schemas.openxmlformats.org/presentationml/2006/main">
  <p:cSld>
    <p:bg>
      <p:bgPr>
        <a:solidFill xmlns:a="http://schemas.openxmlformats.org/drawingml/2006/main">
          <a:srgbClr val="F7F7F5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55D1CA4D-6F46-4234-9AEE-CB020E5875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47650"/>
            <a:ext cx="9525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1400" b="0">
                <a:solidFill>
                  <a:srgbClr val="52606B"/>
                </a:solidFill>
                <a:latin typeface="AppleGothic"/>
                <a:ea typeface="AppleGothic"/>
                <a:cs typeface="AppleGothic"/>
              </a:defRPr>
            </a:defPPr>
          </a:lstStyle>
          <a:p xmlns:a="http://schemas.openxmlformats.org/drawingml/2006/main">
            <a:pPr algn="l">
              <a:lnSpc>
                <a:spcPct val="116000"/>
              </a:lnSpc>
              <a:buNone/>
              <a:defRPr sz="1400" b="0">
                <a:solidFill>
                  <a:srgbClr val="52606B"/>
                </a:solidFill>
                <a:latin typeface="AppleGothic"/>
                <a:ea typeface="AppleGothic"/>
                <a:cs typeface="AppleGothic"/>
              </a:defRPr>
            </a:pPr>
            <a:r>
              <a:rPr sz="1400" b="0">
                <a:solidFill>
                  <a:srgbClr val="52606B"/>
                </a:solidFill>
                <a:latin typeface="AppleGothic"/>
                <a:ea typeface="AppleGothic"/>
                <a:cs typeface="AppleGothic"/>
              </a:rPr>
              <a:t>LLMOPS / W07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9A259B19-724C-4C71-8F7D-D32FF8D486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8500" y="247650"/>
            <a:ext cx="7239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r">
              <a:defRPr sz="1400" b="0">
                <a:solidFill>
                  <a:srgbClr val="52606B"/>
                </a:solidFill>
                <a:latin typeface="Menlo"/>
                <a:ea typeface="Menlo"/>
                <a:cs typeface="Menlo"/>
              </a:defRPr>
            </a:defPPr>
          </a:lstStyle>
          <a:p xmlns:a="http://schemas.openxmlformats.org/drawingml/2006/main">
            <a:pPr algn="r">
              <a:lnSpc>
                <a:spcPct val="116000"/>
              </a:lnSpc>
              <a:buNone/>
              <a:defRPr sz="1400" b="0">
                <a:solidFill>
                  <a:srgbClr val="52606B"/>
                </a:solidFill>
                <a:latin typeface="Menlo"/>
                <a:ea typeface="Menlo"/>
                <a:cs typeface="Menlo"/>
              </a:defRPr>
            </a:pPr>
            <a:r>
              <a:rPr sz="1400" b="0">
                <a:solidFill>
                  <a:srgbClr val="52606B"/>
                </a:solidFill>
                <a:latin typeface="Menlo"/>
                <a:ea typeface="Menlo"/>
                <a:cs typeface="Menlo"/>
              </a:rPr>
              <a:t>03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93E41575-80B0-4214-B97C-AC7C618CF6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23900"/>
            <a:ext cx="109728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3400" b="1">
                <a:solidFill>
                  <a:srgbClr val="17191B"/>
                </a:solidFill>
                <a:latin typeface="AppleGothic"/>
                <a:ea typeface="AppleGothic"/>
                <a:cs typeface="AppleGothic"/>
              </a:defRPr>
            </a:defPPr>
          </a:lstStyle>
          <a:p xmlns:a="http://schemas.openxmlformats.org/drawingml/2006/main">
            <a:pPr algn="l">
              <a:lnSpc>
                <a:spcPct val="116000"/>
              </a:lnSpc>
              <a:buNone/>
              <a:defRPr sz="3400" b="1">
                <a:solidFill>
                  <a:srgbClr val="17191B"/>
                </a:solidFill>
                <a:latin typeface="AppleGothic"/>
                <a:ea typeface="AppleGothic"/>
                <a:cs typeface="AppleGothic"/>
              </a:defRPr>
            </a:pPr>
            <a:r>
              <a:rPr sz="3400" b="1">
                <a:solidFill>
                  <a:srgbClr val="17191B"/>
                </a:solidFill>
                <a:latin typeface="AppleGothic"/>
                <a:ea typeface="AppleGothic"/>
                <a:cs typeface="AppleGothic"/>
              </a:rPr>
              <a:t>16주 로드맵 · 7주차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7C8F4697-F8A4-4710-87A0-ED798631CF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315075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FD5D3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F50EE89E-0F60-4AD3-809E-1A7DD4C527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77000"/>
            <a:ext cx="109728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1400" b="0">
                <a:solidFill>
                  <a:srgbClr val="52606B"/>
                </a:solidFill>
                <a:latin typeface="AppleGothic"/>
                <a:ea typeface="AppleGothic"/>
                <a:cs typeface="AppleGothic"/>
              </a:defRPr>
            </a:defPPr>
          </a:lstStyle>
          <a:p xmlns:a="http://schemas.openxmlformats.org/drawingml/2006/main">
            <a:pPr algn="l">
              <a:lnSpc>
                <a:spcPct val="116000"/>
              </a:lnSpc>
              <a:buNone/>
              <a:defRPr sz="1400" b="0">
                <a:solidFill>
                  <a:srgbClr val="52606B"/>
                </a:solidFill>
                <a:latin typeface="AppleGothic"/>
                <a:ea typeface="AppleGothic"/>
                <a:cs typeface="AppleGothic"/>
              </a:defRPr>
            </a:pPr>
            <a:r>
              <a:rPr sz="1400" b="0">
                <a:solidFill>
                  <a:srgbClr val="52606B"/>
                </a:solidFill>
                <a:latin typeface="AppleGothic"/>
                <a:ea typeface="AppleGothic"/>
                <a:cs typeface="AppleGothic"/>
              </a:rPr>
              <a:t>데이터 · 모델 적응 · 비교 평가 · 기획서 초안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7865538C-E1F0-443F-9FBF-4573F32B44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1800225"/>
            <a:ext cx="857250" cy="219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1400" b="0">
                <a:solidFill>
                  <a:srgbClr val="52606B"/>
                </a:solidFill>
                <a:latin typeface="Menlo"/>
                <a:ea typeface="Menlo"/>
                <a:cs typeface="Menlo"/>
              </a:defRPr>
            </a:defPPr>
          </a:lstStyle>
          <a:p xmlns:a="http://schemas.openxmlformats.org/drawingml/2006/main">
            <a:pPr algn="l">
              <a:lnSpc>
                <a:spcPct val="116000"/>
              </a:lnSpc>
              <a:buNone/>
              <a:defRPr sz="1400" b="0">
                <a:solidFill>
                  <a:srgbClr val="52606B"/>
                </a:solidFill>
                <a:latin typeface="Menlo"/>
                <a:ea typeface="Menlo"/>
                <a:cs typeface="Menlo"/>
              </a:defRPr>
            </a:pPr>
            <a:r>
              <a:rPr sz="1400" b="0">
                <a:solidFill>
                  <a:srgbClr val="52606B"/>
                </a:solidFill>
                <a:latin typeface="Menlo"/>
                <a:ea typeface="Menlo"/>
                <a:cs typeface="Menlo"/>
              </a:rPr>
              <a:t>01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01D9454D-78F7-4B57-8D5F-8D5785EFE9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95450" y="1800225"/>
            <a:ext cx="3810000" cy="219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1400" b="0">
                <a:solidFill>
                  <a:srgbClr val="52606B"/>
                </a:solidFill>
                <a:latin typeface="AppleGothic"/>
                <a:ea typeface="AppleGothic"/>
                <a:cs typeface="AppleGothic"/>
              </a:defRPr>
            </a:defPPr>
          </a:lstStyle>
          <a:p xmlns:a="http://schemas.openxmlformats.org/drawingml/2006/main">
            <a:pPr algn="l">
              <a:lnSpc>
                <a:spcPct val="116000"/>
              </a:lnSpc>
              <a:buNone/>
              <a:defRPr sz="1400" b="0">
                <a:solidFill>
                  <a:srgbClr val="52606B"/>
                </a:solidFill>
                <a:latin typeface="AppleGothic"/>
                <a:ea typeface="AppleGothic"/>
                <a:cs typeface="AppleGothic"/>
              </a:defRPr>
            </a:pPr>
            <a:r>
              <a:rPr sz="1400" b="0">
                <a:solidFill>
                  <a:srgbClr val="52606B"/>
                </a:solidFill>
                <a:latin typeface="AppleGothic"/>
                <a:ea typeface="AppleGothic"/>
                <a:cs typeface="AppleGothic"/>
              </a:rPr>
              <a:t>09.04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30D943E5-65F4-465E-B7EC-1667305E5B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2114550"/>
            <a:ext cx="50863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1800" b="0">
                <a:solidFill>
                  <a:srgbClr val="17191B"/>
                </a:solidFill>
                <a:latin typeface="AppleGothic"/>
                <a:ea typeface="AppleGothic"/>
                <a:cs typeface="AppleGothic"/>
              </a:defRPr>
            </a:defPPr>
          </a:lstStyle>
          <a:p xmlns:a="http://schemas.openxmlformats.org/drawingml/2006/main">
            <a:pPr algn="l">
              <a:lnSpc>
                <a:spcPct val="116000"/>
              </a:lnSpc>
              <a:buNone/>
              <a:defRPr sz="1800" b="0">
                <a:solidFill>
                  <a:srgbClr val="17191B"/>
                </a:solidFill>
                <a:latin typeface="AppleGothic"/>
                <a:ea typeface="AppleGothic"/>
                <a:cs typeface="AppleGothic"/>
              </a:defRPr>
            </a:pPr>
            <a:r>
              <a:rPr sz="1800" b="0">
                <a:solidFill>
                  <a:srgbClr val="17191B"/>
                </a:solidFill>
                <a:latin typeface="AppleGothic"/>
                <a:ea typeface="AppleGothic"/>
                <a:cs typeface="AppleGothic"/>
              </a:rPr>
              <a:t>실행 추적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307FCCB7-1481-40F6-990C-731CDFA654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2619375"/>
            <a:ext cx="857250" cy="219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1400" b="0">
                <a:solidFill>
                  <a:srgbClr val="52606B"/>
                </a:solidFill>
                <a:latin typeface="Menlo"/>
                <a:ea typeface="Menlo"/>
                <a:cs typeface="Menlo"/>
              </a:defRPr>
            </a:defPPr>
          </a:lstStyle>
          <a:p xmlns:a="http://schemas.openxmlformats.org/drawingml/2006/main">
            <a:pPr algn="l">
              <a:lnSpc>
                <a:spcPct val="116000"/>
              </a:lnSpc>
              <a:buNone/>
              <a:defRPr sz="1400" b="0">
                <a:solidFill>
                  <a:srgbClr val="52606B"/>
                </a:solidFill>
                <a:latin typeface="Menlo"/>
                <a:ea typeface="Menlo"/>
                <a:cs typeface="Menlo"/>
              </a:defRPr>
            </a:pPr>
            <a:r>
              <a:rPr sz="1400" b="0">
                <a:solidFill>
                  <a:srgbClr val="52606B"/>
                </a:solidFill>
                <a:latin typeface="Menlo"/>
                <a:ea typeface="Menlo"/>
                <a:cs typeface="Menlo"/>
              </a:rPr>
              <a:t>02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C592291E-44A4-4715-88B1-22CF6F3813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95450" y="2619375"/>
            <a:ext cx="3810000" cy="219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1400" b="0">
                <a:solidFill>
                  <a:srgbClr val="52606B"/>
                </a:solidFill>
                <a:latin typeface="AppleGothic"/>
                <a:ea typeface="AppleGothic"/>
                <a:cs typeface="AppleGothic"/>
              </a:defRPr>
            </a:defPPr>
          </a:lstStyle>
          <a:p xmlns:a="http://schemas.openxmlformats.org/drawingml/2006/main">
            <a:pPr algn="l">
              <a:lnSpc>
                <a:spcPct val="116000"/>
              </a:lnSpc>
              <a:buNone/>
              <a:defRPr sz="1400" b="0">
                <a:solidFill>
                  <a:srgbClr val="52606B"/>
                </a:solidFill>
                <a:latin typeface="AppleGothic"/>
                <a:ea typeface="AppleGothic"/>
                <a:cs typeface="AppleGothic"/>
              </a:defRPr>
            </a:pPr>
            <a:r>
              <a:rPr sz="1400" b="0">
                <a:solidFill>
                  <a:srgbClr val="52606B"/>
                </a:solidFill>
                <a:latin typeface="AppleGothic"/>
                <a:ea typeface="AppleGothic"/>
                <a:cs typeface="AppleGothic"/>
              </a:rPr>
              <a:t>09.11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D4AE138E-6C18-48B7-B8D9-0BB1F65D08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2933700"/>
            <a:ext cx="50863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1800" b="0">
                <a:solidFill>
                  <a:srgbClr val="17191B"/>
                </a:solidFill>
                <a:latin typeface="AppleGothic"/>
                <a:ea typeface="AppleGothic"/>
                <a:cs typeface="AppleGothic"/>
              </a:defRPr>
            </a:defPPr>
          </a:lstStyle>
          <a:p xmlns:a="http://schemas.openxmlformats.org/drawingml/2006/main">
            <a:pPr algn="l">
              <a:lnSpc>
                <a:spcPct val="116000"/>
              </a:lnSpc>
              <a:buNone/>
              <a:defRPr sz="1800" b="0">
                <a:solidFill>
                  <a:srgbClr val="17191B"/>
                </a:solidFill>
                <a:latin typeface="AppleGothic"/>
                <a:ea typeface="AppleGothic"/>
                <a:cs typeface="AppleGothic"/>
              </a:defRPr>
            </a:pPr>
            <a:r>
              <a:rPr sz="1800" b="0">
                <a:solidFill>
                  <a:srgbClr val="17191B"/>
                </a:solidFill>
                <a:latin typeface="AppleGothic"/>
                <a:ea typeface="AppleGothic"/>
                <a:cs typeface="AppleGothic"/>
              </a:rPr>
              <a:t>프롬프트 비교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E0121FED-C4F5-4C0E-BF68-9469ECC100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3438525"/>
            <a:ext cx="857250" cy="219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1400" b="0">
                <a:solidFill>
                  <a:srgbClr val="52606B"/>
                </a:solidFill>
                <a:latin typeface="Menlo"/>
                <a:ea typeface="Menlo"/>
                <a:cs typeface="Menlo"/>
              </a:defRPr>
            </a:defPPr>
          </a:lstStyle>
          <a:p xmlns:a="http://schemas.openxmlformats.org/drawingml/2006/main">
            <a:pPr algn="l">
              <a:lnSpc>
                <a:spcPct val="116000"/>
              </a:lnSpc>
              <a:buNone/>
              <a:defRPr sz="1400" b="0">
                <a:solidFill>
                  <a:srgbClr val="52606B"/>
                </a:solidFill>
                <a:latin typeface="Menlo"/>
                <a:ea typeface="Menlo"/>
                <a:cs typeface="Menlo"/>
              </a:defRPr>
            </a:pPr>
            <a:r>
              <a:rPr sz="1400" b="0">
                <a:solidFill>
                  <a:srgbClr val="52606B"/>
                </a:solidFill>
                <a:latin typeface="Menlo"/>
                <a:ea typeface="Menlo"/>
                <a:cs typeface="Menlo"/>
              </a:rPr>
              <a:t>03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F976344B-44F0-4D17-8C8F-965DDCEADF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95450" y="3438525"/>
            <a:ext cx="3810000" cy="219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1400" b="0">
                <a:solidFill>
                  <a:srgbClr val="52606B"/>
                </a:solidFill>
                <a:latin typeface="AppleGothic"/>
                <a:ea typeface="AppleGothic"/>
                <a:cs typeface="AppleGothic"/>
              </a:defRPr>
            </a:defPPr>
          </a:lstStyle>
          <a:p xmlns:a="http://schemas.openxmlformats.org/drawingml/2006/main">
            <a:pPr algn="l">
              <a:lnSpc>
                <a:spcPct val="116000"/>
              </a:lnSpc>
              <a:buNone/>
              <a:defRPr sz="1400" b="0">
                <a:solidFill>
                  <a:srgbClr val="52606B"/>
                </a:solidFill>
                <a:latin typeface="AppleGothic"/>
                <a:ea typeface="AppleGothic"/>
                <a:cs typeface="AppleGothic"/>
              </a:defRPr>
            </a:pPr>
            <a:r>
              <a:rPr sz="1400" b="0">
                <a:solidFill>
                  <a:srgbClr val="52606B"/>
                </a:solidFill>
                <a:latin typeface="AppleGothic"/>
                <a:ea typeface="AppleGothic"/>
                <a:cs typeface="AppleGothic"/>
              </a:rPr>
              <a:t>09.18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D3306792-22A5-4211-98D2-2E6BB1F9B2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3752850"/>
            <a:ext cx="50863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1800" b="0">
                <a:solidFill>
                  <a:srgbClr val="17191B"/>
                </a:solidFill>
                <a:latin typeface="AppleGothic"/>
                <a:ea typeface="AppleGothic"/>
                <a:cs typeface="AppleGothic"/>
              </a:defRPr>
            </a:defPPr>
          </a:lstStyle>
          <a:p xmlns:a="http://schemas.openxmlformats.org/drawingml/2006/main">
            <a:pPr algn="l">
              <a:lnSpc>
                <a:spcPct val="116000"/>
              </a:lnSpc>
              <a:buNone/>
              <a:defRPr sz="1800" b="0">
                <a:solidFill>
                  <a:srgbClr val="17191B"/>
                </a:solidFill>
                <a:latin typeface="AppleGothic"/>
                <a:ea typeface="AppleGothic"/>
                <a:cs typeface="AppleGothic"/>
              </a:defRPr>
            </a:pPr>
            <a:r>
              <a:rPr sz="1800" b="0">
                <a:solidFill>
                  <a:srgbClr val="17191B"/>
                </a:solidFill>
                <a:latin typeface="AppleGothic"/>
                <a:ea typeface="AppleGothic"/>
                <a:cs typeface="AppleGothic"/>
              </a:rPr>
              <a:t>평가·오류 분류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15DF9F8D-0658-434E-8EB6-02B78E70FD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4257675"/>
            <a:ext cx="857250" cy="219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1400" b="0">
                <a:solidFill>
                  <a:srgbClr val="52606B"/>
                </a:solidFill>
                <a:latin typeface="Menlo"/>
                <a:ea typeface="Menlo"/>
                <a:cs typeface="Menlo"/>
              </a:defRPr>
            </a:defPPr>
          </a:lstStyle>
          <a:p xmlns:a="http://schemas.openxmlformats.org/drawingml/2006/main">
            <a:pPr algn="l">
              <a:lnSpc>
                <a:spcPct val="116000"/>
              </a:lnSpc>
              <a:buNone/>
              <a:defRPr sz="1400" b="0">
                <a:solidFill>
                  <a:srgbClr val="52606B"/>
                </a:solidFill>
                <a:latin typeface="Menlo"/>
                <a:ea typeface="Menlo"/>
                <a:cs typeface="Menlo"/>
              </a:defRPr>
            </a:pPr>
            <a:r>
              <a:rPr sz="1400" b="0">
                <a:solidFill>
                  <a:srgbClr val="52606B"/>
                </a:solidFill>
                <a:latin typeface="Menlo"/>
                <a:ea typeface="Menlo"/>
                <a:cs typeface="Menlo"/>
              </a:rPr>
              <a:t>04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0CF7ABDD-6057-4EB0-8071-AFCEA8561F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95450" y="4257675"/>
            <a:ext cx="3810000" cy="219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1400" b="0">
                <a:solidFill>
                  <a:srgbClr val="52606B"/>
                </a:solidFill>
                <a:latin typeface="AppleGothic"/>
                <a:ea typeface="AppleGothic"/>
                <a:cs typeface="AppleGothic"/>
              </a:defRPr>
            </a:defPPr>
          </a:lstStyle>
          <a:p xmlns:a="http://schemas.openxmlformats.org/drawingml/2006/main">
            <a:pPr algn="l">
              <a:lnSpc>
                <a:spcPct val="116000"/>
              </a:lnSpc>
              <a:buNone/>
              <a:defRPr sz="1400" b="0">
                <a:solidFill>
                  <a:srgbClr val="52606B"/>
                </a:solidFill>
                <a:latin typeface="AppleGothic"/>
                <a:ea typeface="AppleGothic"/>
                <a:cs typeface="AppleGothic"/>
              </a:defRPr>
            </a:pPr>
            <a:r>
              <a:rPr sz="1400" b="0">
                <a:solidFill>
                  <a:srgbClr val="52606B"/>
                </a:solidFill>
                <a:latin typeface="AppleGothic"/>
                <a:ea typeface="AppleGothic"/>
                <a:cs typeface="AppleGothic"/>
              </a:rPr>
              <a:t>09.25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C60E6697-21DE-4301-80EE-FDF708B0EF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4572000"/>
            <a:ext cx="50863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1800" b="0">
                <a:solidFill>
                  <a:srgbClr val="17191B"/>
                </a:solidFill>
                <a:latin typeface="AppleGothic"/>
                <a:ea typeface="AppleGothic"/>
                <a:cs typeface="AppleGothic"/>
              </a:defRPr>
            </a:defPPr>
          </a:lstStyle>
          <a:p xmlns:a="http://schemas.openxmlformats.org/drawingml/2006/main">
            <a:pPr algn="l">
              <a:lnSpc>
                <a:spcPct val="116000"/>
              </a:lnSpc>
              <a:buNone/>
              <a:defRPr sz="1800" b="0">
                <a:solidFill>
                  <a:srgbClr val="17191B"/>
                </a:solidFill>
                <a:latin typeface="AppleGothic"/>
                <a:ea typeface="AppleGothic"/>
                <a:cs typeface="AppleGothic"/>
              </a:defRPr>
            </a:pPr>
            <a:r>
              <a:rPr sz="1800" b="0">
                <a:solidFill>
                  <a:srgbClr val="17191B"/>
                </a:solidFill>
                <a:latin typeface="AppleGothic"/>
                <a:ea typeface="AppleGothic"/>
                <a:cs typeface="AppleGothic"/>
              </a:rPr>
              <a:t>RAG·근거 · 녹화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605B8484-D80C-4C42-8EDC-0D077AF5BC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5076825"/>
            <a:ext cx="857250" cy="219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1400" b="0">
                <a:solidFill>
                  <a:srgbClr val="52606B"/>
                </a:solidFill>
                <a:latin typeface="Menlo"/>
                <a:ea typeface="Menlo"/>
                <a:cs typeface="Menlo"/>
              </a:defRPr>
            </a:defPPr>
          </a:lstStyle>
          <a:p xmlns:a="http://schemas.openxmlformats.org/drawingml/2006/main">
            <a:pPr algn="l">
              <a:lnSpc>
                <a:spcPct val="116000"/>
              </a:lnSpc>
              <a:buNone/>
              <a:defRPr sz="1400" b="0">
                <a:solidFill>
                  <a:srgbClr val="52606B"/>
                </a:solidFill>
                <a:latin typeface="Menlo"/>
                <a:ea typeface="Menlo"/>
                <a:cs typeface="Menlo"/>
              </a:defRPr>
            </a:pPr>
            <a:r>
              <a:rPr sz="1400" b="0">
                <a:solidFill>
                  <a:srgbClr val="52606B"/>
                </a:solidFill>
                <a:latin typeface="Menlo"/>
                <a:ea typeface="Menlo"/>
                <a:cs typeface="Menlo"/>
              </a:rPr>
              <a:t>05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E2325E98-A206-4013-B9DD-B3640A27C1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95450" y="5076825"/>
            <a:ext cx="3810000" cy="219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1400" b="0">
                <a:solidFill>
                  <a:srgbClr val="52606B"/>
                </a:solidFill>
                <a:latin typeface="AppleGothic"/>
                <a:ea typeface="AppleGothic"/>
                <a:cs typeface="AppleGothic"/>
              </a:defRPr>
            </a:defPPr>
          </a:lstStyle>
          <a:p xmlns:a="http://schemas.openxmlformats.org/drawingml/2006/main">
            <a:pPr algn="l">
              <a:lnSpc>
                <a:spcPct val="116000"/>
              </a:lnSpc>
              <a:buNone/>
              <a:defRPr sz="1400" b="0">
                <a:solidFill>
                  <a:srgbClr val="52606B"/>
                </a:solidFill>
                <a:latin typeface="AppleGothic"/>
                <a:ea typeface="AppleGothic"/>
                <a:cs typeface="AppleGothic"/>
              </a:defRPr>
            </a:pPr>
            <a:r>
              <a:rPr sz="1400" b="0">
                <a:solidFill>
                  <a:srgbClr val="52606B"/>
                </a:solidFill>
                <a:latin typeface="AppleGothic"/>
                <a:ea typeface="AppleGothic"/>
                <a:cs typeface="AppleGothic"/>
              </a:rPr>
              <a:t>10.02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1C6C58D6-1ADD-4F74-81D2-7419F75691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5391150"/>
            <a:ext cx="50863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1800" b="0">
                <a:solidFill>
                  <a:srgbClr val="17191B"/>
                </a:solidFill>
                <a:latin typeface="AppleGothic"/>
                <a:ea typeface="AppleGothic"/>
                <a:cs typeface="AppleGothic"/>
              </a:defRPr>
            </a:defPPr>
          </a:lstStyle>
          <a:p xmlns:a="http://schemas.openxmlformats.org/drawingml/2006/main">
            <a:pPr algn="l">
              <a:lnSpc>
                <a:spcPct val="116000"/>
              </a:lnSpc>
              <a:buNone/>
              <a:defRPr sz="1800" b="0">
                <a:solidFill>
                  <a:srgbClr val="17191B"/>
                </a:solidFill>
                <a:latin typeface="AppleGothic"/>
                <a:ea typeface="AppleGothic"/>
                <a:cs typeface="AppleGothic"/>
              </a:defRPr>
            </a:pPr>
            <a:r>
              <a:rPr sz="1800" b="0">
                <a:solidFill>
                  <a:srgbClr val="17191B"/>
                </a:solidFill>
                <a:latin typeface="AppleGothic"/>
                <a:ea typeface="AppleGothic"/>
                <a:cs typeface="AppleGothic"/>
              </a:rPr>
              <a:t>검색 품질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64F44101-431A-4C3B-B7A7-12ACE12F9C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0" y="1800225"/>
            <a:ext cx="857250" cy="219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1400" b="0">
                <a:solidFill>
                  <a:srgbClr val="52606B"/>
                </a:solidFill>
                <a:latin typeface="Menlo"/>
                <a:ea typeface="Menlo"/>
                <a:cs typeface="Menlo"/>
              </a:defRPr>
            </a:defPPr>
          </a:lstStyle>
          <a:p xmlns:a="http://schemas.openxmlformats.org/drawingml/2006/main">
            <a:pPr algn="l">
              <a:lnSpc>
                <a:spcPct val="116000"/>
              </a:lnSpc>
              <a:buNone/>
              <a:defRPr sz="1400" b="0">
                <a:solidFill>
                  <a:srgbClr val="52606B"/>
                </a:solidFill>
                <a:latin typeface="Menlo"/>
                <a:ea typeface="Menlo"/>
                <a:cs typeface="Menlo"/>
              </a:defRPr>
            </a:pPr>
            <a:r>
              <a:rPr sz="1400" b="0">
                <a:solidFill>
                  <a:srgbClr val="52606B"/>
                </a:solidFill>
                <a:latin typeface="Menlo"/>
                <a:ea typeface="Menlo"/>
                <a:cs typeface="Menlo"/>
              </a:rPr>
              <a:t>06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B49957D1-8667-4383-8A42-7F573B02F0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53300" y="1800225"/>
            <a:ext cx="3810000" cy="219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1400" b="0">
                <a:solidFill>
                  <a:srgbClr val="52606B"/>
                </a:solidFill>
                <a:latin typeface="AppleGothic"/>
                <a:ea typeface="AppleGothic"/>
                <a:cs typeface="AppleGothic"/>
              </a:defRPr>
            </a:defPPr>
          </a:lstStyle>
          <a:p xmlns:a="http://schemas.openxmlformats.org/drawingml/2006/main">
            <a:pPr algn="l">
              <a:lnSpc>
                <a:spcPct val="116000"/>
              </a:lnSpc>
              <a:buNone/>
              <a:defRPr sz="1400" b="0">
                <a:solidFill>
                  <a:srgbClr val="52606B"/>
                </a:solidFill>
                <a:latin typeface="AppleGothic"/>
                <a:ea typeface="AppleGothic"/>
                <a:cs typeface="AppleGothic"/>
              </a:defRPr>
            </a:pPr>
            <a:r>
              <a:rPr sz="1400" b="0">
                <a:solidFill>
                  <a:srgbClr val="52606B"/>
                </a:solidFill>
                <a:latin typeface="AppleGothic"/>
                <a:ea typeface="AppleGothic"/>
                <a:cs typeface="AppleGothic"/>
              </a:rPr>
              <a:t>10.09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098AB96F-94BB-45EC-96C5-BD684D93B2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0" y="2114550"/>
            <a:ext cx="50863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1800" b="0">
                <a:solidFill>
                  <a:srgbClr val="17191B"/>
                </a:solidFill>
                <a:latin typeface="AppleGothic"/>
                <a:ea typeface="AppleGothic"/>
                <a:cs typeface="AppleGothic"/>
              </a:defRPr>
            </a:defPPr>
          </a:lstStyle>
          <a:p xmlns:a="http://schemas.openxmlformats.org/drawingml/2006/main">
            <a:pPr algn="l">
              <a:lnSpc>
                <a:spcPct val="116000"/>
              </a:lnSpc>
              <a:buNone/>
              <a:defRPr sz="1800" b="0">
                <a:solidFill>
                  <a:srgbClr val="17191B"/>
                </a:solidFill>
                <a:latin typeface="AppleGothic"/>
                <a:ea typeface="AppleGothic"/>
                <a:cs typeface="AppleGothic"/>
              </a:defRPr>
            </a:pPr>
            <a:r>
              <a:rPr sz="1800" b="0">
                <a:solidFill>
                  <a:srgbClr val="17191B"/>
                </a:solidFill>
                <a:latin typeface="AppleGothic"/>
                <a:ea typeface="AppleGothic"/>
                <a:cs typeface="AppleGothic"/>
              </a:rPr>
              <a:t>휴일 · 수업 없음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9F4560C3-C221-4CF6-9199-9B997DC6DA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67450" y="2524125"/>
            <a:ext cx="5314950" cy="742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DF1F6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3F83E131-1AB4-4EEA-B0E8-0E9C1A31AB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0" y="2619375"/>
            <a:ext cx="857250" cy="219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1400" b="1">
                <a:solidFill>
                  <a:srgbClr val="284B72"/>
                </a:solidFill>
                <a:latin typeface="Menlo"/>
                <a:ea typeface="Menlo"/>
                <a:cs typeface="Menlo"/>
              </a:defRPr>
            </a:defPPr>
          </a:lstStyle>
          <a:p xmlns:a="http://schemas.openxmlformats.org/drawingml/2006/main">
            <a:pPr algn="l">
              <a:lnSpc>
                <a:spcPct val="116000"/>
              </a:lnSpc>
              <a:buNone/>
              <a:defRPr sz="1400" b="1">
                <a:solidFill>
                  <a:srgbClr val="284B72"/>
                </a:solidFill>
                <a:latin typeface="Menlo"/>
                <a:ea typeface="Menlo"/>
                <a:cs typeface="Menlo"/>
              </a:defRPr>
            </a:pPr>
            <a:r>
              <a:rPr sz="1400" b="1">
                <a:solidFill>
                  <a:srgbClr val="284B72"/>
                </a:solidFill>
                <a:latin typeface="Menlo"/>
                <a:ea typeface="Menlo"/>
                <a:cs typeface="Menlo"/>
              </a:rPr>
              <a:t>07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C50A1E7C-3CEE-4A86-A6B2-C340DAE2C3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53300" y="2619375"/>
            <a:ext cx="3810000" cy="219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1400" b="0">
                <a:solidFill>
                  <a:srgbClr val="52606B"/>
                </a:solidFill>
                <a:latin typeface="AppleGothic"/>
                <a:ea typeface="AppleGothic"/>
                <a:cs typeface="AppleGothic"/>
              </a:defRPr>
            </a:defPPr>
          </a:lstStyle>
          <a:p xmlns:a="http://schemas.openxmlformats.org/drawingml/2006/main">
            <a:pPr algn="l">
              <a:lnSpc>
                <a:spcPct val="116000"/>
              </a:lnSpc>
              <a:buNone/>
              <a:defRPr sz="1400" b="0">
                <a:solidFill>
                  <a:srgbClr val="52606B"/>
                </a:solidFill>
                <a:latin typeface="AppleGothic"/>
                <a:ea typeface="AppleGothic"/>
                <a:cs typeface="AppleGothic"/>
              </a:defRPr>
            </a:pPr>
            <a:r>
              <a:rPr sz="1400" b="0">
                <a:solidFill>
                  <a:srgbClr val="52606B"/>
                </a:solidFill>
                <a:latin typeface="AppleGothic"/>
                <a:ea typeface="AppleGothic"/>
                <a:cs typeface="AppleGothic"/>
              </a:rPr>
              <a:t>10.16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F50C45BA-D3CB-42CC-8441-14DB37B71E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0" y="2933700"/>
            <a:ext cx="50863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1800" b="1">
                <a:solidFill>
                  <a:srgbClr val="284B72"/>
                </a:solidFill>
                <a:latin typeface="AppleGothic"/>
                <a:ea typeface="AppleGothic"/>
                <a:cs typeface="AppleGothic"/>
              </a:defRPr>
            </a:defPPr>
          </a:lstStyle>
          <a:p xmlns:a="http://schemas.openxmlformats.org/drawingml/2006/main">
            <a:pPr algn="l">
              <a:lnSpc>
                <a:spcPct val="116000"/>
              </a:lnSpc>
              <a:buNone/>
              <a:defRPr sz="1800" b="1">
                <a:solidFill>
                  <a:srgbClr val="284B72"/>
                </a:solidFill>
                <a:latin typeface="AppleGothic"/>
                <a:ea typeface="AppleGothic"/>
                <a:cs typeface="AppleGothic"/>
              </a:defRPr>
            </a:pPr>
            <a:r>
              <a:rPr sz="1800" b="1">
                <a:solidFill>
                  <a:srgbClr val="284B72"/>
                </a:solidFill>
                <a:latin typeface="AppleGothic"/>
                <a:ea typeface="AppleGothic"/>
                <a:cs typeface="AppleGothic"/>
              </a:rPr>
              <a:t>강의 재개·초안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A40E366F-5C38-418F-94D0-A8B2048DAB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0" y="3438525"/>
            <a:ext cx="857250" cy="219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1400" b="0">
                <a:solidFill>
                  <a:srgbClr val="52606B"/>
                </a:solidFill>
                <a:latin typeface="Menlo"/>
                <a:ea typeface="Menlo"/>
                <a:cs typeface="Menlo"/>
              </a:defRPr>
            </a:defPPr>
          </a:lstStyle>
          <a:p xmlns:a="http://schemas.openxmlformats.org/drawingml/2006/main">
            <a:pPr algn="l">
              <a:lnSpc>
                <a:spcPct val="116000"/>
              </a:lnSpc>
              <a:buNone/>
              <a:defRPr sz="1400" b="0">
                <a:solidFill>
                  <a:srgbClr val="52606B"/>
                </a:solidFill>
                <a:latin typeface="Menlo"/>
                <a:ea typeface="Menlo"/>
                <a:cs typeface="Menlo"/>
              </a:defRPr>
            </a:pPr>
            <a:r>
              <a:rPr sz="1400" b="0">
                <a:solidFill>
                  <a:srgbClr val="52606B"/>
                </a:solidFill>
                <a:latin typeface="Menlo"/>
                <a:ea typeface="Menlo"/>
                <a:cs typeface="Menlo"/>
              </a:rPr>
              <a:t>08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DCDB6237-DB6D-4DD6-AFB2-336A393387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53300" y="3438525"/>
            <a:ext cx="3810000" cy="219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1400" b="0">
                <a:solidFill>
                  <a:srgbClr val="52606B"/>
                </a:solidFill>
                <a:latin typeface="AppleGothic"/>
                <a:ea typeface="AppleGothic"/>
                <a:cs typeface="AppleGothic"/>
              </a:defRPr>
            </a:defPPr>
          </a:lstStyle>
          <a:p xmlns:a="http://schemas.openxmlformats.org/drawingml/2006/main">
            <a:pPr algn="l">
              <a:lnSpc>
                <a:spcPct val="116000"/>
              </a:lnSpc>
              <a:buNone/>
              <a:defRPr sz="1400" b="0">
                <a:solidFill>
                  <a:srgbClr val="52606B"/>
                </a:solidFill>
                <a:latin typeface="AppleGothic"/>
                <a:ea typeface="AppleGothic"/>
                <a:cs typeface="AppleGothic"/>
              </a:defRPr>
            </a:pPr>
            <a:r>
              <a:rPr sz="1400" b="0">
                <a:solidFill>
                  <a:srgbClr val="52606B"/>
                </a:solidFill>
                <a:latin typeface="AppleGothic"/>
                <a:ea typeface="AppleGothic"/>
                <a:cs typeface="AppleGothic"/>
              </a:rPr>
              <a:t>10.23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079A70F8-184C-4604-A941-7FB9A69C7F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0" y="3752850"/>
            <a:ext cx="50863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1800" b="0">
                <a:solidFill>
                  <a:srgbClr val="17191B"/>
                </a:solidFill>
                <a:latin typeface="AppleGothic"/>
                <a:ea typeface="AppleGothic"/>
                <a:cs typeface="AppleGothic"/>
              </a:defRPr>
            </a:defPPr>
          </a:lstStyle>
          <a:p xmlns:a="http://schemas.openxmlformats.org/drawingml/2006/main">
            <a:pPr algn="l">
              <a:lnSpc>
                <a:spcPct val="116000"/>
              </a:lnSpc>
              <a:buNone/>
              <a:defRPr sz="1800" b="0">
                <a:solidFill>
                  <a:srgbClr val="17191B"/>
                </a:solidFill>
                <a:latin typeface="AppleGothic"/>
                <a:ea typeface="AppleGothic"/>
                <a:cs typeface="AppleGothic"/>
              </a:defRPr>
            </a:pPr>
            <a:r>
              <a:rPr sz="1800" b="0">
                <a:solidFill>
                  <a:srgbClr val="17191B"/>
                </a:solidFill>
                <a:latin typeface="AppleGothic"/>
                <a:ea typeface="AppleGothic"/>
                <a:cs typeface="AppleGothic"/>
              </a:rPr>
              <a:t>기획서 평가 · 마감10.22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B3FFA934-F998-47FB-829E-BF8032C277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0" y="4257675"/>
            <a:ext cx="857250" cy="219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1400" b="0">
                <a:solidFill>
                  <a:srgbClr val="52606B"/>
                </a:solidFill>
                <a:latin typeface="Menlo"/>
                <a:ea typeface="Menlo"/>
                <a:cs typeface="Menlo"/>
              </a:defRPr>
            </a:defPPr>
          </a:lstStyle>
          <a:p xmlns:a="http://schemas.openxmlformats.org/drawingml/2006/main">
            <a:pPr algn="l">
              <a:lnSpc>
                <a:spcPct val="116000"/>
              </a:lnSpc>
              <a:buNone/>
              <a:defRPr sz="1400" b="0">
                <a:solidFill>
                  <a:srgbClr val="52606B"/>
                </a:solidFill>
                <a:latin typeface="Menlo"/>
                <a:ea typeface="Menlo"/>
                <a:cs typeface="Menlo"/>
              </a:defRPr>
            </a:pPr>
            <a:r>
              <a:rPr sz="1400" b="0">
                <a:solidFill>
                  <a:srgbClr val="52606B"/>
                </a:solidFill>
                <a:latin typeface="Menlo"/>
                <a:ea typeface="Menlo"/>
                <a:cs typeface="Menlo"/>
              </a:rPr>
              <a:t>09–15</a:t>
            </a:r>
          </a:p>
        </p:txBody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7DACD052-5D01-422D-B429-1CBB2F79CD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53300" y="4257675"/>
            <a:ext cx="3810000" cy="219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1400" b="0">
                <a:solidFill>
                  <a:srgbClr val="52606B"/>
                </a:solidFill>
                <a:latin typeface="AppleGothic"/>
                <a:ea typeface="AppleGothic"/>
                <a:cs typeface="AppleGothic"/>
              </a:defRPr>
            </a:defPPr>
          </a:lstStyle>
          <a:p xmlns:a="http://schemas.openxmlformats.org/drawingml/2006/main">
            <a:pPr algn="l">
              <a:lnSpc>
                <a:spcPct val="116000"/>
              </a:lnSpc>
              <a:buNone/>
              <a:defRPr sz="1400" b="0">
                <a:solidFill>
                  <a:srgbClr val="52606B"/>
                </a:solidFill>
                <a:latin typeface="AppleGothic"/>
                <a:ea typeface="AppleGothic"/>
                <a:cs typeface="AppleGothic"/>
              </a:defRPr>
            </a:pPr>
            <a:r>
              <a:rPr sz="1400" b="0">
                <a:solidFill>
                  <a:srgbClr val="52606B"/>
                </a:solidFill>
                <a:latin typeface="AppleGothic"/>
                <a:ea typeface="AppleGothic"/>
                <a:cs typeface="AppleGothic"/>
              </a:rPr>
              <a:t>10.30–12.11</a:t>
            </a:r>
          </a:p>
        </p:txBody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1108D8A9-85DA-41AB-8FE9-72DE58731F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0" y="4572000"/>
            <a:ext cx="50863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1800" b="0">
                <a:solidFill>
                  <a:srgbClr val="17191B"/>
                </a:solidFill>
                <a:latin typeface="AppleGothic"/>
                <a:ea typeface="AppleGothic"/>
                <a:cs typeface="AppleGothic"/>
              </a:defRPr>
            </a:defPPr>
          </a:lstStyle>
          <a:p xmlns:a="http://schemas.openxmlformats.org/drawingml/2006/main">
            <a:pPr algn="l">
              <a:lnSpc>
                <a:spcPct val="116000"/>
              </a:lnSpc>
              <a:buNone/>
              <a:defRPr sz="1800" b="0">
                <a:solidFill>
                  <a:srgbClr val="17191B"/>
                </a:solidFill>
                <a:latin typeface="AppleGothic"/>
                <a:ea typeface="AppleGothic"/>
                <a:cs typeface="AppleGothic"/>
              </a:defRPr>
            </a:pPr>
            <a:r>
              <a:rPr sz="1800" b="0">
                <a:solidFill>
                  <a:srgbClr val="17191B"/>
                </a:solidFill>
                <a:latin typeface="AppleGothic"/>
                <a:ea typeface="AppleGothic"/>
                <a:cs typeface="AppleGothic"/>
              </a:rPr>
              <a:t>구현·운영·프로젝트</a:t>
            </a:r>
          </a:p>
        </p:txBody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CEEF3C8C-8CF1-4BC3-961E-AC83A1166F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0" y="5076825"/>
            <a:ext cx="857250" cy="219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1400" b="0">
                <a:solidFill>
                  <a:srgbClr val="52606B"/>
                </a:solidFill>
                <a:latin typeface="Menlo"/>
                <a:ea typeface="Menlo"/>
                <a:cs typeface="Menlo"/>
              </a:defRPr>
            </a:defPPr>
          </a:lstStyle>
          <a:p xmlns:a="http://schemas.openxmlformats.org/drawingml/2006/main">
            <a:pPr algn="l">
              <a:lnSpc>
                <a:spcPct val="116000"/>
              </a:lnSpc>
              <a:buNone/>
              <a:defRPr sz="1400" b="0">
                <a:solidFill>
                  <a:srgbClr val="52606B"/>
                </a:solidFill>
                <a:latin typeface="Menlo"/>
                <a:ea typeface="Menlo"/>
                <a:cs typeface="Menlo"/>
              </a:defRPr>
            </a:pPr>
            <a:r>
              <a:rPr sz="1400" b="0">
                <a:solidFill>
                  <a:srgbClr val="52606B"/>
                </a:solidFill>
                <a:latin typeface="Menlo"/>
                <a:ea typeface="Menlo"/>
                <a:cs typeface="Menlo"/>
              </a:rPr>
              <a:t>16</a:t>
            </a:r>
          </a:p>
        </p:txBody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739F3F69-7841-4174-BB5B-8CA4894BA4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53300" y="5076825"/>
            <a:ext cx="3810000" cy="219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1400" b="0">
                <a:solidFill>
                  <a:srgbClr val="52606B"/>
                </a:solidFill>
                <a:latin typeface="AppleGothic"/>
                <a:ea typeface="AppleGothic"/>
                <a:cs typeface="AppleGothic"/>
              </a:defRPr>
            </a:defPPr>
          </a:lstStyle>
          <a:p xmlns:a="http://schemas.openxmlformats.org/drawingml/2006/main">
            <a:pPr algn="l">
              <a:lnSpc>
                <a:spcPct val="116000"/>
              </a:lnSpc>
              <a:buNone/>
              <a:defRPr sz="1400" b="0">
                <a:solidFill>
                  <a:srgbClr val="52606B"/>
                </a:solidFill>
                <a:latin typeface="AppleGothic"/>
                <a:ea typeface="AppleGothic"/>
                <a:cs typeface="AppleGothic"/>
              </a:defRPr>
            </a:pPr>
            <a:r>
              <a:rPr sz="1400" b="0">
                <a:solidFill>
                  <a:srgbClr val="52606B"/>
                </a:solidFill>
                <a:latin typeface="AppleGothic"/>
                <a:ea typeface="AppleGothic"/>
                <a:cs typeface="AppleGothic"/>
              </a:rPr>
              <a:t>12.18</a:t>
            </a:r>
          </a:p>
        </p:txBody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71BCB5F0-932A-419D-AE85-EF99325706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0" y="5391150"/>
            <a:ext cx="50863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1800" b="0">
                <a:solidFill>
                  <a:srgbClr val="17191B"/>
                </a:solidFill>
                <a:latin typeface="AppleGothic"/>
                <a:ea typeface="AppleGothic"/>
                <a:cs typeface="AppleGothic"/>
              </a:defRPr>
            </a:defPPr>
          </a:lstStyle>
          <a:p xmlns:a="http://schemas.openxmlformats.org/drawingml/2006/main">
            <a:pPr algn="l">
              <a:lnSpc>
                <a:spcPct val="116000"/>
              </a:lnSpc>
              <a:buNone/>
              <a:defRPr sz="1800" b="0">
                <a:solidFill>
                  <a:srgbClr val="17191B"/>
                </a:solidFill>
                <a:latin typeface="AppleGothic"/>
                <a:ea typeface="AppleGothic"/>
                <a:cs typeface="AppleGothic"/>
              </a:defRPr>
            </a:pPr>
            <a:r>
              <a:rPr sz="1800" b="0">
                <a:solidFill>
                  <a:srgbClr val="17191B"/>
                </a:solidFill>
                <a:latin typeface="AppleGothic"/>
                <a:ea typeface="AppleGothic"/>
                <a:cs typeface="AppleGothic"/>
              </a:rPr>
              <a:t>실시간 온라인 발표</a:t>
            </a:r>
          </a:p>
        </p:txBody>
      </p:sp>
    </p:spTree>
    <p:extLst>
      <p:ext uri="{BB962C8B-B14F-4D97-AF65-F5344CB8AC3E}">
        <p14:creationId xmlns:p14="http://schemas.microsoft.com/office/powerpoint/2010/main" val="1147081394"/>
      </p:ext>
    </p:extLst>
  </p:cSld>
</p:sld>
</file>

<file path=ppt/slides/slide4.xml><?xml version="1.0" encoding="utf-8"?>
<p:sld xmlns:p="http://schemas.openxmlformats.org/presentationml/2006/main">
  <p:cSld>
    <p:bg>
      <p:bgPr>
        <a:solidFill xmlns:a="http://schemas.openxmlformats.org/drawingml/2006/main">
          <a:srgbClr val="F7F7F5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F305344B-5E1C-421C-B631-F1726368F8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47650"/>
            <a:ext cx="9525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1400" b="0">
                <a:solidFill>
                  <a:srgbClr val="52606B"/>
                </a:solidFill>
                <a:latin typeface="AppleGothic"/>
                <a:ea typeface="AppleGothic"/>
                <a:cs typeface="AppleGothic"/>
              </a:defRPr>
            </a:defPPr>
          </a:lstStyle>
          <a:p xmlns:a="http://schemas.openxmlformats.org/drawingml/2006/main">
            <a:pPr algn="l">
              <a:lnSpc>
                <a:spcPct val="116000"/>
              </a:lnSpc>
              <a:buNone/>
              <a:defRPr sz="1400" b="0">
                <a:solidFill>
                  <a:srgbClr val="52606B"/>
                </a:solidFill>
                <a:latin typeface="AppleGothic"/>
                <a:ea typeface="AppleGothic"/>
                <a:cs typeface="AppleGothic"/>
              </a:defRPr>
            </a:pPr>
            <a:r>
              <a:rPr sz="1400" b="0">
                <a:solidFill>
                  <a:srgbClr val="52606B"/>
                </a:solidFill>
                <a:latin typeface="AppleGothic"/>
                <a:ea typeface="AppleGothic"/>
                <a:cs typeface="AppleGothic"/>
              </a:rPr>
              <a:t>LLMOPS / W07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F6869006-2F79-42D7-9ADF-3C18B1BC16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8500" y="247650"/>
            <a:ext cx="7239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r">
              <a:defRPr sz="1400" b="0">
                <a:solidFill>
                  <a:srgbClr val="52606B"/>
                </a:solidFill>
                <a:latin typeface="Menlo"/>
                <a:ea typeface="Menlo"/>
                <a:cs typeface="Menlo"/>
              </a:defRPr>
            </a:defPPr>
          </a:lstStyle>
          <a:p xmlns:a="http://schemas.openxmlformats.org/drawingml/2006/main">
            <a:pPr algn="r">
              <a:lnSpc>
                <a:spcPct val="116000"/>
              </a:lnSpc>
              <a:buNone/>
              <a:defRPr sz="1400" b="0">
                <a:solidFill>
                  <a:srgbClr val="52606B"/>
                </a:solidFill>
                <a:latin typeface="Menlo"/>
                <a:ea typeface="Menlo"/>
                <a:cs typeface="Menlo"/>
              </a:defRPr>
            </a:pPr>
            <a:r>
              <a:rPr sz="1400" b="0">
                <a:solidFill>
                  <a:srgbClr val="52606B"/>
                </a:solidFill>
                <a:latin typeface="Menlo"/>
                <a:ea typeface="Menlo"/>
                <a:cs typeface="Menlo"/>
              </a:rPr>
              <a:t>04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966D1316-EDF8-4AF9-A764-E5678CEABC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23900"/>
            <a:ext cx="109728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3400" b="1">
                <a:solidFill>
                  <a:srgbClr val="17191B"/>
                </a:solidFill>
                <a:latin typeface="AppleGothic"/>
                <a:ea typeface="AppleGothic"/>
                <a:cs typeface="AppleGothic"/>
              </a:defRPr>
            </a:defPPr>
          </a:lstStyle>
          <a:p xmlns:a="http://schemas.openxmlformats.org/drawingml/2006/main">
            <a:pPr algn="l">
              <a:lnSpc>
                <a:spcPct val="116000"/>
              </a:lnSpc>
              <a:buNone/>
              <a:defRPr sz="3400" b="1">
                <a:solidFill>
                  <a:srgbClr val="17191B"/>
                </a:solidFill>
                <a:latin typeface="AppleGothic"/>
                <a:ea typeface="AppleGothic"/>
                <a:cs typeface="AppleGothic"/>
              </a:defRPr>
            </a:pPr>
            <a:r>
              <a:rPr sz="3400" b="1">
                <a:solidFill>
                  <a:srgbClr val="17191B"/>
                </a:solidFill>
                <a:latin typeface="AppleGothic"/>
                <a:ea typeface="AppleGothic"/>
                <a:cs typeface="AppleGothic"/>
              </a:rPr>
              <a:t>6–8주차 운영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BD64684B-2F56-44E3-92A0-86B536DACD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315075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FD5D3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1284DFC0-DA32-4AD5-9FBD-92A26115B5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77000"/>
            <a:ext cx="109728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1400" b="0">
                <a:solidFill>
                  <a:srgbClr val="52606B"/>
                </a:solidFill>
                <a:latin typeface="AppleGothic"/>
                <a:ea typeface="AppleGothic"/>
                <a:cs typeface="AppleGothic"/>
              </a:defRPr>
            </a:defPPr>
          </a:lstStyle>
          <a:p xmlns:a="http://schemas.openxmlformats.org/drawingml/2006/main">
            <a:pPr algn="l">
              <a:lnSpc>
                <a:spcPct val="116000"/>
              </a:lnSpc>
              <a:buNone/>
              <a:defRPr sz="1400" b="0">
                <a:solidFill>
                  <a:srgbClr val="52606B"/>
                </a:solidFill>
                <a:latin typeface="AppleGothic"/>
                <a:ea typeface="AppleGothic"/>
                <a:cs typeface="AppleGothic"/>
              </a:defRPr>
            </a:pPr>
            <a:r>
              <a:rPr sz="1400" b="0">
                <a:solidFill>
                  <a:srgbClr val="52606B"/>
                </a:solidFill>
                <a:latin typeface="AppleGothic"/>
                <a:ea typeface="AppleGothic"/>
                <a:cs typeface="AppleGothic"/>
              </a:rPr>
              <a:t>데이터 · 모델 적응 · 비교 평가 · 기획서 초안</a:t>
            </a:r>
          </a:p>
        </p:txBody>
      </p:sp>
      <p:graphicFrame>
        <p:nvGraphicFrame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B72414F1-B9F2-48BE-8B3E-2FF0B92EE7FA}"/>
              </a:ext>
            </a:extLst>
          </p:cNvPr>
          <p:cNvGraphicFramePr/>
          <p:nvPr/>
        </p:nvGraphicFramePr>
        <p:xfrm>
          <a:off xmlns:a="http://schemas.openxmlformats.org/drawingml/2006/main" x="609600" y="1809750"/>
          <a:ext xmlns:a="http://schemas.openxmlformats.org/drawingml/2006/main" cx="10972800" cy="2971800"/>
        </p:xfrm>
        <a:graphic xmlns:a="http://schemas.openxmlformats.org/drawingml/2006/main">
          <a:graphicData uri="http://schemas.openxmlformats.org/drawingml/2006/table">
            <a:tbl>
              <a:tblPr firstRow="0" bandRow="0"/>
              <a:tblGrid>
                <a:gridCol w="3238500"/>
                <a:gridCol w="7734300"/>
              </a:tblGrid>
              <a:tr h="742950">
                <a:tc>
                  <a:txBody>
                    <a:bodyPr wrap="none" lIns="133350" tIns="114300" rIns="133350" bIns="114300">
                      <a:noAutofit/>
                    </a:bodyPr>
                    <a:lstStyle/>
                    <a:p>
                      <a:r>
                        <a:rPr sz="1900" b="1">
                          <a:solidFill>
                            <a:srgbClr val="17283B"/>
                          </a:solidFill>
                          <a:latin typeface="AppleGothic"/>
                          <a:ea typeface="AppleGothic"/>
                          <a:cs typeface="AppleGothic"/>
                        </a:rPr>
                        <a:t>주차</a:t>
                      </a:r>
                    </a:p>
                  </a:txBody>
                  <a:tcPr marL="91440" marR="91440" marT="45720" marB="4572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EDF1F6"/>
                    </a:solidFill>
                  </a:tcPr>
                </a:tc>
                <a:tc>
                  <a:txBody>
                    <a:bodyPr wrap="none" lIns="133350" tIns="114300" rIns="133350" bIns="114300">
                      <a:noAutofit/>
                    </a:bodyPr>
                    <a:lstStyle/>
                    <a:p>
                      <a:r>
                        <a:rPr sz="1900" b="1">
                          <a:solidFill>
                            <a:srgbClr val="17283B"/>
                          </a:solidFill>
                          <a:latin typeface="AppleGothic"/>
                          <a:ea typeface="AppleGothic"/>
                          <a:cs typeface="AppleGothic"/>
                        </a:rPr>
                        <a:t>진행</a:t>
                      </a:r>
                    </a:p>
                  </a:txBody>
                  <a:tcPr marL="91440" marR="91440" marT="45720" marB="4572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EDF1F6"/>
                    </a:solidFill>
                  </a:tcPr>
                </a:tc>
              </a:tr>
              <a:tr h="742950">
                <a:tc>
                  <a:txBody>
                    <a:bodyPr wrap="none" lIns="133350" tIns="114300" rIns="133350" bIns="114300">
                      <a:noAutofit/>
                    </a:bodyPr>
                    <a:lstStyle/>
                    <a:p>
                      <a:r>
                        <a:rPr sz="1900" b="1">
                          <a:solidFill>
                            <a:srgbClr val="17191B"/>
                          </a:solidFill>
                          <a:latin typeface="AppleGothic"/>
                          <a:ea typeface="AppleGothic"/>
                          <a:cs typeface="AppleGothic"/>
                        </a:rPr>
                        <a:t>06 · 10.09</a:t>
                      </a:r>
                    </a:p>
                  </a:txBody>
                  <a:tcPr marL="91440" marR="91440" marT="45720" marB="4572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 lIns="133350" tIns="114300" rIns="133350" bIns="114300">
                      <a:noAutofit/>
                    </a:bodyPr>
                    <a:lstStyle/>
                    <a:p>
                      <a:r>
                        <a:rPr sz="1900" b="0">
                          <a:solidFill>
                            <a:srgbClr val="52606B"/>
                          </a:solidFill>
                          <a:latin typeface="AppleGothic"/>
                          <a:ea typeface="AppleGothic"/>
                          <a:cs typeface="AppleGothic"/>
                        </a:rPr>
                        <a:t>한글날 · 수업·녹화영상·신규 과제 없음</a:t>
                      </a:r>
                    </a:p>
                  </a:txBody>
                  <a:tcPr marL="91440" marR="91440" marT="45720" marB="4572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FFFFFF"/>
                    </a:solidFill>
                  </a:tcPr>
                </a:tc>
              </a:tr>
              <a:tr h="742950">
                <a:tc>
                  <a:txBody>
                    <a:bodyPr wrap="none" lIns="133350" tIns="114300" rIns="133350" bIns="114300">
                      <a:noAutofit/>
                    </a:bodyPr>
                    <a:lstStyle/>
                    <a:p>
                      <a:r>
                        <a:rPr sz="1900" b="1">
                          <a:solidFill>
                            <a:srgbClr val="17191B"/>
                          </a:solidFill>
                          <a:latin typeface="AppleGothic"/>
                          <a:ea typeface="AppleGothic"/>
                          <a:cs typeface="AppleGothic"/>
                        </a:rPr>
                        <a:t>07 · 10.16</a:t>
                      </a:r>
                    </a:p>
                  </a:txBody>
                  <a:tcPr marL="91440" marR="91440" marT="45720" marB="4572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 lIns="133350" tIns="114300" rIns="133350" bIns="114300">
                      <a:noAutofit/>
                    </a:bodyPr>
                    <a:lstStyle/>
                    <a:p>
                      <a:r>
                        <a:rPr sz="1900" b="0">
                          <a:solidFill>
                            <a:srgbClr val="52606B"/>
                          </a:solidFill>
                          <a:latin typeface="AppleGothic"/>
                          <a:ea typeface="AppleGothic"/>
                          <a:cs typeface="AppleGothic"/>
                        </a:rPr>
                        <a:t>실시간 온라인 · 기획서 초안 0.1·피드백</a:t>
                      </a:r>
                    </a:p>
                  </a:txBody>
                  <a:tcPr marL="91440" marR="91440" marT="45720" marB="4572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FFFFFF"/>
                    </a:solidFill>
                  </a:tcPr>
                </a:tc>
              </a:tr>
              <a:tr h="742950">
                <a:tc>
                  <a:txBody>
                    <a:bodyPr wrap="none" lIns="133350" tIns="114300" rIns="133350" bIns="114300">
                      <a:noAutofit/>
                    </a:bodyPr>
                    <a:lstStyle/>
                    <a:p>
                      <a:r>
                        <a:rPr sz="1900" b="1">
                          <a:solidFill>
                            <a:srgbClr val="17191B"/>
                          </a:solidFill>
                          <a:latin typeface="AppleGothic"/>
                          <a:ea typeface="AppleGothic"/>
                          <a:cs typeface="AppleGothic"/>
                        </a:rPr>
                        <a:t>08 · 10.23</a:t>
                      </a:r>
                    </a:p>
                  </a:txBody>
                  <a:tcPr marL="91440" marR="91440" marT="45720" marB="4572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 lIns="133350" tIns="114300" rIns="133350" bIns="114300">
                      <a:noAutofit/>
                    </a:bodyPr>
                    <a:lstStyle/>
                    <a:p>
                      <a:r>
                        <a:rPr sz="1900" b="0">
                          <a:solidFill>
                            <a:srgbClr val="52606B"/>
                          </a:solidFill>
                          <a:latin typeface="AppleGothic"/>
                          <a:ea typeface="AppleGothic"/>
                          <a:cs typeface="AppleGothic"/>
                        </a:rPr>
                        <a:t>시험·실시간 수업 없이 제출물 평가</a:t>
                      </a:r>
                    </a:p>
                  </a:txBody>
                  <a:tcPr marL="91440" marR="91440" marT="45720" marB="4572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59B171B1-B5D0-4AC8-B6D2-B9F93F6483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80975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283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190C6C5D-AD7C-497F-A105-5EE088AC1A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5527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FD5D3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A26539F8-FF4F-4B2E-8F42-4ABD368620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29565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FD5D3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B1BA00B0-4F16-4A11-BB84-1A781F022A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0386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FD5D3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20AFB7DE-C8B5-4AE9-B7E6-20AF07BAD2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78155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283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46A6991B-ADFD-4DBE-A33E-95788291D6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791200"/>
            <a:ext cx="109728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1600" b="0">
                <a:solidFill>
                  <a:srgbClr val="52606B"/>
                </a:solidFill>
                <a:latin typeface="AppleGothic"/>
                <a:ea typeface="AppleGothic"/>
                <a:cs typeface="AppleGothic"/>
              </a:defRPr>
            </a:defPPr>
          </a:lstStyle>
          <a:p xmlns:a="http://schemas.openxmlformats.org/drawingml/2006/main">
            <a:pPr algn="l">
              <a:lnSpc>
                <a:spcPct val="116000"/>
              </a:lnSpc>
              <a:buNone/>
              <a:defRPr sz="1600" b="0">
                <a:solidFill>
                  <a:srgbClr val="52606B"/>
                </a:solidFill>
                <a:latin typeface="AppleGothic"/>
                <a:ea typeface="AppleGothic"/>
                <a:cs typeface="AppleGothic"/>
              </a:defRPr>
            </a:pPr>
            <a:r>
              <a:rPr sz="1600" b="0">
                <a:solidFill>
                  <a:srgbClr val="52606B"/>
                </a:solidFill>
                <a:latin typeface="AppleGothic"/>
                <a:ea typeface="AppleGothic"/>
                <a:cs typeface="AppleGothic"/>
              </a:rPr>
              <a:t>수정본 0.2 마감: 10.22(목) 23:59 한국시간 · 6주차 내용은 7주차에 통합</a:t>
            </a:r>
          </a:p>
        </p:txBody>
      </p:sp>
    </p:spTree>
    <p:extLst>
      <p:ext uri="{BB962C8B-B14F-4D97-AF65-F5344CB8AC3E}">
        <p14:creationId xmlns:p14="http://schemas.microsoft.com/office/powerpoint/2010/main" val="1377347002"/>
      </p:ext>
    </p:extLst>
  </p:cSld>
</p:sld>
</file>

<file path=ppt/slides/slide5.xml><?xml version="1.0" encoding="utf-8"?>
<p:sld xmlns:p="http://schemas.openxmlformats.org/presentationml/2006/main">
  <p:cSld>
    <p:bg>
      <p:bgPr>
        <a:solidFill xmlns:a="http://schemas.openxmlformats.org/drawingml/2006/main">
          <a:srgbClr val="F7F7F5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15BE9FFE-D02F-41D6-8CE6-860DB3B297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47650"/>
            <a:ext cx="9525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1400" b="0">
                <a:solidFill>
                  <a:srgbClr val="52606B"/>
                </a:solidFill>
                <a:latin typeface="AppleGothic"/>
                <a:ea typeface="AppleGothic"/>
                <a:cs typeface="AppleGothic"/>
              </a:defRPr>
            </a:defPPr>
          </a:lstStyle>
          <a:p xmlns:a="http://schemas.openxmlformats.org/drawingml/2006/main">
            <a:pPr algn="l">
              <a:lnSpc>
                <a:spcPct val="116000"/>
              </a:lnSpc>
              <a:buNone/>
              <a:defRPr sz="1400" b="0">
                <a:solidFill>
                  <a:srgbClr val="52606B"/>
                </a:solidFill>
                <a:latin typeface="AppleGothic"/>
                <a:ea typeface="AppleGothic"/>
                <a:cs typeface="AppleGothic"/>
              </a:defRPr>
            </a:pPr>
            <a:r>
              <a:rPr sz="1400" b="0">
                <a:solidFill>
                  <a:srgbClr val="52606B"/>
                </a:solidFill>
                <a:latin typeface="AppleGothic"/>
                <a:ea typeface="AppleGothic"/>
                <a:cs typeface="AppleGothic"/>
              </a:rPr>
              <a:t>LLMOPS / W07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813E208B-7170-426F-A6DA-D281A003C4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8500" y="247650"/>
            <a:ext cx="7239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r">
              <a:defRPr sz="1400" b="0">
                <a:solidFill>
                  <a:srgbClr val="52606B"/>
                </a:solidFill>
                <a:latin typeface="Menlo"/>
                <a:ea typeface="Menlo"/>
                <a:cs typeface="Menlo"/>
              </a:defRPr>
            </a:defPPr>
          </a:lstStyle>
          <a:p xmlns:a="http://schemas.openxmlformats.org/drawingml/2006/main">
            <a:pPr algn="r">
              <a:lnSpc>
                <a:spcPct val="116000"/>
              </a:lnSpc>
              <a:buNone/>
              <a:defRPr sz="1400" b="0">
                <a:solidFill>
                  <a:srgbClr val="52606B"/>
                </a:solidFill>
                <a:latin typeface="Menlo"/>
                <a:ea typeface="Menlo"/>
                <a:cs typeface="Menlo"/>
              </a:defRPr>
            </a:pPr>
            <a:r>
              <a:rPr sz="1400" b="0">
                <a:solidFill>
                  <a:srgbClr val="52606B"/>
                </a:solidFill>
                <a:latin typeface="Menlo"/>
                <a:ea typeface="Menlo"/>
                <a:cs typeface="Menlo"/>
              </a:rPr>
              <a:t>05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B33F73C1-9ECD-4EDB-976A-8A34EABADD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23900"/>
            <a:ext cx="109728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3400" b="1">
                <a:solidFill>
                  <a:srgbClr val="17191B"/>
                </a:solidFill>
                <a:latin typeface="AppleGothic"/>
                <a:ea typeface="AppleGothic"/>
                <a:cs typeface="AppleGothic"/>
              </a:defRPr>
            </a:defPPr>
          </a:lstStyle>
          <a:p xmlns:a="http://schemas.openxmlformats.org/drawingml/2006/main">
            <a:pPr algn="l">
              <a:lnSpc>
                <a:spcPct val="116000"/>
              </a:lnSpc>
              <a:buNone/>
              <a:defRPr sz="3400" b="1">
                <a:solidFill>
                  <a:srgbClr val="17191B"/>
                </a:solidFill>
                <a:latin typeface="AppleGothic"/>
                <a:ea typeface="AppleGothic"/>
                <a:cs typeface="AppleGothic"/>
              </a:defRPr>
            </a:pPr>
            <a:r>
              <a:rPr sz="3400" b="1">
                <a:solidFill>
                  <a:srgbClr val="17191B"/>
                </a:solidFill>
                <a:latin typeface="AppleGothic"/>
                <a:ea typeface="AppleGothic"/>
                <a:cs typeface="AppleGothic"/>
              </a:rPr>
              <a:t>100분 수업 구성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CE1D9B46-106A-46E0-A98F-760F1A5BC7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315075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FD5D3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8D1125ED-1C14-47BF-B04C-2CE60CBE1C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77000"/>
            <a:ext cx="109728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1400" b="0">
                <a:solidFill>
                  <a:srgbClr val="52606B"/>
                </a:solidFill>
                <a:latin typeface="AppleGothic"/>
                <a:ea typeface="AppleGothic"/>
                <a:cs typeface="AppleGothic"/>
              </a:defRPr>
            </a:defPPr>
          </a:lstStyle>
          <a:p xmlns:a="http://schemas.openxmlformats.org/drawingml/2006/main">
            <a:pPr algn="l">
              <a:lnSpc>
                <a:spcPct val="116000"/>
              </a:lnSpc>
              <a:buNone/>
              <a:defRPr sz="1400" b="0">
                <a:solidFill>
                  <a:srgbClr val="52606B"/>
                </a:solidFill>
                <a:latin typeface="AppleGothic"/>
                <a:ea typeface="AppleGothic"/>
                <a:cs typeface="AppleGothic"/>
              </a:defRPr>
            </a:pPr>
            <a:r>
              <a:rPr sz="1400" b="0">
                <a:solidFill>
                  <a:srgbClr val="52606B"/>
                </a:solidFill>
                <a:latin typeface="AppleGothic"/>
                <a:ea typeface="AppleGothic"/>
                <a:cs typeface="AppleGothic"/>
              </a:rPr>
              <a:t>데이터 · 모델 적응 · 비교 평가 · 기획서 초안</a:t>
            </a:r>
          </a:p>
        </p:txBody>
      </p:sp>
      <p:graphicFrame>
        <p:nvGraphicFrame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29ACD731-F10A-45A7-8368-7A9A4707A230}"/>
              </a:ext>
            </a:extLst>
          </p:cNvPr>
          <p:cNvGraphicFramePr/>
          <p:nvPr/>
        </p:nvGraphicFramePr>
        <p:xfrm>
          <a:off xmlns:a="http://schemas.openxmlformats.org/drawingml/2006/main" x="609600" y="1809750"/>
          <a:ext xmlns:a="http://schemas.openxmlformats.org/drawingml/2006/main" cx="10972800" cy="3905250"/>
        </p:xfrm>
        <a:graphic xmlns:a="http://schemas.openxmlformats.org/drawingml/2006/main">
          <a:graphicData uri="http://schemas.openxmlformats.org/drawingml/2006/table">
            <a:tbl>
              <a:tblPr firstRow="0" bandRow="0"/>
              <a:tblGrid>
                <a:gridCol w="3238500"/>
                <a:gridCol w="7734300"/>
              </a:tblGrid>
              <a:tr h="557893">
                <a:tc>
                  <a:txBody>
                    <a:bodyPr wrap="none" lIns="133350" tIns="114300" rIns="133350" bIns="114300">
                      <a:noAutofit/>
                    </a:bodyPr>
                    <a:lstStyle/>
                    <a:p>
                      <a:r>
                        <a:rPr sz="1700" b="1">
                          <a:solidFill>
                            <a:srgbClr val="17283B"/>
                          </a:solidFill>
                          <a:latin typeface="AppleGothic"/>
                          <a:ea typeface="AppleGothic"/>
                          <a:cs typeface="AppleGothic"/>
                        </a:rPr>
                        <a:t>시간</a:t>
                      </a:r>
                    </a:p>
                  </a:txBody>
                  <a:tcPr marL="91440" marR="91440" marT="45720" marB="4572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EDF1F6"/>
                    </a:solidFill>
                  </a:tcPr>
                </a:tc>
                <a:tc>
                  <a:txBody>
                    <a:bodyPr wrap="none" lIns="133350" tIns="114300" rIns="133350" bIns="114300">
                      <a:noAutofit/>
                    </a:bodyPr>
                    <a:lstStyle/>
                    <a:p>
                      <a:r>
                        <a:rPr sz="1700" b="1">
                          <a:solidFill>
                            <a:srgbClr val="17283B"/>
                          </a:solidFill>
                          <a:latin typeface="AppleGothic"/>
                          <a:ea typeface="AppleGothic"/>
                          <a:cs typeface="AppleGothic"/>
                        </a:rPr>
                        <a:t>내용</a:t>
                      </a:r>
                    </a:p>
                  </a:txBody>
                  <a:tcPr marL="91440" marR="91440" marT="45720" marB="4572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EDF1F6"/>
                    </a:solidFill>
                  </a:tcPr>
                </a:tc>
              </a:tr>
              <a:tr h="557893">
                <a:tc>
                  <a:txBody>
                    <a:bodyPr wrap="none" lIns="133350" tIns="114300" rIns="133350" bIns="114300">
                      <a:noAutofit/>
                    </a:bodyPr>
                    <a:lstStyle/>
                    <a:p>
                      <a:r>
                        <a:rPr sz="1700" b="1">
                          <a:solidFill>
                            <a:srgbClr val="17191B"/>
                          </a:solidFill>
                          <a:latin typeface="AppleGothic"/>
                          <a:ea typeface="AppleGothic"/>
                          <a:cs typeface="AppleGothic"/>
                        </a:rPr>
                        <a:t>00–10분</a:t>
                      </a:r>
                    </a:p>
                  </a:txBody>
                  <a:tcPr marL="91440" marR="91440" marT="45720" marB="4572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 lIns="133350" tIns="114300" rIns="133350" bIns="114300">
                      <a:noAutofit/>
                    </a:bodyPr>
                    <a:lstStyle/>
                    <a:p>
                      <a:r>
                        <a:rPr sz="1700" b="0">
                          <a:solidFill>
                            <a:srgbClr val="52606B"/>
                          </a:solidFill>
                          <a:latin typeface="AppleGothic"/>
                          <a:ea typeface="AppleGothic"/>
                          <a:cs typeface="AppleGothic"/>
                        </a:rPr>
                        <a:t>운영·복습·기술 선택</a:t>
                      </a:r>
                    </a:p>
                  </a:txBody>
                  <a:tcPr marL="91440" marR="91440" marT="45720" marB="4572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FFFFFF"/>
                    </a:solidFill>
                  </a:tcPr>
                </a:tc>
              </a:tr>
              <a:tr h="557893">
                <a:tc>
                  <a:txBody>
                    <a:bodyPr wrap="none" lIns="133350" tIns="114300" rIns="133350" bIns="114300">
                      <a:noAutofit/>
                    </a:bodyPr>
                    <a:lstStyle/>
                    <a:p>
                      <a:r>
                        <a:rPr sz="1700" b="1">
                          <a:solidFill>
                            <a:srgbClr val="17191B"/>
                          </a:solidFill>
                          <a:latin typeface="AppleGothic"/>
                          <a:ea typeface="AppleGothic"/>
                          <a:cs typeface="AppleGothic"/>
                        </a:rPr>
                        <a:t>10–30분</a:t>
                      </a:r>
                    </a:p>
                  </a:txBody>
                  <a:tcPr marL="91440" marR="91440" marT="45720" marB="4572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 lIns="133350" tIns="114300" rIns="133350" bIns="114300">
                      <a:noAutofit/>
                    </a:bodyPr>
                    <a:lstStyle/>
                    <a:p>
                      <a:r>
                        <a:rPr sz="1700" b="0">
                          <a:solidFill>
                            <a:srgbClr val="52606B"/>
                          </a:solidFill>
                          <a:latin typeface="AppleGothic"/>
                          <a:ea typeface="AppleGothic"/>
                          <a:cs typeface="AppleGothic"/>
                        </a:rPr>
                        <a:t>SFT·데이터·LoRA</a:t>
                      </a:r>
                    </a:p>
                  </a:txBody>
                  <a:tcPr marL="91440" marR="91440" marT="45720" marB="4572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FFFFFF"/>
                    </a:solidFill>
                  </a:tcPr>
                </a:tc>
              </a:tr>
              <a:tr h="557893">
                <a:tc>
                  <a:txBody>
                    <a:bodyPr wrap="none" lIns="133350" tIns="114300" rIns="133350" bIns="114300">
                      <a:noAutofit/>
                    </a:bodyPr>
                    <a:lstStyle/>
                    <a:p>
                      <a:r>
                        <a:rPr sz="1700" b="1">
                          <a:solidFill>
                            <a:srgbClr val="17191B"/>
                          </a:solidFill>
                          <a:latin typeface="AppleGothic"/>
                          <a:ea typeface="AppleGothic"/>
                          <a:cs typeface="AppleGothic"/>
                        </a:rPr>
                        <a:t>30–45분</a:t>
                      </a:r>
                    </a:p>
                  </a:txBody>
                  <a:tcPr marL="91440" marR="91440" marT="45720" marB="4572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 lIns="133350" tIns="114300" rIns="133350" bIns="114300">
                      <a:noAutofit/>
                    </a:bodyPr>
                    <a:lstStyle/>
                    <a:p>
                      <a:r>
                        <a:rPr sz="1700" b="0">
                          <a:solidFill>
                            <a:srgbClr val="52606B"/>
                          </a:solidFill>
                          <a:latin typeface="AppleGothic"/>
                          <a:ea typeface="AppleGothic"/>
                          <a:cs typeface="AppleGothic"/>
                        </a:rPr>
                        <a:t>선호 데이터·DPO·평가</a:t>
                      </a:r>
                    </a:p>
                  </a:txBody>
                  <a:tcPr marL="91440" marR="91440" marT="45720" marB="4572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FFFFFF"/>
                    </a:solidFill>
                  </a:tcPr>
                </a:tc>
              </a:tr>
              <a:tr h="557893">
                <a:tc>
                  <a:txBody>
                    <a:bodyPr wrap="none" lIns="133350" tIns="114300" rIns="133350" bIns="114300">
                      <a:noAutofit/>
                    </a:bodyPr>
                    <a:lstStyle/>
                    <a:p>
                      <a:r>
                        <a:rPr sz="1700" b="1">
                          <a:solidFill>
                            <a:srgbClr val="17191B"/>
                          </a:solidFill>
                          <a:latin typeface="AppleGothic"/>
                          <a:ea typeface="AppleGothic"/>
                          <a:cs typeface="AppleGothic"/>
                        </a:rPr>
                        <a:t>45–50분</a:t>
                      </a:r>
                    </a:p>
                  </a:txBody>
                  <a:tcPr marL="91440" marR="91440" marT="45720" marB="4572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 lIns="133350" tIns="114300" rIns="133350" bIns="114300">
                      <a:noAutofit/>
                    </a:bodyPr>
                    <a:lstStyle/>
                    <a:p>
                      <a:r>
                        <a:rPr sz="1700" b="0">
                          <a:solidFill>
                            <a:srgbClr val="52606B"/>
                          </a:solidFill>
                          <a:latin typeface="AppleGothic"/>
                          <a:ea typeface="AppleGothic"/>
                          <a:cs typeface="AppleGothic"/>
                        </a:rPr>
                        <a:t>휴식·커널 준비</a:t>
                      </a:r>
                    </a:p>
                  </a:txBody>
                  <a:tcPr marL="91440" marR="91440" marT="45720" marB="4572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FFFFFF"/>
                    </a:solidFill>
                  </a:tcPr>
                </a:tc>
              </a:tr>
              <a:tr h="557893">
                <a:tc>
                  <a:txBody>
                    <a:bodyPr wrap="none" lIns="133350" tIns="114300" rIns="133350" bIns="114300">
                      <a:noAutofit/>
                    </a:bodyPr>
                    <a:lstStyle/>
                    <a:p>
                      <a:r>
                        <a:rPr sz="1700" b="1">
                          <a:solidFill>
                            <a:srgbClr val="17191B"/>
                          </a:solidFill>
                          <a:latin typeface="AppleGothic"/>
                          <a:ea typeface="AppleGothic"/>
                          <a:cs typeface="AppleGothic"/>
                        </a:rPr>
                        <a:t>50–85분</a:t>
                      </a:r>
                    </a:p>
                  </a:txBody>
                  <a:tcPr marL="91440" marR="91440" marT="45720" marB="4572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 lIns="133350" tIns="114300" rIns="133350" bIns="114300">
                      <a:noAutofit/>
                    </a:bodyPr>
                    <a:lstStyle/>
                    <a:p>
                      <a:r>
                        <a:rPr sz="1700" b="0">
                          <a:solidFill>
                            <a:srgbClr val="52606B"/>
                          </a:solidFill>
                          <a:latin typeface="AppleGothic"/>
                          <a:ea typeface="AppleGothic"/>
                          <a:cs typeface="AppleGothic"/>
                        </a:rPr>
                        <a:t>Notebook 실습 · 핵심 셀 우선</a:t>
                      </a:r>
                    </a:p>
                  </a:txBody>
                  <a:tcPr marL="91440" marR="91440" marT="45720" marB="4572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FFFFFF"/>
                    </a:solidFill>
                  </a:tcPr>
                </a:tc>
              </a:tr>
              <a:tr h="557893">
                <a:tc>
                  <a:txBody>
                    <a:bodyPr wrap="none" lIns="133350" tIns="114300" rIns="133350" bIns="114300">
                      <a:noAutofit/>
                    </a:bodyPr>
                    <a:lstStyle/>
                    <a:p>
                      <a:r>
                        <a:rPr sz="1700" b="1">
                          <a:solidFill>
                            <a:srgbClr val="17191B"/>
                          </a:solidFill>
                          <a:latin typeface="AppleGothic"/>
                          <a:ea typeface="AppleGothic"/>
                          <a:cs typeface="AppleGothic"/>
                        </a:rPr>
                        <a:t>85–100분</a:t>
                      </a:r>
                    </a:p>
                  </a:txBody>
                  <a:tcPr marL="91440" marR="91440" marT="45720" marB="4572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 lIns="133350" tIns="114300" rIns="133350" bIns="114300">
                      <a:noAutofit/>
                    </a:bodyPr>
                    <a:lstStyle/>
                    <a:p>
                      <a:r>
                        <a:rPr sz="1700" b="0">
                          <a:solidFill>
                            <a:srgbClr val="52606B"/>
                          </a:solidFill>
                          <a:latin typeface="AppleGothic"/>
                          <a:ea typeface="AppleGothic"/>
                          <a:cs typeface="AppleGothic"/>
                        </a:rPr>
                        <a:t>기획서 초안·설계 리뷰</a:t>
                      </a:r>
                    </a:p>
                  </a:txBody>
                  <a:tcPr marL="91440" marR="91440" marT="45720" marB="4572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105A974C-EC65-423A-BEBE-96526CFD84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80975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283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E4876BE3-3AD0-4126-B9EE-0D20EE8754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367643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FD5D3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C730D566-D4B7-40B5-A2CD-1679CF6832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925536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FD5D3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4AB9B26D-C077-43B2-809F-3928C43A79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483429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FD5D3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091FF4FD-D603-4129-AE6C-5FEAA6388C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041321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FD5D3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05131641-38AC-45A5-B6B3-79F8B7CC6C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599214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FD5D3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CDA00917-231A-4D3C-91FB-8EB2C4E548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157107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FD5D3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650A91E1-9AB5-40BE-AFFF-0F172C0E77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7150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283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858184E8-932C-4945-AF48-46D3E25CA7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791200"/>
            <a:ext cx="109728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1600" b="0">
                <a:solidFill>
                  <a:srgbClr val="52606B"/>
                </a:solidFill>
                <a:latin typeface="AppleGothic"/>
                <a:ea typeface="AppleGothic"/>
                <a:cs typeface="AppleGothic"/>
              </a:defRPr>
            </a:defPPr>
          </a:lstStyle>
          <a:p xmlns:a="http://schemas.openxmlformats.org/drawingml/2006/main">
            <a:pPr algn="l">
              <a:lnSpc>
                <a:spcPct val="116000"/>
              </a:lnSpc>
              <a:buNone/>
              <a:defRPr sz="1600" b="0">
                <a:solidFill>
                  <a:srgbClr val="52606B"/>
                </a:solidFill>
                <a:latin typeface="AppleGothic"/>
                <a:ea typeface="AppleGothic"/>
                <a:cs typeface="AppleGothic"/>
              </a:defRPr>
            </a:pPr>
            <a:r>
              <a:rPr sz="1600" b="0">
                <a:solidFill>
                  <a:srgbClr val="52606B"/>
                </a:solidFill>
                <a:latin typeface="AppleGothic"/>
                <a:ea typeface="AppleGothic"/>
                <a:cs typeface="AppleGothic"/>
              </a:rPr>
              <a:t>전체 노트북은 수업 후 확장 가능 · 강의 중 실습 경로는 별도 안내</a:t>
            </a:r>
          </a:p>
        </p:txBody>
      </p:sp>
    </p:spTree>
    <p:extLst>
      <p:ext uri="{BB962C8B-B14F-4D97-AF65-F5344CB8AC3E}">
        <p14:creationId xmlns:p14="http://schemas.microsoft.com/office/powerpoint/2010/main" val="947249499"/>
      </p:ext>
    </p:extLst>
  </p:cSld>
</p:sld>
</file>

<file path=ppt/slides/slide6.xml><?xml version="1.0" encoding="utf-8"?>
<p:sld xmlns:p="http://schemas.openxmlformats.org/presentationml/2006/main">
  <p:cSld>
    <p:bg>
      <p:bgPr>
        <a:solidFill xmlns:a="http://schemas.openxmlformats.org/drawingml/2006/main">
          <a:srgbClr val="F7F7F5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5F44F9C6-6628-4A10-8F0C-9D3A907A61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47650"/>
            <a:ext cx="9525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1400" b="0">
                <a:solidFill>
                  <a:srgbClr val="52606B"/>
                </a:solidFill>
                <a:latin typeface="AppleGothic"/>
                <a:ea typeface="AppleGothic"/>
                <a:cs typeface="AppleGothic"/>
              </a:defRPr>
            </a:defPPr>
          </a:lstStyle>
          <a:p xmlns:a="http://schemas.openxmlformats.org/drawingml/2006/main">
            <a:pPr algn="l">
              <a:lnSpc>
                <a:spcPct val="116000"/>
              </a:lnSpc>
              <a:buNone/>
              <a:defRPr sz="1400" b="0">
                <a:solidFill>
                  <a:srgbClr val="52606B"/>
                </a:solidFill>
                <a:latin typeface="AppleGothic"/>
                <a:ea typeface="AppleGothic"/>
                <a:cs typeface="AppleGothic"/>
              </a:defRPr>
            </a:pPr>
            <a:r>
              <a:rPr sz="1400" b="0">
                <a:solidFill>
                  <a:srgbClr val="52606B"/>
                </a:solidFill>
                <a:latin typeface="AppleGothic"/>
                <a:ea typeface="AppleGothic"/>
                <a:cs typeface="AppleGothic"/>
              </a:rPr>
              <a:t>LLMOPS / W07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AE2B5866-59AF-436D-B08F-65F3D9EB92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8500" y="247650"/>
            <a:ext cx="7239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r">
              <a:defRPr sz="1400" b="0">
                <a:solidFill>
                  <a:srgbClr val="52606B"/>
                </a:solidFill>
                <a:latin typeface="Menlo"/>
                <a:ea typeface="Menlo"/>
                <a:cs typeface="Menlo"/>
              </a:defRPr>
            </a:defPPr>
          </a:lstStyle>
          <a:p xmlns:a="http://schemas.openxmlformats.org/drawingml/2006/main">
            <a:pPr algn="r">
              <a:lnSpc>
                <a:spcPct val="116000"/>
              </a:lnSpc>
              <a:buNone/>
              <a:defRPr sz="1400" b="0">
                <a:solidFill>
                  <a:srgbClr val="52606B"/>
                </a:solidFill>
                <a:latin typeface="Menlo"/>
                <a:ea typeface="Menlo"/>
                <a:cs typeface="Menlo"/>
              </a:defRPr>
            </a:pPr>
            <a:r>
              <a:rPr sz="1400" b="0">
                <a:solidFill>
                  <a:srgbClr val="52606B"/>
                </a:solidFill>
                <a:latin typeface="Menlo"/>
                <a:ea typeface="Menlo"/>
                <a:cs typeface="Menlo"/>
              </a:rPr>
              <a:t>06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323000AA-6843-47CE-9796-9B61EF5310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23900"/>
            <a:ext cx="109728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3400" b="1">
                <a:solidFill>
                  <a:srgbClr val="17191B"/>
                </a:solidFill>
                <a:latin typeface="AppleGothic"/>
                <a:ea typeface="AppleGothic"/>
                <a:cs typeface="AppleGothic"/>
              </a:defRPr>
            </a:defPPr>
          </a:lstStyle>
          <a:p xmlns:a="http://schemas.openxmlformats.org/drawingml/2006/main">
            <a:pPr algn="l">
              <a:lnSpc>
                <a:spcPct val="116000"/>
              </a:lnSpc>
              <a:buNone/>
              <a:defRPr sz="3400" b="1">
                <a:solidFill>
                  <a:srgbClr val="17191B"/>
                </a:solidFill>
                <a:latin typeface="AppleGothic"/>
                <a:ea typeface="AppleGothic"/>
                <a:cs typeface="AppleGothic"/>
              </a:defRPr>
            </a:pPr>
            <a:r>
              <a:rPr sz="3400" b="1">
                <a:solidFill>
                  <a:srgbClr val="17191B"/>
                </a:solidFill>
                <a:latin typeface="AppleGothic"/>
                <a:ea typeface="AppleGothic"/>
                <a:cs typeface="AppleGothic"/>
              </a:rPr>
              <a:t>지난 실습의 확인 사항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7647C887-0526-42F8-9378-F855420171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315075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FD5D3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F7696CE2-FB95-4B15-856A-AE22CB68E1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77000"/>
            <a:ext cx="109728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1400" b="0">
                <a:solidFill>
                  <a:srgbClr val="52606B"/>
                </a:solidFill>
                <a:latin typeface="AppleGothic"/>
                <a:ea typeface="AppleGothic"/>
                <a:cs typeface="AppleGothic"/>
              </a:defRPr>
            </a:defPPr>
          </a:lstStyle>
          <a:p xmlns:a="http://schemas.openxmlformats.org/drawingml/2006/main">
            <a:pPr algn="l">
              <a:lnSpc>
                <a:spcPct val="116000"/>
              </a:lnSpc>
              <a:buNone/>
              <a:defRPr sz="1400" b="0">
                <a:solidFill>
                  <a:srgbClr val="52606B"/>
                </a:solidFill>
                <a:latin typeface="AppleGothic"/>
                <a:ea typeface="AppleGothic"/>
                <a:cs typeface="AppleGothic"/>
              </a:defRPr>
            </a:pPr>
            <a:r>
              <a:rPr sz="1400" b="0">
                <a:solidFill>
                  <a:srgbClr val="52606B"/>
                </a:solidFill>
                <a:latin typeface="AppleGothic"/>
                <a:ea typeface="AppleGothic"/>
                <a:cs typeface="AppleGothic"/>
              </a:rPr>
              <a:t>데이터 · 모델 적응 · 비교 평가 · 기획서 초안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5521D7B3-BB76-4507-8182-470E1BA75E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464689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FD5D3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0CCF5CB4-673F-4926-9F6F-8F2B02CF07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809750"/>
            <a:ext cx="10477500" cy="426339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2700" b="1">
                <a:solidFill>
                  <a:srgbClr val="17191B"/>
                </a:solidFill>
                <a:latin typeface="AppleGothic"/>
                <a:ea typeface="AppleGothic"/>
                <a:cs typeface="AppleGothic"/>
              </a:defRPr>
            </a:defPPr>
          </a:lstStyle>
          <a:p xmlns:a="http://schemas.openxmlformats.org/drawingml/2006/main">
            <a:pPr algn="l">
              <a:lnSpc>
                <a:spcPct val="116000"/>
              </a:lnSpc>
              <a:buNone/>
              <a:defRPr sz="2700" b="1">
                <a:solidFill>
                  <a:srgbClr val="17191B"/>
                </a:solidFill>
                <a:latin typeface="AppleGothic"/>
                <a:ea typeface="AppleGothic"/>
                <a:cs typeface="AppleGothic"/>
              </a:defRPr>
            </a:pPr>
            <a:r>
              <a:rPr sz="2700" b="1">
                <a:solidFill>
                  <a:srgbClr val="17191B"/>
                </a:solidFill>
                <a:latin typeface="AppleGothic"/>
                <a:ea typeface="AppleGothic"/>
                <a:cs typeface="AppleGothic"/>
              </a:rPr>
              <a:t>검색 결과와 답변 품질의 분리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A8274E7E-1EF8-4C07-A840-7DEA64A091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883789"/>
            <a:ext cx="10477500" cy="337947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2100" b="0">
                <a:solidFill>
                  <a:srgbClr val="52606B"/>
                </a:solidFill>
                <a:latin typeface="AppleGothic"/>
                <a:ea typeface="AppleGothic"/>
                <a:cs typeface="AppleGothic"/>
              </a:defRPr>
            </a:defPPr>
          </a:lstStyle>
          <a:p xmlns:a="http://schemas.openxmlformats.org/drawingml/2006/main">
            <a:pPr algn="l">
              <a:lnSpc>
                <a:spcPct val="116000"/>
              </a:lnSpc>
              <a:buNone/>
              <a:defRPr sz="2100" b="0">
                <a:solidFill>
                  <a:srgbClr val="52606B"/>
                </a:solidFill>
                <a:latin typeface="AppleGothic"/>
                <a:ea typeface="AppleGothic"/>
                <a:cs typeface="AppleGothic"/>
              </a:defRPr>
            </a:pPr>
            <a:r>
              <a:rPr sz="2100" b="0">
                <a:solidFill>
                  <a:srgbClr val="52606B"/>
                </a:solidFill>
                <a:latin typeface="AppleGothic"/>
                <a:ea typeface="AppleGothic"/>
                <a:cs typeface="AppleGothic"/>
              </a:rPr>
              <a:t>관련 문서가 있어도 날짜·권한·출처 확인 필요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044C1583-7765-485B-BF9F-FB22A5CE74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526536"/>
            <a:ext cx="10477500" cy="337947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2100" b="0">
                <a:solidFill>
                  <a:srgbClr val="52606B"/>
                </a:solidFill>
                <a:latin typeface="AppleGothic"/>
                <a:ea typeface="AppleGothic"/>
                <a:cs typeface="AppleGothic"/>
              </a:defRPr>
            </a:defPPr>
          </a:lstStyle>
          <a:p xmlns:a="http://schemas.openxmlformats.org/drawingml/2006/main">
            <a:pPr algn="l">
              <a:lnSpc>
                <a:spcPct val="116000"/>
              </a:lnSpc>
              <a:buNone/>
              <a:defRPr sz="2100" b="0">
                <a:solidFill>
                  <a:srgbClr val="52606B"/>
                </a:solidFill>
                <a:latin typeface="AppleGothic"/>
                <a:ea typeface="AppleGothic"/>
                <a:cs typeface="AppleGothic"/>
              </a:defRPr>
            </a:pPr>
            <a:r>
              <a:rPr sz="2100" b="0">
                <a:solidFill>
                  <a:srgbClr val="52606B"/>
                </a:solidFill>
                <a:latin typeface="AppleGothic"/>
                <a:ea typeface="AppleGothic"/>
                <a:cs typeface="AppleGothic"/>
              </a:rPr>
              <a:t>검색 점수는 정답 확률이 아님</a:t>
            </a:r>
          </a:p>
        </p:txBody>
      </p:sp>
    </p:spTree>
    <p:extLst>
      <p:ext uri="{BB962C8B-B14F-4D97-AF65-F5344CB8AC3E}">
        <p14:creationId xmlns:p14="http://schemas.microsoft.com/office/powerpoint/2010/main" val="489347054"/>
      </p:ext>
    </p:extLst>
  </p:cSld>
</p:sld>
</file>

<file path=ppt/slides/slide7.xml><?xml version="1.0" encoding="utf-8"?>
<p:sld xmlns:p="http://schemas.openxmlformats.org/presentationml/2006/main">
  <p:cSld>
    <p:bg>
      <p:bgPr>
        <a:solidFill xmlns:a="http://schemas.openxmlformats.org/drawingml/2006/main">
          <a:srgbClr val="F7F7F5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8CED6220-78F0-4B2B-A917-4C87A9C45D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47650"/>
            <a:ext cx="9525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1400" b="0">
                <a:solidFill>
                  <a:srgbClr val="52606B"/>
                </a:solidFill>
                <a:latin typeface="AppleGothic"/>
                <a:ea typeface="AppleGothic"/>
                <a:cs typeface="AppleGothic"/>
              </a:defRPr>
            </a:defPPr>
          </a:lstStyle>
          <a:p xmlns:a="http://schemas.openxmlformats.org/drawingml/2006/main">
            <a:pPr algn="l">
              <a:lnSpc>
                <a:spcPct val="116000"/>
              </a:lnSpc>
              <a:buNone/>
              <a:defRPr sz="1400" b="0">
                <a:solidFill>
                  <a:srgbClr val="52606B"/>
                </a:solidFill>
                <a:latin typeface="AppleGothic"/>
                <a:ea typeface="AppleGothic"/>
                <a:cs typeface="AppleGothic"/>
              </a:defRPr>
            </a:pPr>
            <a:r>
              <a:rPr sz="1400" b="0">
                <a:solidFill>
                  <a:srgbClr val="52606B"/>
                </a:solidFill>
                <a:latin typeface="AppleGothic"/>
                <a:ea typeface="AppleGothic"/>
                <a:cs typeface="AppleGothic"/>
              </a:rPr>
              <a:t>LLMOPS / W07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93293093-2186-4DFE-919B-3141C184F5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8500" y="247650"/>
            <a:ext cx="7239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r">
              <a:defRPr sz="1400" b="0">
                <a:solidFill>
                  <a:srgbClr val="52606B"/>
                </a:solidFill>
                <a:latin typeface="Menlo"/>
                <a:ea typeface="Menlo"/>
                <a:cs typeface="Menlo"/>
              </a:defRPr>
            </a:defPPr>
          </a:lstStyle>
          <a:p xmlns:a="http://schemas.openxmlformats.org/drawingml/2006/main">
            <a:pPr algn="r">
              <a:lnSpc>
                <a:spcPct val="116000"/>
              </a:lnSpc>
              <a:buNone/>
              <a:defRPr sz="1400" b="0">
                <a:solidFill>
                  <a:srgbClr val="52606B"/>
                </a:solidFill>
                <a:latin typeface="Menlo"/>
                <a:ea typeface="Menlo"/>
                <a:cs typeface="Menlo"/>
              </a:defRPr>
            </a:pPr>
            <a:r>
              <a:rPr sz="1400" b="0">
                <a:solidFill>
                  <a:srgbClr val="52606B"/>
                </a:solidFill>
                <a:latin typeface="Menlo"/>
                <a:ea typeface="Menlo"/>
                <a:cs typeface="Menlo"/>
              </a:rPr>
              <a:t>07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D0498878-B425-45AB-A08D-3821392377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23900"/>
            <a:ext cx="109728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3400" b="1">
                <a:solidFill>
                  <a:srgbClr val="17191B"/>
                </a:solidFill>
                <a:latin typeface="AppleGothic"/>
                <a:ea typeface="AppleGothic"/>
                <a:cs typeface="AppleGothic"/>
              </a:defRPr>
            </a:defPPr>
          </a:lstStyle>
          <a:p xmlns:a="http://schemas.openxmlformats.org/drawingml/2006/main">
            <a:pPr algn="l">
              <a:lnSpc>
                <a:spcPct val="116000"/>
              </a:lnSpc>
              <a:buNone/>
              <a:defRPr sz="3400" b="1">
                <a:solidFill>
                  <a:srgbClr val="17191B"/>
                </a:solidFill>
                <a:latin typeface="AppleGothic"/>
                <a:ea typeface="AppleGothic"/>
                <a:cs typeface="AppleGothic"/>
              </a:defRPr>
            </a:pPr>
            <a:r>
              <a:rPr sz="3400" b="1">
                <a:solidFill>
                  <a:srgbClr val="17191B"/>
                </a:solidFill>
                <a:latin typeface="AppleGothic"/>
                <a:ea typeface="AppleGothic"/>
                <a:cs typeface="AppleGothic"/>
              </a:rPr>
              <a:t>검색 개선과 모델 적응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6610127C-E66E-4C78-811B-2CEA0D5A5A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315075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FD5D3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BCF7D053-DA3D-47E2-BE2D-CF53B686DC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77000"/>
            <a:ext cx="109728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1400" b="0">
                <a:solidFill>
                  <a:srgbClr val="52606B"/>
                </a:solidFill>
                <a:latin typeface="AppleGothic"/>
                <a:ea typeface="AppleGothic"/>
                <a:cs typeface="AppleGothic"/>
              </a:defRPr>
            </a:defPPr>
          </a:lstStyle>
          <a:p xmlns:a="http://schemas.openxmlformats.org/drawingml/2006/main">
            <a:pPr algn="l">
              <a:lnSpc>
                <a:spcPct val="116000"/>
              </a:lnSpc>
              <a:buNone/>
              <a:defRPr sz="1400" b="0">
                <a:solidFill>
                  <a:srgbClr val="52606B"/>
                </a:solidFill>
                <a:latin typeface="AppleGothic"/>
                <a:ea typeface="AppleGothic"/>
                <a:cs typeface="AppleGothic"/>
              </a:defRPr>
            </a:pPr>
            <a:r>
              <a:rPr sz="1400" b="0">
                <a:solidFill>
                  <a:srgbClr val="52606B"/>
                </a:solidFill>
                <a:latin typeface="AppleGothic"/>
                <a:ea typeface="AppleGothic"/>
                <a:cs typeface="AppleGothic"/>
              </a:rPr>
              <a:t>데이터 · 모델 적응 · 비교 평가 · 기획서 초안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D541A5D4-321E-45DA-91F7-CD93500892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057400"/>
            <a:ext cx="5295900" cy="800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2900" b="1">
                <a:solidFill>
                  <a:srgbClr val="17191B"/>
                </a:solidFill>
                <a:latin typeface="AppleGothic"/>
                <a:ea typeface="AppleGothic"/>
                <a:cs typeface="AppleGothic"/>
              </a:defRPr>
            </a:defPPr>
          </a:lstStyle>
          <a:p xmlns:a="http://schemas.openxmlformats.org/drawingml/2006/main">
            <a:pPr algn="l">
              <a:lnSpc>
                <a:spcPct val="116000"/>
              </a:lnSpc>
              <a:buNone/>
              <a:defRPr sz="2900" b="1">
                <a:solidFill>
                  <a:srgbClr val="17191B"/>
                </a:solidFill>
                <a:latin typeface="AppleGothic"/>
                <a:ea typeface="AppleGothic"/>
                <a:cs typeface="AppleGothic"/>
              </a:defRPr>
            </a:pPr>
            <a:r>
              <a:rPr sz="2900" b="1">
                <a:solidFill>
                  <a:srgbClr val="17191B"/>
                </a:solidFill>
                <a:latin typeface="AppleGothic"/>
                <a:ea typeface="AppleGothic"/>
                <a:cs typeface="AppleGothic"/>
              </a:rPr>
              <a:t>검색 개선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94B7C36B-75E1-4FAE-AF00-D6660C0594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000375"/>
            <a:ext cx="52959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84B7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A8C92301-2596-4C7F-90B2-A6E143EC17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371850"/>
            <a:ext cx="5238750" cy="36741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2300" b="0">
                <a:solidFill>
                  <a:srgbClr val="52606B"/>
                </a:solidFill>
                <a:latin typeface="AppleGothic"/>
                <a:ea typeface="AppleGothic"/>
                <a:cs typeface="AppleGothic"/>
              </a:defRPr>
            </a:defPPr>
          </a:lstStyle>
          <a:p xmlns:a="http://schemas.openxmlformats.org/drawingml/2006/main">
            <a:pPr algn="l">
              <a:lnSpc>
                <a:spcPct val="116000"/>
              </a:lnSpc>
              <a:buNone/>
              <a:defRPr sz="2300" b="0">
                <a:solidFill>
                  <a:srgbClr val="52606B"/>
                </a:solidFill>
                <a:latin typeface="AppleGothic"/>
                <a:ea typeface="AppleGothic"/>
                <a:cs typeface="AppleGothic"/>
              </a:defRPr>
            </a:pPr>
            <a:r>
              <a:rPr sz="2300" b="0">
                <a:solidFill>
                  <a:srgbClr val="52606B"/>
                </a:solidFill>
                <a:latin typeface="AppleGothic"/>
                <a:ea typeface="AppleGothic"/>
                <a:cs typeface="AppleGothic"/>
              </a:rPr>
              <a:t>필요한 근거를 찾는 문제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90632FB6-AB68-42D1-A86A-810ED47568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139311"/>
            <a:ext cx="5238750" cy="36741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2300" b="0">
                <a:solidFill>
                  <a:srgbClr val="52606B"/>
                </a:solidFill>
                <a:latin typeface="AppleGothic"/>
                <a:ea typeface="AppleGothic"/>
                <a:cs typeface="AppleGothic"/>
              </a:defRPr>
            </a:defPPr>
          </a:lstStyle>
          <a:p xmlns:a="http://schemas.openxmlformats.org/drawingml/2006/main">
            <a:pPr algn="l">
              <a:lnSpc>
                <a:spcPct val="116000"/>
              </a:lnSpc>
              <a:buNone/>
              <a:defRPr sz="2300" b="0">
                <a:solidFill>
                  <a:srgbClr val="52606B"/>
                </a:solidFill>
                <a:latin typeface="AppleGothic"/>
                <a:ea typeface="AppleGothic"/>
                <a:cs typeface="AppleGothic"/>
              </a:defRPr>
            </a:pPr>
            <a:r>
              <a:rPr sz="2300" b="0">
                <a:solidFill>
                  <a:srgbClr val="52606B"/>
                </a:solidFill>
                <a:latin typeface="AppleGothic"/>
                <a:ea typeface="AppleGothic"/>
                <a:cs typeface="AppleGothic"/>
              </a:rPr>
              <a:t>자료·분할·순위·권한 검토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A4581AE4-EB80-4064-B925-C8B2E92C11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0" y="2057400"/>
            <a:ext cx="5295900" cy="800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2900" b="1">
                <a:solidFill>
                  <a:srgbClr val="17191B"/>
                </a:solidFill>
                <a:latin typeface="AppleGothic"/>
                <a:ea typeface="AppleGothic"/>
                <a:cs typeface="AppleGothic"/>
              </a:defRPr>
            </a:defPPr>
          </a:lstStyle>
          <a:p xmlns:a="http://schemas.openxmlformats.org/drawingml/2006/main">
            <a:pPr algn="l">
              <a:lnSpc>
                <a:spcPct val="116000"/>
              </a:lnSpc>
              <a:buNone/>
              <a:defRPr sz="2900" b="1">
                <a:solidFill>
                  <a:srgbClr val="17191B"/>
                </a:solidFill>
                <a:latin typeface="AppleGothic"/>
                <a:ea typeface="AppleGothic"/>
                <a:cs typeface="AppleGothic"/>
              </a:defRPr>
            </a:pPr>
            <a:r>
              <a:rPr sz="2900" b="1">
                <a:solidFill>
                  <a:srgbClr val="17191B"/>
                </a:solidFill>
                <a:latin typeface="AppleGothic"/>
                <a:ea typeface="AppleGothic"/>
                <a:cs typeface="AppleGothic"/>
              </a:rPr>
              <a:t>모델 적응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0DEEAE8D-BA7E-4FBF-B328-5315966D0D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0" y="3000375"/>
            <a:ext cx="52959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52606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9B85BAA0-1FF1-4795-B330-4DEA0F1B09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0" y="3371850"/>
            <a:ext cx="5238750" cy="36741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2300" b="0">
                <a:solidFill>
                  <a:srgbClr val="52606B"/>
                </a:solidFill>
                <a:latin typeface="AppleGothic"/>
                <a:ea typeface="AppleGothic"/>
                <a:cs typeface="AppleGothic"/>
              </a:defRPr>
            </a:defPPr>
          </a:lstStyle>
          <a:p xmlns:a="http://schemas.openxmlformats.org/drawingml/2006/main">
            <a:pPr algn="l">
              <a:lnSpc>
                <a:spcPct val="116000"/>
              </a:lnSpc>
              <a:buNone/>
              <a:defRPr sz="2300" b="0">
                <a:solidFill>
                  <a:srgbClr val="52606B"/>
                </a:solidFill>
                <a:latin typeface="AppleGothic"/>
                <a:ea typeface="AppleGothic"/>
                <a:cs typeface="AppleGothic"/>
              </a:defRPr>
            </a:pPr>
            <a:r>
              <a:rPr sz="2300" b="0">
                <a:solidFill>
                  <a:srgbClr val="52606B"/>
                </a:solidFill>
                <a:latin typeface="AppleGothic"/>
                <a:ea typeface="AppleGothic"/>
                <a:cs typeface="AppleGothic"/>
              </a:rPr>
              <a:t>반복 출력·행동의 문제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16620663-2C19-4553-A11F-5F972A3F88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0" y="4139311"/>
            <a:ext cx="5238750" cy="36741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2300" b="0">
                <a:solidFill>
                  <a:srgbClr val="52606B"/>
                </a:solidFill>
                <a:latin typeface="AppleGothic"/>
                <a:ea typeface="AppleGothic"/>
                <a:cs typeface="AppleGothic"/>
              </a:defRPr>
            </a:defPPr>
          </a:lstStyle>
          <a:p xmlns:a="http://schemas.openxmlformats.org/drawingml/2006/main">
            <a:pPr algn="l">
              <a:lnSpc>
                <a:spcPct val="116000"/>
              </a:lnSpc>
              <a:buNone/>
              <a:defRPr sz="2300" b="0">
                <a:solidFill>
                  <a:srgbClr val="52606B"/>
                </a:solidFill>
                <a:latin typeface="AppleGothic"/>
                <a:ea typeface="AppleGothic"/>
                <a:cs typeface="AppleGothic"/>
              </a:defRPr>
            </a:pPr>
            <a:r>
              <a:rPr sz="2300" b="0">
                <a:solidFill>
                  <a:srgbClr val="52606B"/>
                </a:solidFill>
                <a:latin typeface="AppleGothic"/>
                <a:ea typeface="AppleGothic"/>
                <a:cs typeface="AppleGothic"/>
              </a:rPr>
              <a:t>학습 데이터·평가·버전 검토</a:t>
            </a:r>
          </a:p>
        </p:txBody>
      </p:sp>
    </p:spTree>
    <p:extLst>
      <p:ext uri="{BB962C8B-B14F-4D97-AF65-F5344CB8AC3E}">
        <p14:creationId xmlns:p14="http://schemas.microsoft.com/office/powerpoint/2010/main" val="956719928"/>
      </p:ext>
    </p:extLst>
  </p:cSld>
</p:sld>
</file>

<file path=ppt/slides/slide8.xml><?xml version="1.0" encoding="utf-8"?>
<p:sld xmlns:p="http://schemas.openxmlformats.org/presentationml/2006/main">
  <p:cSld>
    <p:bg>
      <p:bgPr>
        <a:solidFill xmlns:a="http://schemas.openxmlformats.org/drawingml/2006/main">
          <a:srgbClr val="F7F7F5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0A299704-9D47-4772-BB95-28D05BEFD2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47650"/>
            <a:ext cx="9525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1400" b="0">
                <a:solidFill>
                  <a:srgbClr val="52606B"/>
                </a:solidFill>
                <a:latin typeface="AppleGothic"/>
                <a:ea typeface="AppleGothic"/>
                <a:cs typeface="AppleGothic"/>
              </a:defRPr>
            </a:defPPr>
          </a:lstStyle>
          <a:p xmlns:a="http://schemas.openxmlformats.org/drawingml/2006/main">
            <a:pPr algn="l">
              <a:lnSpc>
                <a:spcPct val="116000"/>
              </a:lnSpc>
              <a:buNone/>
              <a:defRPr sz="1400" b="0">
                <a:solidFill>
                  <a:srgbClr val="52606B"/>
                </a:solidFill>
                <a:latin typeface="AppleGothic"/>
                <a:ea typeface="AppleGothic"/>
                <a:cs typeface="AppleGothic"/>
              </a:defRPr>
            </a:pPr>
            <a:r>
              <a:rPr sz="1400" b="0">
                <a:solidFill>
                  <a:srgbClr val="52606B"/>
                </a:solidFill>
                <a:latin typeface="AppleGothic"/>
                <a:ea typeface="AppleGothic"/>
                <a:cs typeface="AppleGothic"/>
              </a:rPr>
              <a:t>LLMOPS / W07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3A9FC7B0-9F1E-46DC-869A-E264B81E9A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8500" y="247650"/>
            <a:ext cx="7239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r">
              <a:defRPr sz="1400" b="0">
                <a:solidFill>
                  <a:srgbClr val="52606B"/>
                </a:solidFill>
                <a:latin typeface="Menlo"/>
                <a:ea typeface="Menlo"/>
                <a:cs typeface="Menlo"/>
              </a:defRPr>
            </a:defPPr>
          </a:lstStyle>
          <a:p xmlns:a="http://schemas.openxmlformats.org/drawingml/2006/main">
            <a:pPr algn="r">
              <a:lnSpc>
                <a:spcPct val="116000"/>
              </a:lnSpc>
              <a:buNone/>
              <a:defRPr sz="1400" b="0">
                <a:solidFill>
                  <a:srgbClr val="52606B"/>
                </a:solidFill>
                <a:latin typeface="Menlo"/>
                <a:ea typeface="Menlo"/>
                <a:cs typeface="Menlo"/>
              </a:defRPr>
            </a:pPr>
            <a:r>
              <a:rPr sz="1400" b="0">
                <a:solidFill>
                  <a:srgbClr val="52606B"/>
                </a:solidFill>
                <a:latin typeface="Menlo"/>
                <a:ea typeface="Menlo"/>
                <a:cs typeface="Menlo"/>
              </a:rPr>
              <a:t>08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C348D3C2-BA7F-4887-8EF2-721934B4E7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23900"/>
            <a:ext cx="109728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3400" b="1">
                <a:solidFill>
                  <a:srgbClr val="17191B"/>
                </a:solidFill>
                <a:latin typeface="AppleGothic"/>
                <a:ea typeface="AppleGothic"/>
                <a:cs typeface="AppleGothic"/>
              </a:defRPr>
            </a:defPPr>
          </a:lstStyle>
          <a:p xmlns:a="http://schemas.openxmlformats.org/drawingml/2006/main">
            <a:pPr algn="l">
              <a:lnSpc>
                <a:spcPct val="116000"/>
              </a:lnSpc>
              <a:buNone/>
              <a:defRPr sz="3400" b="1">
                <a:solidFill>
                  <a:srgbClr val="17191B"/>
                </a:solidFill>
                <a:latin typeface="AppleGothic"/>
                <a:ea typeface="AppleGothic"/>
                <a:cs typeface="AppleGothic"/>
              </a:defRPr>
            </a:pPr>
            <a:r>
              <a:rPr sz="3400" b="1">
                <a:solidFill>
                  <a:srgbClr val="17191B"/>
                </a:solidFill>
                <a:latin typeface="AppleGothic"/>
                <a:ea typeface="AppleGothic"/>
                <a:cs typeface="AppleGothic"/>
              </a:rPr>
              <a:t>반복 실패의 예시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486E9012-10EF-479B-A8F1-C869307AA6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315075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FD5D3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93EDFA9A-A57D-484F-BF32-66988D8913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77000"/>
            <a:ext cx="109728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1400" b="0">
                <a:solidFill>
                  <a:srgbClr val="52606B"/>
                </a:solidFill>
                <a:latin typeface="AppleGothic"/>
                <a:ea typeface="AppleGothic"/>
                <a:cs typeface="AppleGothic"/>
              </a:defRPr>
            </a:defPPr>
          </a:lstStyle>
          <a:p xmlns:a="http://schemas.openxmlformats.org/drawingml/2006/main">
            <a:pPr algn="l">
              <a:lnSpc>
                <a:spcPct val="116000"/>
              </a:lnSpc>
              <a:buNone/>
              <a:defRPr sz="1400" b="0">
                <a:solidFill>
                  <a:srgbClr val="52606B"/>
                </a:solidFill>
                <a:latin typeface="AppleGothic"/>
                <a:ea typeface="AppleGothic"/>
                <a:cs typeface="AppleGothic"/>
              </a:defRPr>
            </a:pPr>
            <a:r>
              <a:rPr sz="1400" b="0">
                <a:solidFill>
                  <a:srgbClr val="52606B"/>
                </a:solidFill>
                <a:latin typeface="AppleGothic"/>
                <a:ea typeface="AppleGothic"/>
                <a:cs typeface="AppleGothic"/>
              </a:rPr>
              <a:t>데이터 · 모델 적응 · 비교 평가 · 기획서 초안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D1AAD4EC-CBDA-4BA6-BC6C-8E9B2BF6C1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464689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FD5D3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68DE9916-A066-4945-BF61-F5E4449329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809750"/>
            <a:ext cx="10477500" cy="426339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2700" b="1">
                <a:solidFill>
                  <a:srgbClr val="17191B"/>
                </a:solidFill>
                <a:latin typeface="AppleGothic"/>
                <a:ea typeface="AppleGothic"/>
                <a:cs typeface="AppleGothic"/>
              </a:defRPr>
            </a:defPPr>
          </a:lstStyle>
          <a:p xmlns:a="http://schemas.openxmlformats.org/drawingml/2006/main">
            <a:pPr algn="l">
              <a:lnSpc>
                <a:spcPct val="116000"/>
              </a:lnSpc>
              <a:buNone/>
              <a:defRPr sz="2700" b="1">
                <a:solidFill>
                  <a:srgbClr val="17191B"/>
                </a:solidFill>
                <a:latin typeface="AppleGothic"/>
                <a:ea typeface="AppleGothic"/>
                <a:cs typeface="AppleGothic"/>
              </a:defRPr>
            </a:pPr>
            <a:r>
              <a:rPr sz="2700" b="1">
                <a:solidFill>
                  <a:srgbClr val="17191B"/>
                </a:solidFill>
                <a:latin typeface="AppleGothic"/>
                <a:ea typeface="AppleGothic"/>
                <a:cs typeface="AppleGothic"/>
              </a:rPr>
              <a:t>근거 문서는 정확하지만 출력 형식은 불안정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1D5D5A3C-946F-4C73-B221-30771F2A7D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883789"/>
            <a:ext cx="10477500" cy="337947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2100" b="0">
                <a:solidFill>
                  <a:srgbClr val="52606B"/>
                </a:solidFill>
                <a:latin typeface="AppleGothic"/>
                <a:ea typeface="AppleGothic"/>
                <a:cs typeface="AppleGothic"/>
              </a:defRPr>
            </a:defPPr>
          </a:lstStyle>
          <a:p xmlns:a="http://schemas.openxmlformats.org/drawingml/2006/main">
            <a:pPr algn="l">
              <a:lnSpc>
                <a:spcPct val="116000"/>
              </a:lnSpc>
              <a:buNone/>
              <a:defRPr sz="2100" b="0">
                <a:solidFill>
                  <a:srgbClr val="52606B"/>
                </a:solidFill>
                <a:latin typeface="AppleGothic"/>
                <a:ea typeface="AppleGothic"/>
                <a:cs typeface="AppleGothic"/>
              </a:defRPr>
            </a:pPr>
            <a:r>
              <a:rPr sz="2100" b="0">
                <a:solidFill>
                  <a:srgbClr val="52606B"/>
                </a:solidFill>
                <a:latin typeface="AppleGothic"/>
                <a:ea typeface="AppleGothic"/>
                <a:cs typeface="AppleGothic"/>
              </a:rPr>
              <a:t>정책 내용 오류와 JSON 형식 오류의 분리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333D50E4-E4D2-4056-9735-0DA542D694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526536"/>
            <a:ext cx="10477500" cy="337947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2100" b="0">
                <a:solidFill>
                  <a:srgbClr val="52606B"/>
                </a:solidFill>
                <a:latin typeface="AppleGothic"/>
                <a:ea typeface="AppleGothic"/>
                <a:cs typeface="AppleGothic"/>
              </a:defRPr>
            </a:defPPr>
          </a:lstStyle>
          <a:p xmlns:a="http://schemas.openxmlformats.org/drawingml/2006/main">
            <a:pPr algn="l">
              <a:lnSpc>
                <a:spcPct val="116000"/>
              </a:lnSpc>
              <a:buNone/>
              <a:defRPr sz="2100" b="0">
                <a:solidFill>
                  <a:srgbClr val="52606B"/>
                </a:solidFill>
                <a:latin typeface="AppleGothic"/>
                <a:ea typeface="AppleGothic"/>
                <a:cs typeface="AppleGothic"/>
              </a:defRPr>
            </a:pPr>
            <a:r>
              <a:rPr sz="2100" b="0">
                <a:solidFill>
                  <a:srgbClr val="52606B"/>
                </a:solidFill>
                <a:latin typeface="AppleGothic"/>
                <a:ea typeface="AppleGothic"/>
                <a:cs typeface="AppleGothic"/>
              </a:rPr>
              <a:t>실패 유형을 먼저 확인한 뒤 변경 대상 선택</a:t>
            </a:r>
          </a:p>
        </p:txBody>
      </p:sp>
    </p:spTree>
    <p:extLst>
      <p:ext uri="{BB962C8B-B14F-4D97-AF65-F5344CB8AC3E}">
        <p14:creationId xmlns:p14="http://schemas.microsoft.com/office/powerpoint/2010/main" val="1018419248"/>
      </p:ext>
    </p:extLst>
  </p:cSld>
</p:sld>
</file>

<file path=ppt/slides/slide9.xml><?xml version="1.0" encoding="utf-8"?>
<p:sld xmlns:p="http://schemas.openxmlformats.org/presentationml/2006/main">
  <p:cSld>
    <p:bg>
      <p:bgPr>
        <a:solidFill xmlns:a="http://schemas.openxmlformats.org/drawingml/2006/main">
          <a:srgbClr val="F7F7F5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4F79D934-DFF3-4883-ACC5-F2239352FD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47650"/>
            <a:ext cx="9525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1400" b="0">
                <a:solidFill>
                  <a:srgbClr val="52606B"/>
                </a:solidFill>
                <a:latin typeface="AppleGothic"/>
                <a:ea typeface="AppleGothic"/>
                <a:cs typeface="AppleGothic"/>
              </a:defRPr>
            </a:defPPr>
          </a:lstStyle>
          <a:p xmlns:a="http://schemas.openxmlformats.org/drawingml/2006/main">
            <a:pPr algn="l">
              <a:lnSpc>
                <a:spcPct val="116000"/>
              </a:lnSpc>
              <a:buNone/>
              <a:defRPr sz="1400" b="0">
                <a:solidFill>
                  <a:srgbClr val="52606B"/>
                </a:solidFill>
                <a:latin typeface="AppleGothic"/>
                <a:ea typeface="AppleGothic"/>
                <a:cs typeface="AppleGothic"/>
              </a:defRPr>
            </a:pPr>
            <a:r>
              <a:rPr sz="1400" b="0">
                <a:solidFill>
                  <a:srgbClr val="52606B"/>
                </a:solidFill>
                <a:latin typeface="AppleGothic"/>
                <a:ea typeface="AppleGothic"/>
                <a:cs typeface="AppleGothic"/>
              </a:rPr>
              <a:t>LLMOPS / W07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96E832CF-AB0C-4705-85BB-9345BFE0A2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8500" y="247650"/>
            <a:ext cx="7239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r">
              <a:defRPr sz="1400" b="0">
                <a:solidFill>
                  <a:srgbClr val="52606B"/>
                </a:solidFill>
                <a:latin typeface="Menlo"/>
                <a:ea typeface="Menlo"/>
                <a:cs typeface="Menlo"/>
              </a:defRPr>
            </a:defPPr>
          </a:lstStyle>
          <a:p xmlns:a="http://schemas.openxmlformats.org/drawingml/2006/main">
            <a:pPr algn="r">
              <a:lnSpc>
                <a:spcPct val="116000"/>
              </a:lnSpc>
              <a:buNone/>
              <a:defRPr sz="1400" b="0">
                <a:solidFill>
                  <a:srgbClr val="52606B"/>
                </a:solidFill>
                <a:latin typeface="Menlo"/>
                <a:ea typeface="Menlo"/>
                <a:cs typeface="Menlo"/>
              </a:defRPr>
            </a:pPr>
            <a:r>
              <a:rPr sz="1400" b="0">
                <a:solidFill>
                  <a:srgbClr val="52606B"/>
                </a:solidFill>
                <a:latin typeface="Menlo"/>
                <a:ea typeface="Menlo"/>
                <a:cs typeface="Menlo"/>
              </a:rPr>
              <a:t>09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CAEE9726-8B63-4133-830A-0517977C9B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23900"/>
            <a:ext cx="109728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3400" b="1">
                <a:solidFill>
                  <a:srgbClr val="17191B"/>
                </a:solidFill>
                <a:latin typeface="AppleGothic"/>
                <a:ea typeface="AppleGothic"/>
                <a:cs typeface="AppleGothic"/>
              </a:defRPr>
            </a:defPPr>
          </a:lstStyle>
          <a:p xmlns:a="http://schemas.openxmlformats.org/drawingml/2006/main">
            <a:pPr algn="l">
              <a:lnSpc>
                <a:spcPct val="116000"/>
              </a:lnSpc>
              <a:buNone/>
              <a:defRPr sz="3400" b="1">
                <a:solidFill>
                  <a:srgbClr val="17191B"/>
                </a:solidFill>
                <a:latin typeface="AppleGothic"/>
                <a:ea typeface="AppleGothic"/>
                <a:cs typeface="AppleGothic"/>
              </a:defRPr>
            </a:pPr>
            <a:r>
              <a:rPr sz="3400" b="1">
                <a:solidFill>
                  <a:srgbClr val="17191B"/>
                </a:solidFill>
                <a:latin typeface="AppleGothic"/>
                <a:ea typeface="AppleGothic"/>
                <a:cs typeface="AppleGothic"/>
              </a:rPr>
              <a:t>기술 대안의 출발점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78FD28EF-E487-4D03-910D-15336A4979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315075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FD5D3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92AE04EA-744D-4F15-A2E5-8516F079CC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77000"/>
            <a:ext cx="109728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1400" b="0">
                <a:solidFill>
                  <a:srgbClr val="52606B"/>
                </a:solidFill>
                <a:latin typeface="AppleGothic"/>
                <a:ea typeface="AppleGothic"/>
                <a:cs typeface="AppleGothic"/>
              </a:defRPr>
            </a:defPPr>
          </a:lstStyle>
          <a:p xmlns:a="http://schemas.openxmlformats.org/drawingml/2006/main">
            <a:pPr algn="l">
              <a:lnSpc>
                <a:spcPct val="116000"/>
              </a:lnSpc>
              <a:buNone/>
              <a:defRPr sz="1400" b="0">
                <a:solidFill>
                  <a:srgbClr val="52606B"/>
                </a:solidFill>
                <a:latin typeface="AppleGothic"/>
                <a:ea typeface="AppleGothic"/>
                <a:cs typeface="AppleGothic"/>
              </a:defRPr>
            </a:pPr>
            <a:r>
              <a:rPr sz="1400" b="0">
                <a:solidFill>
                  <a:srgbClr val="52606B"/>
                </a:solidFill>
                <a:latin typeface="AppleGothic"/>
                <a:ea typeface="AppleGothic"/>
                <a:cs typeface="AppleGothic"/>
              </a:rPr>
              <a:t>데이터 · 모델 적응 · 비교 평가 · 기획서 초안</a:t>
            </a:r>
          </a:p>
        </p:txBody>
      </p:sp>
      <p:graphicFrame>
        <p:nvGraphicFrame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E8DD7699-F074-4EC6-8D4E-22E2D6B96F17}"/>
              </a:ext>
            </a:extLst>
          </p:cNvPr>
          <p:cNvGraphicFramePr/>
          <p:nvPr/>
        </p:nvGraphicFramePr>
        <p:xfrm>
          <a:off xmlns:a="http://schemas.openxmlformats.org/drawingml/2006/main" x="609600" y="1809750"/>
          <a:ext xmlns:a="http://schemas.openxmlformats.org/drawingml/2006/main" cx="10972800" cy="3714750"/>
        </p:xfrm>
        <a:graphic xmlns:a="http://schemas.openxmlformats.org/drawingml/2006/main">
          <a:graphicData uri="http://schemas.openxmlformats.org/drawingml/2006/table">
            <a:tbl>
              <a:tblPr firstRow="0" bandRow="0"/>
              <a:tblGrid>
                <a:gridCol w="2857500"/>
                <a:gridCol w="4686300"/>
                <a:gridCol w="3429000"/>
              </a:tblGrid>
              <a:tr h="742950">
                <a:tc>
                  <a:txBody>
                    <a:bodyPr wrap="none" lIns="133350" tIns="114300" rIns="133350" bIns="114300">
                      <a:noAutofit/>
                    </a:bodyPr>
                    <a:lstStyle/>
                    <a:p>
                      <a:r>
                        <a:rPr sz="1900" b="1">
                          <a:solidFill>
                            <a:srgbClr val="17283B"/>
                          </a:solidFill>
                          <a:latin typeface="AppleGothic"/>
                          <a:ea typeface="AppleGothic"/>
                          <a:cs typeface="AppleGothic"/>
                        </a:rPr>
                        <a:t>문제</a:t>
                      </a:r>
                    </a:p>
                  </a:txBody>
                  <a:tcPr marL="91440" marR="91440" marT="45720" marB="4572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EDF1F6"/>
                    </a:solidFill>
                  </a:tcPr>
                </a:tc>
                <a:tc>
                  <a:txBody>
                    <a:bodyPr wrap="none" lIns="133350" tIns="114300" rIns="133350" bIns="114300">
                      <a:noAutofit/>
                    </a:bodyPr>
                    <a:lstStyle/>
                    <a:p>
                      <a:r>
                        <a:rPr sz="1900" b="1">
                          <a:solidFill>
                            <a:srgbClr val="17283B"/>
                          </a:solidFill>
                          <a:latin typeface="AppleGothic"/>
                          <a:ea typeface="AppleGothic"/>
                          <a:cs typeface="AppleGothic"/>
                        </a:rPr>
                        <a:t>우선 검토</a:t>
                      </a:r>
                    </a:p>
                  </a:txBody>
                  <a:tcPr marL="91440" marR="91440" marT="45720" marB="4572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EDF1F6"/>
                    </a:solidFill>
                  </a:tcPr>
                </a:tc>
                <a:tc>
                  <a:txBody>
                    <a:bodyPr wrap="none" lIns="133350" tIns="114300" rIns="133350" bIns="114300">
                      <a:noAutofit/>
                    </a:bodyPr>
                    <a:lstStyle/>
                    <a:p>
                      <a:r>
                        <a:rPr sz="1900" b="1">
                          <a:solidFill>
                            <a:srgbClr val="17283B"/>
                          </a:solidFill>
                          <a:latin typeface="AppleGothic"/>
                          <a:ea typeface="AppleGothic"/>
                          <a:cs typeface="AppleGothic"/>
                        </a:rPr>
                        <a:t>추가 확인</a:t>
                      </a:r>
                    </a:p>
                  </a:txBody>
                  <a:tcPr marL="91440" marR="91440" marT="45720" marB="4572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EDF1F6"/>
                    </a:solidFill>
                  </a:tcPr>
                </a:tc>
              </a:tr>
              <a:tr h="742950">
                <a:tc>
                  <a:txBody>
                    <a:bodyPr wrap="none" lIns="133350" tIns="114300" rIns="133350" bIns="114300">
                      <a:noAutofit/>
                    </a:bodyPr>
                    <a:lstStyle/>
                    <a:p>
                      <a:r>
                        <a:rPr sz="1900" b="1">
                          <a:solidFill>
                            <a:srgbClr val="17191B"/>
                          </a:solidFill>
                          <a:latin typeface="AppleGothic"/>
                          <a:ea typeface="AppleGothic"/>
                          <a:cs typeface="AppleGothic"/>
                        </a:rPr>
                        <a:t>출력 계약 위반</a:t>
                      </a:r>
                    </a:p>
                  </a:txBody>
                  <a:tcPr marL="91440" marR="91440" marT="45720" marB="4572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 lIns="133350" tIns="114300" rIns="133350" bIns="114300">
                      <a:noAutofit/>
                    </a:bodyPr>
                    <a:lstStyle/>
                    <a:p>
                      <a:r>
                        <a:rPr sz="1900" b="0">
                          <a:solidFill>
                            <a:srgbClr val="52606B"/>
                          </a:solidFill>
                          <a:latin typeface="AppleGothic"/>
                          <a:ea typeface="AppleGothic"/>
                          <a:cs typeface="AppleGothic"/>
                        </a:rPr>
                        <a:t>프롬프트·검증</a:t>
                      </a:r>
                    </a:p>
                  </a:txBody>
                  <a:tcPr marL="91440" marR="91440" marT="45720" marB="4572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 lIns="133350" tIns="114300" rIns="133350" bIns="114300">
                      <a:noAutofit/>
                    </a:bodyPr>
                    <a:lstStyle/>
                    <a:p>
                      <a:r>
                        <a:rPr sz="1900" b="0">
                          <a:solidFill>
                            <a:srgbClr val="52606B"/>
                          </a:solidFill>
                          <a:latin typeface="AppleGothic"/>
                          <a:ea typeface="AppleGothic"/>
                          <a:cs typeface="AppleGothic"/>
                        </a:rPr>
                        <a:t>반복 실패 유형</a:t>
                      </a:r>
                    </a:p>
                  </a:txBody>
                  <a:tcPr marL="91440" marR="91440" marT="45720" marB="4572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FFFFFF"/>
                    </a:solidFill>
                  </a:tcPr>
                </a:tc>
              </a:tr>
              <a:tr h="742950">
                <a:tc>
                  <a:txBody>
                    <a:bodyPr wrap="none" lIns="133350" tIns="114300" rIns="133350" bIns="114300">
                      <a:noAutofit/>
                    </a:bodyPr>
                    <a:lstStyle/>
                    <a:p>
                      <a:r>
                        <a:rPr sz="1900" b="1">
                          <a:solidFill>
                            <a:srgbClr val="17191B"/>
                          </a:solidFill>
                          <a:latin typeface="AppleGothic"/>
                          <a:ea typeface="AppleGothic"/>
                          <a:cs typeface="AppleGothic"/>
                        </a:rPr>
                        <a:t>최신 문서 누락</a:t>
                      </a:r>
                    </a:p>
                  </a:txBody>
                  <a:tcPr marL="91440" marR="91440" marT="45720" marB="4572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 lIns="133350" tIns="114300" rIns="133350" bIns="114300">
                      <a:noAutofit/>
                    </a:bodyPr>
                    <a:lstStyle/>
                    <a:p>
                      <a:r>
                        <a:rPr sz="1900" b="0">
                          <a:solidFill>
                            <a:srgbClr val="52606B"/>
                          </a:solidFill>
                          <a:latin typeface="AppleGothic"/>
                          <a:ea typeface="AppleGothic"/>
                          <a:cs typeface="AppleGothic"/>
                        </a:rPr>
                        <a:t>검색·문서 관리</a:t>
                      </a:r>
                    </a:p>
                  </a:txBody>
                  <a:tcPr marL="91440" marR="91440" marT="45720" marB="4572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 lIns="133350" tIns="114300" rIns="133350" bIns="114300">
                      <a:noAutofit/>
                    </a:bodyPr>
                    <a:lstStyle/>
                    <a:p>
                      <a:r>
                        <a:rPr sz="1900" b="0">
                          <a:solidFill>
                            <a:srgbClr val="52606B"/>
                          </a:solidFill>
                          <a:latin typeface="AppleGothic"/>
                          <a:ea typeface="AppleGothic"/>
                          <a:cs typeface="AppleGothic"/>
                        </a:rPr>
                        <a:t>버전·권한</a:t>
                      </a:r>
                    </a:p>
                  </a:txBody>
                  <a:tcPr marL="91440" marR="91440" marT="45720" marB="4572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FFFFFF"/>
                    </a:solidFill>
                  </a:tcPr>
                </a:tc>
              </a:tr>
              <a:tr h="742950">
                <a:tc>
                  <a:txBody>
                    <a:bodyPr wrap="none" lIns="133350" tIns="114300" rIns="133350" bIns="114300">
                      <a:noAutofit/>
                    </a:bodyPr>
                    <a:lstStyle/>
                    <a:p>
                      <a:r>
                        <a:rPr sz="1900" b="1">
                          <a:solidFill>
                            <a:srgbClr val="17191B"/>
                          </a:solidFill>
                          <a:latin typeface="AppleGothic"/>
                          <a:ea typeface="AppleGothic"/>
                          <a:cs typeface="AppleGothic"/>
                        </a:rPr>
                        <a:t>반복 행동 불안정</a:t>
                      </a:r>
                    </a:p>
                  </a:txBody>
                  <a:tcPr marL="91440" marR="91440" marT="45720" marB="4572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 lIns="133350" tIns="114300" rIns="133350" bIns="114300">
                      <a:noAutofit/>
                    </a:bodyPr>
                    <a:lstStyle/>
                    <a:p>
                      <a:r>
                        <a:rPr sz="1900" b="0">
                          <a:solidFill>
                            <a:srgbClr val="52606B"/>
                          </a:solidFill>
                          <a:latin typeface="AppleGothic"/>
                          <a:ea typeface="AppleGothic"/>
                          <a:cs typeface="AppleGothic"/>
                        </a:rPr>
                        <a:t>SFT·LoRA</a:t>
                      </a:r>
                    </a:p>
                  </a:txBody>
                  <a:tcPr marL="91440" marR="91440" marT="45720" marB="4572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 lIns="133350" tIns="114300" rIns="133350" bIns="114300">
                      <a:noAutofit/>
                    </a:bodyPr>
                    <a:lstStyle/>
                    <a:p>
                      <a:r>
                        <a:rPr sz="1900" b="0">
                          <a:solidFill>
                            <a:srgbClr val="52606B"/>
                          </a:solidFill>
                          <a:latin typeface="AppleGothic"/>
                          <a:ea typeface="AppleGothic"/>
                          <a:cs typeface="AppleGothic"/>
                        </a:rPr>
                        <a:t>학습 자료·평가</a:t>
                      </a:r>
                    </a:p>
                  </a:txBody>
                  <a:tcPr marL="91440" marR="91440" marT="45720" marB="4572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FFFFFF"/>
                    </a:solidFill>
                  </a:tcPr>
                </a:tc>
              </a:tr>
              <a:tr h="742950">
                <a:tc>
                  <a:txBody>
                    <a:bodyPr wrap="none" lIns="133350" tIns="114300" rIns="133350" bIns="114300">
                      <a:noAutofit/>
                    </a:bodyPr>
                    <a:lstStyle/>
                    <a:p>
                      <a:r>
                        <a:rPr sz="1900" b="1">
                          <a:solidFill>
                            <a:srgbClr val="17191B"/>
                          </a:solidFill>
                          <a:latin typeface="AppleGothic"/>
                          <a:ea typeface="AppleGothic"/>
                          <a:cs typeface="AppleGothic"/>
                        </a:rPr>
                        <a:t>답변 선호 불일치</a:t>
                      </a:r>
                    </a:p>
                  </a:txBody>
                  <a:tcPr marL="91440" marR="91440" marT="45720" marB="4572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 lIns="133350" tIns="114300" rIns="133350" bIns="114300">
                      <a:noAutofit/>
                    </a:bodyPr>
                    <a:lstStyle/>
                    <a:p>
                      <a:r>
                        <a:rPr sz="1900" b="0">
                          <a:solidFill>
                            <a:srgbClr val="52606B"/>
                          </a:solidFill>
                          <a:latin typeface="AppleGothic"/>
                          <a:ea typeface="AppleGothic"/>
                          <a:cs typeface="AppleGothic"/>
                        </a:rPr>
                        <a:t>선호 기준·DPO</a:t>
                      </a:r>
                    </a:p>
                  </a:txBody>
                  <a:tcPr marL="91440" marR="91440" marT="45720" marB="4572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 lIns="133350" tIns="114300" rIns="133350" bIns="114300">
                      <a:noAutofit/>
                    </a:bodyPr>
                    <a:lstStyle/>
                    <a:p>
                      <a:r>
                        <a:rPr sz="1900" b="0">
                          <a:solidFill>
                            <a:srgbClr val="52606B"/>
                          </a:solidFill>
                          <a:latin typeface="AppleGothic"/>
                          <a:ea typeface="AppleGothic"/>
                          <a:cs typeface="AppleGothic"/>
                        </a:rPr>
                        <a:t>라벨 편향·비용</a:t>
                      </a:r>
                    </a:p>
                  </a:txBody>
                  <a:tcPr marL="91440" marR="91440" marT="45720" marB="4572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91810842-5180-45CF-AB66-07D4F02500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80975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283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A14D3223-93F8-44E6-92F9-D16A0D91A6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5527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FD5D3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779A6A6B-F825-487A-97D4-A5899C3AE8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29565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FD5D3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82A89F3D-8B33-4D9D-AA65-37B5370A52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0386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FD5D3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6ED97C6A-B3B8-4068-A332-10A6413068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78155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FD5D3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F9937092-216F-4D79-83BA-8BB33FAA0D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5245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283B"/>
          </a:solidFill>
          <a:ln xmlns:a="http://schemas.openxmlformats.org/drawingml/2006/main" w="0">
            <a:noFill/>
            <a:prstDash val="solid"/>
          </a:ln>
        </p:spPr>
      </p:sp>
    </p:spTree>
    <p:extLst>
      <p:ext uri="{BB962C8B-B14F-4D97-AF65-F5344CB8AC3E}">
        <p14:creationId xmlns:p14="http://schemas.microsoft.com/office/powerpoint/2010/main" val="165481496"/>
      </p:ext>
    </p:extLst>
  </p:cSld>
</p:sld>
</file>

<file path=ppt/slides/slide10.xml><?xml version="1.0" encoding="utf-8"?>
<p:sld xmlns:p="http://schemas.openxmlformats.org/presentationml/2006/main">
  <p:cSld>
    <p:bg>
      <p:bgPr>
        <a:solidFill xmlns:a="http://schemas.openxmlformats.org/drawingml/2006/main">
          <a:srgbClr val="F7F7F5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95A67527-276A-48A3-91DA-29A454D49E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47650"/>
            <a:ext cx="9525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1400" b="0">
                <a:solidFill>
                  <a:srgbClr val="52606B"/>
                </a:solidFill>
                <a:latin typeface="AppleGothic"/>
                <a:ea typeface="AppleGothic"/>
                <a:cs typeface="AppleGothic"/>
              </a:defRPr>
            </a:defPPr>
          </a:lstStyle>
          <a:p xmlns:a="http://schemas.openxmlformats.org/drawingml/2006/main">
            <a:pPr algn="l">
              <a:lnSpc>
                <a:spcPct val="116000"/>
              </a:lnSpc>
              <a:buNone/>
              <a:defRPr sz="1400" b="0">
                <a:solidFill>
                  <a:srgbClr val="52606B"/>
                </a:solidFill>
                <a:latin typeface="AppleGothic"/>
                <a:ea typeface="AppleGothic"/>
                <a:cs typeface="AppleGothic"/>
              </a:defRPr>
            </a:pPr>
            <a:r>
              <a:rPr sz="1400" b="0">
                <a:solidFill>
                  <a:srgbClr val="52606B"/>
                </a:solidFill>
                <a:latin typeface="AppleGothic"/>
                <a:ea typeface="AppleGothic"/>
                <a:cs typeface="AppleGothic"/>
              </a:rPr>
              <a:t>LLMOPS / W07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032A405F-0741-45AB-9C5E-EE0804BC70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8500" y="247650"/>
            <a:ext cx="7239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r">
              <a:defRPr sz="1400" b="0">
                <a:solidFill>
                  <a:srgbClr val="52606B"/>
                </a:solidFill>
                <a:latin typeface="Menlo"/>
                <a:ea typeface="Menlo"/>
                <a:cs typeface="Menlo"/>
              </a:defRPr>
            </a:defPPr>
          </a:lstStyle>
          <a:p xmlns:a="http://schemas.openxmlformats.org/drawingml/2006/main">
            <a:pPr algn="r">
              <a:lnSpc>
                <a:spcPct val="116000"/>
              </a:lnSpc>
              <a:buNone/>
              <a:defRPr sz="1400" b="0">
                <a:solidFill>
                  <a:srgbClr val="52606B"/>
                </a:solidFill>
                <a:latin typeface="Menlo"/>
                <a:ea typeface="Menlo"/>
                <a:cs typeface="Menlo"/>
              </a:defRPr>
            </a:pPr>
            <a:r>
              <a:rPr sz="1400" b="0">
                <a:solidFill>
                  <a:srgbClr val="52606B"/>
                </a:solidFill>
                <a:latin typeface="Menlo"/>
                <a:ea typeface="Menlo"/>
                <a:cs typeface="Menlo"/>
              </a:rPr>
              <a:t>10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F30DBDC5-53DB-464D-967D-2E80F99928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23900"/>
            <a:ext cx="109728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3400" b="1">
                <a:solidFill>
                  <a:srgbClr val="17191B"/>
                </a:solidFill>
                <a:latin typeface="AppleGothic"/>
                <a:ea typeface="AppleGothic"/>
                <a:cs typeface="AppleGothic"/>
              </a:defRPr>
            </a:defPPr>
          </a:lstStyle>
          <a:p xmlns:a="http://schemas.openxmlformats.org/drawingml/2006/main">
            <a:pPr algn="l">
              <a:lnSpc>
                <a:spcPct val="116000"/>
              </a:lnSpc>
              <a:buNone/>
              <a:defRPr sz="3400" b="1">
                <a:solidFill>
                  <a:srgbClr val="17191B"/>
                </a:solidFill>
                <a:latin typeface="AppleGothic"/>
                <a:ea typeface="AppleGothic"/>
                <a:cs typeface="AppleGothic"/>
              </a:defRPr>
            </a:pPr>
            <a:r>
              <a:rPr sz="3400" b="1">
                <a:solidFill>
                  <a:srgbClr val="17191B"/>
                </a:solidFill>
                <a:latin typeface="AppleGothic"/>
                <a:ea typeface="AppleGothic"/>
                <a:cs typeface="AppleGothic"/>
              </a:rPr>
              <a:t>기술 선택의 근거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AB1DA874-C0B1-4FD8-B4EA-28ED11784F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315075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FD5D3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E52E94FE-F4EA-461D-8725-13BBD2C542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77000"/>
            <a:ext cx="109728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1400" b="0">
                <a:solidFill>
                  <a:srgbClr val="52606B"/>
                </a:solidFill>
                <a:latin typeface="AppleGothic"/>
                <a:ea typeface="AppleGothic"/>
                <a:cs typeface="AppleGothic"/>
              </a:defRPr>
            </a:defPPr>
          </a:lstStyle>
          <a:p xmlns:a="http://schemas.openxmlformats.org/drawingml/2006/main">
            <a:pPr algn="l">
              <a:lnSpc>
                <a:spcPct val="116000"/>
              </a:lnSpc>
              <a:buNone/>
              <a:defRPr sz="1400" b="0">
                <a:solidFill>
                  <a:srgbClr val="52606B"/>
                </a:solidFill>
                <a:latin typeface="AppleGothic"/>
                <a:ea typeface="AppleGothic"/>
                <a:cs typeface="AppleGothic"/>
              </a:defRPr>
            </a:pPr>
            <a:r>
              <a:rPr sz="1400" b="0">
                <a:solidFill>
                  <a:srgbClr val="52606B"/>
                </a:solidFill>
                <a:latin typeface="AppleGothic"/>
                <a:ea typeface="AppleGothic"/>
                <a:cs typeface="AppleGothic"/>
              </a:rPr>
              <a:t>데이터 · 모델 적응 · 비교 평가 · 기획서 초안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4CBE07B0-D8A1-4D7F-BA8F-EAE4F9E56B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019300"/>
            <a:ext cx="10382250" cy="1638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4300" b="1">
                <a:solidFill>
                  <a:srgbClr val="17191B"/>
                </a:solidFill>
                <a:latin typeface="AppleGothic"/>
                <a:ea typeface="AppleGothic"/>
                <a:cs typeface="AppleGothic"/>
              </a:defRPr>
            </a:defPPr>
          </a:lstStyle>
          <a:p xmlns:a="http://schemas.openxmlformats.org/drawingml/2006/main">
            <a:pPr algn="l">
              <a:lnSpc>
                <a:spcPct val="116000"/>
              </a:lnSpc>
              <a:buNone/>
              <a:defRPr sz="4300" b="1">
                <a:solidFill>
                  <a:srgbClr val="17191B"/>
                </a:solidFill>
                <a:latin typeface="AppleGothic"/>
                <a:ea typeface="AppleGothic"/>
                <a:cs typeface="AppleGothic"/>
              </a:defRPr>
            </a:pPr>
            <a:r>
              <a:rPr sz="4300" b="1">
                <a:solidFill>
                  <a:srgbClr val="17191B"/>
                </a:solidFill>
                <a:latin typeface="AppleGothic"/>
                <a:ea typeface="AppleGothic"/>
                <a:cs typeface="AppleGothic"/>
              </a:rPr>
              <a:t>기술 이름보다 개선할 실패 유형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B549DF54-8723-4896-AD7D-5316E8933D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857625"/>
            <a:ext cx="5715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84B7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0367DE92-D0C2-4969-B75A-109BE7363F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248150"/>
            <a:ext cx="10287000" cy="352679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2200" b="0">
                <a:solidFill>
                  <a:srgbClr val="52606B"/>
                </a:solidFill>
                <a:latin typeface="AppleGothic"/>
                <a:ea typeface="AppleGothic"/>
                <a:cs typeface="AppleGothic"/>
              </a:defRPr>
            </a:defPPr>
          </a:lstStyle>
          <a:p xmlns:a="http://schemas.openxmlformats.org/drawingml/2006/main">
            <a:pPr algn="l">
              <a:lnSpc>
                <a:spcPct val="116000"/>
              </a:lnSpc>
              <a:buNone/>
              <a:defRPr sz="2200" b="0">
                <a:solidFill>
                  <a:srgbClr val="52606B"/>
                </a:solidFill>
                <a:latin typeface="AppleGothic"/>
                <a:ea typeface="AppleGothic"/>
                <a:cs typeface="AppleGothic"/>
              </a:defRPr>
            </a:pPr>
            <a:r>
              <a:rPr sz="2200" b="0">
                <a:solidFill>
                  <a:srgbClr val="52606B"/>
                </a:solidFill>
                <a:latin typeface="AppleGothic"/>
                <a:ea typeface="AppleGothic"/>
                <a:cs typeface="AppleGothic"/>
              </a:rPr>
              <a:t>기준선과 대표 실패 사례의 기록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57802661-98E6-44E1-875C-2A7BC6B482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791329"/>
            <a:ext cx="10287000" cy="352679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2200" b="0">
                <a:solidFill>
                  <a:srgbClr val="52606B"/>
                </a:solidFill>
                <a:latin typeface="AppleGothic"/>
                <a:ea typeface="AppleGothic"/>
                <a:cs typeface="AppleGothic"/>
              </a:defRPr>
            </a:defPPr>
          </a:lstStyle>
          <a:p xmlns:a="http://schemas.openxmlformats.org/drawingml/2006/main">
            <a:pPr algn="l">
              <a:lnSpc>
                <a:spcPct val="116000"/>
              </a:lnSpc>
              <a:buNone/>
              <a:defRPr sz="2200" b="0">
                <a:solidFill>
                  <a:srgbClr val="52606B"/>
                </a:solidFill>
                <a:latin typeface="AppleGothic"/>
                <a:ea typeface="AppleGothic"/>
                <a:cs typeface="AppleGothic"/>
              </a:defRPr>
            </a:pPr>
            <a:r>
              <a:rPr sz="2200" b="0">
                <a:solidFill>
                  <a:srgbClr val="52606B"/>
                </a:solidFill>
                <a:latin typeface="AppleGothic"/>
                <a:ea typeface="AppleGothic"/>
                <a:cs typeface="AppleGothic"/>
              </a:rPr>
              <a:t>구현 비용과 남은 위험의 비교</a:t>
            </a:r>
          </a:p>
        </p:txBody>
      </p:sp>
    </p:spTree>
    <p:extLst>
      <p:ext uri="{BB962C8B-B14F-4D97-AF65-F5344CB8AC3E}">
        <p14:creationId xmlns:p14="http://schemas.microsoft.com/office/powerpoint/2010/main" val="951124763"/>
      </p:ext>
    </p:extLst>
  </p:cSld>
</p:sld>
</file>

<file path=ppt/slides/slide11.xml><?xml version="1.0" encoding="utf-8"?>
<p:sld xmlns:p="http://schemas.openxmlformats.org/presentationml/2006/main">
  <p:cSld>
    <p:bg>
      <p:bgPr>
        <a:solidFill xmlns:a="http://schemas.openxmlformats.org/drawingml/2006/main">
          <a:srgbClr val="17283B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9491E6C3-7D83-402B-A1DF-9228A50DFB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00050"/>
            <a:ext cx="10477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1400" b="0">
                <a:solidFill>
                  <a:srgbClr val="BDC7C4"/>
                </a:solidFill>
                <a:latin typeface="AppleGothic"/>
                <a:ea typeface="AppleGothic"/>
                <a:cs typeface="AppleGothic"/>
              </a:defRPr>
            </a:defPPr>
          </a:lstStyle>
          <a:p xmlns:a="http://schemas.openxmlformats.org/drawingml/2006/main">
            <a:pPr algn="l">
              <a:lnSpc>
                <a:spcPct val="116000"/>
              </a:lnSpc>
              <a:buNone/>
              <a:defRPr sz="1400" b="0">
                <a:solidFill>
                  <a:srgbClr val="BDC7C4"/>
                </a:solidFill>
                <a:latin typeface="AppleGothic"/>
                <a:ea typeface="AppleGothic"/>
                <a:cs typeface="AppleGothic"/>
              </a:defRPr>
            </a:pPr>
            <a:r>
              <a:rPr sz="1400" b="0">
                <a:solidFill>
                  <a:srgbClr val="BDC7C4"/>
                </a:solidFill>
                <a:latin typeface="AppleGothic"/>
                <a:ea typeface="AppleGothic"/>
                <a:cs typeface="AppleGothic"/>
              </a:rPr>
              <a:t>W07 / 11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E66C5F6E-6B88-4AE8-A78F-B351AD22A6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76400"/>
            <a:ext cx="10972800" cy="1524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4400" b="1">
                <a:solidFill>
                  <a:srgbClr val="FFFFFF"/>
                </a:solidFill>
                <a:latin typeface="AppleGothic"/>
                <a:ea typeface="AppleGothic"/>
                <a:cs typeface="AppleGothic"/>
              </a:defRPr>
            </a:defPPr>
          </a:lstStyle>
          <a:p xmlns:a="http://schemas.openxmlformats.org/drawingml/2006/main">
            <a:pPr algn="l">
              <a:lnSpc>
                <a:spcPct val="116000"/>
              </a:lnSpc>
              <a:buNone/>
              <a:defRPr sz="4400" b="1">
                <a:solidFill>
                  <a:srgbClr val="FFFFFF"/>
                </a:solidFill>
                <a:latin typeface="AppleGothic"/>
                <a:ea typeface="AppleGothic"/>
                <a:cs typeface="AppleGothic"/>
              </a:defRPr>
            </a:pPr>
            <a:r>
              <a:rPr sz="4400" b="1">
                <a:solidFill>
                  <a:srgbClr val="FFFFFF"/>
                </a:solidFill>
                <a:latin typeface="AppleGothic"/>
                <a:ea typeface="AppleGothic"/>
                <a:cs typeface="AppleGothic"/>
              </a:rPr>
              <a:t>지도 미세조정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9ECDDD56-99A5-4A94-BB43-3EF842A8B0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7338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52606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74B773D4-AB04-4486-8C8A-7162CC59D1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191000"/>
            <a:ext cx="10972800" cy="36741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2300" b="0">
                <a:solidFill>
                  <a:srgbClr val="FFFFFF"/>
                </a:solidFill>
                <a:latin typeface="AppleGothic"/>
                <a:ea typeface="AppleGothic"/>
                <a:cs typeface="AppleGothic"/>
              </a:defRPr>
            </a:defPPr>
          </a:lstStyle>
          <a:p xmlns:a="http://schemas.openxmlformats.org/drawingml/2006/main">
            <a:pPr algn="l">
              <a:lnSpc>
                <a:spcPct val="116000"/>
              </a:lnSpc>
              <a:buNone/>
              <a:defRPr sz="2300" b="0">
                <a:solidFill>
                  <a:srgbClr val="FFFFFF"/>
                </a:solidFill>
                <a:latin typeface="AppleGothic"/>
                <a:ea typeface="AppleGothic"/>
                <a:cs typeface="AppleGothic"/>
              </a:defRPr>
            </a:pPr>
            <a:r>
              <a:rPr sz="2300" b="0">
                <a:solidFill>
                  <a:srgbClr val="FFFFFF"/>
                </a:solidFill>
                <a:latin typeface="AppleGothic"/>
                <a:ea typeface="AppleGothic"/>
                <a:cs typeface="AppleGothic"/>
              </a:rPr>
              <a:t>Supervised Fine-Tuning · SFT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3598BD69-41A5-49A1-9FC6-2EF3F7DCD4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729861"/>
            <a:ext cx="10972800" cy="36741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2300" b="0">
                <a:solidFill>
                  <a:srgbClr val="FFFFFF"/>
                </a:solidFill>
                <a:latin typeface="AppleGothic"/>
                <a:ea typeface="AppleGothic"/>
                <a:cs typeface="AppleGothic"/>
              </a:defRPr>
            </a:defPPr>
          </a:lstStyle>
          <a:p xmlns:a="http://schemas.openxmlformats.org/drawingml/2006/main">
            <a:pPr algn="l">
              <a:lnSpc>
                <a:spcPct val="116000"/>
              </a:lnSpc>
              <a:buNone/>
              <a:defRPr sz="2300" b="0">
                <a:solidFill>
                  <a:srgbClr val="FFFFFF"/>
                </a:solidFill>
                <a:latin typeface="AppleGothic"/>
                <a:ea typeface="AppleGothic"/>
                <a:cs typeface="AppleGothic"/>
              </a:defRPr>
            </a:pPr>
            <a:r>
              <a:rPr sz="2300" b="0">
                <a:solidFill>
                  <a:srgbClr val="FFFFFF"/>
                </a:solidFill>
                <a:latin typeface="AppleGothic"/>
                <a:ea typeface="AppleGothic"/>
                <a:cs typeface="AppleGothic"/>
              </a:rPr>
              <a:t>입력과 기대 답변을 이용한 추가 학습</a:t>
            </a:r>
          </a:p>
        </p:txBody>
      </p:sp>
    </p:spTree>
    <p:extLst>
      <p:ext uri="{BB962C8B-B14F-4D97-AF65-F5344CB8AC3E}">
        <p14:creationId xmlns:p14="http://schemas.microsoft.com/office/powerpoint/2010/main" val="363356489"/>
      </p:ext>
    </p:extLst>
  </p:cSld>
</p:sld>
</file>

<file path=ppt/slides/slide12.xml><?xml version="1.0" encoding="utf-8"?>
<p:sld xmlns:p="http://schemas.openxmlformats.org/presentationml/2006/main">
  <p:cSld>
    <p:bg>
      <p:bgPr>
        <a:solidFill xmlns:a="http://schemas.openxmlformats.org/drawingml/2006/main">
          <a:srgbClr val="F7F7F5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FDB5AB19-E36C-4C3B-A55E-7B7FC23B96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47650"/>
            <a:ext cx="9525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1400" b="0">
                <a:solidFill>
                  <a:srgbClr val="52606B"/>
                </a:solidFill>
                <a:latin typeface="AppleGothic"/>
                <a:ea typeface="AppleGothic"/>
                <a:cs typeface="AppleGothic"/>
              </a:defRPr>
            </a:defPPr>
          </a:lstStyle>
          <a:p xmlns:a="http://schemas.openxmlformats.org/drawingml/2006/main">
            <a:pPr algn="l">
              <a:lnSpc>
                <a:spcPct val="116000"/>
              </a:lnSpc>
              <a:buNone/>
              <a:defRPr sz="1400" b="0">
                <a:solidFill>
                  <a:srgbClr val="52606B"/>
                </a:solidFill>
                <a:latin typeface="AppleGothic"/>
                <a:ea typeface="AppleGothic"/>
                <a:cs typeface="AppleGothic"/>
              </a:defRPr>
            </a:pPr>
            <a:r>
              <a:rPr sz="1400" b="0">
                <a:solidFill>
                  <a:srgbClr val="52606B"/>
                </a:solidFill>
                <a:latin typeface="AppleGothic"/>
                <a:ea typeface="AppleGothic"/>
                <a:cs typeface="AppleGothic"/>
              </a:rPr>
              <a:t>LLMOPS / W07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9C929305-6A6F-48F2-B253-3F478E1E59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8500" y="247650"/>
            <a:ext cx="7239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r">
              <a:defRPr sz="1400" b="0">
                <a:solidFill>
                  <a:srgbClr val="52606B"/>
                </a:solidFill>
                <a:latin typeface="Menlo"/>
                <a:ea typeface="Menlo"/>
                <a:cs typeface="Menlo"/>
              </a:defRPr>
            </a:defPPr>
          </a:lstStyle>
          <a:p xmlns:a="http://schemas.openxmlformats.org/drawingml/2006/main">
            <a:pPr algn="r">
              <a:lnSpc>
                <a:spcPct val="116000"/>
              </a:lnSpc>
              <a:buNone/>
              <a:defRPr sz="1400" b="0">
                <a:solidFill>
                  <a:srgbClr val="52606B"/>
                </a:solidFill>
                <a:latin typeface="Menlo"/>
                <a:ea typeface="Menlo"/>
                <a:cs typeface="Menlo"/>
              </a:defRPr>
            </a:pPr>
            <a:r>
              <a:rPr sz="1400" b="0">
                <a:solidFill>
                  <a:srgbClr val="52606B"/>
                </a:solidFill>
                <a:latin typeface="Menlo"/>
                <a:ea typeface="Menlo"/>
                <a:cs typeface="Menlo"/>
              </a:rPr>
              <a:t>12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C4F01533-D6C2-4BBB-AC52-3640F07B78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23900"/>
            <a:ext cx="109728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3400" b="1">
                <a:solidFill>
                  <a:srgbClr val="17191B"/>
                </a:solidFill>
                <a:latin typeface="AppleGothic"/>
                <a:ea typeface="AppleGothic"/>
                <a:cs typeface="AppleGothic"/>
              </a:defRPr>
            </a:defPPr>
          </a:lstStyle>
          <a:p xmlns:a="http://schemas.openxmlformats.org/drawingml/2006/main">
            <a:pPr algn="l">
              <a:lnSpc>
                <a:spcPct val="116000"/>
              </a:lnSpc>
              <a:buNone/>
              <a:defRPr sz="3400" b="1">
                <a:solidFill>
                  <a:srgbClr val="17191B"/>
                </a:solidFill>
                <a:latin typeface="AppleGothic"/>
                <a:ea typeface="AppleGothic"/>
                <a:cs typeface="AppleGothic"/>
              </a:defRPr>
            </a:pPr>
            <a:r>
              <a:rPr sz="3400" b="1">
                <a:solidFill>
                  <a:srgbClr val="17191B"/>
                </a:solidFill>
                <a:latin typeface="AppleGothic"/>
                <a:ea typeface="AppleGothic"/>
                <a:cs typeface="AppleGothic"/>
              </a:rPr>
              <a:t>모델 적응의 흐름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3E0AFC09-2F32-4EC9-A59A-8B31220565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315075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FD5D3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55E964ED-0446-409F-B211-2E3E4F090C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77000"/>
            <a:ext cx="109728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1400" b="0">
                <a:solidFill>
                  <a:srgbClr val="52606B"/>
                </a:solidFill>
                <a:latin typeface="AppleGothic"/>
                <a:ea typeface="AppleGothic"/>
                <a:cs typeface="AppleGothic"/>
              </a:defRPr>
            </a:defPPr>
          </a:lstStyle>
          <a:p xmlns:a="http://schemas.openxmlformats.org/drawingml/2006/main">
            <a:pPr algn="l">
              <a:lnSpc>
                <a:spcPct val="116000"/>
              </a:lnSpc>
              <a:buNone/>
              <a:defRPr sz="1400" b="0">
                <a:solidFill>
                  <a:srgbClr val="52606B"/>
                </a:solidFill>
                <a:latin typeface="AppleGothic"/>
                <a:ea typeface="AppleGothic"/>
                <a:cs typeface="AppleGothic"/>
              </a:defRPr>
            </a:pPr>
            <a:r>
              <a:rPr sz="1400" b="0">
                <a:solidFill>
                  <a:srgbClr val="52606B"/>
                </a:solidFill>
                <a:latin typeface="AppleGothic"/>
                <a:ea typeface="AppleGothic"/>
                <a:cs typeface="AppleGothic"/>
              </a:rPr>
              <a:t>데이터 · 모델 적응 · 비교 평가 · 기획서 초안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96DB6FC1-C02D-45E0-83A9-907F30259C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714625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FD5D3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61FA7836-DA29-4B5A-85DD-5453B40781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57475"/>
            <a:ext cx="152400" cy="1238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84B7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E9F1365B-FEE2-4D1B-843A-328EF234CD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095500"/>
            <a:ext cx="25527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1800" b="0">
                <a:solidFill>
                  <a:srgbClr val="284B72"/>
                </a:solidFill>
                <a:latin typeface="Menlo"/>
                <a:ea typeface="Menlo"/>
                <a:cs typeface="Menlo"/>
              </a:defRPr>
            </a:defPPr>
          </a:lstStyle>
          <a:p xmlns:a="http://schemas.openxmlformats.org/drawingml/2006/main">
            <a:pPr algn="l">
              <a:lnSpc>
                <a:spcPct val="116000"/>
              </a:lnSpc>
              <a:buNone/>
              <a:defRPr sz="1800" b="0">
                <a:solidFill>
                  <a:srgbClr val="284B72"/>
                </a:solidFill>
                <a:latin typeface="Menlo"/>
                <a:ea typeface="Menlo"/>
                <a:cs typeface="Menlo"/>
              </a:defRPr>
            </a:pPr>
            <a:r>
              <a:rPr sz="1800" b="0">
                <a:solidFill>
                  <a:srgbClr val="284B72"/>
                </a:solidFill>
                <a:latin typeface="Menlo"/>
                <a:ea typeface="Menlo"/>
                <a:cs typeface="Menlo"/>
              </a:rPr>
              <a:t>01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659D36FB-9665-44D7-8678-064BF464AD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067050"/>
            <a:ext cx="249555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2500" b="1">
                <a:solidFill>
                  <a:srgbClr val="17191B"/>
                </a:solidFill>
                <a:latin typeface="AppleGothic"/>
                <a:ea typeface="AppleGothic"/>
                <a:cs typeface="AppleGothic"/>
              </a:defRPr>
            </a:defPPr>
          </a:lstStyle>
          <a:p xmlns:a="http://schemas.openxmlformats.org/drawingml/2006/main">
            <a:pPr algn="l">
              <a:lnSpc>
                <a:spcPct val="116000"/>
              </a:lnSpc>
              <a:buNone/>
              <a:defRPr sz="2500" b="1">
                <a:solidFill>
                  <a:srgbClr val="17191B"/>
                </a:solidFill>
                <a:latin typeface="AppleGothic"/>
                <a:ea typeface="AppleGothic"/>
                <a:cs typeface="AppleGothic"/>
              </a:defRPr>
            </a:pPr>
            <a:r>
              <a:rPr sz="2500" b="1">
                <a:solidFill>
                  <a:srgbClr val="17191B"/>
                </a:solidFill>
                <a:latin typeface="AppleGothic"/>
                <a:ea typeface="AppleGothic"/>
                <a:cs typeface="AppleGothic"/>
              </a:rPr>
              <a:t>사전학습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4069D9B0-843B-457B-8532-F1A03C410F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029075"/>
            <a:ext cx="2495550" cy="914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1800" b="0">
                <a:solidFill>
                  <a:srgbClr val="52606B"/>
                </a:solidFill>
                <a:latin typeface="AppleGothic"/>
                <a:ea typeface="AppleGothic"/>
                <a:cs typeface="AppleGothic"/>
              </a:defRPr>
            </a:defPPr>
          </a:lstStyle>
          <a:p xmlns:a="http://schemas.openxmlformats.org/drawingml/2006/main">
            <a:pPr algn="l">
              <a:lnSpc>
                <a:spcPct val="116000"/>
              </a:lnSpc>
              <a:buNone/>
              <a:defRPr sz="1800" b="0">
                <a:solidFill>
                  <a:srgbClr val="52606B"/>
                </a:solidFill>
                <a:latin typeface="AppleGothic"/>
                <a:ea typeface="AppleGothic"/>
                <a:cs typeface="AppleGothic"/>
              </a:defRPr>
            </a:pPr>
            <a:r>
              <a:rPr sz="1800" b="0">
                <a:solidFill>
                  <a:srgbClr val="52606B"/>
                </a:solidFill>
                <a:latin typeface="AppleGothic"/>
                <a:ea typeface="AppleGothic"/>
                <a:cs typeface="AppleGothic"/>
              </a:rPr>
              <a:t>범용 언어 패턴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9C3E254F-C2AE-4AA5-B84D-7A1AB79B37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52800" y="2657475"/>
            <a:ext cx="152400" cy="1238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84B7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7023E32E-D7B0-4244-9521-6EFC24D873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52800" y="2095500"/>
            <a:ext cx="25527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1800" b="0">
                <a:solidFill>
                  <a:srgbClr val="284B72"/>
                </a:solidFill>
                <a:latin typeface="Menlo"/>
                <a:ea typeface="Menlo"/>
                <a:cs typeface="Menlo"/>
              </a:defRPr>
            </a:defPPr>
          </a:lstStyle>
          <a:p xmlns:a="http://schemas.openxmlformats.org/drawingml/2006/main">
            <a:pPr algn="l">
              <a:lnSpc>
                <a:spcPct val="116000"/>
              </a:lnSpc>
              <a:buNone/>
              <a:defRPr sz="1800" b="0">
                <a:solidFill>
                  <a:srgbClr val="284B72"/>
                </a:solidFill>
                <a:latin typeface="Menlo"/>
                <a:ea typeface="Menlo"/>
                <a:cs typeface="Menlo"/>
              </a:defRPr>
            </a:pPr>
            <a:r>
              <a:rPr sz="1800" b="0">
                <a:solidFill>
                  <a:srgbClr val="284B72"/>
                </a:solidFill>
                <a:latin typeface="Menlo"/>
                <a:ea typeface="Menlo"/>
                <a:cs typeface="Menlo"/>
              </a:rPr>
              <a:t>02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3EC9B8AB-00FE-4495-80BF-FC8DC70DFF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52800" y="3067050"/>
            <a:ext cx="249555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2500" b="1">
                <a:solidFill>
                  <a:srgbClr val="17191B"/>
                </a:solidFill>
                <a:latin typeface="AppleGothic"/>
                <a:ea typeface="AppleGothic"/>
                <a:cs typeface="AppleGothic"/>
              </a:defRPr>
            </a:defPPr>
          </a:lstStyle>
          <a:p xmlns:a="http://schemas.openxmlformats.org/drawingml/2006/main">
            <a:pPr algn="l">
              <a:lnSpc>
                <a:spcPct val="116000"/>
              </a:lnSpc>
              <a:buNone/>
              <a:defRPr sz="2500" b="1">
                <a:solidFill>
                  <a:srgbClr val="17191B"/>
                </a:solidFill>
                <a:latin typeface="AppleGothic"/>
                <a:ea typeface="AppleGothic"/>
                <a:cs typeface="AppleGothic"/>
              </a:defRPr>
            </a:pPr>
            <a:r>
              <a:rPr sz="2500" b="1">
                <a:solidFill>
                  <a:srgbClr val="17191B"/>
                </a:solidFill>
                <a:latin typeface="AppleGothic"/>
                <a:ea typeface="AppleGothic"/>
                <a:cs typeface="AppleGothic"/>
              </a:rPr>
              <a:t>SFT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63880FC1-0610-4870-AFD4-2FB4ED784A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52800" y="4029075"/>
            <a:ext cx="2495550" cy="914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1800" b="0">
                <a:solidFill>
                  <a:srgbClr val="52606B"/>
                </a:solidFill>
                <a:latin typeface="AppleGothic"/>
                <a:ea typeface="AppleGothic"/>
                <a:cs typeface="AppleGothic"/>
              </a:defRPr>
            </a:defPPr>
          </a:lstStyle>
          <a:p xmlns:a="http://schemas.openxmlformats.org/drawingml/2006/main">
            <a:pPr algn="l">
              <a:lnSpc>
                <a:spcPct val="116000"/>
              </a:lnSpc>
              <a:buNone/>
              <a:defRPr sz="1800" b="0">
                <a:solidFill>
                  <a:srgbClr val="52606B"/>
                </a:solidFill>
                <a:latin typeface="AppleGothic"/>
                <a:ea typeface="AppleGothic"/>
                <a:cs typeface="AppleGothic"/>
              </a:defRPr>
            </a:pPr>
            <a:r>
              <a:rPr sz="1800" b="0">
                <a:solidFill>
                  <a:srgbClr val="52606B"/>
                </a:solidFill>
                <a:latin typeface="AppleGothic"/>
                <a:ea typeface="AppleGothic"/>
                <a:cs typeface="AppleGothic"/>
              </a:rPr>
              <a:t>기대 답변 학습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06DCD27A-1DDB-4C08-8425-38971A3E06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0" y="2657475"/>
            <a:ext cx="152400" cy="1238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84B7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8585B653-87CD-4348-8BAE-44E7D77055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0" y="2095500"/>
            <a:ext cx="25527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1800" b="0">
                <a:solidFill>
                  <a:srgbClr val="284B72"/>
                </a:solidFill>
                <a:latin typeface="Menlo"/>
                <a:ea typeface="Menlo"/>
                <a:cs typeface="Menlo"/>
              </a:defRPr>
            </a:defPPr>
          </a:lstStyle>
          <a:p xmlns:a="http://schemas.openxmlformats.org/drawingml/2006/main">
            <a:pPr algn="l">
              <a:lnSpc>
                <a:spcPct val="116000"/>
              </a:lnSpc>
              <a:buNone/>
              <a:defRPr sz="1800" b="0">
                <a:solidFill>
                  <a:srgbClr val="284B72"/>
                </a:solidFill>
                <a:latin typeface="Menlo"/>
                <a:ea typeface="Menlo"/>
                <a:cs typeface="Menlo"/>
              </a:defRPr>
            </a:pPr>
            <a:r>
              <a:rPr sz="1800" b="0">
                <a:solidFill>
                  <a:srgbClr val="284B72"/>
                </a:solidFill>
                <a:latin typeface="Menlo"/>
                <a:ea typeface="Menlo"/>
                <a:cs typeface="Menlo"/>
              </a:rPr>
              <a:t>03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050E00FA-CF14-4BDD-A5DF-FEDB4D7FDD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0" y="3067050"/>
            <a:ext cx="249555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2500" b="1">
                <a:solidFill>
                  <a:srgbClr val="17191B"/>
                </a:solidFill>
                <a:latin typeface="AppleGothic"/>
                <a:ea typeface="AppleGothic"/>
                <a:cs typeface="AppleGothic"/>
              </a:defRPr>
            </a:defPPr>
          </a:lstStyle>
          <a:p xmlns:a="http://schemas.openxmlformats.org/drawingml/2006/main">
            <a:pPr algn="l">
              <a:lnSpc>
                <a:spcPct val="116000"/>
              </a:lnSpc>
              <a:buNone/>
              <a:defRPr sz="2500" b="1">
                <a:solidFill>
                  <a:srgbClr val="17191B"/>
                </a:solidFill>
                <a:latin typeface="AppleGothic"/>
                <a:ea typeface="AppleGothic"/>
                <a:cs typeface="AppleGothic"/>
              </a:defRPr>
            </a:pPr>
            <a:r>
              <a:rPr sz="2500" b="1">
                <a:solidFill>
                  <a:srgbClr val="17191B"/>
                </a:solidFill>
                <a:latin typeface="AppleGothic"/>
                <a:ea typeface="AppleGothic"/>
                <a:cs typeface="AppleGothic"/>
              </a:rPr>
              <a:t>선호 최적화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9BB88DEA-720E-4FEF-8E4F-E5B1D177C2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0" y="4029075"/>
            <a:ext cx="2495550" cy="914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1800" b="0">
                <a:solidFill>
                  <a:srgbClr val="52606B"/>
                </a:solidFill>
                <a:latin typeface="AppleGothic"/>
                <a:ea typeface="AppleGothic"/>
                <a:cs typeface="AppleGothic"/>
              </a:defRPr>
            </a:defPPr>
          </a:lstStyle>
          <a:p xmlns:a="http://schemas.openxmlformats.org/drawingml/2006/main">
            <a:pPr algn="l">
              <a:lnSpc>
                <a:spcPct val="116000"/>
              </a:lnSpc>
              <a:buNone/>
              <a:defRPr sz="1800" b="0">
                <a:solidFill>
                  <a:srgbClr val="52606B"/>
                </a:solidFill>
                <a:latin typeface="AppleGothic"/>
                <a:ea typeface="AppleGothic"/>
                <a:cs typeface="AppleGothic"/>
              </a:defRPr>
            </a:pPr>
            <a:r>
              <a:rPr sz="1800" b="0">
                <a:solidFill>
                  <a:srgbClr val="52606B"/>
                </a:solidFill>
                <a:latin typeface="AppleGothic"/>
                <a:ea typeface="AppleGothic"/>
                <a:cs typeface="AppleGothic"/>
              </a:rPr>
              <a:t>상대 선택 학습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09A8A9F1-7C66-47CD-BF4D-5ECB02420C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39200" y="2657475"/>
            <a:ext cx="152400" cy="1238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84B7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9E8290C8-5AB6-4E5B-89F7-7F2436B352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39200" y="2095500"/>
            <a:ext cx="25527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1800" b="0">
                <a:solidFill>
                  <a:srgbClr val="284B72"/>
                </a:solidFill>
                <a:latin typeface="Menlo"/>
                <a:ea typeface="Menlo"/>
                <a:cs typeface="Menlo"/>
              </a:defRPr>
            </a:defPPr>
          </a:lstStyle>
          <a:p xmlns:a="http://schemas.openxmlformats.org/drawingml/2006/main">
            <a:pPr algn="l">
              <a:lnSpc>
                <a:spcPct val="116000"/>
              </a:lnSpc>
              <a:buNone/>
              <a:defRPr sz="1800" b="0">
                <a:solidFill>
                  <a:srgbClr val="284B72"/>
                </a:solidFill>
                <a:latin typeface="Menlo"/>
                <a:ea typeface="Menlo"/>
                <a:cs typeface="Menlo"/>
              </a:defRPr>
            </a:pPr>
            <a:r>
              <a:rPr sz="1800" b="0">
                <a:solidFill>
                  <a:srgbClr val="284B72"/>
                </a:solidFill>
                <a:latin typeface="Menlo"/>
                <a:ea typeface="Menlo"/>
                <a:cs typeface="Menlo"/>
              </a:rPr>
              <a:t>04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90CDB55E-607B-49FB-9F04-02784C45F4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39200" y="3067050"/>
            <a:ext cx="249555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2500" b="1">
                <a:solidFill>
                  <a:srgbClr val="17191B"/>
                </a:solidFill>
                <a:latin typeface="AppleGothic"/>
                <a:ea typeface="AppleGothic"/>
                <a:cs typeface="AppleGothic"/>
              </a:defRPr>
            </a:defPPr>
          </a:lstStyle>
          <a:p xmlns:a="http://schemas.openxmlformats.org/drawingml/2006/main">
            <a:pPr algn="l">
              <a:lnSpc>
                <a:spcPct val="116000"/>
              </a:lnSpc>
              <a:buNone/>
              <a:defRPr sz="2500" b="1">
                <a:solidFill>
                  <a:srgbClr val="17191B"/>
                </a:solidFill>
                <a:latin typeface="AppleGothic"/>
                <a:ea typeface="AppleGothic"/>
                <a:cs typeface="AppleGothic"/>
              </a:defRPr>
            </a:pPr>
            <a:r>
              <a:rPr sz="2500" b="1">
                <a:solidFill>
                  <a:srgbClr val="17191B"/>
                </a:solidFill>
                <a:latin typeface="AppleGothic"/>
                <a:ea typeface="AppleGothic"/>
                <a:cs typeface="AppleGothic"/>
              </a:rPr>
              <a:t>평가·서빙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05EAAD00-A3EC-4D97-969E-C43A7C8EBF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39200" y="4029075"/>
            <a:ext cx="2495550" cy="914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1800" b="0">
                <a:solidFill>
                  <a:srgbClr val="52606B"/>
                </a:solidFill>
                <a:latin typeface="AppleGothic"/>
                <a:ea typeface="AppleGothic"/>
                <a:cs typeface="AppleGothic"/>
              </a:defRPr>
            </a:defPPr>
          </a:lstStyle>
          <a:p xmlns:a="http://schemas.openxmlformats.org/drawingml/2006/main">
            <a:pPr algn="l">
              <a:lnSpc>
                <a:spcPct val="116000"/>
              </a:lnSpc>
              <a:buNone/>
              <a:defRPr sz="1800" b="0">
                <a:solidFill>
                  <a:srgbClr val="52606B"/>
                </a:solidFill>
                <a:latin typeface="AppleGothic"/>
                <a:ea typeface="AppleGothic"/>
                <a:cs typeface="AppleGothic"/>
              </a:defRPr>
            </a:pPr>
            <a:r>
              <a:rPr sz="1800" b="0">
                <a:solidFill>
                  <a:srgbClr val="52606B"/>
                </a:solidFill>
                <a:latin typeface="AppleGothic"/>
                <a:ea typeface="AppleGothic"/>
                <a:cs typeface="AppleGothic"/>
              </a:rPr>
              <a:t>업무 조건 검증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3B88BA01-C3A3-4B12-B9AA-8FD365B568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791200"/>
            <a:ext cx="109728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1600" b="0">
                <a:solidFill>
                  <a:srgbClr val="52606B"/>
                </a:solidFill>
                <a:latin typeface="AppleGothic"/>
                <a:ea typeface="AppleGothic"/>
                <a:cs typeface="AppleGothic"/>
              </a:defRPr>
            </a:defPPr>
          </a:lstStyle>
          <a:p xmlns:a="http://schemas.openxmlformats.org/drawingml/2006/main">
            <a:pPr algn="l">
              <a:lnSpc>
                <a:spcPct val="116000"/>
              </a:lnSpc>
              <a:buNone/>
              <a:defRPr sz="1600" b="0">
                <a:solidFill>
                  <a:srgbClr val="52606B"/>
                </a:solidFill>
                <a:latin typeface="AppleGothic"/>
                <a:ea typeface="AppleGothic"/>
                <a:cs typeface="AppleGothic"/>
              </a:defRPr>
            </a:pPr>
            <a:r>
              <a:rPr sz="1600" b="0">
                <a:solidFill>
                  <a:srgbClr val="52606B"/>
                </a:solidFill>
                <a:latin typeface="AppleGothic"/>
                <a:ea typeface="AppleGothic"/>
                <a:cs typeface="AppleGothic"/>
              </a:rPr>
              <a:t>프로젝트마다 모든 단계가 필요한 것은 아님</a:t>
            </a:r>
          </a:p>
        </p:txBody>
      </p:sp>
    </p:spTree>
    <p:extLst>
      <p:ext uri="{BB962C8B-B14F-4D97-AF65-F5344CB8AC3E}">
        <p14:creationId xmlns:p14="http://schemas.microsoft.com/office/powerpoint/2010/main" val="307418494"/>
      </p:ext>
    </p:extLst>
  </p:cSld>
</p:sld>
</file>

<file path=ppt/slides/slide13.xml><?xml version="1.0" encoding="utf-8"?>
<ns0:sld xmlns:ns0="http://schemas.openxmlformats.org/presentationml/2006/main" xmlns:ns1="http://schemas.openxmlformats.org/drawingml/2006/main" xmlns:ns2="http://schemas.microsoft.com/office/drawing/2014/main" xmlns:ns3="http://schemas.openxmlformats.org/officeDocument/2006/relationships" xmlns:ns4="http://schemas.microsoft.com/office/powerpoint/2010/main">
  <ns0:cSld>
    <ns0:bg>
      <ns0:bgPr>
        <ns1:solidFill>
          <ns1:srgbClr val="F7F7F5"/>
        </ns1:solidFill>
      </ns0:bgPr>
    </ns0:bg>
    <ns0:spTree>
      <ns0:nvGrpSpPr>
        <ns0:cNvPr id="1" name=""/>
        <ns0:cNvGrpSpPr/>
        <ns0:nvPr/>
      </ns0:nvGrpSpPr>
      <ns0:grpSpPr>
        <ns1:xfrm/>
      </ns0:grpSpPr>
      <ns0:sp>
        <ns0:nvSpPr>
          <ns0:cNvPr id="14" name="">
            <ns1:extLst>
              <ns1:ext uri="{FF2B5EF4-FFF2-40B4-BE49-F238E27FC236}">
                <ns2:creationId id="{E926ADE6-6B33-4E1B-81B3-EFAE30585A8B}"/>
              </ns1:ext>
            </ns1:extLst>
          </ns0:cNvPr>
          <ns0:cNvSpPr>
            <ns1:spLocks noGrp="1"/>
          </ns0:cNvSpPr>
          <ns0:nvPr/>
        </ns0:nvSpPr>
        <ns0:spPr>
          <ns1:xfrm>
            <ns1:off x="609600" y="247650"/>
            <ns1:ext cx="9525000" cy="228600"/>
          </ns1:xfrm>
          <ns1:prstGeom prst="rect">
            <ns1:avLst/>
          </ns1:prstGeom>
          <ns1:noFill/>
          <ns1:ln w="0">
            <ns1:noFill/>
            <ns1:prstDash val="solid"/>
          </ns1:ln>
        </ns0:spPr>
        <ns0:txBody>
          <ns1:bodyPr wrap="none" lIns="0" tIns="0" rIns="0" bIns="0" anchor="t">
            <ns1:noAutofit/>
          </ns1:bodyPr>
          <ns1:lstStyle>
            <ns1:defPPr algn="l">
              <ns1:defRPr sz="1400" b="0">
                <ns1:solidFill>
                  <ns1:srgbClr val="52606B"/>
                </ns1:solidFill>
                <ns1:latin typeface="AppleGothic"/>
                <ns1:ea typeface="AppleGothic"/>
                <ns1:cs typeface="AppleGothic"/>
              </ns1:defRPr>
            </ns1:defPPr>
          </ns1:lstStyle>
          <ns1:p>
            <ns1:pPr algn="l">
              <ns1:lnSpc>
                <ns1:spcPct val="116000"/>
              </ns1:lnSpc>
              <ns1:buNone/>
              <ns1:defRPr sz="1400" b="0">
                <ns1:solidFill>
                  <ns1:srgbClr val="52606B"/>
                </ns1:solidFill>
                <ns1:latin typeface="AppleGothic"/>
                <ns1:ea typeface="AppleGothic"/>
                <ns1:cs typeface="AppleGothic"/>
              </ns1:defRPr>
            </ns1:pPr>
            <ns1:r>
              <ns1:rPr sz="1400" b="0">
                <ns1:solidFill>
                  <ns1:srgbClr val="52606B"/>
                </ns1:solidFill>
                <ns1:latin typeface="AppleGothic"/>
                <ns1:ea typeface="AppleGothic"/>
                <ns1:cs typeface="AppleGothic"/>
              </ns1:rPr>
              <ns1:t>LLMOPS / W07</ns1:t>
            </ns1:r>
          </ns1:p>
        </ns0:txBody>
      </ns0:sp>
      <ns0:sp>
        <ns0:nvSpPr>
          <ns0:cNvPr id="2" name="">
            <ns1:extLst>
              <ns1:ext uri="{FF2B5EF4-FFF2-40B4-BE49-F238E27FC236}">
                <ns2:creationId id="{43A6044F-3265-48A4-B587-A0A9758D4846}"/>
              </ns1:ext>
            </ns1:extLst>
          </ns0:cNvPr>
          <ns0:cNvSpPr>
            <ns1:spLocks noGrp="1"/>
          </ns0:cNvSpPr>
          <ns0:nvPr/>
        </ns0:nvSpPr>
        <ns0:spPr>
          <ns1:xfrm>
            <ns1:off x="10858500" y="247650"/>
            <ns1:ext cx="723900" cy="228600"/>
          </ns1:xfrm>
          <ns1:prstGeom prst="rect">
            <ns1:avLst/>
          </ns1:prstGeom>
          <ns1:noFill/>
          <ns1:ln w="0">
            <ns1:noFill/>
            <ns1:prstDash val="solid"/>
          </ns1:ln>
        </ns0:spPr>
        <ns0:txBody>
          <ns1:bodyPr wrap="none" lIns="0" tIns="0" rIns="0" bIns="0" anchor="t">
            <ns1:noAutofit/>
          </ns1:bodyPr>
          <ns1:lstStyle>
            <ns1:defPPr algn="r">
              <ns1:defRPr sz="1400" b="0">
                <ns1:solidFill>
                  <ns1:srgbClr val="52606B"/>
                </ns1:solidFill>
                <ns1:latin typeface="Menlo"/>
                <ns1:ea typeface="Menlo"/>
                <ns1:cs typeface="Menlo"/>
              </ns1:defRPr>
            </ns1:defPPr>
          </ns1:lstStyle>
          <ns1:p>
            <ns1:pPr algn="r">
              <ns1:lnSpc>
                <ns1:spcPct val="116000"/>
              </ns1:lnSpc>
              <ns1:buNone/>
              <ns1:defRPr sz="1400" b="0">
                <ns1:solidFill>
                  <ns1:srgbClr val="52606B"/>
                </ns1:solidFill>
                <ns1:latin typeface="Menlo"/>
                <ns1:ea typeface="Menlo"/>
                <ns1:cs typeface="Menlo"/>
              </ns1:defRPr>
            </ns1:pPr>
            <ns1:r>
              <ns1:rPr sz="1400" b="0">
                <ns1:solidFill>
                  <ns1:srgbClr val="52606B"/>
                </ns1:solidFill>
                <ns1:latin typeface="Menlo"/>
                <ns1:ea typeface="Menlo"/>
                <ns1:cs typeface="Menlo"/>
              </ns1:rPr>
              <ns1:t>13</ns1:t>
            </ns1:r>
          </ns1:p>
        </ns0:txBody>
      </ns0:sp>
      <ns0:sp>
        <ns0:nvSpPr>
          <ns0:cNvPr id="3" name="">
            <ns1:extLst>
              <ns1:ext uri="{FF2B5EF4-FFF2-40B4-BE49-F238E27FC236}">
                <ns2:creationId id="{D8B32E84-C1B1-4492-9FA9-63187CCA9CD0}"/>
              </ns1:ext>
            </ns1:extLst>
          </ns0:cNvPr>
          <ns0:cNvSpPr>
            <ns1:spLocks noGrp="1"/>
          </ns0:cNvSpPr>
          <ns0:nvPr/>
        </ns0:nvSpPr>
        <ns0:spPr>
          <ns1:xfrm>
            <ns1:off x="609600" y="723900"/>
            <ns1:ext cx="10972800" cy="666750"/>
          </ns1:xfrm>
          <ns1:prstGeom prst="rect">
            <ns1:avLst/>
          </ns1:prstGeom>
          <ns1:noFill/>
          <ns1:ln w="0">
            <ns1:noFill/>
            <ns1:prstDash val="solid"/>
          </ns1:ln>
        </ns0:spPr>
        <ns0:txBody>
          <ns1:bodyPr wrap="none" lIns="0" tIns="0" rIns="0" bIns="0" anchor="t">
            <ns1:noAutofit/>
          </ns1:bodyPr>
          <ns1:lstStyle>
            <ns1:defPPr algn="l">
              <ns1:defRPr sz="3400" b="1">
                <ns1:solidFill>
                  <ns1:srgbClr val="17191B"/>
                </ns1:solidFill>
                <ns1:latin typeface="AppleGothic"/>
                <ns1:ea typeface="AppleGothic"/>
                <ns1:cs typeface="AppleGothic"/>
              </ns1:defRPr>
            </ns1:defPPr>
          </ns1:lstStyle>
          <ns1:p>
            <ns1:pPr algn="l">
              <ns1:lnSpc>
                <ns1:spcPct val="116000"/>
              </ns1:lnSpc>
              <ns1:buNone/>
              <ns1:defRPr sz="3400" b="1">
                <ns1:solidFill>
                  <ns1:srgbClr val="17191B"/>
                </ns1:solidFill>
                <ns1:latin typeface="AppleGothic"/>
                <ns1:ea typeface="AppleGothic"/>
                <ns1:cs typeface="AppleGothic"/>
              </ns1:defRPr>
            </ns1:pPr>
            <ns1:r>
              <ns1:rPr sz="3400" b="1">
                <ns1:solidFill>
                  <ns1:srgbClr val="17191B"/>
                </ns1:solidFill>
                <ns1:latin typeface="AppleGothic"/>
                <ns1:ea typeface="AppleGothic"/>
                <ns1:cs typeface="AppleGothic"/>
              </ns1:rPr>
              <ns1:t>SFT의 토큰 예측과 손실</ns1:t>
            </ns1:r>
          </ns1:p>
        </ns0:txBody>
      </ns0:sp>
      <ns0:sp>
        <ns0:nvSpPr>
          <ns0:cNvPr id="4" name="">
            <ns1:extLst>
              <ns1:ext uri="{FF2B5EF4-FFF2-40B4-BE49-F238E27FC236}">
                <ns2:creationId id="{265D730A-E960-4831-883B-7CE3424C4B2A}"/>
              </ns1:ext>
            </ns1:extLst>
          </ns0:cNvPr>
          <ns0:cNvSpPr>
            <ns1:spLocks noGrp="1"/>
          </ns0:cNvSpPr>
          <ns0:nvPr/>
        </ns0:nvSpPr>
        <ns0:spPr>
          <ns1:xfrm>
            <ns1:off x="609600" y="6315075"/>
            <ns1:ext cx="10972800" cy="9525"/>
          </ns1:xfrm>
          <ns1:prstGeom prst="rect">
            <ns1:avLst/>
          </ns1:prstGeom>
          <ns1:solidFill>
            <ns1:srgbClr val="CFD5D3"/>
          </ns1:solidFill>
          <ns1:ln w="0">
            <ns1:noFill/>
            <ns1:prstDash val="solid"/>
          </ns1:ln>
        </ns0:spPr>
      </ns0:sp>
      <ns0:sp>
        <ns0:nvSpPr>
          <ns0:cNvPr id="5" name="">
            <ns1:extLst>
              <ns1:ext uri="{FF2B5EF4-FFF2-40B4-BE49-F238E27FC236}">
                <ns2:creationId id="{55D2177B-C003-47B6-8EC5-1398DCBB2EF1}"/>
              </ns1:ext>
            </ns1:extLst>
          </ns0:cNvPr>
          <ns0:cNvSpPr>
            <ns1:spLocks noGrp="1"/>
          </ns0:cNvSpPr>
          <ns0:nvPr/>
        </ns0:nvSpPr>
        <ns0:spPr>
          <ns1:xfrm>
            <ns1:off x="609600" y="6477000"/>
            <ns1:ext cx="10972800" cy="228600"/>
          </ns1:xfrm>
          <ns1:prstGeom prst="rect">
            <ns1:avLst/>
          </ns1:prstGeom>
          <ns1:noFill/>
          <ns1:ln w="0">
            <ns1:noFill/>
            <ns1:prstDash val="solid"/>
          </ns1:ln>
        </ns0:spPr>
        <ns0:txBody>
          <ns1:bodyPr wrap="none" lIns="0" tIns="0" rIns="0" bIns="0" anchor="t">
            <ns1:noAutofit/>
          </ns1:bodyPr>
          <ns1:lstStyle>
            <ns1:defPPr algn="l">
              <ns1:defRPr sz="1400" b="0">
                <ns1:solidFill>
                  <ns1:srgbClr val="52606B"/>
                </ns1:solidFill>
                <ns1:latin typeface="AppleGothic"/>
                <ns1:ea typeface="AppleGothic"/>
                <ns1:cs typeface="AppleGothic"/>
              </ns1:defRPr>
            </ns1:defPPr>
          </ns1:lstStyle>
          <ns1:p>
            <ns1:pPr algn="l">
              <ns1:lnSpc>
                <ns1:spcPct val="116000"/>
              </ns1:lnSpc>
              <ns1:buNone/>
              <ns1:defRPr sz="1400" b="0">
                <ns1:solidFill>
                  <ns1:srgbClr val="52606B"/>
                </ns1:solidFill>
                <ns1:latin typeface="AppleGothic"/>
                <ns1:ea typeface="AppleGothic"/>
                <ns1:cs typeface="AppleGothic"/>
              </ns1:defRPr>
            </ns1:pPr>
            <ns1:r>
              <ns1:rPr sz="1400" b="0">
                <ns1:solidFill>
                  <ns1:srgbClr val="52606B"/>
                </ns1:solidFill>
                <ns1:latin typeface="AppleGothic"/>
                <ns1:ea typeface="AppleGothic"/>
                <ns1:cs typeface="AppleGothic"/>
              </ns1:rPr>
              <ns1:t>데이터 · 모델 적응 · 비교 평가 · 기획서 초안</ns1:t>
            </ns1:r>
          </ns1:p>
        </ns0:txBody>
      </ns0:sp>
      <ns0:pic>
        <ns0:nvPicPr>
          <ns0:cNvPr id="6" name="">
            <ns1:extLst>
              <ns1:ext uri="{FF2B5EF4-FFF2-40B4-BE49-F238E27FC236}">
                <ns2:creationId id="{D78C01A5-82F9-481B-91B1-1A6F8F75EBA7}"/>
              </ns1:ext>
            </ns1:extLst>
          </ns0:cNvPr>
          <ns0:cNvPicPr>
            <ns1:picLocks noChangeAspect="1"/>
          </ns0:cNvPicPr>
          <ns0:nvPr/>
        </ns0:nvPicPr>
        <ns0:blipFill>
          <ns1:blip ns3:embed="Rc32f4d1752834417">
            <ns1:grayscl/>
          </ns1:blip>
          <ns1:stretch/>
        </ns0:blipFill>
        <ns0:spPr>
          <ns1:xfrm>
            <ns1:off x="609600" y="1623599"/>
            <ns1:ext cx="7810500" cy="3991803"/>
          </ns1:xfrm>
          <ns1:prstGeom prst="rect">
            <ns1:avLst/>
          </ns1:prstGeom>
        </ns0:spPr>
      </ns0:pic>
      <ns0:sp>
        <ns0:nvSpPr>
          <ns0:cNvPr id="7" name="">
            <ns1:extLst>
              <ns1:ext uri="{FF2B5EF4-FFF2-40B4-BE49-F238E27FC236}">
                <ns2:creationId id="{67B63DD1-38B6-4D6E-94C2-3389AC72BE29}"/>
              </ns1:ext>
            </ns1:extLst>
          </ns0:cNvPr>
          <ns0:cNvSpPr>
            <ns1:spLocks noGrp="1"/>
          </ns0:cNvSpPr>
          <ns0:nvPr/>
        </ns0:nvSpPr>
        <ns0:spPr>
          <ns1:xfrm>
            <ns1:off x="8858250" y="1771650"/>
            <ns1:ext cx="2724150" cy="342900"/>
          </ns1:xfrm>
          <ns1:prstGeom prst="rect">
            <ns1:avLst/>
          </ns1:prstGeom>
          <ns1:noFill/>
          <ns1:ln w="0">
            <ns1:noFill/>
            <ns1:prstDash val="solid"/>
          </ns1:ln>
        </ns0:spPr>
        <ns0:txBody>
          <ns1:bodyPr wrap="none" lIns="0" tIns="0" rIns="0" bIns="0" anchor="t">
            <ns1:noAutofit/>
          </ns1:bodyPr>
          <ns1:lstStyle>
            <ns1:defPPr algn="l">
              <ns1:defRPr sz="2200" b="1">
                <ns1:solidFill>
                  <ns1:srgbClr val="17191B"/>
                </ns1:solidFill>
                <ns1:latin typeface="AppleGothic"/>
                <ns1:ea typeface="AppleGothic"/>
                <ns1:cs typeface="AppleGothic"/>
              </ns1:defRPr>
            </ns1:defPPr>
          </ns1:lstStyle>
          <ns1:p>
            <ns1:pPr algn="l">
              <ns1:lnSpc>
                <ns1:spcPct val="116000"/>
              </ns1:lnSpc>
              <ns1:buNone/>
              <ns1:defRPr sz="2200" b="1">
                <ns1:solidFill>
                  <ns1:srgbClr val="17191B"/>
                </ns1:solidFill>
                <ns1:latin typeface="AppleGothic"/>
                <ns1:ea typeface="AppleGothic"/>
                <ns1:cs typeface="AppleGothic"/>
              </ns1:defRPr>
            </ns1:pPr>
            <ns1:r>
              <ns1:rPr sz="2200" b="1">
                <ns1:solidFill>
                  <ns1:srgbClr val="17191B"/>
                </ns1:solidFill>
                <ns1:latin typeface="AppleGothic"/>
                <ns1:ea typeface="AppleGothic"/>
                <ns1:cs typeface="AppleGothic"/>
              </ns1:rPr>
              <ns1:t>input_ids</ns1:t>
            </ns1:r>
          </ns1:p>
        </ns0:txBody>
      </ns0:sp>
      <ns0:sp>
        <ns0:nvSpPr>
          <ns0:cNvPr id="8" name="">
            <ns1:extLst>
              <ns1:ext uri="{FF2B5EF4-FFF2-40B4-BE49-F238E27FC236}">
                <ns2:creationId id="{E886FEEB-FCB1-49B4-BE90-A1A6C4F75171}"/>
              </ns1:ext>
            </ns1:extLst>
          </ns0:cNvPr>
          <ns0:cNvSpPr>
            <ns1:spLocks noGrp="1"/>
          </ns0:cNvSpPr>
          <ns0:nvPr/>
        </ns0:nvSpPr>
        <ns0:spPr>
          <ns1:xfrm>
            <ns1:off x="8858250" y="2228850"/>
            <ns1:ext cx="2724150" cy="685800"/>
          </ns1:xfrm>
          <ns1:prstGeom prst="rect">
            <ns1:avLst/>
          </ns1:prstGeom>
          <ns1:noFill/>
          <ns1:ln w="0">
            <ns1:noFill/>
            <ns1:prstDash val="solid"/>
          </ns1:ln>
        </ns0:spPr>
        <ns0:txBody>
          <ns1:bodyPr wrap="none" lIns="0" tIns="0" rIns="0" bIns="0" anchor="t">
            <ns1:noAutofit/>
          </ns1:bodyPr>
          <ns1:lstStyle>
            <ns1:defPPr algn="l">
              <ns1:defRPr sz="1800" b="0">
                <ns1:solidFill>
                  <ns1:srgbClr val="52606B"/>
                </ns1:solidFill>
                <ns1:latin typeface="AppleGothic"/>
                <ns1:ea typeface="AppleGothic"/>
                <ns1:cs typeface="AppleGothic"/>
              </ns1:defRPr>
            </ns1:defPPr>
          </ns1:lstStyle>
          <ns1:p>
            <ns1:pPr algn="l">
              <ns1:lnSpc>
                <ns1:spcPct val="116000"/>
              </ns1:lnSpc>
              <ns1:buNone/>
              <ns1:defRPr sz="1800" b="0">
                <ns1:solidFill>
                  <ns1:srgbClr val="52606B"/>
                </ns1:solidFill>
                <ns1:latin typeface="AppleGothic"/>
                <ns1:ea typeface="AppleGothic"/>
                <ns1:cs typeface="AppleGothic"/>
              </ns1:defRPr>
            </ns1:pPr>
            <ns1:r>
              <ns1:rPr sz="1800" b="0">
                <ns1:solidFill>
                  <ns1:srgbClr val="52606B"/>
                </ns1:solidFill>
                <ns1:latin typeface="AppleGothic"/>
                <ns1:ea typeface="AppleGothic"/>
                <ns1:cs typeface="AppleGothic"/>
              </ns1:rPr>
              <ns1:t>입력 토큰 ID</ns1:t>
            </ns1:r>
          </ns1:p>
        </ns0:txBody>
      </ns0:sp>
      <ns0:sp>
        <ns0:nvSpPr>
          <ns0:cNvPr id="9" name="">
            <ns1:extLst>
              <ns1:ext uri="{FF2B5EF4-FFF2-40B4-BE49-F238E27FC236}">
                <ns2:creationId id="{0B587C32-8B6B-4F40-96E1-83003E8DDD89}"/>
              </ns1:ext>
            </ns1:extLst>
          </ns0:cNvPr>
          <ns0:cNvSpPr>
            <ns1:spLocks noGrp="1"/>
          </ns0:cNvSpPr>
          <ns0:nvPr/>
        </ns0:nvSpPr>
        <ns0:spPr>
          <ns1:xfrm>
            <ns1:off x="8858250" y="3009900"/>
            <ns1:ext cx="2724150" cy="342900"/>
          </ns1:xfrm>
          <ns1:prstGeom prst="rect">
            <ns1:avLst/>
          </ns1:prstGeom>
          <ns1:noFill/>
          <ns1:ln w="0">
            <ns1:noFill/>
            <ns1:prstDash val="solid"/>
          </ns1:ln>
        </ns0:spPr>
        <ns0:txBody>
          <ns1:bodyPr wrap="none" lIns="0" tIns="0" rIns="0" bIns="0" anchor="t">
            <ns1:noAutofit/>
          </ns1:bodyPr>
          <ns1:lstStyle>
            <ns1:defPPr algn="l">
              <ns1:defRPr sz="2200" b="1">
                <ns1:solidFill>
                  <ns1:srgbClr val="17191B"/>
                </ns1:solidFill>
                <ns1:latin typeface="AppleGothic"/>
                <ns1:ea typeface="AppleGothic"/>
                <ns1:cs typeface="AppleGothic"/>
              </ns1:defRPr>
            </ns1:defPPr>
          </ns1:lstStyle>
          <ns1:p>
            <ns1:pPr algn="l">
              <ns1:lnSpc>
                <ns1:spcPct val="116000"/>
              </ns1:lnSpc>
              <ns1:buNone/>
              <ns1:defRPr sz="2200" b="1">
                <ns1:solidFill>
                  <ns1:srgbClr val="17191B"/>
                </ns1:solidFill>
                <ns1:latin typeface="AppleGothic"/>
                <ns1:ea typeface="AppleGothic"/>
                <ns1:cs typeface="AppleGothic"/>
              </ns1:defRPr>
            </ns1:pPr>
            <ns1:r>
              <ns1:rPr sz="2200" b="1">
                <ns1:solidFill>
                  <ns1:srgbClr val="17191B"/>
                </ns1:solidFill>
                <ns1:latin typeface="AppleGothic"/>
                <ns1:ea typeface="AppleGothic"/>
                <ns1:cs typeface="AppleGothic"/>
              </ns1:rPr>
              <ns1:t>logits</ns1:t>
            </ns1:r>
          </ns1:p>
        </ns0:txBody>
      </ns0:sp>
      <ns0:sp>
        <ns0:nvSpPr>
          <ns0:cNvPr id="10" name="">
            <ns1:extLst>
              <ns1:ext uri="{FF2B5EF4-FFF2-40B4-BE49-F238E27FC236}">
                <ns2:creationId id="{0B48BFA1-A0F9-4E57-B4BE-09ECA36B83F6}"/>
              </ns1:ext>
            </ns1:extLst>
          </ns0:cNvPr>
          <ns0:cNvSpPr>
            <ns1:spLocks noGrp="1"/>
          </ns0:cNvSpPr>
          <ns0:nvPr/>
        </ns0:nvSpPr>
        <ns0:spPr>
          <ns1:xfrm>
            <ns1:off x="8858250" y="3467100"/>
            <ns1:ext cx="2724150" cy="685800"/>
          </ns1:xfrm>
          <ns1:prstGeom prst="rect">
            <ns1:avLst/>
          </ns1:prstGeom>
          <ns1:noFill/>
          <ns1:ln w="0">
            <ns1:noFill/>
            <ns1:prstDash val="solid"/>
          </ns1:ln>
        </ns0:spPr>
        <ns0:txBody>
          <ns1:bodyPr wrap="none" lIns="0" tIns="0" rIns="0" bIns="0" anchor="t">
            <ns1:noAutofit/>
          </ns1:bodyPr>
          <ns1:lstStyle>
            <ns1:defPPr algn="l">
              <ns1:defRPr sz="1800" b="0">
                <ns1:solidFill>
                  <ns1:srgbClr val="52606B"/>
                </ns1:solidFill>
                <ns1:latin typeface="AppleGothic"/>
                <ns1:ea typeface="AppleGothic"/>
                <ns1:cs typeface="AppleGothic"/>
              </ns1:defRPr>
            </ns1:defPPr>
          </ns1:lstStyle>
          <ns1:p>
            <ns1:pPr algn="l">
              <ns1:lnSpc>
                <ns1:spcPct val="116000"/>
              </ns1:lnSpc>
              <ns1:buNone/>
              <ns1:defRPr sz="1800" b="0">
                <ns1:solidFill>
                  <ns1:srgbClr val="52606B"/>
                </ns1:solidFill>
                <ns1:latin typeface="AppleGothic"/>
                <ns1:ea typeface="AppleGothic"/>
                <ns1:cs typeface="AppleGothic"/>
              </ns1:defRPr>
            </ns1:pPr>
            <ns1:r>
              <ns1:rPr sz="1800" b="0">
                <ns1:solidFill>
                  <ns1:srgbClr val="52606B"/>
                </ns1:solidFill>
                <ns1:latin typeface="AppleGothic"/>
                <ns1:ea typeface="AppleGothic"/>
                <ns1:cs typeface="AppleGothic"/>
              </ns1:rPr>
              <ns1:t>다음 토큰에 대한 점수</ns1:t>
            </ns1:r>
          </ns1:p>
        </ns0:txBody>
      </ns0:sp>
      <ns0:sp>
        <ns0:nvSpPr>
          <ns0:cNvPr id="11" name="">
            <ns1:extLst>
              <ns1:ext uri="{FF2B5EF4-FFF2-40B4-BE49-F238E27FC236}">
                <ns2:creationId id="{CF802DC1-6A4F-40E6-9A4E-70023AF41B3E}"/>
              </ns1:ext>
            </ns1:extLst>
          </ns0:cNvPr>
          <ns0:cNvSpPr>
            <ns1:spLocks noGrp="1"/>
          </ns0:cNvSpPr>
          <ns0:nvPr/>
        </ns0:nvSpPr>
        <ns0:spPr>
          <ns1:xfrm>
            <ns1:off x="8858250" y="4248150"/>
            <ns1:ext cx="2724150" cy="342900"/>
          </ns1:xfrm>
          <ns1:prstGeom prst="rect">
            <ns1:avLst/>
          </ns1:prstGeom>
          <ns1:noFill/>
          <ns1:ln w="0">
            <ns1:noFill/>
            <ns1:prstDash val="solid"/>
          </ns1:ln>
        </ns0:spPr>
        <ns0:txBody>
          <ns1:bodyPr wrap="none" lIns="0" tIns="0" rIns="0" bIns="0" anchor="t">
            <ns1:noAutofit/>
          </ns1:bodyPr>
          <ns1:lstStyle>
            <ns1:defPPr algn="l">
              <ns1:defRPr sz="2200" b="1">
                <ns1:solidFill>
                  <ns1:srgbClr val="17191B"/>
                </ns1:solidFill>
                <ns1:latin typeface="AppleGothic"/>
                <ns1:ea typeface="AppleGothic"/>
                <ns1:cs typeface="AppleGothic"/>
              </ns1:defRPr>
            </ns1:defPPr>
          </ns1:lstStyle>
          <ns1:p>
            <ns1:pPr algn="l">
              <ns1:lnSpc>
                <ns1:spcPct val="116000"/>
              </ns1:lnSpc>
              <ns1:buNone/>
              <ns1:defRPr sz="2200" b="1">
                <ns1:solidFill>
                  <ns1:srgbClr val="17191B"/>
                </ns1:solidFill>
                <ns1:latin typeface="AppleGothic"/>
                <ns1:ea typeface="AppleGothic"/>
                <ns1:cs typeface="AppleGothic"/>
              </ns1:defRPr>
            </ns1:pPr>
            <ns1:r>
              <ns1:rPr sz="2200" b="1">
                <ns1:solidFill>
                  <ns1:srgbClr val="17191B"/>
                </ns1:solidFill>
                <ns1:latin typeface="AppleGothic"/>
                <ns1:ea typeface="AppleGothic"/>
                <ns1:cs typeface="AppleGothic"/>
              </ns1:rPr>
              <ns1:t>loss</ns1:t>
            </ns1:r>
          </ns1:p>
        </ns0:txBody>
      </ns0:sp>
      <ns0:sp>
        <ns0:nvSpPr>
          <ns0:cNvPr id="12" name="">
            <ns1:extLst>
              <ns1:ext uri="{FF2B5EF4-FFF2-40B4-BE49-F238E27FC236}">
                <ns2:creationId id="{7D2DD6B1-4AB2-4777-B53A-CDA6EA5A632D}"/>
              </ns1:ext>
            </ns1:extLst>
          </ns0:cNvPr>
          <ns0:cNvSpPr>
            <ns1:spLocks noGrp="1"/>
          </ns0:cNvSpPr>
          <ns0:nvPr/>
        </ns0:nvSpPr>
        <ns0:spPr>
          <ns1:xfrm>
            <ns1:off x="8858250" y="4705350"/>
            <ns1:ext cx="2724150" cy="685800"/>
          </ns1:xfrm>
          <ns1:prstGeom prst="rect">
            <ns1:avLst/>
          </ns1:prstGeom>
          <ns1:noFill/>
          <ns1:ln w="0">
            <ns1:noFill/>
            <ns1:prstDash val="solid"/>
          </ns1:ln>
        </ns0:spPr>
        <ns0:txBody>
          <ns1:bodyPr wrap="none" lIns="0" tIns="0" rIns="0" bIns="0" anchor="t">
            <ns1:noAutofit/>
          </ns1:bodyPr>
          <ns1:lstStyle>
            <ns1:defPPr algn="l">
              <ns1:defRPr sz="1800" b="0">
                <ns1:solidFill>
                  <ns1:srgbClr val="52606B"/>
                </ns1:solidFill>
                <ns1:latin typeface="AppleGothic"/>
                <ns1:ea typeface="AppleGothic"/>
                <ns1:cs typeface="AppleGothic"/>
              </ns1:defRPr>
            </ns1:defPPr>
          </ns1:lstStyle>
          <ns1:p>
            <ns1:pPr algn="l">
              <ns1:lnSpc>
                <ns1:spcPct val="116000"/>
              </ns1:lnSpc>
              <ns1:buNone/>
              <ns1:defRPr sz="1800" b="0">
                <ns1:solidFill>
                  <ns1:srgbClr val="52606B"/>
                </ns1:solidFill>
                <ns1:latin typeface="AppleGothic"/>
                <ns1:ea typeface="AppleGothic"/>
                <ns1:cs typeface="AppleGothic"/>
              </ns1:defRPr>
            </ns1:pPr>
            <ns1:r>
              <ns1:rPr sz="1800" b="0">
                <ns1:solidFill>
                  <ns1:srgbClr val="52606B"/>
                </ns1:solidFill>
                <ns1:latin typeface="AppleGothic"/>
                <ns1:ea typeface="AppleGothic"/>
                <ns1:cs typeface="AppleGothic"/>
              </ns1:rPr>
              <ns1:t>예측과 label의 차이</ns1:t>
            </ns1:r>
          </ns1:p>
        </ns0:txBody>
      </ns0:sp>
      <ns0:sp>
        <ns0:nvSpPr>
          <ns0:cNvPr id="13" name="">
            <ns1:extLst>
              <ns1:ext uri="{FF2B5EF4-FFF2-40B4-BE49-F238E27FC236}">
                <ns2:creationId id="{05C844BC-EAB7-47A0-A9E4-0F82648C540F}"/>
              </ns1:ext>
            </ns1:extLst>
          </ns0:cNvPr>
          <ns0:cNvSpPr>
            <ns1:spLocks noGrp="1"/>
          </ns0:cNvSpPr>
          <ns0:nvPr/>
        </ns0:nvSpPr>
        <ns0:spPr>
          <ns1:xfrm>
            <ns1:off x="609600" y="5791200"/>
            <ns1:ext cx="10972800" cy="457200"/>
          </ns1:xfrm>
          <ns1:prstGeom prst="rect">
            <ns1:avLst/>
          </ns1:prstGeom>
          <ns1:noFill/>
          <ns1:ln w="0">
            <ns1:noFill/>
            <ns1:prstDash val="solid"/>
          </ns1:ln>
        </ns0:spPr>
        <ns0:txBody>
          <ns1:bodyPr wrap="none" lIns="0" tIns="0" rIns="0" bIns="0" anchor="t">
            <ns1:noAutofit/>
          </ns1:bodyPr>
          <ns1:lstStyle>
            <ns1:defPPr algn="l">
              <ns1:defRPr sz="1600" b="0">
                <ns1:solidFill>
                  <ns1:srgbClr val="52606B"/>
                </ns1:solidFill>
                <ns1:latin typeface="AppleGothic"/>
                <ns1:ea typeface="AppleGothic"/>
                <ns1:cs typeface="AppleGothic"/>
              </ns1:defRPr>
            </ns1:defPPr>
          </ns1:lstStyle>
          <ns1:p>
            <ns1:pPr algn="l">
              <ns1:lnSpc>
                <ns1:spcPct val="116000"/>
              </ns1:lnSpc>
              <ns1:buNone/>
              <ns1:defRPr sz="1600" b="0">
                <ns1:solidFill>
                  <ns1:srgbClr val="52606B"/>
                </ns1:solidFill>
                <ns1:latin typeface="AppleGothic"/>
                <ns1:ea typeface="AppleGothic"/>
                <ns1:cs typeface="AppleGothic"/>
              </ns1:defRPr>
            </ns1:pPr>
            <ns1:r>
              <ns1:rPr sz="1600" b="0">
                <ns1:solidFill>
                  <ns1:srgbClr val="52606B"/>
                </ns1:solidFill>
                <ns1:latin typeface="AppleGothic"/>
                <ns1:ea typeface="AppleGothic"/>
                <ns1:cs typeface="AppleGothic"/>
              </ns1:rPr>
              <ns1:t>Hugging Face TRL 공식 도식 · 원본 이미지의 흑백 표시</ns1:t>
            </ns1:r>
          </ns1:p>
        </ns0:txBody>
      </ns0:sp>
    </ns0:spTree>
    <ns0:extLst>
      <ns0:ext uri="{BB962C8B-B14F-4D97-AF65-F5344CB8AC3E}">
        <ns4:creationId val="1186777473"/>
      </ns0:ext>
    </ns0:extLst>
  </ns0:cSld>
</ns0:sld>
</file>

<file path=ppt/slides/slide14.xml><?xml version="1.0" encoding="utf-8"?>
<p:sld xmlns:p="http://schemas.openxmlformats.org/presentationml/2006/main">
  <p:cSld>
    <p:bg>
      <p:bgPr>
        <a:solidFill xmlns:a="http://schemas.openxmlformats.org/drawingml/2006/main">
          <a:srgbClr val="F7F7F5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CA000BDD-7C30-49D9-A6AD-1693D1112A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47650"/>
            <a:ext cx="9525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1400" b="0">
                <a:solidFill>
                  <a:srgbClr val="52606B"/>
                </a:solidFill>
                <a:latin typeface="AppleGothic"/>
                <a:ea typeface="AppleGothic"/>
                <a:cs typeface="AppleGothic"/>
              </a:defRPr>
            </a:defPPr>
          </a:lstStyle>
          <a:p xmlns:a="http://schemas.openxmlformats.org/drawingml/2006/main">
            <a:pPr algn="l">
              <a:lnSpc>
                <a:spcPct val="116000"/>
              </a:lnSpc>
              <a:buNone/>
              <a:defRPr sz="1400" b="0">
                <a:solidFill>
                  <a:srgbClr val="52606B"/>
                </a:solidFill>
                <a:latin typeface="AppleGothic"/>
                <a:ea typeface="AppleGothic"/>
                <a:cs typeface="AppleGothic"/>
              </a:defRPr>
            </a:pPr>
            <a:r>
              <a:rPr sz="1400" b="0">
                <a:solidFill>
                  <a:srgbClr val="52606B"/>
                </a:solidFill>
                <a:latin typeface="AppleGothic"/>
                <a:ea typeface="AppleGothic"/>
                <a:cs typeface="AppleGothic"/>
              </a:rPr>
              <a:t>LLMOPS / W07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7A33A400-7061-4650-BAD4-6FA5C4A966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8500" y="247650"/>
            <a:ext cx="7239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r">
              <a:defRPr sz="1400" b="0">
                <a:solidFill>
                  <a:srgbClr val="52606B"/>
                </a:solidFill>
                <a:latin typeface="Menlo"/>
                <a:ea typeface="Menlo"/>
                <a:cs typeface="Menlo"/>
              </a:defRPr>
            </a:defPPr>
          </a:lstStyle>
          <a:p xmlns:a="http://schemas.openxmlformats.org/drawingml/2006/main">
            <a:pPr algn="r">
              <a:lnSpc>
                <a:spcPct val="116000"/>
              </a:lnSpc>
              <a:buNone/>
              <a:defRPr sz="1400" b="0">
                <a:solidFill>
                  <a:srgbClr val="52606B"/>
                </a:solidFill>
                <a:latin typeface="Menlo"/>
                <a:ea typeface="Menlo"/>
                <a:cs typeface="Menlo"/>
              </a:defRPr>
            </a:pPr>
            <a:r>
              <a:rPr sz="1400" b="0">
                <a:solidFill>
                  <a:srgbClr val="52606B"/>
                </a:solidFill>
                <a:latin typeface="Menlo"/>
                <a:ea typeface="Menlo"/>
                <a:cs typeface="Menlo"/>
              </a:rPr>
              <a:t>14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67EA863E-9354-443C-9AD3-F7C457A6D1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23900"/>
            <a:ext cx="109728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3400" b="1">
                <a:solidFill>
                  <a:srgbClr val="17191B"/>
                </a:solidFill>
                <a:latin typeface="AppleGothic"/>
                <a:ea typeface="AppleGothic"/>
                <a:cs typeface="AppleGothic"/>
              </a:defRPr>
            </a:defPPr>
          </a:lstStyle>
          <a:p xmlns:a="http://schemas.openxmlformats.org/drawingml/2006/main">
            <a:pPr algn="l">
              <a:lnSpc>
                <a:spcPct val="116000"/>
              </a:lnSpc>
              <a:buNone/>
              <a:defRPr sz="3400" b="1">
                <a:solidFill>
                  <a:srgbClr val="17191B"/>
                </a:solidFill>
                <a:latin typeface="AppleGothic"/>
                <a:ea typeface="AppleGothic"/>
                <a:cs typeface="AppleGothic"/>
              </a:defRPr>
            </a:pPr>
            <a:r>
              <a:rPr sz="3400" b="1">
                <a:solidFill>
                  <a:srgbClr val="17191B"/>
                </a:solidFill>
                <a:latin typeface="AppleGothic"/>
                <a:ea typeface="AppleGothic"/>
                <a:cs typeface="AppleGothic"/>
              </a:rPr>
              <a:t>외부 지식과 반복 행동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97B61630-4E27-431B-B595-995E6198A4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315075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FD5D3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AEBF6A3D-BB8C-4F17-BC49-0CA96C007D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77000"/>
            <a:ext cx="109728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1400" b="0">
                <a:solidFill>
                  <a:srgbClr val="52606B"/>
                </a:solidFill>
                <a:latin typeface="AppleGothic"/>
                <a:ea typeface="AppleGothic"/>
                <a:cs typeface="AppleGothic"/>
              </a:defRPr>
            </a:defPPr>
          </a:lstStyle>
          <a:p xmlns:a="http://schemas.openxmlformats.org/drawingml/2006/main">
            <a:pPr algn="l">
              <a:lnSpc>
                <a:spcPct val="116000"/>
              </a:lnSpc>
              <a:buNone/>
              <a:defRPr sz="1400" b="0">
                <a:solidFill>
                  <a:srgbClr val="52606B"/>
                </a:solidFill>
                <a:latin typeface="AppleGothic"/>
                <a:ea typeface="AppleGothic"/>
                <a:cs typeface="AppleGothic"/>
              </a:defRPr>
            </a:pPr>
            <a:r>
              <a:rPr sz="1400" b="0">
                <a:solidFill>
                  <a:srgbClr val="52606B"/>
                </a:solidFill>
                <a:latin typeface="AppleGothic"/>
                <a:ea typeface="AppleGothic"/>
                <a:cs typeface="AppleGothic"/>
              </a:rPr>
              <a:t>데이터 · 모델 적응 · 비교 평가 · 기획서 초안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0691C602-600C-45AC-9110-2D2EC47F76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057400"/>
            <a:ext cx="5295900" cy="800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2900" b="1">
                <a:solidFill>
                  <a:srgbClr val="17191B"/>
                </a:solidFill>
                <a:latin typeface="AppleGothic"/>
                <a:ea typeface="AppleGothic"/>
                <a:cs typeface="AppleGothic"/>
              </a:defRPr>
            </a:defPPr>
          </a:lstStyle>
          <a:p xmlns:a="http://schemas.openxmlformats.org/drawingml/2006/main">
            <a:pPr algn="l">
              <a:lnSpc>
                <a:spcPct val="116000"/>
              </a:lnSpc>
              <a:buNone/>
              <a:defRPr sz="2900" b="1">
                <a:solidFill>
                  <a:srgbClr val="17191B"/>
                </a:solidFill>
                <a:latin typeface="AppleGothic"/>
                <a:ea typeface="AppleGothic"/>
                <a:cs typeface="AppleGothic"/>
              </a:defRPr>
            </a:pPr>
            <a:r>
              <a:rPr sz="2900" b="1">
                <a:solidFill>
                  <a:srgbClr val="17191B"/>
                </a:solidFill>
                <a:latin typeface="AppleGothic"/>
                <a:ea typeface="AppleGothic"/>
                <a:cs typeface="AppleGothic"/>
              </a:rPr>
              <a:t>검색 증강 생성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647DA181-644B-4355-B368-A5A56260A1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000375"/>
            <a:ext cx="52959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84B7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C316BE0A-28E8-48AD-B5A1-54B7EB1BBE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371850"/>
            <a:ext cx="5238750" cy="36741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2300" b="0">
                <a:solidFill>
                  <a:srgbClr val="52606B"/>
                </a:solidFill>
                <a:latin typeface="AppleGothic"/>
                <a:ea typeface="AppleGothic"/>
                <a:cs typeface="AppleGothic"/>
              </a:defRPr>
            </a:defPPr>
          </a:lstStyle>
          <a:p xmlns:a="http://schemas.openxmlformats.org/drawingml/2006/main">
            <a:pPr algn="l">
              <a:lnSpc>
                <a:spcPct val="116000"/>
              </a:lnSpc>
              <a:buNone/>
              <a:defRPr sz="2300" b="0">
                <a:solidFill>
                  <a:srgbClr val="52606B"/>
                </a:solidFill>
                <a:latin typeface="AppleGothic"/>
                <a:ea typeface="AppleGothic"/>
                <a:cs typeface="AppleGothic"/>
              </a:defRPr>
            </a:pPr>
            <a:r>
              <a:rPr sz="2300" b="0">
                <a:solidFill>
                  <a:srgbClr val="52606B"/>
                </a:solidFill>
                <a:latin typeface="AppleGothic"/>
                <a:ea typeface="AppleGothic"/>
                <a:cs typeface="AppleGothic"/>
              </a:rPr>
              <a:t>외부 문서를 요청에 제공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AD695F43-32F5-45D3-B9E2-28814D24F1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139311"/>
            <a:ext cx="5238750" cy="36741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2300" b="0">
                <a:solidFill>
                  <a:srgbClr val="52606B"/>
                </a:solidFill>
                <a:latin typeface="AppleGothic"/>
                <a:ea typeface="AppleGothic"/>
                <a:cs typeface="AppleGothic"/>
              </a:defRPr>
            </a:defPPr>
          </a:lstStyle>
          <a:p xmlns:a="http://schemas.openxmlformats.org/drawingml/2006/main">
            <a:pPr algn="l">
              <a:lnSpc>
                <a:spcPct val="116000"/>
              </a:lnSpc>
              <a:buNone/>
              <a:defRPr sz="2300" b="0">
                <a:solidFill>
                  <a:srgbClr val="52606B"/>
                </a:solidFill>
                <a:latin typeface="AppleGothic"/>
                <a:ea typeface="AppleGothic"/>
                <a:cs typeface="AppleGothic"/>
              </a:defRPr>
            </a:pPr>
            <a:r>
              <a:rPr sz="2300" b="0">
                <a:solidFill>
                  <a:srgbClr val="52606B"/>
                </a:solidFill>
                <a:latin typeface="AppleGothic"/>
                <a:ea typeface="AppleGothic"/>
                <a:cs typeface="AppleGothic"/>
              </a:rPr>
              <a:t>변경·삭제·접근 제어 관리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A7C36E15-62A2-4E39-9C2A-C7653B4226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0" y="2057400"/>
            <a:ext cx="5295900" cy="800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2900" b="1">
                <a:solidFill>
                  <a:srgbClr val="17191B"/>
                </a:solidFill>
                <a:latin typeface="AppleGothic"/>
                <a:ea typeface="AppleGothic"/>
                <a:cs typeface="AppleGothic"/>
              </a:defRPr>
            </a:defPPr>
          </a:lstStyle>
          <a:p xmlns:a="http://schemas.openxmlformats.org/drawingml/2006/main">
            <a:pPr algn="l">
              <a:lnSpc>
                <a:spcPct val="116000"/>
              </a:lnSpc>
              <a:buNone/>
              <a:defRPr sz="2900" b="1">
                <a:solidFill>
                  <a:srgbClr val="17191B"/>
                </a:solidFill>
                <a:latin typeface="AppleGothic"/>
                <a:ea typeface="AppleGothic"/>
                <a:cs typeface="AppleGothic"/>
              </a:defRPr>
            </a:pPr>
            <a:r>
              <a:rPr sz="2900" b="1">
                <a:solidFill>
                  <a:srgbClr val="17191B"/>
                </a:solidFill>
                <a:latin typeface="AppleGothic"/>
                <a:ea typeface="AppleGothic"/>
                <a:cs typeface="AppleGothic"/>
              </a:rPr>
              <a:t>지도 미세조정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7BCEEA08-2F34-43D5-8F07-09D04B0170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0" y="3000375"/>
            <a:ext cx="52959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52606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87585209-E0B8-42F5-B7A0-0E369A61E8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0" y="3371850"/>
            <a:ext cx="5238750" cy="36741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2300" b="0">
                <a:solidFill>
                  <a:srgbClr val="52606B"/>
                </a:solidFill>
                <a:latin typeface="AppleGothic"/>
                <a:ea typeface="AppleGothic"/>
                <a:cs typeface="AppleGothic"/>
              </a:defRPr>
            </a:defPPr>
          </a:lstStyle>
          <a:p xmlns:a="http://schemas.openxmlformats.org/drawingml/2006/main">
            <a:pPr algn="l">
              <a:lnSpc>
                <a:spcPct val="116000"/>
              </a:lnSpc>
              <a:buNone/>
              <a:defRPr sz="2300" b="0">
                <a:solidFill>
                  <a:srgbClr val="52606B"/>
                </a:solidFill>
                <a:latin typeface="AppleGothic"/>
                <a:ea typeface="AppleGothic"/>
                <a:cs typeface="AppleGothic"/>
              </a:defRPr>
            </a:pPr>
            <a:r>
              <a:rPr sz="2300" b="0">
                <a:solidFill>
                  <a:srgbClr val="52606B"/>
                </a:solidFill>
                <a:latin typeface="AppleGothic"/>
                <a:ea typeface="AppleGothic"/>
                <a:cs typeface="AppleGothic"/>
              </a:rPr>
              <a:t>반복 형식·행동을 학습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C283627A-16D7-4608-8ADA-4E78FAFD2D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0" y="4139311"/>
            <a:ext cx="5238750" cy="36741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2300" b="0">
                <a:solidFill>
                  <a:srgbClr val="52606B"/>
                </a:solidFill>
                <a:latin typeface="AppleGothic"/>
                <a:ea typeface="AppleGothic"/>
                <a:cs typeface="AppleGothic"/>
              </a:defRPr>
            </a:defPPr>
          </a:lstStyle>
          <a:p xmlns:a="http://schemas.openxmlformats.org/drawingml/2006/main">
            <a:pPr algn="l">
              <a:lnSpc>
                <a:spcPct val="116000"/>
              </a:lnSpc>
              <a:buNone/>
              <a:defRPr sz="2300" b="0">
                <a:solidFill>
                  <a:srgbClr val="52606B"/>
                </a:solidFill>
                <a:latin typeface="AppleGothic"/>
                <a:ea typeface="AppleGothic"/>
                <a:cs typeface="AppleGothic"/>
              </a:defRPr>
            </a:pPr>
            <a:r>
              <a:rPr sz="2300" b="0">
                <a:solidFill>
                  <a:srgbClr val="52606B"/>
                </a:solidFill>
                <a:latin typeface="AppleGothic"/>
                <a:ea typeface="AppleGothic"/>
                <a:cs typeface="AppleGothic"/>
              </a:rPr>
              <a:t>학습 자료·재평가·복구 관리</a:t>
            </a:r>
          </a:p>
        </p:txBody>
      </p:sp>
    </p:spTree>
    <p:extLst>
      <p:ext uri="{BB962C8B-B14F-4D97-AF65-F5344CB8AC3E}">
        <p14:creationId xmlns:p14="http://schemas.microsoft.com/office/powerpoint/2010/main" val="553596647"/>
      </p:ext>
    </p:extLst>
  </p:cSld>
</p:sld>
</file>

<file path=ppt/slides/slide15.xml><?xml version="1.0" encoding="utf-8"?>
<p:sld xmlns:p="http://schemas.openxmlformats.org/presentationml/2006/main">
  <p:cSld>
    <p:bg>
      <p:bgPr>
        <a:solidFill xmlns:a="http://schemas.openxmlformats.org/drawingml/2006/main">
          <a:srgbClr val="F7F7F5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B49E295B-B0AE-48B7-8452-FF392EAF22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47650"/>
            <a:ext cx="9525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1400" b="0">
                <a:solidFill>
                  <a:srgbClr val="52606B"/>
                </a:solidFill>
                <a:latin typeface="AppleGothic"/>
                <a:ea typeface="AppleGothic"/>
                <a:cs typeface="AppleGothic"/>
              </a:defRPr>
            </a:defPPr>
          </a:lstStyle>
          <a:p xmlns:a="http://schemas.openxmlformats.org/drawingml/2006/main">
            <a:pPr algn="l">
              <a:lnSpc>
                <a:spcPct val="116000"/>
              </a:lnSpc>
              <a:buNone/>
              <a:defRPr sz="1400" b="0">
                <a:solidFill>
                  <a:srgbClr val="52606B"/>
                </a:solidFill>
                <a:latin typeface="AppleGothic"/>
                <a:ea typeface="AppleGothic"/>
                <a:cs typeface="AppleGothic"/>
              </a:defRPr>
            </a:pPr>
            <a:r>
              <a:rPr sz="1400" b="0">
                <a:solidFill>
                  <a:srgbClr val="52606B"/>
                </a:solidFill>
                <a:latin typeface="AppleGothic"/>
                <a:ea typeface="AppleGothic"/>
                <a:cs typeface="AppleGothic"/>
              </a:rPr>
              <a:t>LLMOPS / W07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E01868B4-0DB0-4E3A-B72F-70F2927C83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8500" y="247650"/>
            <a:ext cx="7239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r">
              <a:defRPr sz="1400" b="0">
                <a:solidFill>
                  <a:srgbClr val="52606B"/>
                </a:solidFill>
                <a:latin typeface="Menlo"/>
                <a:ea typeface="Menlo"/>
                <a:cs typeface="Menlo"/>
              </a:defRPr>
            </a:defPPr>
          </a:lstStyle>
          <a:p xmlns:a="http://schemas.openxmlformats.org/drawingml/2006/main">
            <a:pPr algn="r">
              <a:lnSpc>
                <a:spcPct val="116000"/>
              </a:lnSpc>
              <a:buNone/>
              <a:defRPr sz="1400" b="0">
                <a:solidFill>
                  <a:srgbClr val="52606B"/>
                </a:solidFill>
                <a:latin typeface="Menlo"/>
                <a:ea typeface="Menlo"/>
                <a:cs typeface="Menlo"/>
              </a:defRPr>
            </a:pPr>
            <a:r>
              <a:rPr sz="1400" b="0">
                <a:solidFill>
                  <a:srgbClr val="52606B"/>
                </a:solidFill>
                <a:latin typeface="Menlo"/>
                <a:ea typeface="Menlo"/>
                <a:cs typeface="Menlo"/>
              </a:rPr>
              <a:t>15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C72B4400-4102-4FE6-97FE-120FDDAA21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23900"/>
            <a:ext cx="109728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3400" b="1">
                <a:solidFill>
                  <a:srgbClr val="17191B"/>
                </a:solidFill>
                <a:latin typeface="AppleGothic"/>
                <a:ea typeface="AppleGothic"/>
                <a:cs typeface="AppleGothic"/>
              </a:defRPr>
            </a:defPPr>
          </a:lstStyle>
          <a:p xmlns:a="http://schemas.openxmlformats.org/drawingml/2006/main">
            <a:pPr algn="l">
              <a:lnSpc>
                <a:spcPct val="116000"/>
              </a:lnSpc>
              <a:buNone/>
              <a:defRPr sz="3400" b="1">
                <a:solidFill>
                  <a:srgbClr val="17191B"/>
                </a:solidFill>
                <a:latin typeface="AppleGothic"/>
                <a:ea typeface="AppleGothic"/>
                <a:cs typeface="AppleGothic"/>
              </a:defRPr>
            </a:pPr>
            <a:r>
              <a:rPr sz="3400" b="1">
                <a:solidFill>
                  <a:srgbClr val="17191B"/>
                </a:solidFill>
                <a:latin typeface="AppleGothic"/>
                <a:ea typeface="AppleGothic"/>
                <a:cs typeface="AppleGothic"/>
              </a:rPr>
              <a:t>학습 데이터 한 건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FB6A694C-465F-43B7-B437-82A183B20E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315075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FD5D3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475D4CDC-F6C0-444C-9F8A-09E0F20438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77000"/>
            <a:ext cx="109728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1400" b="0">
                <a:solidFill>
                  <a:srgbClr val="52606B"/>
                </a:solidFill>
                <a:latin typeface="AppleGothic"/>
                <a:ea typeface="AppleGothic"/>
                <a:cs typeface="AppleGothic"/>
              </a:defRPr>
            </a:defPPr>
          </a:lstStyle>
          <a:p xmlns:a="http://schemas.openxmlformats.org/drawingml/2006/main">
            <a:pPr algn="l">
              <a:lnSpc>
                <a:spcPct val="116000"/>
              </a:lnSpc>
              <a:buNone/>
              <a:defRPr sz="1400" b="0">
                <a:solidFill>
                  <a:srgbClr val="52606B"/>
                </a:solidFill>
                <a:latin typeface="AppleGothic"/>
                <a:ea typeface="AppleGothic"/>
                <a:cs typeface="AppleGothic"/>
              </a:defRPr>
            </a:pPr>
            <a:r>
              <a:rPr sz="1400" b="0">
                <a:solidFill>
                  <a:srgbClr val="52606B"/>
                </a:solidFill>
                <a:latin typeface="AppleGothic"/>
                <a:ea typeface="AppleGothic"/>
                <a:cs typeface="AppleGothic"/>
              </a:rPr>
              <a:t>데이터 · 모델 적응 · 비교 평가 · 기획서 초안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9B6C87A9-8B0E-490B-B667-2223D07C5A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828800"/>
            <a:ext cx="7029450" cy="3619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283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484200AD-A918-4F8C-81BB-AECBA28FE8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2095500"/>
            <a:ext cx="6496050" cy="3086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1800" b="0">
                <a:solidFill>
                  <a:srgbClr val="FFFFFF"/>
                </a:solidFill>
                <a:latin typeface="Menlo"/>
                <a:ea typeface="Menlo"/>
                <a:cs typeface="Menlo"/>
              </a:defRPr>
            </a:defPPr>
          </a:lstStyle>
          <a:p xmlns:a="http://schemas.openxmlformats.org/drawingml/2006/main">
            <a:pPr algn="l">
              <a:lnSpc>
                <a:spcPct val="116000"/>
              </a:lnSpc>
              <a:buNone/>
              <a:defRPr sz="1800" b="0">
                <a:solidFill>
                  <a:srgbClr val="FFFFFF"/>
                </a:solidFill>
                <a:latin typeface="Menlo"/>
                <a:ea typeface="Menlo"/>
                <a:cs typeface="Menlo"/>
              </a:defRPr>
            </a:pPr>
            <a:r>
              <a:rPr sz="1800" b="0">
                <a:solidFill>
                  <a:srgbClr val="FFFFFF"/>
                </a:solidFill>
                <a:latin typeface="Menlo"/>
                <a:ea typeface="Menlo"/>
                <a:cs typeface="Menlo"/>
              </a:rPr>
              <a:t>instruction: 문의 상태 정리</a:t>
            </a:r>
          </a:p>
          <a:p xmlns:a="http://schemas.openxmlformats.org/drawingml/2006/main">
            <a:pPr algn="l">
              <a:lnSpc>
                <a:spcPct val="116000"/>
              </a:lnSpc>
              <a:buNone/>
              <a:defRPr sz="1800" b="0">
                <a:solidFill>
                  <a:srgbClr val="FFFFFF"/>
                </a:solidFill>
                <a:latin typeface="Menlo"/>
                <a:ea typeface="Menlo"/>
                <a:cs typeface="Menlo"/>
              </a:defRPr>
            </a:pPr>
            <a:r>
              <a:rPr sz="1800" b="0">
                <a:solidFill>
                  <a:srgbClr val="FFFFFF"/>
                </a:solidFill>
                <a:latin typeface="Menlo"/>
                <a:ea typeface="Menlo"/>
                <a:cs typeface="Menlo"/>
              </a:rPr>
              <a:t>input: 합성 사례 DEMO-01</a:t>
            </a:r>
          </a:p>
          <a:p xmlns:a="http://schemas.openxmlformats.org/drawingml/2006/main">
            <a:pPr algn="l">
              <a:lnSpc>
                <a:spcPct val="116000"/>
              </a:lnSpc>
              <a:buNone/>
              <a:defRPr sz="1800" b="0">
                <a:solidFill>
                  <a:srgbClr val="FFFFFF"/>
                </a:solidFill>
                <a:latin typeface="Menlo"/>
                <a:ea typeface="Menlo"/>
                <a:cs typeface="Menlo"/>
              </a:defRPr>
            </a:pPr>
            <a:r>
              <a:rPr sz="1800" b="0">
                <a:solidFill>
                  <a:srgbClr val="FFFFFF"/>
                </a:solidFill>
                <a:latin typeface="Menlo"/>
                <a:ea typeface="Menlo"/>
                <a:cs typeface="Menlo"/>
              </a:rPr>
              <a:t>response:</a:t>
            </a:r>
          </a:p>
          <a:p xmlns:a="http://schemas.openxmlformats.org/drawingml/2006/main">
            <a:pPr algn="l">
              <a:lnSpc>
                <a:spcPct val="116000"/>
              </a:lnSpc>
              <a:buNone/>
              <a:defRPr sz="1800" b="0">
                <a:solidFill>
                  <a:srgbClr val="FFFFFF"/>
                </a:solidFill>
                <a:latin typeface="Menlo"/>
                <a:ea typeface="Menlo"/>
                <a:cs typeface="Menlo"/>
              </a:defRPr>
            </a:pPr>
            <a:r>
              <a:rPr sz="1800" b="0">
                <a:solidFill>
                  <a:srgbClr val="FFFFFF"/>
                </a:solidFill>
                <a:latin typeface="Menlo"/>
                <a:ea typeface="Menlo"/>
                <a:cs typeface="Menlo"/>
              </a:rPr>
              <a:t>  status: review</a:t>
            </a:r>
          </a:p>
          <a:p xmlns:a="http://schemas.openxmlformats.org/drawingml/2006/main">
            <a:pPr algn="l">
              <a:lnSpc>
                <a:spcPct val="116000"/>
              </a:lnSpc>
              <a:buNone/>
              <a:defRPr sz="1800" b="0">
                <a:solidFill>
                  <a:srgbClr val="FFFFFF"/>
                </a:solidFill>
                <a:latin typeface="Menlo"/>
                <a:ea typeface="Menlo"/>
                <a:cs typeface="Menlo"/>
              </a:defRPr>
            </a:pPr>
            <a:r>
              <a:rPr sz="1800" b="0">
                <a:solidFill>
                  <a:srgbClr val="FFFFFF"/>
                </a:solidFill>
                <a:latin typeface="Menlo"/>
                <a:ea typeface="Menlo"/>
                <a:cs typeface="Menlo"/>
              </a:rPr>
              <a:t>  source: DEMO-01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D0100112-8D13-4FCC-89F0-5F45DC7914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58150" y="2095500"/>
            <a:ext cx="3429000" cy="1047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2400" b="1">
                <a:solidFill>
                  <a:srgbClr val="17191B"/>
                </a:solidFill>
                <a:latin typeface="AppleGothic"/>
                <a:ea typeface="AppleGothic"/>
                <a:cs typeface="AppleGothic"/>
              </a:defRPr>
            </a:defPPr>
          </a:lstStyle>
          <a:p xmlns:a="http://schemas.openxmlformats.org/drawingml/2006/main">
            <a:pPr algn="l">
              <a:lnSpc>
                <a:spcPct val="116000"/>
              </a:lnSpc>
              <a:buNone/>
              <a:defRPr sz="2400" b="1">
                <a:solidFill>
                  <a:srgbClr val="17191B"/>
                </a:solidFill>
                <a:latin typeface="AppleGothic"/>
                <a:ea typeface="AppleGothic"/>
                <a:cs typeface="AppleGothic"/>
              </a:defRPr>
            </a:pPr>
            <a:r>
              <a:rPr sz="2400" b="1">
                <a:solidFill>
                  <a:srgbClr val="17191B"/>
                </a:solidFill>
                <a:latin typeface="AppleGothic"/>
                <a:ea typeface="AppleGothic"/>
                <a:cs typeface="AppleGothic"/>
              </a:rPr>
              <a:t>입력·기대 출력의 경계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8A62BFDB-140E-4B8E-A54E-D0F18137D4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58150" y="3352800"/>
            <a:ext cx="342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84B7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516A9250-9931-4D10-8AA4-F6CC31E760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58150" y="3609975"/>
            <a:ext cx="3429000" cy="30848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1900" b="0">
                <a:solidFill>
                  <a:srgbClr val="52606B"/>
                </a:solidFill>
                <a:latin typeface="AppleGothic"/>
                <a:ea typeface="AppleGothic"/>
                <a:cs typeface="AppleGothic"/>
              </a:defRPr>
            </a:defPPr>
          </a:lstStyle>
          <a:p xmlns:a="http://schemas.openxmlformats.org/drawingml/2006/main">
            <a:pPr algn="l">
              <a:lnSpc>
                <a:spcPct val="116000"/>
              </a:lnSpc>
              <a:buNone/>
              <a:defRPr sz="1900" b="0">
                <a:solidFill>
                  <a:srgbClr val="52606B"/>
                </a:solidFill>
                <a:latin typeface="AppleGothic"/>
                <a:ea typeface="AppleGothic"/>
                <a:cs typeface="AppleGothic"/>
              </a:defRPr>
            </a:pPr>
            <a:r>
              <a:rPr sz="1900" b="0">
                <a:solidFill>
                  <a:srgbClr val="52606B"/>
                </a:solidFill>
                <a:latin typeface="AppleGothic"/>
                <a:ea typeface="AppleGothic"/>
                <a:cs typeface="AppleGothic"/>
              </a:rPr>
              <a:t>합성 사례만 사용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5A44AC22-D2EA-48F9-9F81-A2CC7EBF3D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58150" y="4080383"/>
            <a:ext cx="3429000" cy="30848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1900" b="0">
                <a:solidFill>
                  <a:srgbClr val="52606B"/>
                </a:solidFill>
                <a:latin typeface="AppleGothic"/>
                <a:ea typeface="AppleGothic"/>
                <a:cs typeface="AppleGothic"/>
              </a:defRPr>
            </a:defPPr>
          </a:lstStyle>
          <a:p xmlns:a="http://schemas.openxmlformats.org/drawingml/2006/main">
            <a:pPr algn="l">
              <a:lnSpc>
                <a:spcPct val="116000"/>
              </a:lnSpc>
              <a:buNone/>
              <a:defRPr sz="1900" b="0">
                <a:solidFill>
                  <a:srgbClr val="52606B"/>
                </a:solidFill>
                <a:latin typeface="AppleGothic"/>
                <a:ea typeface="AppleGothic"/>
                <a:cs typeface="AppleGothic"/>
              </a:defRPr>
            </a:pPr>
            <a:r>
              <a:rPr sz="1900" b="0">
                <a:solidFill>
                  <a:srgbClr val="52606B"/>
                </a:solidFill>
                <a:latin typeface="AppleGothic"/>
                <a:ea typeface="AppleGothic"/>
                <a:cs typeface="AppleGothic"/>
              </a:rPr>
              <a:t>출력 계약과 근거의 분리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AE3D4CAB-631E-42AE-A3D4-A3BFC5E5AF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791200"/>
            <a:ext cx="109728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1600" b="0">
                <a:solidFill>
                  <a:srgbClr val="52606B"/>
                </a:solidFill>
                <a:latin typeface="AppleGothic"/>
                <a:ea typeface="AppleGothic"/>
                <a:cs typeface="AppleGothic"/>
              </a:defRPr>
            </a:defPPr>
          </a:lstStyle>
          <a:p xmlns:a="http://schemas.openxmlformats.org/drawingml/2006/main">
            <a:pPr algn="l">
              <a:lnSpc>
                <a:spcPct val="116000"/>
              </a:lnSpc>
              <a:buNone/>
              <a:defRPr sz="1600" b="0">
                <a:solidFill>
                  <a:srgbClr val="52606B"/>
                </a:solidFill>
                <a:latin typeface="AppleGothic"/>
                <a:ea typeface="AppleGothic"/>
                <a:cs typeface="AppleGothic"/>
              </a:defRPr>
            </a:pPr>
            <a:r>
              <a:rPr sz="1600" b="0">
                <a:solidFill>
                  <a:srgbClr val="52606B"/>
                </a:solidFill>
                <a:latin typeface="AppleGothic"/>
                <a:ea typeface="AppleGothic"/>
                <a:cs typeface="AppleGothic"/>
              </a:rPr>
              <a:t>JSON 출력 실험 · 실제 업무 정책 아님</a:t>
            </a:r>
          </a:p>
        </p:txBody>
      </p:sp>
    </p:spTree>
    <p:extLst>
      <p:ext uri="{BB962C8B-B14F-4D97-AF65-F5344CB8AC3E}">
        <p14:creationId xmlns:p14="http://schemas.microsoft.com/office/powerpoint/2010/main" val="1492157564"/>
      </p:ext>
    </p:extLst>
  </p:cSld>
</p:sld>
</file>

<file path=ppt/slides/slide16.xml><?xml version="1.0" encoding="utf-8"?>
<p:sld xmlns:p="http://schemas.openxmlformats.org/presentationml/2006/main">
  <p:cSld>
    <p:bg>
      <p:bgPr>
        <a:solidFill xmlns:a="http://schemas.openxmlformats.org/drawingml/2006/main">
          <a:srgbClr val="F7F7F5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95C82295-C888-4028-8FE4-8D6A25B814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47650"/>
            <a:ext cx="9525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1400" b="0">
                <a:solidFill>
                  <a:srgbClr val="52606B"/>
                </a:solidFill>
                <a:latin typeface="AppleGothic"/>
                <a:ea typeface="AppleGothic"/>
                <a:cs typeface="AppleGothic"/>
              </a:defRPr>
            </a:defPPr>
          </a:lstStyle>
          <a:p xmlns:a="http://schemas.openxmlformats.org/drawingml/2006/main">
            <a:pPr algn="l">
              <a:lnSpc>
                <a:spcPct val="116000"/>
              </a:lnSpc>
              <a:buNone/>
              <a:defRPr sz="1400" b="0">
                <a:solidFill>
                  <a:srgbClr val="52606B"/>
                </a:solidFill>
                <a:latin typeface="AppleGothic"/>
                <a:ea typeface="AppleGothic"/>
                <a:cs typeface="AppleGothic"/>
              </a:defRPr>
            </a:pPr>
            <a:r>
              <a:rPr sz="1400" b="0">
                <a:solidFill>
                  <a:srgbClr val="52606B"/>
                </a:solidFill>
                <a:latin typeface="AppleGothic"/>
                <a:ea typeface="AppleGothic"/>
                <a:cs typeface="AppleGothic"/>
              </a:rPr>
              <a:t>LLMOPS / W07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458D601F-C0AC-4FF6-B513-27C4B47E9B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8500" y="247650"/>
            <a:ext cx="7239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r">
              <a:defRPr sz="1400" b="0">
                <a:solidFill>
                  <a:srgbClr val="52606B"/>
                </a:solidFill>
                <a:latin typeface="Menlo"/>
                <a:ea typeface="Menlo"/>
                <a:cs typeface="Menlo"/>
              </a:defRPr>
            </a:defPPr>
          </a:lstStyle>
          <a:p xmlns:a="http://schemas.openxmlformats.org/drawingml/2006/main">
            <a:pPr algn="r">
              <a:lnSpc>
                <a:spcPct val="116000"/>
              </a:lnSpc>
              <a:buNone/>
              <a:defRPr sz="1400" b="0">
                <a:solidFill>
                  <a:srgbClr val="52606B"/>
                </a:solidFill>
                <a:latin typeface="Menlo"/>
                <a:ea typeface="Menlo"/>
                <a:cs typeface="Menlo"/>
              </a:defRPr>
            </a:pPr>
            <a:r>
              <a:rPr sz="1400" b="0">
                <a:solidFill>
                  <a:srgbClr val="52606B"/>
                </a:solidFill>
                <a:latin typeface="Menlo"/>
                <a:ea typeface="Menlo"/>
                <a:cs typeface="Menlo"/>
              </a:rPr>
              <a:t>16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E841758E-3E61-40B9-86C6-128118C20E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23900"/>
            <a:ext cx="109728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3400" b="1">
                <a:solidFill>
                  <a:srgbClr val="17191B"/>
                </a:solidFill>
                <a:latin typeface="AppleGothic"/>
                <a:ea typeface="AppleGothic"/>
                <a:cs typeface="AppleGothic"/>
              </a:defRPr>
            </a:defPPr>
          </a:lstStyle>
          <a:p xmlns:a="http://schemas.openxmlformats.org/drawingml/2006/main">
            <a:pPr algn="l">
              <a:lnSpc>
                <a:spcPct val="116000"/>
              </a:lnSpc>
              <a:buNone/>
              <a:defRPr sz="3400" b="1">
                <a:solidFill>
                  <a:srgbClr val="17191B"/>
                </a:solidFill>
                <a:latin typeface="AppleGothic"/>
                <a:ea typeface="AppleGothic"/>
                <a:cs typeface="AppleGothic"/>
              </a:defRPr>
            </a:pPr>
            <a:r>
              <a:rPr sz="3400" b="1">
                <a:solidFill>
                  <a:srgbClr val="17191B"/>
                </a:solidFill>
                <a:latin typeface="AppleGothic"/>
                <a:ea typeface="AppleGothic"/>
                <a:cs typeface="AppleGothic"/>
              </a:rPr>
              <a:t>데이터 준비의 순서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A9F522DB-BAC6-44F7-8201-7A43382F64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315075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FD5D3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99EDC8FB-9008-4538-BAD4-9697DFCC02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77000"/>
            <a:ext cx="109728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1400" b="0">
                <a:solidFill>
                  <a:srgbClr val="52606B"/>
                </a:solidFill>
                <a:latin typeface="AppleGothic"/>
                <a:ea typeface="AppleGothic"/>
                <a:cs typeface="AppleGothic"/>
              </a:defRPr>
            </a:defPPr>
          </a:lstStyle>
          <a:p xmlns:a="http://schemas.openxmlformats.org/drawingml/2006/main">
            <a:pPr algn="l">
              <a:lnSpc>
                <a:spcPct val="116000"/>
              </a:lnSpc>
              <a:buNone/>
              <a:defRPr sz="1400" b="0">
                <a:solidFill>
                  <a:srgbClr val="52606B"/>
                </a:solidFill>
                <a:latin typeface="AppleGothic"/>
                <a:ea typeface="AppleGothic"/>
                <a:cs typeface="AppleGothic"/>
              </a:defRPr>
            </a:pPr>
            <a:r>
              <a:rPr sz="1400" b="0">
                <a:solidFill>
                  <a:srgbClr val="52606B"/>
                </a:solidFill>
                <a:latin typeface="AppleGothic"/>
                <a:ea typeface="AppleGothic"/>
                <a:cs typeface="AppleGothic"/>
              </a:rPr>
              <a:t>데이터 · 모델 적응 · 비교 평가 · 기획서 초안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95E644FD-1F30-42AE-8A24-93A56DA86D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714625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FD5D3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A92829C9-8221-4C33-8040-332C98EB35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57475"/>
            <a:ext cx="152400" cy="1238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84B7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1AEE1130-3A84-40B4-A911-7CD0111CD9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095500"/>
            <a:ext cx="25527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1800" b="0">
                <a:solidFill>
                  <a:srgbClr val="284B72"/>
                </a:solidFill>
                <a:latin typeface="Menlo"/>
                <a:ea typeface="Menlo"/>
                <a:cs typeface="Menlo"/>
              </a:defRPr>
            </a:defPPr>
          </a:lstStyle>
          <a:p xmlns:a="http://schemas.openxmlformats.org/drawingml/2006/main">
            <a:pPr algn="l">
              <a:lnSpc>
                <a:spcPct val="116000"/>
              </a:lnSpc>
              <a:buNone/>
              <a:defRPr sz="1800" b="0">
                <a:solidFill>
                  <a:srgbClr val="284B72"/>
                </a:solidFill>
                <a:latin typeface="Menlo"/>
                <a:ea typeface="Menlo"/>
                <a:cs typeface="Menlo"/>
              </a:defRPr>
            </a:pPr>
            <a:r>
              <a:rPr sz="1800" b="0">
                <a:solidFill>
                  <a:srgbClr val="284B72"/>
                </a:solidFill>
                <a:latin typeface="Menlo"/>
                <a:ea typeface="Menlo"/>
                <a:cs typeface="Menlo"/>
              </a:rPr>
              <a:t>01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B568118B-8BC3-428B-B833-A8118BDAEB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067050"/>
            <a:ext cx="249555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2500" b="1">
                <a:solidFill>
                  <a:srgbClr val="17191B"/>
                </a:solidFill>
                <a:latin typeface="AppleGothic"/>
                <a:ea typeface="AppleGothic"/>
                <a:cs typeface="AppleGothic"/>
              </a:defRPr>
            </a:defPPr>
          </a:lstStyle>
          <a:p xmlns:a="http://schemas.openxmlformats.org/drawingml/2006/main">
            <a:pPr algn="l">
              <a:lnSpc>
                <a:spcPct val="116000"/>
              </a:lnSpc>
              <a:buNone/>
              <a:defRPr sz="2500" b="1">
                <a:solidFill>
                  <a:srgbClr val="17191B"/>
                </a:solidFill>
                <a:latin typeface="AppleGothic"/>
                <a:ea typeface="AppleGothic"/>
                <a:cs typeface="AppleGothic"/>
              </a:defRPr>
            </a:pPr>
            <a:r>
              <a:rPr sz="2500" b="1">
                <a:solidFill>
                  <a:srgbClr val="17191B"/>
                </a:solidFill>
                <a:latin typeface="AppleGothic"/>
                <a:ea typeface="AppleGothic"/>
                <a:cs typeface="AppleGothic"/>
              </a:rPr>
              <a:t>수집·허가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DE0C47D3-6CA4-42D6-A51D-5D9C4A5AFD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029075"/>
            <a:ext cx="2495550" cy="914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1800" b="0">
                <a:solidFill>
                  <a:srgbClr val="52606B"/>
                </a:solidFill>
                <a:latin typeface="AppleGothic"/>
                <a:ea typeface="AppleGothic"/>
                <a:cs typeface="AppleGothic"/>
              </a:defRPr>
            </a:defPPr>
          </a:lstStyle>
          <a:p xmlns:a="http://schemas.openxmlformats.org/drawingml/2006/main">
            <a:pPr algn="l">
              <a:lnSpc>
                <a:spcPct val="116000"/>
              </a:lnSpc>
              <a:buNone/>
              <a:defRPr sz="1800" b="0">
                <a:solidFill>
                  <a:srgbClr val="52606B"/>
                </a:solidFill>
                <a:latin typeface="AppleGothic"/>
                <a:ea typeface="AppleGothic"/>
                <a:cs typeface="AppleGothic"/>
              </a:defRPr>
            </a:pPr>
            <a:r>
              <a:rPr sz="1800" b="0">
                <a:solidFill>
                  <a:srgbClr val="52606B"/>
                </a:solidFill>
                <a:latin typeface="AppleGothic"/>
                <a:ea typeface="AppleGothic"/>
                <a:cs typeface="AppleGothic"/>
              </a:rPr>
              <a:t>사용 범위 확인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1AC1DC73-3B0F-4D09-8ABD-78BB455E1A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52800" y="2657475"/>
            <a:ext cx="152400" cy="1238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84B7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12C9D732-44E2-47F4-8B32-F9360CECF6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52800" y="2095500"/>
            <a:ext cx="25527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1800" b="0">
                <a:solidFill>
                  <a:srgbClr val="284B72"/>
                </a:solidFill>
                <a:latin typeface="Menlo"/>
                <a:ea typeface="Menlo"/>
                <a:cs typeface="Menlo"/>
              </a:defRPr>
            </a:defPPr>
          </a:lstStyle>
          <a:p xmlns:a="http://schemas.openxmlformats.org/drawingml/2006/main">
            <a:pPr algn="l">
              <a:lnSpc>
                <a:spcPct val="116000"/>
              </a:lnSpc>
              <a:buNone/>
              <a:defRPr sz="1800" b="0">
                <a:solidFill>
                  <a:srgbClr val="284B72"/>
                </a:solidFill>
                <a:latin typeface="Menlo"/>
                <a:ea typeface="Menlo"/>
                <a:cs typeface="Menlo"/>
              </a:defRPr>
            </a:pPr>
            <a:r>
              <a:rPr sz="1800" b="0">
                <a:solidFill>
                  <a:srgbClr val="284B72"/>
                </a:solidFill>
                <a:latin typeface="Menlo"/>
                <a:ea typeface="Menlo"/>
                <a:cs typeface="Menlo"/>
              </a:rPr>
              <a:t>02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338D250D-EE33-4BEB-9BC1-6B2C336D95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52800" y="3067050"/>
            <a:ext cx="249555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2500" b="1">
                <a:solidFill>
                  <a:srgbClr val="17191B"/>
                </a:solidFill>
                <a:latin typeface="AppleGothic"/>
                <a:ea typeface="AppleGothic"/>
                <a:cs typeface="AppleGothic"/>
              </a:defRPr>
            </a:defPPr>
          </a:lstStyle>
          <a:p xmlns:a="http://schemas.openxmlformats.org/drawingml/2006/main">
            <a:pPr algn="l">
              <a:lnSpc>
                <a:spcPct val="116000"/>
              </a:lnSpc>
              <a:buNone/>
              <a:defRPr sz="2500" b="1">
                <a:solidFill>
                  <a:srgbClr val="17191B"/>
                </a:solidFill>
                <a:latin typeface="AppleGothic"/>
                <a:ea typeface="AppleGothic"/>
                <a:cs typeface="AppleGothic"/>
              </a:defRPr>
            </a:pPr>
            <a:r>
              <a:rPr sz="2500" b="1">
                <a:solidFill>
                  <a:srgbClr val="17191B"/>
                </a:solidFill>
                <a:latin typeface="AppleGothic"/>
                <a:ea typeface="AppleGothic"/>
                <a:cs typeface="AppleGothic"/>
              </a:rPr>
              <a:t>형식 검증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1AADE94C-FE42-4C46-9865-E9FE5E2EDA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52800" y="4029075"/>
            <a:ext cx="2495550" cy="914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1800" b="0">
                <a:solidFill>
                  <a:srgbClr val="52606B"/>
                </a:solidFill>
                <a:latin typeface="AppleGothic"/>
                <a:ea typeface="AppleGothic"/>
                <a:cs typeface="AppleGothic"/>
              </a:defRPr>
            </a:defPPr>
          </a:lstStyle>
          <a:p xmlns:a="http://schemas.openxmlformats.org/drawingml/2006/main">
            <a:pPr algn="l">
              <a:lnSpc>
                <a:spcPct val="116000"/>
              </a:lnSpc>
              <a:buNone/>
              <a:defRPr sz="1800" b="0">
                <a:solidFill>
                  <a:srgbClr val="52606B"/>
                </a:solidFill>
                <a:latin typeface="AppleGothic"/>
                <a:ea typeface="AppleGothic"/>
                <a:cs typeface="AppleGothic"/>
              </a:defRPr>
            </a:pPr>
            <a:r>
              <a:rPr sz="1800" b="0">
                <a:solidFill>
                  <a:srgbClr val="52606B"/>
                </a:solidFill>
                <a:latin typeface="AppleGothic"/>
                <a:ea typeface="AppleGothic"/>
                <a:cs typeface="AppleGothic"/>
              </a:rPr>
              <a:t>필드·출력 계약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E7EEF374-2CFA-413C-843D-223DDCBECE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0" y="2657475"/>
            <a:ext cx="152400" cy="1238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84B7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244F2038-AE60-467F-8143-24DC7E27E8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0" y="2095500"/>
            <a:ext cx="25527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1800" b="0">
                <a:solidFill>
                  <a:srgbClr val="284B72"/>
                </a:solidFill>
                <a:latin typeface="Menlo"/>
                <a:ea typeface="Menlo"/>
                <a:cs typeface="Menlo"/>
              </a:defRPr>
            </a:defPPr>
          </a:lstStyle>
          <a:p xmlns:a="http://schemas.openxmlformats.org/drawingml/2006/main">
            <a:pPr algn="l">
              <a:lnSpc>
                <a:spcPct val="116000"/>
              </a:lnSpc>
              <a:buNone/>
              <a:defRPr sz="1800" b="0">
                <a:solidFill>
                  <a:srgbClr val="284B72"/>
                </a:solidFill>
                <a:latin typeface="Menlo"/>
                <a:ea typeface="Menlo"/>
                <a:cs typeface="Menlo"/>
              </a:defRPr>
            </a:pPr>
            <a:r>
              <a:rPr sz="1800" b="0">
                <a:solidFill>
                  <a:srgbClr val="284B72"/>
                </a:solidFill>
                <a:latin typeface="Menlo"/>
                <a:ea typeface="Menlo"/>
                <a:cs typeface="Menlo"/>
              </a:rPr>
              <a:t>03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7E910598-5449-4FE2-B3EF-8BBD338F73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0" y="3067050"/>
            <a:ext cx="249555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2500" b="1">
                <a:solidFill>
                  <a:srgbClr val="17191B"/>
                </a:solidFill>
                <a:latin typeface="AppleGothic"/>
                <a:ea typeface="AppleGothic"/>
                <a:cs typeface="AppleGothic"/>
              </a:defRPr>
            </a:defPPr>
          </a:lstStyle>
          <a:p xmlns:a="http://schemas.openxmlformats.org/drawingml/2006/main">
            <a:pPr algn="l">
              <a:lnSpc>
                <a:spcPct val="116000"/>
              </a:lnSpc>
              <a:buNone/>
              <a:defRPr sz="2500" b="1">
                <a:solidFill>
                  <a:srgbClr val="17191B"/>
                </a:solidFill>
                <a:latin typeface="AppleGothic"/>
                <a:ea typeface="AppleGothic"/>
                <a:cs typeface="AppleGothic"/>
              </a:defRPr>
            </a:pPr>
            <a:r>
              <a:rPr sz="2500" b="1">
                <a:solidFill>
                  <a:srgbClr val="17191B"/>
                </a:solidFill>
                <a:latin typeface="AppleGothic"/>
                <a:ea typeface="AppleGothic"/>
                <a:cs typeface="AppleGothic"/>
              </a:rPr>
              <a:t>분할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92F87D3D-776A-47A8-BBEA-6A81C14A8C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0" y="4029075"/>
            <a:ext cx="2495550" cy="914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1800" b="0">
                <a:solidFill>
                  <a:srgbClr val="52606B"/>
                </a:solidFill>
                <a:latin typeface="AppleGothic"/>
                <a:ea typeface="AppleGothic"/>
                <a:cs typeface="AppleGothic"/>
              </a:defRPr>
            </a:defPPr>
          </a:lstStyle>
          <a:p xmlns:a="http://schemas.openxmlformats.org/drawingml/2006/main">
            <a:pPr algn="l">
              <a:lnSpc>
                <a:spcPct val="116000"/>
              </a:lnSpc>
              <a:buNone/>
              <a:defRPr sz="1800" b="0">
                <a:solidFill>
                  <a:srgbClr val="52606B"/>
                </a:solidFill>
                <a:latin typeface="AppleGothic"/>
                <a:ea typeface="AppleGothic"/>
                <a:cs typeface="AppleGothic"/>
              </a:defRPr>
            </a:pPr>
            <a:r>
              <a:rPr sz="1800" b="0">
                <a:solidFill>
                  <a:srgbClr val="52606B"/>
                </a:solidFill>
                <a:latin typeface="AppleGothic"/>
                <a:ea typeface="AppleGothic"/>
                <a:cs typeface="AppleGothic"/>
              </a:rPr>
              <a:t>사건 단위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9CC252F6-33A1-49BE-8464-091F3F30D5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39200" y="2657475"/>
            <a:ext cx="152400" cy="1238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84B7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AB932495-4AC9-437D-9D99-881B59A642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39200" y="2095500"/>
            <a:ext cx="25527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1800" b="0">
                <a:solidFill>
                  <a:srgbClr val="284B72"/>
                </a:solidFill>
                <a:latin typeface="Menlo"/>
                <a:ea typeface="Menlo"/>
                <a:cs typeface="Menlo"/>
              </a:defRPr>
            </a:defPPr>
          </a:lstStyle>
          <a:p xmlns:a="http://schemas.openxmlformats.org/drawingml/2006/main">
            <a:pPr algn="l">
              <a:lnSpc>
                <a:spcPct val="116000"/>
              </a:lnSpc>
              <a:buNone/>
              <a:defRPr sz="1800" b="0">
                <a:solidFill>
                  <a:srgbClr val="284B72"/>
                </a:solidFill>
                <a:latin typeface="Menlo"/>
                <a:ea typeface="Menlo"/>
                <a:cs typeface="Menlo"/>
              </a:defRPr>
            </a:pPr>
            <a:r>
              <a:rPr sz="1800" b="0">
                <a:solidFill>
                  <a:srgbClr val="284B72"/>
                </a:solidFill>
                <a:latin typeface="Menlo"/>
                <a:ea typeface="Menlo"/>
                <a:cs typeface="Menlo"/>
              </a:rPr>
              <a:t>04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9DDE9C3C-326C-4EFE-998D-7BCBDD0C68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39200" y="3067050"/>
            <a:ext cx="249555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2500" b="1">
                <a:solidFill>
                  <a:srgbClr val="17191B"/>
                </a:solidFill>
                <a:latin typeface="AppleGothic"/>
                <a:ea typeface="AppleGothic"/>
                <a:cs typeface="AppleGothic"/>
              </a:defRPr>
            </a:defPPr>
          </a:lstStyle>
          <a:p xmlns:a="http://schemas.openxmlformats.org/drawingml/2006/main">
            <a:pPr algn="l">
              <a:lnSpc>
                <a:spcPct val="116000"/>
              </a:lnSpc>
              <a:buNone/>
              <a:defRPr sz="2500" b="1">
                <a:solidFill>
                  <a:srgbClr val="17191B"/>
                </a:solidFill>
                <a:latin typeface="AppleGothic"/>
                <a:ea typeface="AppleGothic"/>
                <a:cs typeface="AppleGothic"/>
              </a:defRPr>
            </a:pPr>
            <a:r>
              <a:rPr sz="2500" b="1">
                <a:solidFill>
                  <a:srgbClr val="17191B"/>
                </a:solidFill>
                <a:latin typeface="AppleGothic"/>
                <a:ea typeface="AppleGothic"/>
                <a:cs typeface="AppleGothic"/>
              </a:rPr>
              <a:t>검토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BB5DBA2B-5972-42FF-833E-B3FA727423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39200" y="4029075"/>
            <a:ext cx="2495550" cy="914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1800" b="0">
                <a:solidFill>
                  <a:srgbClr val="52606B"/>
                </a:solidFill>
                <a:latin typeface="AppleGothic"/>
                <a:ea typeface="AppleGothic"/>
                <a:cs typeface="AppleGothic"/>
              </a:defRPr>
            </a:defPPr>
          </a:lstStyle>
          <a:p xmlns:a="http://schemas.openxmlformats.org/drawingml/2006/main">
            <a:pPr algn="l">
              <a:lnSpc>
                <a:spcPct val="116000"/>
              </a:lnSpc>
              <a:buNone/>
              <a:defRPr sz="1800" b="0">
                <a:solidFill>
                  <a:srgbClr val="52606B"/>
                </a:solidFill>
                <a:latin typeface="AppleGothic"/>
                <a:ea typeface="AppleGothic"/>
                <a:cs typeface="AppleGothic"/>
              </a:defRPr>
            </a:pPr>
            <a:r>
              <a:rPr sz="1800" b="0">
                <a:solidFill>
                  <a:srgbClr val="52606B"/>
                </a:solidFill>
                <a:latin typeface="AppleGothic"/>
                <a:ea typeface="AppleGothic"/>
                <a:cs typeface="AppleGothic"/>
              </a:rPr>
              <a:t>누출·편향 점검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86BAAE10-D6DC-4B48-9D2E-F6D9351F85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791200"/>
            <a:ext cx="109728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1600" b="0">
                <a:solidFill>
                  <a:srgbClr val="52606B"/>
                </a:solidFill>
                <a:latin typeface="AppleGothic"/>
                <a:ea typeface="AppleGothic"/>
                <a:cs typeface="AppleGothic"/>
              </a:defRPr>
            </a:defPPr>
          </a:lstStyle>
          <a:p xmlns:a="http://schemas.openxmlformats.org/drawingml/2006/main">
            <a:pPr algn="l">
              <a:lnSpc>
                <a:spcPct val="116000"/>
              </a:lnSpc>
              <a:buNone/>
              <a:defRPr sz="1600" b="0">
                <a:solidFill>
                  <a:srgbClr val="52606B"/>
                </a:solidFill>
                <a:latin typeface="AppleGothic"/>
                <a:ea typeface="AppleGothic"/>
                <a:cs typeface="AppleGothic"/>
              </a:defRPr>
            </a:pPr>
            <a:r>
              <a:rPr sz="1600" b="0">
                <a:solidFill>
                  <a:srgbClr val="52606B"/>
                </a:solidFill>
                <a:latin typeface="AppleGothic"/>
                <a:ea typeface="AppleGothic"/>
                <a:cs typeface="AppleGothic"/>
              </a:rPr>
              <a:t>형식 검증 통과와 내용 품질 검토의 분리</a:t>
            </a:r>
          </a:p>
        </p:txBody>
      </p:sp>
    </p:spTree>
    <p:extLst>
      <p:ext uri="{BB962C8B-B14F-4D97-AF65-F5344CB8AC3E}">
        <p14:creationId xmlns:p14="http://schemas.microsoft.com/office/powerpoint/2010/main" val="994409421"/>
      </p:ext>
    </p:extLst>
  </p:cSld>
</p:sld>
</file>

<file path=ppt/slides/slide17.xml><?xml version="1.0" encoding="utf-8"?>
<p:sld xmlns:p="http://schemas.openxmlformats.org/presentationml/2006/main">
  <p:cSld>
    <p:bg>
      <p:bgPr>
        <a:solidFill xmlns:a="http://schemas.openxmlformats.org/drawingml/2006/main">
          <a:srgbClr val="F7F7F5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AE6E4D30-26EA-43F1-93EB-5F8283CF00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47650"/>
            <a:ext cx="9525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1400" b="0">
                <a:solidFill>
                  <a:srgbClr val="52606B"/>
                </a:solidFill>
                <a:latin typeface="AppleGothic"/>
                <a:ea typeface="AppleGothic"/>
                <a:cs typeface="AppleGothic"/>
              </a:defRPr>
            </a:defPPr>
          </a:lstStyle>
          <a:p xmlns:a="http://schemas.openxmlformats.org/drawingml/2006/main">
            <a:pPr algn="l">
              <a:lnSpc>
                <a:spcPct val="116000"/>
              </a:lnSpc>
              <a:buNone/>
              <a:defRPr sz="1400" b="0">
                <a:solidFill>
                  <a:srgbClr val="52606B"/>
                </a:solidFill>
                <a:latin typeface="AppleGothic"/>
                <a:ea typeface="AppleGothic"/>
                <a:cs typeface="AppleGothic"/>
              </a:defRPr>
            </a:pPr>
            <a:r>
              <a:rPr sz="1400" b="0">
                <a:solidFill>
                  <a:srgbClr val="52606B"/>
                </a:solidFill>
                <a:latin typeface="AppleGothic"/>
                <a:ea typeface="AppleGothic"/>
                <a:cs typeface="AppleGothic"/>
              </a:rPr>
              <a:t>LLMOPS / W07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C25BD8E1-FE96-466B-B501-1EFBE6FCCF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8500" y="247650"/>
            <a:ext cx="7239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r">
              <a:defRPr sz="1400" b="0">
                <a:solidFill>
                  <a:srgbClr val="52606B"/>
                </a:solidFill>
                <a:latin typeface="Menlo"/>
                <a:ea typeface="Menlo"/>
                <a:cs typeface="Menlo"/>
              </a:defRPr>
            </a:defPPr>
          </a:lstStyle>
          <a:p xmlns:a="http://schemas.openxmlformats.org/drawingml/2006/main">
            <a:pPr algn="r">
              <a:lnSpc>
                <a:spcPct val="116000"/>
              </a:lnSpc>
              <a:buNone/>
              <a:defRPr sz="1400" b="0">
                <a:solidFill>
                  <a:srgbClr val="52606B"/>
                </a:solidFill>
                <a:latin typeface="Menlo"/>
                <a:ea typeface="Menlo"/>
                <a:cs typeface="Menlo"/>
              </a:defRPr>
            </a:pPr>
            <a:r>
              <a:rPr sz="1400" b="0">
                <a:solidFill>
                  <a:srgbClr val="52606B"/>
                </a:solidFill>
                <a:latin typeface="Menlo"/>
                <a:ea typeface="Menlo"/>
                <a:cs typeface="Menlo"/>
              </a:rPr>
              <a:t>17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11900E88-0061-4835-9AF1-4D3D23FAAA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23900"/>
            <a:ext cx="109728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3400" b="1">
                <a:solidFill>
                  <a:srgbClr val="17191B"/>
                </a:solidFill>
                <a:latin typeface="AppleGothic"/>
                <a:ea typeface="AppleGothic"/>
                <a:cs typeface="AppleGothic"/>
              </a:defRPr>
            </a:defPPr>
          </a:lstStyle>
          <a:p xmlns:a="http://schemas.openxmlformats.org/drawingml/2006/main">
            <a:pPr algn="l">
              <a:lnSpc>
                <a:spcPct val="116000"/>
              </a:lnSpc>
              <a:buNone/>
              <a:defRPr sz="3400" b="1">
                <a:solidFill>
                  <a:srgbClr val="17191B"/>
                </a:solidFill>
                <a:latin typeface="AppleGothic"/>
                <a:ea typeface="AppleGothic"/>
                <a:cs typeface="AppleGothic"/>
              </a:defRPr>
            </a:pPr>
            <a:r>
              <a:rPr sz="3400" b="1">
                <a:solidFill>
                  <a:srgbClr val="17191B"/>
                </a:solidFill>
                <a:latin typeface="AppleGothic"/>
                <a:ea typeface="AppleGothic"/>
                <a:cs typeface="AppleGothic"/>
              </a:rPr>
              <a:t>데이터 품질의 네 검사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A7718D59-7473-488C-BB15-D373A6CCDA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315075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FD5D3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4799F41A-52FE-4B61-B8CC-1B46ED4EEA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77000"/>
            <a:ext cx="109728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1400" b="0">
                <a:solidFill>
                  <a:srgbClr val="52606B"/>
                </a:solidFill>
                <a:latin typeface="AppleGothic"/>
                <a:ea typeface="AppleGothic"/>
                <a:cs typeface="AppleGothic"/>
              </a:defRPr>
            </a:defPPr>
          </a:lstStyle>
          <a:p xmlns:a="http://schemas.openxmlformats.org/drawingml/2006/main">
            <a:pPr algn="l">
              <a:lnSpc>
                <a:spcPct val="116000"/>
              </a:lnSpc>
              <a:buNone/>
              <a:defRPr sz="1400" b="0">
                <a:solidFill>
                  <a:srgbClr val="52606B"/>
                </a:solidFill>
                <a:latin typeface="AppleGothic"/>
                <a:ea typeface="AppleGothic"/>
                <a:cs typeface="AppleGothic"/>
              </a:defRPr>
            </a:pPr>
            <a:r>
              <a:rPr sz="1400" b="0">
                <a:solidFill>
                  <a:srgbClr val="52606B"/>
                </a:solidFill>
                <a:latin typeface="AppleGothic"/>
                <a:ea typeface="AppleGothic"/>
                <a:cs typeface="AppleGothic"/>
              </a:rPr>
              <a:t>데이터 · 모델 적응 · 비교 평가 · 기획서 초안</a:t>
            </a:r>
          </a:p>
        </p:txBody>
      </p:sp>
      <p:graphicFrame>
        <p:nvGraphicFrame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1D83EB5C-BD7D-4202-8CD2-62CFB36600D1}"/>
              </a:ext>
            </a:extLst>
          </p:cNvPr>
          <p:cNvGraphicFramePr/>
          <p:nvPr/>
        </p:nvGraphicFramePr>
        <p:xfrm>
          <a:off xmlns:a="http://schemas.openxmlformats.org/drawingml/2006/main" x="609600" y="1809750"/>
          <a:ext xmlns:a="http://schemas.openxmlformats.org/drawingml/2006/main" cx="10972800" cy="3714750"/>
        </p:xfrm>
        <a:graphic xmlns:a="http://schemas.openxmlformats.org/drawingml/2006/main">
          <a:graphicData uri="http://schemas.openxmlformats.org/drawingml/2006/table">
            <a:tbl>
              <a:tblPr firstRow="0" bandRow="0"/>
              <a:tblGrid>
                <a:gridCol w="2857500"/>
                <a:gridCol w="4686300"/>
                <a:gridCol w="3429000"/>
              </a:tblGrid>
              <a:tr h="742950">
                <a:tc>
                  <a:txBody>
                    <a:bodyPr wrap="none" lIns="133350" tIns="114300" rIns="133350" bIns="114300">
                      <a:noAutofit/>
                    </a:bodyPr>
                    <a:lstStyle/>
                    <a:p>
                      <a:r>
                        <a:rPr sz="1900" b="1">
                          <a:solidFill>
                            <a:srgbClr val="17283B"/>
                          </a:solidFill>
                          <a:latin typeface="AppleGothic"/>
                          <a:ea typeface="AppleGothic"/>
                          <a:cs typeface="AppleGothic"/>
                        </a:rPr>
                        <a:t>검사</a:t>
                      </a:r>
                    </a:p>
                  </a:txBody>
                  <a:tcPr marL="91440" marR="91440" marT="45720" marB="4572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EDF1F6"/>
                    </a:solidFill>
                  </a:tcPr>
                </a:tc>
                <a:tc>
                  <a:txBody>
                    <a:bodyPr wrap="none" lIns="133350" tIns="114300" rIns="133350" bIns="114300">
                      <a:noAutofit/>
                    </a:bodyPr>
                    <a:lstStyle/>
                    <a:p>
                      <a:r>
                        <a:rPr sz="1900" b="1">
                          <a:solidFill>
                            <a:srgbClr val="17283B"/>
                          </a:solidFill>
                          <a:latin typeface="AppleGothic"/>
                          <a:ea typeface="AppleGothic"/>
                          <a:cs typeface="AppleGothic"/>
                        </a:rPr>
                        <a:t>확인 대상</a:t>
                      </a:r>
                    </a:p>
                  </a:txBody>
                  <a:tcPr marL="91440" marR="91440" marT="45720" marB="4572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EDF1F6"/>
                    </a:solidFill>
                  </a:tcPr>
                </a:tc>
                <a:tc>
                  <a:txBody>
                    <a:bodyPr wrap="none" lIns="133350" tIns="114300" rIns="133350" bIns="114300">
                      <a:noAutofit/>
                    </a:bodyPr>
                    <a:lstStyle/>
                    <a:p>
                      <a:r>
                        <a:rPr sz="1900" b="1">
                          <a:solidFill>
                            <a:srgbClr val="17283B"/>
                          </a:solidFill>
                          <a:latin typeface="AppleGothic"/>
                          <a:ea typeface="AppleGothic"/>
                          <a:cs typeface="AppleGothic"/>
                        </a:rPr>
                        <a:t>실패 예시</a:t>
                      </a:r>
                    </a:p>
                  </a:txBody>
                  <a:tcPr marL="91440" marR="91440" marT="45720" marB="4572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EDF1F6"/>
                    </a:solidFill>
                  </a:tcPr>
                </a:tc>
              </a:tr>
              <a:tr h="742950">
                <a:tc>
                  <a:txBody>
                    <a:bodyPr wrap="none" lIns="133350" tIns="114300" rIns="133350" bIns="114300">
                      <a:noAutofit/>
                    </a:bodyPr>
                    <a:lstStyle/>
                    <a:p>
                      <a:r>
                        <a:rPr sz="1900" b="1">
                          <a:solidFill>
                            <a:srgbClr val="17191B"/>
                          </a:solidFill>
                          <a:latin typeface="AppleGothic"/>
                          <a:ea typeface="AppleGothic"/>
                          <a:cs typeface="AppleGothic"/>
                        </a:rPr>
                        <a:t>필드</a:t>
                      </a:r>
                    </a:p>
                  </a:txBody>
                  <a:tcPr marL="91440" marR="91440" marT="45720" marB="4572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 lIns="133350" tIns="114300" rIns="133350" bIns="114300">
                      <a:noAutofit/>
                    </a:bodyPr>
                    <a:lstStyle/>
                    <a:p>
                      <a:r>
                        <a:rPr sz="1900" b="0">
                          <a:solidFill>
                            <a:srgbClr val="52606B"/>
                          </a:solidFill>
                          <a:latin typeface="AppleGothic"/>
                          <a:ea typeface="AppleGothic"/>
                          <a:cs typeface="AppleGothic"/>
                        </a:rPr>
                        <a:t>입력·답변·ID</a:t>
                      </a:r>
                    </a:p>
                  </a:txBody>
                  <a:tcPr marL="91440" marR="91440" marT="45720" marB="4572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 lIns="133350" tIns="114300" rIns="133350" bIns="114300">
                      <a:noAutofit/>
                    </a:bodyPr>
                    <a:lstStyle/>
                    <a:p>
                      <a:r>
                        <a:rPr sz="1900" b="0">
                          <a:solidFill>
                            <a:srgbClr val="52606B"/>
                          </a:solidFill>
                          <a:latin typeface="AppleGothic"/>
                          <a:ea typeface="AppleGothic"/>
                          <a:cs typeface="AppleGothic"/>
                        </a:rPr>
                        <a:t>빈 instruction</a:t>
                      </a:r>
                    </a:p>
                  </a:txBody>
                  <a:tcPr marL="91440" marR="91440" marT="45720" marB="4572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FFFFFF"/>
                    </a:solidFill>
                  </a:tcPr>
                </a:tc>
              </a:tr>
              <a:tr h="742950">
                <a:tc>
                  <a:txBody>
                    <a:bodyPr wrap="none" lIns="133350" tIns="114300" rIns="133350" bIns="114300">
                      <a:noAutofit/>
                    </a:bodyPr>
                    <a:lstStyle/>
                    <a:p>
                      <a:r>
                        <a:rPr sz="1900" b="1">
                          <a:solidFill>
                            <a:srgbClr val="17191B"/>
                          </a:solidFill>
                          <a:latin typeface="AppleGothic"/>
                          <a:ea typeface="AppleGothic"/>
                          <a:cs typeface="AppleGothic"/>
                        </a:rPr>
                        <a:t>출력</a:t>
                      </a:r>
                    </a:p>
                  </a:txBody>
                  <a:tcPr marL="91440" marR="91440" marT="45720" marB="4572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 lIns="133350" tIns="114300" rIns="133350" bIns="114300">
                      <a:noAutofit/>
                    </a:bodyPr>
                    <a:lstStyle/>
                    <a:p>
                      <a:r>
                        <a:rPr sz="1900" b="0">
                          <a:solidFill>
                            <a:srgbClr val="52606B"/>
                          </a:solidFill>
                          <a:latin typeface="AppleGothic"/>
                          <a:ea typeface="AppleGothic"/>
                          <a:cs typeface="AppleGothic"/>
                        </a:rPr>
                        <a:t>JSON·필수 키</a:t>
                      </a:r>
                    </a:p>
                  </a:txBody>
                  <a:tcPr marL="91440" marR="91440" marT="45720" marB="4572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 lIns="133350" tIns="114300" rIns="133350" bIns="114300">
                      <a:noAutofit/>
                    </a:bodyPr>
                    <a:lstStyle/>
                    <a:p>
                      <a:r>
                        <a:rPr sz="1900" b="0">
                          <a:solidFill>
                            <a:srgbClr val="52606B"/>
                          </a:solidFill>
                          <a:latin typeface="AppleGothic"/>
                          <a:ea typeface="AppleGothic"/>
                          <a:cs typeface="AppleGothic"/>
                        </a:rPr>
                        <a:t>answer만 존재</a:t>
                      </a:r>
                    </a:p>
                  </a:txBody>
                  <a:tcPr marL="91440" marR="91440" marT="45720" marB="4572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FFFFFF"/>
                    </a:solidFill>
                  </a:tcPr>
                </a:tc>
              </a:tr>
              <a:tr h="742950">
                <a:tc>
                  <a:txBody>
                    <a:bodyPr wrap="none" lIns="133350" tIns="114300" rIns="133350" bIns="114300">
                      <a:noAutofit/>
                    </a:bodyPr>
                    <a:lstStyle/>
                    <a:p>
                      <a:r>
                        <a:rPr sz="1900" b="1">
                          <a:solidFill>
                            <a:srgbClr val="17191B"/>
                          </a:solidFill>
                          <a:latin typeface="AppleGothic"/>
                          <a:ea typeface="AppleGothic"/>
                          <a:cs typeface="AppleGothic"/>
                        </a:rPr>
                        <a:t>중복</a:t>
                      </a:r>
                    </a:p>
                  </a:txBody>
                  <a:tcPr marL="91440" marR="91440" marT="45720" marB="4572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 lIns="133350" tIns="114300" rIns="133350" bIns="114300">
                      <a:noAutofit/>
                    </a:bodyPr>
                    <a:lstStyle/>
                    <a:p>
                      <a:r>
                        <a:rPr sz="1900" b="0">
                          <a:solidFill>
                            <a:srgbClr val="52606B"/>
                          </a:solidFill>
                          <a:latin typeface="AppleGothic"/>
                          <a:ea typeface="AppleGothic"/>
                          <a:cs typeface="AppleGothic"/>
                        </a:rPr>
                        <a:t>ID·내용·사건</a:t>
                      </a:r>
                    </a:p>
                  </a:txBody>
                  <a:tcPr marL="91440" marR="91440" marT="45720" marB="4572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 lIns="133350" tIns="114300" rIns="133350" bIns="114300">
                      <a:noAutofit/>
                    </a:bodyPr>
                    <a:lstStyle/>
                    <a:p>
                      <a:r>
                        <a:rPr sz="1900" b="0">
                          <a:solidFill>
                            <a:srgbClr val="52606B"/>
                          </a:solidFill>
                          <a:latin typeface="AppleGothic"/>
                          <a:ea typeface="AppleGothic"/>
                          <a:cs typeface="AppleGothic"/>
                        </a:rPr>
                        <a:t>같은 사례 복사</a:t>
                      </a:r>
                    </a:p>
                  </a:txBody>
                  <a:tcPr marL="91440" marR="91440" marT="45720" marB="4572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FFFFFF"/>
                    </a:solidFill>
                  </a:tcPr>
                </a:tc>
              </a:tr>
              <a:tr h="742950">
                <a:tc>
                  <a:txBody>
                    <a:bodyPr wrap="none" lIns="133350" tIns="114300" rIns="133350" bIns="114300">
                      <a:noAutofit/>
                    </a:bodyPr>
                    <a:lstStyle/>
                    <a:p>
                      <a:r>
                        <a:rPr sz="1900" b="1">
                          <a:solidFill>
                            <a:srgbClr val="17191B"/>
                          </a:solidFill>
                          <a:latin typeface="AppleGothic"/>
                          <a:ea typeface="AppleGothic"/>
                          <a:cs typeface="AppleGothic"/>
                        </a:rPr>
                        <a:t>권한</a:t>
                      </a:r>
                    </a:p>
                  </a:txBody>
                  <a:tcPr marL="91440" marR="91440" marT="45720" marB="4572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 lIns="133350" tIns="114300" rIns="133350" bIns="114300">
                      <a:noAutofit/>
                    </a:bodyPr>
                    <a:lstStyle/>
                    <a:p>
                      <a:r>
                        <a:rPr sz="1900" b="0">
                          <a:solidFill>
                            <a:srgbClr val="52606B"/>
                          </a:solidFill>
                          <a:latin typeface="AppleGothic"/>
                          <a:ea typeface="AppleGothic"/>
                          <a:cs typeface="AppleGothic"/>
                        </a:rPr>
                        <a:t>사용 허가·보존</a:t>
                      </a:r>
                    </a:p>
                  </a:txBody>
                  <a:tcPr marL="91440" marR="91440" marT="45720" marB="4572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 lIns="133350" tIns="114300" rIns="133350" bIns="114300">
                      <a:noAutofit/>
                    </a:bodyPr>
                    <a:lstStyle/>
                    <a:p>
                      <a:r>
                        <a:rPr sz="1900" b="0">
                          <a:solidFill>
                            <a:srgbClr val="52606B"/>
                          </a:solidFill>
                          <a:latin typeface="AppleGothic"/>
                          <a:ea typeface="AppleGothic"/>
                          <a:cs typeface="AppleGothic"/>
                        </a:rPr>
                        <a:t>고객 원문 무단 사용</a:t>
                      </a:r>
                    </a:p>
                  </a:txBody>
                  <a:tcPr marL="91440" marR="91440" marT="45720" marB="4572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C514BA8F-C7AF-4678-989A-957AA3C23E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80975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283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638F31DC-DCFC-465A-9D1B-5EFBFC9D77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5527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FD5D3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CE73219A-C7B4-49FA-8997-3AD319A92E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29565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FD5D3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DCD2BB20-A12D-4A56-85A3-B850E15508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0386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FD5D3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CE2B8100-FA60-470B-93C8-BCBAAD6BDD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78155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FD5D3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D2AF170F-6961-46C4-A578-D23F2B21B1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5245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283B"/>
          </a:solidFill>
          <a:ln xmlns:a="http://schemas.openxmlformats.org/drawingml/2006/main" w="0">
            <a:noFill/>
            <a:prstDash val="solid"/>
          </a:ln>
        </p:spPr>
      </p:sp>
    </p:spTree>
    <p:extLst>
      <p:ext uri="{BB962C8B-B14F-4D97-AF65-F5344CB8AC3E}">
        <p14:creationId xmlns:p14="http://schemas.microsoft.com/office/powerpoint/2010/main" val="1557719837"/>
      </p:ext>
    </p:extLst>
  </p:cSld>
</p:sld>
</file>

<file path=ppt/slides/slide18.xml><?xml version="1.0" encoding="utf-8"?>
<p:sld xmlns:p="http://schemas.openxmlformats.org/presentationml/2006/main">
  <p:cSld>
    <p:bg>
      <p:bgPr>
        <a:solidFill xmlns:a="http://schemas.openxmlformats.org/drawingml/2006/main">
          <a:srgbClr val="F7F7F5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F424267E-AEA0-47AC-993A-AD57DDF6CA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47650"/>
            <a:ext cx="9525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1400" b="0">
                <a:solidFill>
                  <a:srgbClr val="52606B"/>
                </a:solidFill>
                <a:latin typeface="AppleGothic"/>
                <a:ea typeface="AppleGothic"/>
                <a:cs typeface="AppleGothic"/>
              </a:defRPr>
            </a:defPPr>
          </a:lstStyle>
          <a:p xmlns:a="http://schemas.openxmlformats.org/drawingml/2006/main">
            <a:pPr algn="l">
              <a:lnSpc>
                <a:spcPct val="116000"/>
              </a:lnSpc>
              <a:buNone/>
              <a:defRPr sz="1400" b="0">
                <a:solidFill>
                  <a:srgbClr val="52606B"/>
                </a:solidFill>
                <a:latin typeface="AppleGothic"/>
                <a:ea typeface="AppleGothic"/>
                <a:cs typeface="AppleGothic"/>
              </a:defRPr>
            </a:pPr>
            <a:r>
              <a:rPr sz="1400" b="0">
                <a:solidFill>
                  <a:srgbClr val="52606B"/>
                </a:solidFill>
                <a:latin typeface="AppleGothic"/>
                <a:ea typeface="AppleGothic"/>
                <a:cs typeface="AppleGothic"/>
              </a:rPr>
              <a:t>LLMOPS / W07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EC0C2D63-390A-48BF-B4B2-3DABD45337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8500" y="247650"/>
            <a:ext cx="7239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r">
              <a:defRPr sz="1400" b="0">
                <a:solidFill>
                  <a:srgbClr val="52606B"/>
                </a:solidFill>
                <a:latin typeface="Menlo"/>
                <a:ea typeface="Menlo"/>
                <a:cs typeface="Menlo"/>
              </a:defRPr>
            </a:defPPr>
          </a:lstStyle>
          <a:p xmlns:a="http://schemas.openxmlformats.org/drawingml/2006/main">
            <a:pPr algn="r">
              <a:lnSpc>
                <a:spcPct val="116000"/>
              </a:lnSpc>
              <a:buNone/>
              <a:defRPr sz="1400" b="0">
                <a:solidFill>
                  <a:srgbClr val="52606B"/>
                </a:solidFill>
                <a:latin typeface="Menlo"/>
                <a:ea typeface="Menlo"/>
                <a:cs typeface="Menlo"/>
              </a:defRPr>
            </a:pPr>
            <a:r>
              <a:rPr sz="1400" b="0">
                <a:solidFill>
                  <a:srgbClr val="52606B"/>
                </a:solidFill>
                <a:latin typeface="Menlo"/>
                <a:ea typeface="Menlo"/>
                <a:cs typeface="Menlo"/>
              </a:rPr>
              <a:t>18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75DBA6B2-99A5-4A1C-BEE5-CFD036CD73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23900"/>
            <a:ext cx="109728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3400" b="1">
                <a:solidFill>
                  <a:srgbClr val="17191B"/>
                </a:solidFill>
                <a:latin typeface="AppleGothic"/>
                <a:ea typeface="AppleGothic"/>
                <a:cs typeface="AppleGothic"/>
              </a:defRPr>
            </a:defPPr>
          </a:lstStyle>
          <a:p xmlns:a="http://schemas.openxmlformats.org/drawingml/2006/main">
            <a:pPr algn="l">
              <a:lnSpc>
                <a:spcPct val="116000"/>
              </a:lnSpc>
              <a:buNone/>
              <a:defRPr sz="3400" b="1">
                <a:solidFill>
                  <a:srgbClr val="17191B"/>
                </a:solidFill>
                <a:latin typeface="AppleGothic"/>
                <a:ea typeface="AppleGothic"/>
                <a:cs typeface="AppleGothic"/>
              </a:defRPr>
            </a:pPr>
            <a:r>
              <a:rPr sz="3400" b="1">
                <a:solidFill>
                  <a:srgbClr val="17191B"/>
                </a:solidFill>
                <a:latin typeface="AppleGothic"/>
                <a:ea typeface="AppleGothic"/>
                <a:cs typeface="AppleGothic"/>
              </a:rPr>
              <a:t>문장 분할과 사건 분할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B8BCE56A-E29B-4BC1-8076-1E2AF1F853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315075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FD5D3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B2285A80-7CE7-4226-A312-04D4BC7164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77000"/>
            <a:ext cx="109728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1400" b="0">
                <a:solidFill>
                  <a:srgbClr val="52606B"/>
                </a:solidFill>
                <a:latin typeface="AppleGothic"/>
                <a:ea typeface="AppleGothic"/>
                <a:cs typeface="AppleGothic"/>
              </a:defRPr>
            </a:defPPr>
          </a:lstStyle>
          <a:p xmlns:a="http://schemas.openxmlformats.org/drawingml/2006/main">
            <a:pPr algn="l">
              <a:lnSpc>
                <a:spcPct val="116000"/>
              </a:lnSpc>
              <a:buNone/>
              <a:defRPr sz="1400" b="0">
                <a:solidFill>
                  <a:srgbClr val="52606B"/>
                </a:solidFill>
                <a:latin typeface="AppleGothic"/>
                <a:ea typeface="AppleGothic"/>
                <a:cs typeface="AppleGothic"/>
              </a:defRPr>
            </a:pPr>
            <a:r>
              <a:rPr sz="1400" b="0">
                <a:solidFill>
                  <a:srgbClr val="52606B"/>
                </a:solidFill>
                <a:latin typeface="AppleGothic"/>
                <a:ea typeface="AppleGothic"/>
                <a:cs typeface="AppleGothic"/>
              </a:rPr>
              <a:t>데이터 · 모델 적응 · 비교 평가 · 기획서 초안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B20D0E73-45E8-4C22-8592-20C0B610DB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057400"/>
            <a:ext cx="5295900" cy="800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2900" b="1">
                <a:solidFill>
                  <a:srgbClr val="17191B"/>
                </a:solidFill>
                <a:latin typeface="AppleGothic"/>
                <a:ea typeface="AppleGothic"/>
                <a:cs typeface="AppleGothic"/>
              </a:defRPr>
            </a:defPPr>
          </a:lstStyle>
          <a:p xmlns:a="http://schemas.openxmlformats.org/drawingml/2006/main">
            <a:pPr algn="l">
              <a:lnSpc>
                <a:spcPct val="116000"/>
              </a:lnSpc>
              <a:buNone/>
              <a:defRPr sz="2900" b="1">
                <a:solidFill>
                  <a:srgbClr val="17191B"/>
                </a:solidFill>
                <a:latin typeface="AppleGothic"/>
                <a:ea typeface="AppleGothic"/>
                <a:cs typeface="AppleGothic"/>
              </a:defRPr>
            </a:pPr>
            <a:r>
              <a:rPr sz="2900" b="1">
                <a:solidFill>
                  <a:srgbClr val="17191B"/>
                </a:solidFill>
                <a:latin typeface="AppleGothic"/>
                <a:ea typeface="AppleGothic"/>
                <a:cs typeface="AppleGothic"/>
              </a:rPr>
              <a:t>문장 단위 무작위 분할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A4ED1C34-24C3-4255-AFCC-619B621BA9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000375"/>
            <a:ext cx="52959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84B7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AEBF0487-11F7-42E1-AB7D-807171ED84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371850"/>
            <a:ext cx="5238750" cy="36741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2300" b="0">
                <a:solidFill>
                  <a:srgbClr val="52606B"/>
                </a:solidFill>
                <a:latin typeface="AppleGothic"/>
                <a:ea typeface="AppleGothic"/>
                <a:cs typeface="AppleGothic"/>
              </a:defRPr>
            </a:defPPr>
          </a:lstStyle>
          <a:p xmlns:a="http://schemas.openxmlformats.org/drawingml/2006/main">
            <a:pPr algn="l">
              <a:lnSpc>
                <a:spcPct val="116000"/>
              </a:lnSpc>
              <a:buNone/>
              <a:defRPr sz="2300" b="0">
                <a:solidFill>
                  <a:srgbClr val="52606B"/>
                </a:solidFill>
                <a:latin typeface="AppleGothic"/>
                <a:ea typeface="AppleGothic"/>
                <a:cs typeface="AppleGothic"/>
              </a:defRPr>
            </a:pPr>
            <a:r>
              <a:rPr sz="2300" b="0">
                <a:solidFill>
                  <a:srgbClr val="52606B"/>
                </a:solidFill>
                <a:latin typeface="AppleGothic"/>
                <a:ea typeface="AppleGothic"/>
                <a:cs typeface="AppleGothic"/>
              </a:rPr>
              <a:t>표현만 다른 같은 사건 혼입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ADB7D3A3-ECB6-4996-8F13-6B4CA4A906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139311"/>
            <a:ext cx="5238750" cy="36741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2300" b="0">
                <a:solidFill>
                  <a:srgbClr val="52606B"/>
                </a:solidFill>
                <a:latin typeface="AppleGothic"/>
                <a:ea typeface="AppleGothic"/>
                <a:cs typeface="AppleGothic"/>
              </a:defRPr>
            </a:defPPr>
          </a:lstStyle>
          <a:p xmlns:a="http://schemas.openxmlformats.org/drawingml/2006/main">
            <a:pPr algn="l">
              <a:lnSpc>
                <a:spcPct val="116000"/>
              </a:lnSpc>
              <a:buNone/>
              <a:defRPr sz="2300" b="0">
                <a:solidFill>
                  <a:srgbClr val="52606B"/>
                </a:solidFill>
                <a:latin typeface="AppleGothic"/>
                <a:ea typeface="AppleGothic"/>
                <a:cs typeface="AppleGothic"/>
              </a:defRPr>
            </a:pPr>
            <a:r>
              <a:rPr sz="2300" b="0">
                <a:solidFill>
                  <a:srgbClr val="52606B"/>
                </a:solidFill>
                <a:latin typeface="AppleGothic"/>
                <a:ea typeface="AppleGothic"/>
                <a:cs typeface="AppleGothic"/>
              </a:rPr>
              <a:t>평가 결과 과대평가 위험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09BDDE00-35E1-4013-94F2-737FF3ED48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0" y="2057400"/>
            <a:ext cx="5295900" cy="800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2900" b="1">
                <a:solidFill>
                  <a:srgbClr val="17191B"/>
                </a:solidFill>
                <a:latin typeface="AppleGothic"/>
                <a:ea typeface="AppleGothic"/>
                <a:cs typeface="AppleGothic"/>
              </a:defRPr>
            </a:defPPr>
          </a:lstStyle>
          <a:p xmlns:a="http://schemas.openxmlformats.org/drawingml/2006/main">
            <a:pPr algn="l">
              <a:lnSpc>
                <a:spcPct val="116000"/>
              </a:lnSpc>
              <a:buNone/>
              <a:defRPr sz="2900" b="1">
                <a:solidFill>
                  <a:srgbClr val="17191B"/>
                </a:solidFill>
                <a:latin typeface="AppleGothic"/>
                <a:ea typeface="AppleGothic"/>
                <a:cs typeface="AppleGothic"/>
              </a:defRPr>
            </a:pPr>
            <a:r>
              <a:rPr sz="2900" b="1">
                <a:solidFill>
                  <a:srgbClr val="17191B"/>
                </a:solidFill>
                <a:latin typeface="AppleGothic"/>
                <a:ea typeface="AppleGothic"/>
                <a:cs typeface="AppleGothic"/>
              </a:rPr>
              <a:t>사건 단위 분할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2920B210-3E3C-4F7D-94DF-C09FD44F4E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0" y="3000375"/>
            <a:ext cx="52959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52606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A3A77252-58A0-4E68-9FF6-5A04D63E03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0" y="3371850"/>
            <a:ext cx="5238750" cy="36741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2300" b="0">
                <a:solidFill>
                  <a:srgbClr val="52606B"/>
                </a:solidFill>
                <a:latin typeface="AppleGothic"/>
                <a:ea typeface="AppleGothic"/>
                <a:cs typeface="AppleGothic"/>
              </a:defRPr>
            </a:defPPr>
          </a:lstStyle>
          <a:p xmlns:a="http://schemas.openxmlformats.org/drawingml/2006/main">
            <a:pPr algn="l">
              <a:lnSpc>
                <a:spcPct val="116000"/>
              </a:lnSpc>
              <a:buNone/>
              <a:defRPr sz="2300" b="0">
                <a:solidFill>
                  <a:srgbClr val="52606B"/>
                </a:solidFill>
                <a:latin typeface="AppleGothic"/>
                <a:ea typeface="AppleGothic"/>
                <a:cs typeface="AppleGothic"/>
              </a:defRPr>
            </a:pPr>
            <a:r>
              <a:rPr sz="2300" b="0">
                <a:solidFill>
                  <a:srgbClr val="52606B"/>
                </a:solidFill>
                <a:latin typeface="AppleGothic"/>
                <a:ea typeface="AppleGothic"/>
                <a:cs typeface="AppleGothic"/>
              </a:rPr>
              <a:t>동일 사건을 한 분할에 배치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04797320-D665-40A5-8FEB-4BAEB654D7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0" y="4139311"/>
            <a:ext cx="5238750" cy="36741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2300" b="0">
                <a:solidFill>
                  <a:srgbClr val="52606B"/>
                </a:solidFill>
                <a:latin typeface="AppleGothic"/>
                <a:ea typeface="AppleGothic"/>
                <a:cs typeface="AppleGothic"/>
              </a:defRPr>
            </a:defPPr>
          </a:lstStyle>
          <a:p xmlns:a="http://schemas.openxmlformats.org/drawingml/2006/main">
            <a:pPr algn="l">
              <a:lnSpc>
                <a:spcPct val="116000"/>
              </a:lnSpc>
              <a:buNone/>
              <a:defRPr sz="2300" b="0">
                <a:solidFill>
                  <a:srgbClr val="52606B"/>
                </a:solidFill>
                <a:latin typeface="AppleGothic"/>
                <a:ea typeface="AppleGothic"/>
                <a:cs typeface="AppleGothic"/>
              </a:defRPr>
            </a:pPr>
            <a:r>
              <a:rPr sz="2300" b="0">
                <a:solidFill>
                  <a:srgbClr val="52606B"/>
                </a:solidFill>
                <a:latin typeface="AppleGothic"/>
                <a:ea typeface="AppleGothic"/>
                <a:cs typeface="AppleGothic"/>
              </a:rPr>
              <a:t>새로운 사건 평가에 더 적합</a:t>
            </a:r>
          </a:p>
        </p:txBody>
      </p:sp>
    </p:spTree>
    <p:extLst>
      <p:ext uri="{BB962C8B-B14F-4D97-AF65-F5344CB8AC3E}">
        <p14:creationId xmlns:p14="http://schemas.microsoft.com/office/powerpoint/2010/main" val="1095223629"/>
      </p:ext>
    </p:extLst>
  </p:cSld>
</p:sld>
</file>

<file path=ppt/slides/slide19.xml><?xml version="1.0" encoding="utf-8"?>
<p:sld xmlns:p="http://schemas.openxmlformats.org/presentationml/2006/main">
  <p:cSld>
    <p:bg>
      <p:bgPr>
        <a:solidFill xmlns:a="http://schemas.openxmlformats.org/drawingml/2006/main">
          <a:srgbClr val="F7F7F5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C8949EFD-A2A4-4D41-AE02-5D208456EE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47650"/>
            <a:ext cx="9525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1400" b="0">
                <a:solidFill>
                  <a:srgbClr val="52606B"/>
                </a:solidFill>
                <a:latin typeface="AppleGothic"/>
                <a:ea typeface="AppleGothic"/>
                <a:cs typeface="AppleGothic"/>
              </a:defRPr>
            </a:defPPr>
          </a:lstStyle>
          <a:p xmlns:a="http://schemas.openxmlformats.org/drawingml/2006/main">
            <a:pPr algn="l">
              <a:lnSpc>
                <a:spcPct val="116000"/>
              </a:lnSpc>
              <a:buNone/>
              <a:defRPr sz="1400" b="0">
                <a:solidFill>
                  <a:srgbClr val="52606B"/>
                </a:solidFill>
                <a:latin typeface="AppleGothic"/>
                <a:ea typeface="AppleGothic"/>
                <a:cs typeface="AppleGothic"/>
              </a:defRPr>
            </a:pPr>
            <a:r>
              <a:rPr sz="1400" b="0">
                <a:solidFill>
                  <a:srgbClr val="52606B"/>
                </a:solidFill>
                <a:latin typeface="AppleGothic"/>
                <a:ea typeface="AppleGothic"/>
                <a:cs typeface="AppleGothic"/>
              </a:rPr>
              <a:t>LLMOPS / W07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C33DB555-F27A-484E-B5B9-E45C5E5040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8500" y="247650"/>
            <a:ext cx="7239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r">
              <a:defRPr sz="1400" b="0">
                <a:solidFill>
                  <a:srgbClr val="52606B"/>
                </a:solidFill>
                <a:latin typeface="Menlo"/>
                <a:ea typeface="Menlo"/>
                <a:cs typeface="Menlo"/>
              </a:defRPr>
            </a:defPPr>
          </a:lstStyle>
          <a:p xmlns:a="http://schemas.openxmlformats.org/drawingml/2006/main">
            <a:pPr algn="r">
              <a:lnSpc>
                <a:spcPct val="116000"/>
              </a:lnSpc>
              <a:buNone/>
              <a:defRPr sz="1400" b="0">
                <a:solidFill>
                  <a:srgbClr val="52606B"/>
                </a:solidFill>
                <a:latin typeface="Menlo"/>
                <a:ea typeface="Menlo"/>
                <a:cs typeface="Menlo"/>
              </a:defRPr>
            </a:pPr>
            <a:r>
              <a:rPr sz="1400" b="0">
                <a:solidFill>
                  <a:srgbClr val="52606B"/>
                </a:solidFill>
                <a:latin typeface="Menlo"/>
                <a:ea typeface="Menlo"/>
                <a:cs typeface="Menlo"/>
              </a:rPr>
              <a:t>19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7AF6FFCB-A330-46D5-9475-0926502777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23900"/>
            <a:ext cx="109728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3400" b="1">
                <a:solidFill>
                  <a:srgbClr val="17191B"/>
                </a:solidFill>
                <a:latin typeface="AppleGothic"/>
                <a:ea typeface="AppleGothic"/>
                <a:cs typeface="AppleGothic"/>
              </a:defRPr>
            </a:defPPr>
          </a:lstStyle>
          <a:p xmlns:a="http://schemas.openxmlformats.org/drawingml/2006/main">
            <a:pPr algn="l">
              <a:lnSpc>
                <a:spcPct val="116000"/>
              </a:lnSpc>
              <a:buNone/>
              <a:defRPr sz="3400" b="1">
                <a:solidFill>
                  <a:srgbClr val="17191B"/>
                </a:solidFill>
                <a:latin typeface="AppleGothic"/>
                <a:ea typeface="AppleGothic"/>
                <a:cs typeface="AppleGothic"/>
              </a:defRPr>
            </a:pPr>
            <a:r>
              <a:rPr sz="3400" b="1">
                <a:solidFill>
                  <a:srgbClr val="17191B"/>
                </a:solidFill>
                <a:latin typeface="AppleGothic"/>
                <a:ea typeface="AppleGothic"/>
                <a:cs typeface="AppleGothic"/>
              </a:rPr>
              <a:t>개발과 최종 평가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21E0B197-4883-4722-B68E-A54BF5C468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315075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FD5D3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B509AE71-C6C9-49CD-A827-9D2A988280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77000"/>
            <a:ext cx="109728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1400" b="0">
                <a:solidFill>
                  <a:srgbClr val="52606B"/>
                </a:solidFill>
                <a:latin typeface="AppleGothic"/>
                <a:ea typeface="AppleGothic"/>
                <a:cs typeface="AppleGothic"/>
              </a:defRPr>
            </a:defPPr>
          </a:lstStyle>
          <a:p xmlns:a="http://schemas.openxmlformats.org/drawingml/2006/main">
            <a:pPr algn="l">
              <a:lnSpc>
                <a:spcPct val="116000"/>
              </a:lnSpc>
              <a:buNone/>
              <a:defRPr sz="1400" b="0">
                <a:solidFill>
                  <a:srgbClr val="52606B"/>
                </a:solidFill>
                <a:latin typeface="AppleGothic"/>
                <a:ea typeface="AppleGothic"/>
                <a:cs typeface="AppleGothic"/>
              </a:defRPr>
            </a:pPr>
            <a:r>
              <a:rPr sz="1400" b="0">
                <a:solidFill>
                  <a:srgbClr val="52606B"/>
                </a:solidFill>
                <a:latin typeface="AppleGothic"/>
                <a:ea typeface="AppleGothic"/>
                <a:cs typeface="AppleGothic"/>
              </a:rPr>
              <a:t>데이터 · 모델 적응 · 비교 평가 · 기획서 초안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03DF3F90-B7C2-47B7-9955-9CCA049B21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847850"/>
            <a:ext cx="5715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1800" b="0">
                <a:solidFill>
                  <a:srgbClr val="284B72"/>
                </a:solidFill>
                <a:latin typeface="Menlo"/>
                <a:ea typeface="Menlo"/>
                <a:cs typeface="Menlo"/>
              </a:defRPr>
            </a:defPPr>
          </a:lstStyle>
          <a:p xmlns:a="http://schemas.openxmlformats.org/drawingml/2006/main">
            <a:pPr algn="l">
              <a:lnSpc>
                <a:spcPct val="116000"/>
              </a:lnSpc>
              <a:buNone/>
              <a:defRPr sz="1800" b="0">
                <a:solidFill>
                  <a:srgbClr val="284B72"/>
                </a:solidFill>
                <a:latin typeface="Menlo"/>
                <a:ea typeface="Menlo"/>
                <a:cs typeface="Menlo"/>
              </a:defRPr>
            </a:pPr>
            <a:r>
              <a:rPr sz="1800" b="0">
                <a:solidFill>
                  <a:srgbClr val="284B72"/>
                </a:solidFill>
                <a:latin typeface="Menlo"/>
                <a:ea typeface="Menlo"/>
                <a:cs typeface="Menlo"/>
              </a:rPr>
              <a:t>01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2B24749E-59A9-4157-8698-81B2A3E01A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90650" y="1828800"/>
            <a:ext cx="3000375" cy="36741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2300" b="1">
                <a:solidFill>
                  <a:srgbClr val="17191B"/>
                </a:solidFill>
                <a:latin typeface="AppleGothic"/>
                <a:ea typeface="AppleGothic"/>
                <a:cs typeface="AppleGothic"/>
              </a:defRPr>
            </a:defPPr>
          </a:lstStyle>
          <a:p xmlns:a="http://schemas.openxmlformats.org/drawingml/2006/main">
            <a:pPr algn="l">
              <a:lnSpc>
                <a:spcPct val="116000"/>
              </a:lnSpc>
              <a:buNone/>
              <a:defRPr sz="2300" b="1">
                <a:solidFill>
                  <a:srgbClr val="17191B"/>
                </a:solidFill>
                <a:latin typeface="AppleGothic"/>
                <a:ea typeface="AppleGothic"/>
                <a:cs typeface="AppleGothic"/>
              </a:defRPr>
            </a:pPr>
            <a:r>
              <a:rPr sz="2300" b="1">
                <a:solidFill>
                  <a:srgbClr val="17191B"/>
                </a:solidFill>
                <a:latin typeface="AppleGothic"/>
                <a:ea typeface="AppleGothic"/>
                <a:cs typeface="AppleGothic"/>
              </a:rPr>
              <a:t>train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55827779-AC7E-4E03-A071-DE0AD9E878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81550" y="1828800"/>
            <a:ext cx="6781800" cy="36741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2100" b="0">
                <a:solidFill>
                  <a:srgbClr val="52606B"/>
                </a:solidFill>
                <a:latin typeface="AppleGothic"/>
                <a:ea typeface="AppleGothic"/>
                <a:cs typeface="AppleGothic"/>
              </a:defRPr>
            </a:defPPr>
          </a:lstStyle>
          <a:p xmlns:a="http://schemas.openxmlformats.org/drawingml/2006/main">
            <a:pPr algn="l">
              <a:lnSpc>
                <a:spcPct val="116000"/>
              </a:lnSpc>
              <a:buNone/>
              <a:defRPr sz="2100" b="0">
                <a:solidFill>
                  <a:srgbClr val="52606B"/>
                </a:solidFill>
                <a:latin typeface="AppleGothic"/>
                <a:ea typeface="AppleGothic"/>
                <a:cs typeface="AppleGothic"/>
              </a:defRPr>
            </a:pPr>
            <a:r>
              <a:rPr sz="2100" b="0">
                <a:solidFill>
                  <a:srgbClr val="52606B"/>
                </a:solidFill>
                <a:latin typeface="AppleGothic"/>
                <a:ea typeface="AppleGothic"/>
                <a:cs typeface="AppleGothic"/>
              </a:rPr>
              <a:t>모델 학습에 사용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5C6EF060-F169-4706-9A38-6C0FC61D55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90650" y="2329561"/>
            <a:ext cx="1019175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FD5D3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32F3B0EB-A26E-43DB-BF4F-D50BEE32A6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086100"/>
            <a:ext cx="5715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1800" b="0">
                <a:solidFill>
                  <a:srgbClr val="284B72"/>
                </a:solidFill>
                <a:latin typeface="Menlo"/>
                <a:ea typeface="Menlo"/>
                <a:cs typeface="Menlo"/>
              </a:defRPr>
            </a:defPPr>
          </a:lstStyle>
          <a:p xmlns:a="http://schemas.openxmlformats.org/drawingml/2006/main">
            <a:pPr algn="l">
              <a:lnSpc>
                <a:spcPct val="116000"/>
              </a:lnSpc>
              <a:buNone/>
              <a:defRPr sz="1800" b="0">
                <a:solidFill>
                  <a:srgbClr val="284B72"/>
                </a:solidFill>
                <a:latin typeface="Menlo"/>
                <a:ea typeface="Menlo"/>
                <a:cs typeface="Menlo"/>
              </a:defRPr>
            </a:pPr>
            <a:r>
              <a:rPr sz="1800" b="0">
                <a:solidFill>
                  <a:srgbClr val="284B72"/>
                </a:solidFill>
                <a:latin typeface="Menlo"/>
                <a:ea typeface="Menlo"/>
                <a:cs typeface="Menlo"/>
              </a:rPr>
              <a:t>02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398D1DC6-3A0B-4FD8-84C7-16AF3B5FAD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90650" y="3067050"/>
            <a:ext cx="3000375" cy="36741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2300" b="1">
                <a:solidFill>
                  <a:srgbClr val="17191B"/>
                </a:solidFill>
                <a:latin typeface="AppleGothic"/>
                <a:ea typeface="AppleGothic"/>
                <a:cs typeface="AppleGothic"/>
              </a:defRPr>
            </a:defPPr>
          </a:lstStyle>
          <a:p xmlns:a="http://schemas.openxmlformats.org/drawingml/2006/main">
            <a:pPr algn="l">
              <a:lnSpc>
                <a:spcPct val="116000"/>
              </a:lnSpc>
              <a:buNone/>
              <a:defRPr sz="2300" b="1">
                <a:solidFill>
                  <a:srgbClr val="17191B"/>
                </a:solidFill>
                <a:latin typeface="AppleGothic"/>
                <a:ea typeface="AppleGothic"/>
                <a:cs typeface="AppleGothic"/>
              </a:defRPr>
            </a:pPr>
            <a:r>
              <a:rPr sz="2300" b="1">
                <a:solidFill>
                  <a:srgbClr val="17191B"/>
                </a:solidFill>
                <a:latin typeface="AppleGothic"/>
                <a:ea typeface="AppleGothic"/>
                <a:cs typeface="AppleGothic"/>
              </a:rPr>
              <a:t>dev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5375EEB4-2437-4410-AEBB-D5976917A6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81550" y="3067050"/>
            <a:ext cx="6781800" cy="36741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2100" b="0">
                <a:solidFill>
                  <a:srgbClr val="52606B"/>
                </a:solidFill>
                <a:latin typeface="AppleGothic"/>
                <a:ea typeface="AppleGothic"/>
                <a:cs typeface="AppleGothic"/>
              </a:defRPr>
            </a:defPPr>
          </a:lstStyle>
          <a:p xmlns:a="http://schemas.openxmlformats.org/drawingml/2006/main">
            <a:pPr algn="l">
              <a:lnSpc>
                <a:spcPct val="116000"/>
              </a:lnSpc>
              <a:buNone/>
              <a:defRPr sz="2100" b="0">
                <a:solidFill>
                  <a:srgbClr val="52606B"/>
                </a:solidFill>
                <a:latin typeface="AppleGothic"/>
                <a:ea typeface="AppleGothic"/>
                <a:cs typeface="AppleGothic"/>
              </a:defRPr>
            </a:pPr>
            <a:r>
              <a:rPr sz="2100" b="0">
                <a:solidFill>
                  <a:srgbClr val="52606B"/>
                </a:solidFill>
                <a:latin typeface="AppleGothic"/>
                <a:ea typeface="AppleGothic"/>
                <a:cs typeface="AppleGothic"/>
              </a:rPr>
              <a:t>설정·모델 선택에 사용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7B105A4D-CEBA-41D1-9F7C-502A188453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90650" y="3567811"/>
            <a:ext cx="1019175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FD5D3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F2763519-85EC-4943-A9C5-A5FDFF98F3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324350"/>
            <a:ext cx="5715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1800" b="0">
                <a:solidFill>
                  <a:srgbClr val="284B72"/>
                </a:solidFill>
                <a:latin typeface="Menlo"/>
                <a:ea typeface="Menlo"/>
                <a:cs typeface="Menlo"/>
              </a:defRPr>
            </a:defPPr>
          </a:lstStyle>
          <a:p xmlns:a="http://schemas.openxmlformats.org/drawingml/2006/main">
            <a:pPr algn="l">
              <a:lnSpc>
                <a:spcPct val="116000"/>
              </a:lnSpc>
              <a:buNone/>
              <a:defRPr sz="1800" b="0">
                <a:solidFill>
                  <a:srgbClr val="284B72"/>
                </a:solidFill>
                <a:latin typeface="Menlo"/>
                <a:ea typeface="Menlo"/>
                <a:cs typeface="Menlo"/>
              </a:defRPr>
            </a:pPr>
            <a:r>
              <a:rPr sz="1800" b="0">
                <a:solidFill>
                  <a:srgbClr val="284B72"/>
                </a:solidFill>
                <a:latin typeface="Menlo"/>
                <a:ea typeface="Menlo"/>
                <a:cs typeface="Menlo"/>
              </a:rPr>
              <a:t>03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8EE5E497-3942-404B-B77C-FB9C5E5A13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90650" y="4305300"/>
            <a:ext cx="3000375" cy="36741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2300" b="1">
                <a:solidFill>
                  <a:srgbClr val="17191B"/>
                </a:solidFill>
                <a:latin typeface="AppleGothic"/>
                <a:ea typeface="AppleGothic"/>
                <a:cs typeface="AppleGothic"/>
              </a:defRPr>
            </a:defPPr>
          </a:lstStyle>
          <a:p xmlns:a="http://schemas.openxmlformats.org/drawingml/2006/main">
            <a:pPr algn="l">
              <a:lnSpc>
                <a:spcPct val="116000"/>
              </a:lnSpc>
              <a:buNone/>
              <a:defRPr sz="2300" b="1">
                <a:solidFill>
                  <a:srgbClr val="17191B"/>
                </a:solidFill>
                <a:latin typeface="AppleGothic"/>
                <a:ea typeface="AppleGothic"/>
                <a:cs typeface="AppleGothic"/>
              </a:defRPr>
            </a:pPr>
            <a:r>
              <a:rPr sz="2300" b="1">
                <a:solidFill>
                  <a:srgbClr val="17191B"/>
                </a:solidFill>
                <a:latin typeface="AppleGothic"/>
                <a:ea typeface="AppleGothic"/>
                <a:cs typeface="AppleGothic"/>
              </a:rPr>
              <a:t>test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D12C0D6F-B1DD-47B0-B4FD-72F388DED9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81550" y="4305300"/>
            <a:ext cx="6781800" cy="36741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2100" b="0">
                <a:solidFill>
                  <a:srgbClr val="52606B"/>
                </a:solidFill>
                <a:latin typeface="AppleGothic"/>
                <a:ea typeface="AppleGothic"/>
                <a:cs typeface="AppleGothic"/>
              </a:defRPr>
            </a:defPPr>
          </a:lstStyle>
          <a:p xmlns:a="http://schemas.openxmlformats.org/drawingml/2006/main">
            <a:pPr algn="l">
              <a:lnSpc>
                <a:spcPct val="116000"/>
              </a:lnSpc>
              <a:buNone/>
              <a:defRPr sz="2100" b="0">
                <a:solidFill>
                  <a:srgbClr val="52606B"/>
                </a:solidFill>
                <a:latin typeface="AppleGothic"/>
                <a:ea typeface="AppleGothic"/>
                <a:cs typeface="AppleGothic"/>
              </a:defRPr>
            </a:pPr>
            <a:r>
              <a:rPr sz="2100" b="0">
                <a:solidFill>
                  <a:srgbClr val="52606B"/>
                </a:solidFill>
                <a:latin typeface="AppleGothic"/>
                <a:ea typeface="AppleGothic"/>
                <a:cs typeface="AppleGothic"/>
              </a:rPr>
              <a:t>최종 비교용으로 보류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335AE310-83C4-4D1D-AF3E-99FB09EDA9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90650" y="4806061"/>
            <a:ext cx="1019175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FD5D3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76479D54-F741-4FA2-87DF-B5CC2ED44D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791200"/>
            <a:ext cx="109728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1600" b="0">
                <a:solidFill>
                  <a:srgbClr val="52606B"/>
                </a:solidFill>
                <a:latin typeface="AppleGothic"/>
                <a:ea typeface="AppleGothic"/>
                <a:cs typeface="AppleGothic"/>
              </a:defRPr>
            </a:defPPr>
          </a:lstStyle>
          <a:p xmlns:a="http://schemas.openxmlformats.org/drawingml/2006/main">
            <a:pPr algn="l">
              <a:lnSpc>
                <a:spcPct val="116000"/>
              </a:lnSpc>
              <a:buNone/>
              <a:defRPr sz="1600" b="0">
                <a:solidFill>
                  <a:srgbClr val="52606B"/>
                </a:solidFill>
                <a:latin typeface="AppleGothic"/>
                <a:ea typeface="AppleGothic"/>
                <a:cs typeface="AppleGothic"/>
              </a:defRPr>
            </a:pPr>
            <a:r>
              <a:rPr sz="1600" b="0">
                <a:solidFill>
                  <a:srgbClr val="52606B"/>
                </a:solidFill>
                <a:latin typeface="AppleGothic"/>
                <a:ea typeface="AppleGothic"/>
                <a:cs typeface="AppleGothic"/>
              </a:rPr>
              <a:t>test 결과를 보고 설정을 반복 변경하면 독립 평가의 의미 약화</a:t>
            </a:r>
          </a:p>
        </p:txBody>
      </p:sp>
    </p:spTree>
    <p:extLst>
      <p:ext uri="{BB962C8B-B14F-4D97-AF65-F5344CB8AC3E}">
        <p14:creationId xmlns:p14="http://schemas.microsoft.com/office/powerpoint/2010/main" val="1022241602"/>
      </p:ext>
    </p:extLst>
  </p:cSld>
</p:sld>
</file>

<file path=ppt/slides/slide20.xml><?xml version="1.0" encoding="utf-8"?>
<p:sld xmlns:p="http://schemas.openxmlformats.org/presentationml/2006/main">
  <p:cSld>
    <p:bg>
      <p:bgPr>
        <a:solidFill xmlns:a="http://schemas.openxmlformats.org/drawingml/2006/main">
          <a:srgbClr val="F7F7F5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FF3F24C3-60CA-4771-8C74-88EEEEE762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47650"/>
            <a:ext cx="9525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1400" b="0">
                <a:solidFill>
                  <a:srgbClr val="52606B"/>
                </a:solidFill>
                <a:latin typeface="AppleGothic"/>
                <a:ea typeface="AppleGothic"/>
                <a:cs typeface="AppleGothic"/>
              </a:defRPr>
            </a:defPPr>
          </a:lstStyle>
          <a:p xmlns:a="http://schemas.openxmlformats.org/drawingml/2006/main">
            <a:pPr algn="l">
              <a:lnSpc>
                <a:spcPct val="116000"/>
              </a:lnSpc>
              <a:buNone/>
              <a:defRPr sz="1400" b="0">
                <a:solidFill>
                  <a:srgbClr val="52606B"/>
                </a:solidFill>
                <a:latin typeface="AppleGothic"/>
                <a:ea typeface="AppleGothic"/>
                <a:cs typeface="AppleGothic"/>
              </a:defRPr>
            </a:pPr>
            <a:r>
              <a:rPr sz="1400" b="0">
                <a:solidFill>
                  <a:srgbClr val="52606B"/>
                </a:solidFill>
                <a:latin typeface="AppleGothic"/>
                <a:ea typeface="AppleGothic"/>
                <a:cs typeface="AppleGothic"/>
              </a:rPr>
              <a:t>LLMOPS / W07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9D361C01-F1DB-4DDC-A3ED-805AAC9160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8500" y="247650"/>
            <a:ext cx="7239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r">
              <a:defRPr sz="1400" b="0">
                <a:solidFill>
                  <a:srgbClr val="52606B"/>
                </a:solidFill>
                <a:latin typeface="Menlo"/>
                <a:ea typeface="Menlo"/>
                <a:cs typeface="Menlo"/>
              </a:defRPr>
            </a:defPPr>
          </a:lstStyle>
          <a:p xmlns:a="http://schemas.openxmlformats.org/drawingml/2006/main">
            <a:pPr algn="r">
              <a:lnSpc>
                <a:spcPct val="116000"/>
              </a:lnSpc>
              <a:buNone/>
              <a:defRPr sz="1400" b="0">
                <a:solidFill>
                  <a:srgbClr val="52606B"/>
                </a:solidFill>
                <a:latin typeface="Menlo"/>
                <a:ea typeface="Menlo"/>
                <a:cs typeface="Menlo"/>
              </a:defRPr>
            </a:pPr>
            <a:r>
              <a:rPr sz="1400" b="0">
                <a:solidFill>
                  <a:srgbClr val="52606B"/>
                </a:solidFill>
                <a:latin typeface="Menlo"/>
                <a:ea typeface="Menlo"/>
                <a:cs typeface="Menlo"/>
              </a:rPr>
              <a:t>20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D24B2BEE-FA09-493A-BF28-D677D68CE3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23900"/>
            <a:ext cx="109728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3400" b="1">
                <a:solidFill>
                  <a:srgbClr val="17191B"/>
                </a:solidFill>
                <a:latin typeface="AppleGothic"/>
                <a:ea typeface="AppleGothic"/>
                <a:cs typeface="AppleGothic"/>
              </a:defRPr>
            </a:defPPr>
          </a:lstStyle>
          <a:p xmlns:a="http://schemas.openxmlformats.org/drawingml/2006/main">
            <a:pPr algn="l">
              <a:lnSpc>
                <a:spcPct val="116000"/>
              </a:lnSpc>
              <a:buNone/>
              <a:defRPr sz="3400" b="1">
                <a:solidFill>
                  <a:srgbClr val="17191B"/>
                </a:solidFill>
                <a:latin typeface="AppleGothic"/>
                <a:ea typeface="AppleGothic"/>
                <a:cs typeface="AppleGothic"/>
              </a:defRPr>
            </a:pPr>
            <a:r>
              <a:rPr sz="3400" b="1">
                <a:solidFill>
                  <a:srgbClr val="17191B"/>
                </a:solidFill>
                <a:latin typeface="AppleGothic"/>
                <a:ea typeface="AppleGothic"/>
                <a:cs typeface="AppleGothic"/>
              </a:rPr>
              <a:t>합성 데이터의 분할 결과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04EFB859-A191-4B02-8DC0-957A7BD30E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315075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FD5D3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AD8B02D1-4B4F-497E-9FAC-61F8C67DFC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77000"/>
            <a:ext cx="109728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1400" b="0">
                <a:solidFill>
                  <a:srgbClr val="52606B"/>
                </a:solidFill>
                <a:latin typeface="AppleGothic"/>
                <a:ea typeface="AppleGothic"/>
                <a:cs typeface="AppleGothic"/>
              </a:defRPr>
            </a:defPPr>
          </a:lstStyle>
          <a:p xmlns:a="http://schemas.openxmlformats.org/drawingml/2006/main">
            <a:pPr algn="l">
              <a:lnSpc>
                <a:spcPct val="116000"/>
              </a:lnSpc>
              <a:buNone/>
              <a:defRPr sz="1400" b="0">
                <a:solidFill>
                  <a:srgbClr val="52606B"/>
                </a:solidFill>
                <a:latin typeface="AppleGothic"/>
                <a:ea typeface="AppleGothic"/>
                <a:cs typeface="AppleGothic"/>
              </a:defRPr>
            </a:pPr>
            <a:r>
              <a:rPr sz="1400" b="0">
                <a:solidFill>
                  <a:srgbClr val="52606B"/>
                </a:solidFill>
                <a:latin typeface="AppleGothic"/>
                <a:ea typeface="AppleGothic"/>
                <a:cs typeface="AppleGothic"/>
              </a:rPr>
              <a:t>데이터 · 모델 적응 · 비교 평가 · 기획서 초안</a:t>
            </a:r>
          </a:p>
        </p:txBody>
      </p:sp>
      <p:graphicFrame>
        <p:nvGraphicFrame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1D0AE9FA-ACF3-4BD6-B281-3EEAF9F41809}"/>
              </a:ext>
            </a:extLst>
          </p:cNvPr>
          <p:cNvGraphicFramePr/>
          <p:nvPr/>
        </p:nvGraphicFramePr>
        <p:xfrm>
          <a:off xmlns:a="http://schemas.openxmlformats.org/drawingml/2006/main" x="609600" y="1809750"/>
          <a:ext xmlns:a="http://schemas.openxmlformats.org/drawingml/2006/main" cx="10972800" cy="2971800"/>
        </p:xfrm>
        <a:graphic xmlns:a="http://schemas.openxmlformats.org/drawingml/2006/main">
          <a:graphicData uri="http://schemas.openxmlformats.org/drawingml/2006/table">
            <a:tbl>
              <a:tblPr firstRow="0" bandRow="0"/>
              <a:tblGrid>
                <a:gridCol w="2857500"/>
                <a:gridCol w="4686300"/>
                <a:gridCol w="3429000"/>
              </a:tblGrid>
              <a:tr h="742950">
                <a:tc>
                  <a:txBody>
                    <a:bodyPr wrap="none" lIns="133350" tIns="114300" rIns="133350" bIns="114300">
                      <a:noAutofit/>
                    </a:bodyPr>
                    <a:lstStyle/>
                    <a:p>
                      <a:r>
                        <a:rPr sz="1900" b="1">
                          <a:solidFill>
                            <a:srgbClr val="17283B"/>
                          </a:solidFill>
                          <a:latin typeface="AppleGothic"/>
                          <a:ea typeface="AppleGothic"/>
                          <a:cs typeface="AppleGothic"/>
                        </a:rPr>
                        <a:t>분할</a:t>
                      </a:r>
                    </a:p>
                  </a:txBody>
                  <a:tcPr marL="91440" marR="91440" marT="45720" marB="4572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EDF1F6"/>
                    </a:solidFill>
                  </a:tcPr>
                </a:tc>
                <a:tc>
                  <a:txBody>
                    <a:bodyPr wrap="none" lIns="133350" tIns="114300" rIns="133350" bIns="114300">
                      <a:noAutofit/>
                    </a:bodyPr>
                    <a:lstStyle/>
                    <a:p>
                      <a:r>
                        <a:rPr sz="1900" b="1">
                          <a:solidFill>
                            <a:srgbClr val="17283B"/>
                          </a:solidFill>
                          <a:latin typeface="AppleGothic"/>
                          <a:ea typeface="AppleGothic"/>
                          <a:cs typeface="AppleGothic"/>
                        </a:rPr>
                        <a:t>사건 수</a:t>
                      </a:r>
                    </a:p>
                  </a:txBody>
                  <a:tcPr marL="91440" marR="91440" marT="45720" marB="4572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EDF1F6"/>
                    </a:solidFill>
                  </a:tcPr>
                </a:tc>
                <a:tc>
                  <a:txBody>
                    <a:bodyPr wrap="none" lIns="133350" tIns="114300" rIns="133350" bIns="114300">
                      <a:noAutofit/>
                    </a:bodyPr>
                    <a:lstStyle/>
                    <a:p>
                      <a:r>
                        <a:rPr sz="1900" b="1">
                          <a:solidFill>
                            <a:srgbClr val="17283B"/>
                          </a:solidFill>
                          <a:latin typeface="AppleGothic"/>
                          <a:ea typeface="AppleGothic"/>
                          <a:cs typeface="AppleGothic"/>
                        </a:rPr>
                        <a:t>문장 수</a:t>
                      </a:r>
                    </a:p>
                  </a:txBody>
                  <a:tcPr marL="91440" marR="91440" marT="45720" marB="4572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EDF1F6"/>
                    </a:solidFill>
                  </a:tcPr>
                </a:tc>
              </a:tr>
              <a:tr h="742950">
                <a:tc>
                  <a:txBody>
                    <a:bodyPr wrap="none" lIns="133350" tIns="114300" rIns="133350" bIns="114300">
                      <a:noAutofit/>
                    </a:bodyPr>
                    <a:lstStyle/>
                    <a:p>
                      <a:r>
                        <a:rPr sz="1900" b="1">
                          <a:solidFill>
                            <a:srgbClr val="17191B"/>
                          </a:solidFill>
                          <a:latin typeface="AppleGothic"/>
                          <a:ea typeface="AppleGothic"/>
                          <a:cs typeface="AppleGothic"/>
                        </a:rPr>
                        <a:t>train</a:t>
                      </a:r>
                    </a:p>
                  </a:txBody>
                  <a:tcPr marL="91440" marR="91440" marT="45720" marB="4572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 lIns="133350" tIns="114300" rIns="133350" bIns="114300">
                      <a:noAutofit/>
                    </a:bodyPr>
                    <a:lstStyle/>
                    <a:p>
                      <a:r>
                        <a:rPr sz="1900" b="0">
                          <a:solidFill>
                            <a:srgbClr val="52606B"/>
                          </a:solidFill>
                          <a:latin typeface="AppleGothic"/>
                          <a:ea typeface="AppleGothic"/>
                          <a:cs typeface="AppleGothic"/>
                        </a:rPr>
                        <a:t>16</a:t>
                      </a:r>
                    </a:p>
                  </a:txBody>
                  <a:tcPr marL="91440" marR="91440" marT="45720" marB="4572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 lIns="133350" tIns="114300" rIns="133350" bIns="114300">
                      <a:noAutofit/>
                    </a:bodyPr>
                    <a:lstStyle/>
                    <a:p>
                      <a:r>
                        <a:rPr sz="1900" b="0">
                          <a:solidFill>
                            <a:srgbClr val="52606B"/>
                          </a:solidFill>
                          <a:latin typeface="AppleGothic"/>
                          <a:ea typeface="AppleGothic"/>
                          <a:cs typeface="AppleGothic"/>
                        </a:rPr>
                        <a:t>32</a:t>
                      </a:r>
                    </a:p>
                  </a:txBody>
                  <a:tcPr marL="91440" marR="91440" marT="45720" marB="4572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FFFFFF"/>
                    </a:solidFill>
                  </a:tcPr>
                </a:tc>
              </a:tr>
              <a:tr h="742950">
                <a:tc>
                  <a:txBody>
                    <a:bodyPr wrap="none" lIns="133350" tIns="114300" rIns="133350" bIns="114300">
                      <a:noAutofit/>
                    </a:bodyPr>
                    <a:lstStyle/>
                    <a:p>
                      <a:r>
                        <a:rPr sz="1900" b="1">
                          <a:solidFill>
                            <a:srgbClr val="17191B"/>
                          </a:solidFill>
                          <a:latin typeface="AppleGothic"/>
                          <a:ea typeface="AppleGothic"/>
                          <a:cs typeface="AppleGothic"/>
                        </a:rPr>
                        <a:t>dev</a:t>
                      </a:r>
                    </a:p>
                  </a:txBody>
                  <a:tcPr marL="91440" marR="91440" marT="45720" marB="4572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 lIns="133350" tIns="114300" rIns="133350" bIns="114300">
                      <a:noAutofit/>
                    </a:bodyPr>
                    <a:lstStyle/>
                    <a:p>
                      <a:r>
                        <a:rPr sz="1900" b="0">
                          <a:solidFill>
                            <a:srgbClr val="52606B"/>
                          </a:solidFill>
                          <a:latin typeface="AppleGothic"/>
                          <a:ea typeface="AppleGothic"/>
                          <a:cs typeface="AppleGothic"/>
                        </a:rPr>
                        <a:t>4</a:t>
                      </a:r>
                    </a:p>
                  </a:txBody>
                  <a:tcPr marL="91440" marR="91440" marT="45720" marB="4572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 lIns="133350" tIns="114300" rIns="133350" bIns="114300">
                      <a:noAutofit/>
                    </a:bodyPr>
                    <a:lstStyle/>
                    <a:p>
                      <a:r>
                        <a:rPr sz="1900" b="0">
                          <a:solidFill>
                            <a:srgbClr val="52606B"/>
                          </a:solidFill>
                          <a:latin typeface="AppleGothic"/>
                          <a:ea typeface="AppleGothic"/>
                          <a:cs typeface="AppleGothic"/>
                        </a:rPr>
                        <a:t>8</a:t>
                      </a:r>
                    </a:p>
                  </a:txBody>
                  <a:tcPr marL="91440" marR="91440" marT="45720" marB="4572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FFFFFF"/>
                    </a:solidFill>
                  </a:tcPr>
                </a:tc>
              </a:tr>
              <a:tr h="742950">
                <a:tc>
                  <a:txBody>
                    <a:bodyPr wrap="none" lIns="133350" tIns="114300" rIns="133350" bIns="114300">
                      <a:noAutofit/>
                    </a:bodyPr>
                    <a:lstStyle/>
                    <a:p>
                      <a:r>
                        <a:rPr sz="1900" b="1">
                          <a:solidFill>
                            <a:srgbClr val="17191B"/>
                          </a:solidFill>
                          <a:latin typeface="AppleGothic"/>
                          <a:ea typeface="AppleGothic"/>
                          <a:cs typeface="AppleGothic"/>
                        </a:rPr>
                        <a:t>test</a:t>
                      </a:r>
                    </a:p>
                  </a:txBody>
                  <a:tcPr marL="91440" marR="91440" marT="45720" marB="4572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 lIns="133350" tIns="114300" rIns="133350" bIns="114300">
                      <a:noAutofit/>
                    </a:bodyPr>
                    <a:lstStyle/>
                    <a:p>
                      <a:r>
                        <a:rPr sz="1900" b="0">
                          <a:solidFill>
                            <a:srgbClr val="52606B"/>
                          </a:solidFill>
                          <a:latin typeface="AppleGothic"/>
                          <a:ea typeface="AppleGothic"/>
                          <a:cs typeface="AppleGothic"/>
                        </a:rPr>
                        <a:t>4</a:t>
                      </a:r>
                    </a:p>
                  </a:txBody>
                  <a:tcPr marL="91440" marR="91440" marT="45720" marB="4572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 lIns="133350" tIns="114300" rIns="133350" bIns="114300">
                      <a:noAutofit/>
                    </a:bodyPr>
                    <a:lstStyle/>
                    <a:p>
                      <a:r>
                        <a:rPr sz="1900" b="0">
                          <a:solidFill>
                            <a:srgbClr val="52606B"/>
                          </a:solidFill>
                          <a:latin typeface="AppleGothic"/>
                          <a:ea typeface="AppleGothic"/>
                          <a:cs typeface="AppleGothic"/>
                        </a:rPr>
                        <a:t>8</a:t>
                      </a:r>
                    </a:p>
                  </a:txBody>
                  <a:tcPr marL="91440" marR="91440" marT="45720" marB="4572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91C7C51B-29E8-488E-B381-BB523D65F7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80975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283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EE452DE0-E1B7-4089-BB2B-22B5AD0349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5527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FD5D3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91B8BB22-7941-420F-A030-EC6C6E2406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29565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FD5D3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88CDC3F7-5ACF-4E30-ABEC-3CC18DB754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0386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FD5D3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ECCFD330-DAE2-4E3D-85A2-9600F2C77A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78155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283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D09DACA7-E14D-4FE3-8027-4D7D36BF09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791200"/>
            <a:ext cx="109728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1600" b="0">
                <a:solidFill>
                  <a:srgbClr val="52606B"/>
                </a:solidFill>
                <a:latin typeface="AppleGothic"/>
                <a:ea typeface="AppleGothic"/>
                <a:cs typeface="AppleGothic"/>
              </a:defRPr>
            </a:defPPr>
          </a:lstStyle>
          <a:p xmlns:a="http://schemas.openxmlformats.org/drawingml/2006/main">
            <a:pPr algn="l">
              <a:lnSpc>
                <a:spcPct val="116000"/>
              </a:lnSpc>
              <a:buNone/>
              <a:defRPr sz="1600" b="0">
                <a:solidFill>
                  <a:srgbClr val="52606B"/>
                </a:solidFill>
                <a:latin typeface="AppleGothic"/>
                <a:ea typeface="AppleGothic"/>
                <a:cs typeface="AppleGothic"/>
              </a:defRPr>
            </a:pPr>
            <a:r>
              <a:rPr sz="1600" b="0">
                <a:solidFill>
                  <a:srgbClr val="52606B"/>
                </a:solidFill>
                <a:latin typeface="AppleGothic"/>
                <a:ea typeface="AppleGothic"/>
                <a:cs typeface="AppleGothic"/>
              </a:rPr>
              <a:t>Notebook 01 · 24사건 × 2표현 · seed=42 · 실제 고객 자료 아님</a:t>
            </a:r>
          </a:p>
        </p:txBody>
      </p:sp>
    </p:spTree>
    <p:extLst>
      <p:ext uri="{BB962C8B-B14F-4D97-AF65-F5344CB8AC3E}">
        <p14:creationId xmlns:p14="http://schemas.microsoft.com/office/powerpoint/2010/main" val="1992646933"/>
      </p:ext>
    </p:extLst>
  </p:cSld>
</p:sld>
</file>

<file path=ppt/slides/slide21.xml><?xml version="1.0" encoding="utf-8"?>
<p:sld xmlns:p="http://schemas.openxmlformats.org/presentationml/2006/main">
  <p:cSld>
    <p:bg>
      <p:bgPr>
        <a:solidFill xmlns:a="http://schemas.openxmlformats.org/drawingml/2006/main">
          <a:srgbClr val="F7F7F5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CDC3E1FB-1971-45BE-8A6E-6F9C36D0F0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47650"/>
            <a:ext cx="9525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1400" b="0">
                <a:solidFill>
                  <a:srgbClr val="52606B"/>
                </a:solidFill>
                <a:latin typeface="AppleGothic"/>
                <a:ea typeface="AppleGothic"/>
                <a:cs typeface="AppleGothic"/>
              </a:defRPr>
            </a:defPPr>
          </a:lstStyle>
          <a:p xmlns:a="http://schemas.openxmlformats.org/drawingml/2006/main">
            <a:pPr algn="l">
              <a:lnSpc>
                <a:spcPct val="116000"/>
              </a:lnSpc>
              <a:buNone/>
              <a:defRPr sz="1400" b="0">
                <a:solidFill>
                  <a:srgbClr val="52606B"/>
                </a:solidFill>
                <a:latin typeface="AppleGothic"/>
                <a:ea typeface="AppleGothic"/>
                <a:cs typeface="AppleGothic"/>
              </a:defRPr>
            </a:pPr>
            <a:r>
              <a:rPr sz="1400" b="0">
                <a:solidFill>
                  <a:srgbClr val="52606B"/>
                </a:solidFill>
                <a:latin typeface="AppleGothic"/>
                <a:ea typeface="AppleGothic"/>
                <a:cs typeface="AppleGothic"/>
              </a:rPr>
              <a:t>LLMOPS / W07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4F99505C-2483-42DB-AA9D-4D16A862C2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8500" y="247650"/>
            <a:ext cx="7239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r">
              <a:defRPr sz="1400" b="0">
                <a:solidFill>
                  <a:srgbClr val="52606B"/>
                </a:solidFill>
                <a:latin typeface="Menlo"/>
                <a:ea typeface="Menlo"/>
                <a:cs typeface="Menlo"/>
              </a:defRPr>
            </a:defPPr>
          </a:lstStyle>
          <a:p xmlns:a="http://schemas.openxmlformats.org/drawingml/2006/main">
            <a:pPr algn="r">
              <a:lnSpc>
                <a:spcPct val="116000"/>
              </a:lnSpc>
              <a:buNone/>
              <a:defRPr sz="1400" b="0">
                <a:solidFill>
                  <a:srgbClr val="52606B"/>
                </a:solidFill>
                <a:latin typeface="Menlo"/>
                <a:ea typeface="Menlo"/>
                <a:cs typeface="Menlo"/>
              </a:defRPr>
            </a:pPr>
            <a:r>
              <a:rPr sz="1400" b="0">
                <a:solidFill>
                  <a:srgbClr val="52606B"/>
                </a:solidFill>
                <a:latin typeface="Menlo"/>
                <a:ea typeface="Menlo"/>
                <a:cs typeface="Menlo"/>
              </a:rPr>
              <a:t>21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66628C1E-EC31-4589-BD28-FB2F4A6ADA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23900"/>
            <a:ext cx="109728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3400" b="1">
                <a:solidFill>
                  <a:srgbClr val="17191B"/>
                </a:solidFill>
                <a:latin typeface="AppleGothic"/>
                <a:ea typeface="AppleGothic"/>
                <a:cs typeface="AppleGothic"/>
              </a:defRPr>
            </a:defPPr>
          </a:lstStyle>
          <a:p xmlns:a="http://schemas.openxmlformats.org/drawingml/2006/main">
            <a:pPr algn="l">
              <a:lnSpc>
                <a:spcPct val="116000"/>
              </a:lnSpc>
              <a:buNone/>
              <a:defRPr sz="3400" b="1">
                <a:solidFill>
                  <a:srgbClr val="17191B"/>
                </a:solidFill>
                <a:latin typeface="AppleGothic"/>
                <a:ea typeface="AppleGothic"/>
                <a:cs typeface="AppleGothic"/>
              </a:defRPr>
            </a:pPr>
            <a:r>
              <a:rPr sz="3400" b="1">
                <a:solidFill>
                  <a:srgbClr val="17191B"/>
                </a:solidFill>
                <a:latin typeface="AppleGothic"/>
                <a:ea typeface="AppleGothic"/>
                <a:cs typeface="AppleGothic"/>
              </a:rPr>
              <a:t>손실 계산의 범위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3879A832-4EBD-42E8-81C6-C830423B59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315075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FD5D3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8CDE2F5D-7AFF-4169-8E89-725085A5AA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77000"/>
            <a:ext cx="109728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1400" b="0">
                <a:solidFill>
                  <a:srgbClr val="52606B"/>
                </a:solidFill>
                <a:latin typeface="AppleGothic"/>
                <a:ea typeface="AppleGothic"/>
                <a:cs typeface="AppleGothic"/>
              </a:defRPr>
            </a:defPPr>
          </a:lstStyle>
          <a:p xmlns:a="http://schemas.openxmlformats.org/drawingml/2006/main">
            <a:pPr algn="l">
              <a:lnSpc>
                <a:spcPct val="116000"/>
              </a:lnSpc>
              <a:buNone/>
              <a:defRPr sz="1400" b="0">
                <a:solidFill>
                  <a:srgbClr val="52606B"/>
                </a:solidFill>
                <a:latin typeface="AppleGothic"/>
                <a:ea typeface="AppleGothic"/>
                <a:cs typeface="AppleGothic"/>
              </a:defRPr>
            </a:pPr>
            <a:r>
              <a:rPr sz="1400" b="0">
                <a:solidFill>
                  <a:srgbClr val="52606B"/>
                </a:solidFill>
                <a:latin typeface="AppleGothic"/>
                <a:ea typeface="AppleGothic"/>
                <a:cs typeface="AppleGothic"/>
              </a:rPr>
              <a:t>데이터 · 모델 적응 · 비교 평가 · 기획서 초안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8DBDD03A-E396-4BC8-A318-328BF919C8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057400"/>
            <a:ext cx="5295900" cy="800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2900" b="1">
                <a:solidFill>
                  <a:srgbClr val="17191B"/>
                </a:solidFill>
                <a:latin typeface="AppleGothic"/>
                <a:ea typeface="AppleGothic"/>
                <a:cs typeface="AppleGothic"/>
              </a:defRPr>
            </a:defPPr>
          </a:lstStyle>
          <a:p xmlns:a="http://schemas.openxmlformats.org/drawingml/2006/main">
            <a:pPr algn="l">
              <a:lnSpc>
                <a:spcPct val="116000"/>
              </a:lnSpc>
              <a:buNone/>
              <a:defRPr sz="2900" b="1">
                <a:solidFill>
                  <a:srgbClr val="17191B"/>
                </a:solidFill>
                <a:latin typeface="AppleGothic"/>
                <a:ea typeface="AppleGothic"/>
                <a:cs typeface="AppleGothic"/>
              </a:defRPr>
            </a:pPr>
            <a:r>
              <a:rPr sz="2900" b="1">
                <a:solidFill>
                  <a:srgbClr val="17191B"/>
                </a:solidFill>
                <a:latin typeface="AppleGothic"/>
                <a:ea typeface="AppleGothic"/>
                <a:cs typeface="AppleGothic"/>
              </a:rPr>
              <a:t>입력까지 계산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41486AA3-C912-4C91-B44A-BB902803DA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000375"/>
            <a:ext cx="52959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84B7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2998BAAD-158A-45C9-87A9-78A4DDC069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371850"/>
            <a:ext cx="5238750" cy="36741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2300" b="0">
                <a:solidFill>
                  <a:srgbClr val="52606B"/>
                </a:solidFill>
                <a:latin typeface="AppleGothic"/>
                <a:ea typeface="AppleGothic"/>
                <a:cs typeface="AppleGothic"/>
              </a:defRPr>
            </a:defPPr>
          </a:lstStyle>
          <a:p xmlns:a="http://schemas.openxmlformats.org/drawingml/2006/main">
            <a:pPr algn="l">
              <a:lnSpc>
                <a:spcPct val="116000"/>
              </a:lnSpc>
              <a:buNone/>
              <a:defRPr sz="2300" b="0">
                <a:solidFill>
                  <a:srgbClr val="52606B"/>
                </a:solidFill>
                <a:latin typeface="AppleGothic"/>
                <a:ea typeface="AppleGothic"/>
                <a:cs typeface="AppleGothic"/>
              </a:defRPr>
            </a:pPr>
            <a:r>
              <a:rPr sz="2300" b="0">
                <a:solidFill>
                  <a:srgbClr val="52606B"/>
                </a:solidFill>
                <a:latin typeface="AppleGothic"/>
                <a:ea typeface="AppleGothic"/>
                <a:cs typeface="AppleGothic"/>
              </a:rPr>
              <a:t>질문·문서 토큰 포함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C800E2D2-2D5A-42B2-A36D-B58BD789E7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139311"/>
            <a:ext cx="5238750" cy="36741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2300" b="0">
                <a:solidFill>
                  <a:srgbClr val="52606B"/>
                </a:solidFill>
                <a:latin typeface="AppleGothic"/>
                <a:ea typeface="AppleGothic"/>
                <a:cs typeface="AppleGothic"/>
              </a:defRPr>
            </a:defPPr>
          </a:lstStyle>
          <a:p xmlns:a="http://schemas.openxmlformats.org/drawingml/2006/main">
            <a:pPr algn="l">
              <a:lnSpc>
                <a:spcPct val="116000"/>
              </a:lnSpc>
              <a:buNone/>
              <a:defRPr sz="2300" b="0">
                <a:solidFill>
                  <a:srgbClr val="52606B"/>
                </a:solidFill>
                <a:latin typeface="AppleGothic"/>
                <a:ea typeface="AppleGothic"/>
                <a:cs typeface="AppleGothic"/>
              </a:defRPr>
            </a:pPr>
            <a:r>
              <a:rPr sz="2300" b="0">
                <a:solidFill>
                  <a:srgbClr val="52606B"/>
                </a:solidFill>
                <a:latin typeface="AppleGothic"/>
                <a:ea typeface="AppleGothic"/>
                <a:cs typeface="AppleGothic"/>
              </a:rPr>
              <a:t>업무 목표와 손실 범위 확인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B7A66EBB-5DFC-42C5-B674-41595563E2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0" y="2057400"/>
            <a:ext cx="5295900" cy="800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2900" b="1">
                <a:solidFill>
                  <a:srgbClr val="17191B"/>
                </a:solidFill>
                <a:latin typeface="AppleGothic"/>
                <a:ea typeface="AppleGothic"/>
                <a:cs typeface="AppleGothic"/>
              </a:defRPr>
            </a:defPPr>
          </a:lstStyle>
          <a:p xmlns:a="http://schemas.openxmlformats.org/drawingml/2006/main">
            <a:pPr algn="l">
              <a:lnSpc>
                <a:spcPct val="116000"/>
              </a:lnSpc>
              <a:buNone/>
              <a:defRPr sz="2900" b="1">
                <a:solidFill>
                  <a:srgbClr val="17191B"/>
                </a:solidFill>
                <a:latin typeface="AppleGothic"/>
                <a:ea typeface="AppleGothic"/>
                <a:cs typeface="AppleGothic"/>
              </a:defRPr>
            </a:pPr>
            <a:r>
              <a:rPr sz="2900" b="1">
                <a:solidFill>
                  <a:srgbClr val="17191B"/>
                </a:solidFill>
                <a:latin typeface="AppleGothic"/>
                <a:ea typeface="AppleGothic"/>
                <a:cs typeface="AppleGothic"/>
              </a:rPr>
              <a:t>답변 중심 계산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CF72822C-6EFE-44D3-AC3A-366878952B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0" y="3000375"/>
            <a:ext cx="52959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52606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BF8E1110-3413-44E9-B940-06AEB51DD7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0" y="3371850"/>
            <a:ext cx="5238750" cy="36741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2300" b="0">
                <a:solidFill>
                  <a:srgbClr val="52606B"/>
                </a:solidFill>
                <a:latin typeface="AppleGothic"/>
                <a:ea typeface="AppleGothic"/>
                <a:cs typeface="AppleGothic"/>
              </a:defRPr>
            </a:defPPr>
          </a:lstStyle>
          <a:p xmlns:a="http://schemas.openxmlformats.org/drawingml/2006/main">
            <a:pPr algn="l">
              <a:lnSpc>
                <a:spcPct val="116000"/>
              </a:lnSpc>
              <a:buNone/>
              <a:defRPr sz="2300" b="0">
                <a:solidFill>
                  <a:srgbClr val="52606B"/>
                </a:solidFill>
                <a:latin typeface="AppleGothic"/>
                <a:ea typeface="AppleGothic"/>
                <a:cs typeface="AppleGothic"/>
              </a:defRPr>
            </a:pPr>
            <a:r>
              <a:rPr sz="2300" b="0">
                <a:solidFill>
                  <a:srgbClr val="52606B"/>
                </a:solidFill>
                <a:latin typeface="AppleGothic"/>
                <a:ea typeface="AppleGothic"/>
                <a:cs typeface="AppleGothic"/>
              </a:rPr>
              <a:t>답변 토큰에 학습 신호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B0364758-9D3D-44C5-9976-F012CAF688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0" y="4139311"/>
            <a:ext cx="5238750" cy="36741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2300" b="0">
                <a:solidFill>
                  <a:srgbClr val="52606B"/>
                </a:solidFill>
                <a:latin typeface="AppleGothic"/>
                <a:ea typeface="AppleGothic"/>
                <a:cs typeface="AppleGothic"/>
              </a:defRPr>
            </a:defPPr>
          </a:lstStyle>
          <a:p xmlns:a="http://schemas.openxmlformats.org/drawingml/2006/main">
            <a:pPr algn="l">
              <a:lnSpc>
                <a:spcPct val="116000"/>
              </a:lnSpc>
              <a:buNone/>
              <a:defRPr sz="2300" b="0">
                <a:solidFill>
                  <a:srgbClr val="52606B"/>
                </a:solidFill>
                <a:latin typeface="AppleGothic"/>
                <a:ea typeface="AppleGothic"/>
                <a:cs typeface="AppleGothic"/>
              </a:defRPr>
            </a:pPr>
            <a:r>
              <a:rPr sz="2300" b="0">
                <a:solidFill>
                  <a:srgbClr val="52606B"/>
                </a:solidFill>
                <a:latin typeface="AppleGothic"/>
                <a:ea typeface="AppleGothic"/>
                <a:cs typeface="AppleGothic"/>
              </a:rPr>
              <a:t>템플릿·역할 경계 검증</a:t>
            </a:r>
          </a:p>
        </p:txBody>
      </p:sp>
    </p:spTree>
    <p:extLst>
      <p:ext uri="{BB962C8B-B14F-4D97-AF65-F5344CB8AC3E}">
        <p14:creationId xmlns:p14="http://schemas.microsoft.com/office/powerpoint/2010/main" val="1958547068"/>
      </p:ext>
    </p:extLst>
  </p:cSld>
</p:sld>
</file>

<file path=ppt/slides/slide22.xml><?xml version="1.0" encoding="utf-8"?>
<ns0:sld xmlns:ns0="http://schemas.openxmlformats.org/presentationml/2006/main" xmlns:ns1="http://schemas.openxmlformats.org/drawingml/2006/main" xmlns:ns2="http://schemas.microsoft.com/office/drawing/2014/main" xmlns:ns3="http://schemas.openxmlformats.org/officeDocument/2006/relationships" xmlns:ns4="http://schemas.microsoft.com/office/powerpoint/2010/main">
  <ns0:cSld>
    <ns0:bg>
      <ns0:bgPr>
        <ns1:solidFill>
          <ns1:srgbClr val="F7F7F5"/>
        </ns1:solidFill>
      </ns0:bgPr>
    </ns0:bg>
    <ns0:spTree>
      <ns0:nvGrpSpPr>
        <ns0:cNvPr id="1" name=""/>
        <ns0:cNvGrpSpPr/>
        <ns0:nvPr/>
      </ns0:nvGrpSpPr>
      <ns0:grpSpPr>
        <ns1:xfrm/>
      </ns0:grpSpPr>
      <ns0:sp>
        <ns0:nvSpPr>
          <ns0:cNvPr id="14" name="">
            <ns1:extLst>
              <ns1:ext uri="{FF2B5EF4-FFF2-40B4-BE49-F238E27FC236}">
                <ns2:creationId id="{2C5C9CA4-B041-4500-80B5-A2D03F19277F}"/>
              </ns1:ext>
            </ns1:extLst>
          </ns0:cNvPr>
          <ns0:cNvSpPr>
            <ns1:spLocks noGrp="1"/>
          </ns0:cNvSpPr>
          <ns0:nvPr/>
        </ns0:nvSpPr>
        <ns0:spPr>
          <ns1:xfrm>
            <ns1:off x="609600" y="247650"/>
            <ns1:ext cx="9525000" cy="228600"/>
          </ns1:xfrm>
          <ns1:prstGeom prst="rect">
            <ns1:avLst/>
          </ns1:prstGeom>
          <ns1:noFill/>
          <ns1:ln w="0">
            <ns1:noFill/>
            <ns1:prstDash val="solid"/>
          </ns1:ln>
        </ns0:spPr>
        <ns0:txBody>
          <ns1:bodyPr wrap="none" lIns="0" tIns="0" rIns="0" bIns="0" anchor="t">
            <ns1:noAutofit/>
          </ns1:bodyPr>
          <ns1:lstStyle>
            <ns1:defPPr algn="l">
              <ns1:defRPr sz="1400" b="0">
                <ns1:solidFill>
                  <ns1:srgbClr val="52606B"/>
                </ns1:solidFill>
                <ns1:latin typeface="AppleGothic"/>
                <ns1:ea typeface="AppleGothic"/>
                <ns1:cs typeface="AppleGothic"/>
              </ns1:defRPr>
            </ns1:defPPr>
          </ns1:lstStyle>
          <ns1:p>
            <ns1:pPr algn="l">
              <ns1:lnSpc>
                <ns1:spcPct val="116000"/>
              </ns1:lnSpc>
              <ns1:buNone/>
              <ns1:defRPr sz="1400" b="0">
                <ns1:solidFill>
                  <ns1:srgbClr val="52606B"/>
                </ns1:solidFill>
                <ns1:latin typeface="AppleGothic"/>
                <ns1:ea typeface="AppleGothic"/>
                <ns1:cs typeface="AppleGothic"/>
              </ns1:defRPr>
            </ns1:pPr>
            <ns1:r>
              <ns1:rPr sz="1400" b="0">
                <ns1:solidFill>
                  <ns1:srgbClr val="52606B"/>
                </ns1:solidFill>
                <ns1:latin typeface="AppleGothic"/>
                <ns1:ea typeface="AppleGothic"/>
                <ns1:cs typeface="AppleGothic"/>
              </ns1:rPr>
              <ns1:t>LLMOPS / W07</ns1:t>
            </ns1:r>
          </ns1:p>
        </ns0:txBody>
      </ns0:sp>
      <ns0:sp>
        <ns0:nvSpPr>
          <ns0:cNvPr id="2" name="">
            <ns1:extLst>
              <ns1:ext uri="{FF2B5EF4-FFF2-40B4-BE49-F238E27FC236}">
                <ns2:creationId id="{CBEBA9A0-1DAF-459C-856E-FAC25AA53D9F}"/>
              </ns1:ext>
            </ns1:extLst>
          </ns0:cNvPr>
          <ns0:cNvSpPr>
            <ns1:spLocks noGrp="1"/>
          </ns0:cNvSpPr>
          <ns0:nvPr/>
        </ns0:nvSpPr>
        <ns0:spPr>
          <ns1:xfrm>
            <ns1:off x="10858500" y="247650"/>
            <ns1:ext cx="723900" cy="228600"/>
          </ns1:xfrm>
          <ns1:prstGeom prst="rect">
            <ns1:avLst/>
          </ns1:prstGeom>
          <ns1:noFill/>
          <ns1:ln w="0">
            <ns1:noFill/>
            <ns1:prstDash val="solid"/>
          </ns1:ln>
        </ns0:spPr>
        <ns0:txBody>
          <ns1:bodyPr wrap="none" lIns="0" tIns="0" rIns="0" bIns="0" anchor="t">
            <ns1:noAutofit/>
          </ns1:bodyPr>
          <ns1:lstStyle>
            <ns1:defPPr algn="r">
              <ns1:defRPr sz="1400" b="0">
                <ns1:solidFill>
                  <ns1:srgbClr val="52606B"/>
                </ns1:solidFill>
                <ns1:latin typeface="Menlo"/>
                <ns1:ea typeface="Menlo"/>
                <ns1:cs typeface="Menlo"/>
              </ns1:defRPr>
            </ns1:defPPr>
          </ns1:lstStyle>
          <ns1:p>
            <ns1:pPr algn="r">
              <ns1:lnSpc>
                <ns1:spcPct val="116000"/>
              </ns1:lnSpc>
              <ns1:buNone/>
              <ns1:defRPr sz="1400" b="0">
                <ns1:solidFill>
                  <ns1:srgbClr val="52606B"/>
                </ns1:solidFill>
                <ns1:latin typeface="Menlo"/>
                <ns1:ea typeface="Menlo"/>
                <ns1:cs typeface="Menlo"/>
              </ns1:defRPr>
            </ns1:pPr>
            <ns1:r>
              <ns1:rPr sz="1400" b="0">
                <ns1:solidFill>
                  <ns1:srgbClr val="52606B"/>
                </ns1:solidFill>
                <ns1:latin typeface="Menlo"/>
                <ns1:ea typeface="Menlo"/>
                <ns1:cs typeface="Menlo"/>
              </ns1:rPr>
              <ns1:t>22</ns1:t>
            </ns1:r>
          </ns1:p>
        </ns0:txBody>
      </ns0:sp>
      <ns0:sp>
        <ns0:nvSpPr>
          <ns0:cNvPr id="3" name="">
            <ns1:extLst>
              <ns1:ext uri="{FF2B5EF4-FFF2-40B4-BE49-F238E27FC236}">
                <ns2:creationId id="{5CA000EC-87C4-4282-94B2-4E343526874A}"/>
              </ns1:ext>
            </ns1:extLst>
          </ns0:cNvPr>
          <ns0:cNvSpPr>
            <ns1:spLocks noGrp="1"/>
          </ns0:cNvSpPr>
          <ns0:nvPr/>
        </ns0:nvSpPr>
        <ns0:spPr>
          <ns1:xfrm>
            <ns1:off x="609600" y="723900"/>
            <ns1:ext cx="10972800" cy="666750"/>
          </ns1:xfrm>
          <ns1:prstGeom prst="rect">
            <ns1:avLst/>
          </ns1:prstGeom>
          <ns1:noFill/>
          <ns1:ln w="0">
            <ns1:noFill/>
            <ns1:prstDash val="solid"/>
          </ns1:ln>
        </ns0:spPr>
        <ns0:txBody>
          <ns1:bodyPr wrap="none" lIns="0" tIns="0" rIns="0" bIns="0" anchor="t">
            <ns1:noAutofit/>
          </ns1:bodyPr>
          <ns1:lstStyle>
            <ns1:defPPr algn="l">
              <ns1:defRPr sz="3400" b="1">
                <ns1:solidFill>
                  <ns1:srgbClr val="17191B"/>
                </ns1:solidFill>
                <ns1:latin typeface="AppleGothic"/>
                <ns1:ea typeface="AppleGothic"/>
                <ns1:cs typeface="AppleGothic"/>
              </ns1:defRPr>
            </ns1:defPPr>
          </ns1:lstStyle>
          <ns1:p>
            <ns1:pPr algn="l">
              <ns1:lnSpc>
                <ns1:spcPct val="116000"/>
              </ns1:lnSpc>
              <ns1:buNone/>
              <ns1:defRPr sz="3400" b="1">
                <ns1:solidFill>
                  <ns1:srgbClr val="17191B"/>
                </ns1:solidFill>
                <ns1:latin typeface="AppleGothic"/>
                <ns1:ea typeface="AppleGothic"/>
                <ns1:cs typeface="AppleGothic"/>
              </ns1:defRPr>
            </ns1:pPr>
            <ns1:r>
              <ns1:rPr sz="3400" b="1">
                <ns1:solidFill>
                  <ns1:srgbClr val="17191B"/>
                </ns1:solidFill>
                <ns1:latin typeface="AppleGothic"/>
                <ns1:ea typeface="AppleGothic"/>
                <ns1:cs typeface="AppleGothic"/>
              </ns1:rPr>
              <ns1:t>대화 답변의 손실 마스킹</ns1:t>
            </ns1:r>
          </ns1:p>
        </ns0:txBody>
      </ns0:sp>
      <ns0:sp>
        <ns0:nvSpPr>
          <ns0:cNvPr id="4" name="">
            <ns1:extLst>
              <ns1:ext uri="{FF2B5EF4-FFF2-40B4-BE49-F238E27FC236}">
                <ns2:creationId id="{74AD65B3-5C90-4644-8536-D042085D9C5D}"/>
              </ns1:ext>
            </ns1:extLst>
          </ns0:cNvPr>
          <ns0:cNvSpPr>
            <ns1:spLocks noGrp="1"/>
          </ns0:cNvSpPr>
          <ns0:nvPr/>
        </ns0:nvSpPr>
        <ns0:spPr>
          <ns1:xfrm>
            <ns1:off x="609600" y="6315075"/>
            <ns1:ext cx="10972800" cy="9525"/>
          </ns1:xfrm>
          <ns1:prstGeom prst="rect">
            <ns1:avLst/>
          </ns1:prstGeom>
          <ns1:solidFill>
            <ns1:srgbClr val="CFD5D3"/>
          </ns1:solidFill>
          <ns1:ln w="0">
            <ns1:noFill/>
            <ns1:prstDash val="solid"/>
          </ns1:ln>
        </ns0:spPr>
      </ns0:sp>
      <ns0:sp>
        <ns0:nvSpPr>
          <ns0:cNvPr id="5" name="">
            <ns1:extLst>
              <ns1:ext uri="{FF2B5EF4-FFF2-40B4-BE49-F238E27FC236}">
                <ns2:creationId id="{1173CB25-2DAE-4F6B-8CD9-565E188F0D79}"/>
              </ns1:ext>
            </ns1:extLst>
          </ns0:cNvPr>
          <ns0:cNvSpPr>
            <ns1:spLocks noGrp="1"/>
          </ns0:cNvSpPr>
          <ns0:nvPr/>
        </ns0:nvSpPr>
        <ns0:spPr>
          <ns1:xfrm>
            <ns1:off x="609600" y="6477000"/>
            <ns1:ext cx="10972800" cy="228600"/>
          </ns1:xfrm>
          <ns1:prstGeom prst="rect">
            <ns1:avLst/>
          </ns1:prstGeom>
          <ns1:noFill/>
          <ns1:ln w="0">
            <ns1:noFill/>
            <ns1:prstDash val="solid"/>
          </ns1:ln>
        </ns0:spPr>
        <ns0:txBody>
          <ns1:bodyPr wrap="none" lIns="0" tIns="0" rIns="0" bIns="0" anchor="t">
            <ns1:noAutofit/>
          </ns1:bodyPr>
          <ns1:lstStyle>
            <ns1:defPPr algn="l">
              <ns1:defRPr sz="1400" b="0">
                <ns1:solidFill>
                  <ns1:srgbClr val="52606B"/>
                </ns1:solidFill>
                <ns1:latin typeface="AppleGothic"/>
                <ns1:ea typeface="AppleGothic"/>
                <ns1:cs typeface="AppleGothic"/>
              </ns1:defRPr>
            </ns1:defPPr>
          </ns1:lstStyle>
          <ns1:p>
            <ns1:pPr algn="l">
              <ns1:lnSpc>
                <ns1:spcPct val="116000"/>
              </ns1:lnSpc>
              <ns1:buNone/>
              <ns1:defRPr sz="1400" b="0">
                <ns1:solidFill>
                  <ns1:srgbClr val="52606B"/>
                </ns1:solidFill>
                <ns1:latin typeface="AppleGothic"/>
                <ns1:ea typeface="AppleGothic"/>
                <ns1:cs typeface="AppleGothic"/>
              </ns1:defRPr>
            </ns1:pPr>
            <ns1:r>
              <ns1:rPr sz="1400" b="0">
                <ns1:solidFill>
                  <ns1:srgbClr val="52606B"/>
                </ns1:solidFill>
                <ns1:latin typeface="AppleGothic"/>
                <ns1:ea typeface="AppleGothic"/>
                <ns1:cs typeface="AppleGothic"/>
              </ns1:rPr>
              <ns1:t>데이터 · 모델 적응 · 비교 평가 · 기획서 초안</ns1:t>
            </ns1:r>
          </ns1:p>
        </ns0:txBody>
      </ns0:sp>
      <ns0:pic>
        <ns0:nvPicPr>
          <ns0:cNvPr id="6" name="">
            <ns1:extLst>
              <ns1:ext uri="{FF2B5EF4-FFF2-40B4-BE49-F238E27FC236}">
                <ns2:creationId id="{D8C45CD2-8553-45DE-9CD9-FE5BD2628F49}"/>
              </ns1:ext>
            </ns1:extLst>
          </ns0:cNvPr>
          <ns0:cNvPicPr>
            <ns1:picLocks noChangeAspect="1"/>
          </ns0:cNvPicPr>
          <ns0:nvPr/>
        </ns0:nvPicPr>
        <ns0:blipFill>
          <ns1:blip ns3:embed="Rdcc5297744104c06">
            <ns1:grayscl/>
          </ns1:blip>
          <ns1:stretch/>
        </ns0:blipFill>
        <ns0:spPr>
          <ns1:xfrm>
            <ns1:off x="609600" y="1715842"/>
            <ns1:ext cx="10972800" cy="2550017"/>
          </ns1:xfrm>
          <ns1:prstGeom prst="rect">
            <ns1:avLst/>
          </ns1:prstGeom>
        </ns0:spPr>
      </ns0:pic>
      <ns0:sp>
        <ns0:nvSpPr>
          <ns0:cNvPr id="7" name="">
            <ns1:extLst>
              <ns1:ext uri="{FF2B5EF4-FFF2-40B4-BE49-F238E27FC236}">
                <ns2:creationId id="{54596E79-E3FC-4DD5-9D56-66CEFE6FB094}"/>
              </ns1:ext>
            </ns1:extLst>
          </ns0:cNvPr>
          <ns0:cNvSpPr>
            <ns1:spLocks noGrp="1"/>
          </ns0:cNvSpPr>
          <ns0:nvPr/>
        </ns0:nvSpPr>
        <ns0:spPr>
          <ns1:xfrm>
            <ns1:off x="609600" y="4581525"/>
            <ns1:ext cx="3486150" cy="342900"/>
          </ns1:xfrm>
          <ns1:prstGeom prst="rect">
            <ns1:avLst/>
          </ns1:prstGeom>
          <ns1:noFill/>
          <ns1:ln w="0">
            <ns1:noFill/>
            <ns1:prstDash val="solid"/>
          </ns1:ln>
        </ns0:spPr>
        <ns0:txBody>
          <ns1:bodyPr wrap="none" lIns="0" tIns="0" rIns="0" bIns="0" anchor="t">
            <ns1:noAutofit/>
          </ns1:bodyPr>
          <ns1:lstStyle>
            <ns1:defPPr algn="l">
              <ns1:defRPr sz="2100" b="1">
                <ns1:solidFill>
                  <ns1:srgbClr val="17191B"/>
                </ns1:solidFill>
                <ns1:latin typeface="AppleGothic"/>
                <ns1:ea typeface="AppleGothic"/>
                <ns1:cs typeface="AppleGothic"/>
              </ns1:defRPr>
            </ns1:defPPr>
          </ns1:lstStyle>
          <ns1:p>
            <ns1:pPr algn="l">
              <ns1:lnSpc>
                <ns1:spcPct val="116000"/>
              </ns1:lnSpc>
              <ns1:buNone/>
              <ns1:defRPr sz="2100" b="1">
                <ns1:solidFill>
                  <ns1:srgbClr val="17191B"/>
                </ns1:solidFill>
                <ns1:latin typeface="AppleGothic"/>
                <ns1:ea typeface="AppleGothic"/>
                <ns1:cs typeface="AppleGothic"/>
              </ns1:defRPr>
            </ns1:pPr>
            <ns1:r>
              <ns1:rPr sz="2100" b="1">
                <ns1:solidFill>
                  <ns1:srgbClr val="17191B"/>
                </ns1:solidFill>
                <ns1:latin typeface="AppleGothic"/>
                <ns1:ea typeface="AppleGothic"/>
                <ns1:cs typeface="AppleGothic"/>
              </ns1:rPr>
              <ns1:t>사용자 입력</ns1:t>
            </ns1:r>
          </ns1:p>
        </ns0:txBody>
      </ns0:sp>
      <ns0:sp>
        <ns0:nvSpPr>
          <ns0:cNvPr id="8" name="">
            <ns1:extLst>
              <ns1:ext uri="{FF2B5EF4-FFF2-40B4-BE49-F238E27FC236}">
                <ns2:creationId id="{50E8445B-17B0-4745-A60F-D839479149C6}"/>
              </ns1:ext>
            </ns1:extLst>
          </ns0:cNvPr>
          <ns0:cNvSpPr>
            <ns1:spLocks noGrp="1"/>
          </ns0:cNvSpPr>
          <ns0:nvPr/>
        </ns0:nvSpPr>
        <ns0:spPr>
          <ns1:xfrm>
            <ns1:off x="609600" y="5048250"/>
            <ns1:ext cx="3486150" cy="590550"/>
          </ns1:xfrm>
          <ns1:prstGeom prst="rect">
            <ns1:avLst/>
          </ns1:prstGeom>
          <ns1:noFill/>
          <ns1:ln w="0">
            <ns1:noFill/>
            <ns1:prstDash val="solid"/>
          </ns1:ln>
        </ns0:spPr>
        <ns0:txBody>
          <ns1:bodyPr wrap="none" lIns="0" tIns="0" rIns="0" bIns="0" anchor="t">
            <ns1:noAutofit/>
          </ns1:bodyPr>
          <ns1:lstStyle>
            <ns1:defPPr algn="l">
              <ns1:defRPr sz="1800" b="0">
                <ns1:solidFill>
                  <ns1:srgbClr val="52606B"/>
                </ns1:solidFill>
                <ns1:latin typeface="AppleGothic"/>
                <ns1:ea typeface="AppleGothic"/>
                <ns1:cs typeface="AppleGothic"/>
              </ns1:defRPr>
            </ns1:defPPr>
          </ns1:lstStyle>
          <ns1:p>
            <ns1:pPr algn="l">
              <ns1:lnSpc>
                <ns1:spcPct val="116000"/>
              </ns1:lnSpc>
              <ns1:buNone/>
              <ns1:defRPr sz="1800" b="0">
                <ns1:solidFill>
                  <ns1:srgbClr val="52606B"/>
                </ns1:solidFill>
                <ns1:latin typeface="AppleGothic"/>
                <ns1:ea typeface="AppleGothic"/>
                <ns1:cs typeface="AppleGothic"/>
              </ns1:defRPr>
            </ns1:pPr>
            <ns1:r>
              <ns1:rPr sz="1800" b="0">
                <ns1:solidFill>
                  <ns1:srgbClr val="52606B"/>
                </ns1:solidFill>
                <ns1:latin typeface="AppleGothic"/>
                <ns1:ea typeface="AppleGothic"/>
                <ns1:cs typeface="AppleGothic"/>
              </ns1:rPr>
              <ns1:t>답변에 필요한 문맥</ns1:t>
            </ns1:r>
          </ns1:p>
        </ns0:txBody>
      </ns0:sp>
      <ns0:sp>
        <ns0:nvSpPr>
          <ns0:cNvPr id="9" name="">
            <ns1:extLst>
              <ns1:ext uri="{FF2B5EF4-FFF2-40B4-BE49-F238E27FC236}">
                <ns2:creationId id="{94CB3ADB-B9B5-4C7B-ABD2-6C9970C9D771}"/>
              </ns1:ext>
            </ns1:extLst>
          </ns0:cNvPr>
          <ns0:cNvSpPr>
            <ns1:spLocks noGrp="1"/>
          </ns0:cNvSpPr>
          <ns0:nvPr/>
        </ns0:nvSpPr>
        <ns0:spPr>
          <ns1:xfrm>
            <ns1:off x="4324350" y="4581525"/>
            <ns1:ext cx="3486150" cy="342900"/>
          </ns1:xfrm>
          <ns1:prstGeom prst="rect">
            <ns1:avLst/>
          </ns1:prstGeom>
          <ns1:noFill/>
          <ns1:ln w="0">
            <ns1:noFill/>
            <ns1:prstDash val="solid"/>
          </ns1:ln>
        </ns0:spPr>
        <ns0:txBody>
          <ns1:bodyPr wrap="none" lIns="0" tIns="0" rIns="0" bIns="0" anchor="t">
            <ns1:noAutofit/>
          </ns1:bodyPr>
          <ns1:lstStyle>
            <ns1:defPPr algn="l">
              <ns1:defRPr sz="2100" b="1">
                <ns1:solidFill>
                  <ns1:srgbClr val="17191B"/>
                </ns1:solidFill>
                <ns1:latin typeface="AppleGothic"/>
                <ns1:ea typeface="AppleGothic"/>
                <ns1:cs typeface="AppleGothic"/>
              </ns1:defRPr>
            </ns1:defPPr>
          </ns1:lstStyle>
          <ns1:p>
            <ns1:pPr algn="l">
              <ns1:lnSpc>
                <ns1:spcPct val="116000"/>
              </ns1:lnSpc>
              <ns1:buNone/>
              <ns1:defRPr sz="2100" b="1">
                <ns1:solidFill>
                  <ns1:srgbClr val="17191B"/>
                </ns1:solidFill>
                <ns1:latin typeface="AppleGothic"/>
                <ns1:ea typeface="AppleGothic"/>
                <ns1:cs typeface="AppleGothic"/>
              </ns1:defRPr>
            </ns1:pPr>
            <ns1:r>
              <ns1:rPr sz="2100" b="1">
                <ns1:solidFill>
                  <ns1:srgbClr val="17191B"/>
                </ns1:solidFill>
                <ns1:latin typeface="AppleGothic"/>
                <ns1:ea typeface="AppleGothic"/>
                <ns1:cs typeface="AppleGothic"/>
              </ns1:rPr>
              <ns1:t>assistant 답변</ns1:t>
            </ns1:r>
          </ns1:p>
        </ns0:txBody>
      </ns0:sp>
      <ns0:sp>
        <ns0:nvSpPr>
          <ns0:cNvPr id="10" name="">
            <ns1:extLst>
              <ns1:ext uri="{FF2B5EF4-FFF2-40B4-BE49-F238E27FC236}">
                <ns2:creationId id="{1D6E1AF1-AE7B-4AE0-8DD1-41261CCDF8A1}"/>
              </ns1:ext>
            </ns1:extLst>
          </ns0:cNvPr>
          <ns0:cNvSpPr>
            <ns1:spLocks noGrp="1"/>
          </ns0:cNvSpPr>
          <ns0:nvPr/>
        </ns0:nvSpPr>
        <ns0:spPr>
          <ns1:xfrm>
            <ns1:off x="4324350" y="5048250"/>
            <ns1:ext cx="3486150" cy="590550"/>
          </ns1:xfrm>
          <ns1:prstGeom prst="rect">
            <ns1:avLst/>
          </ns1:prstGeom>
          <ns1:noFill/>
          <ns1:ln w="0">
            <ns1:noFill/>
            <ns1:prstDash val="solid"/>
          </ns1:ln>
        </ns0:spPr>
        <ns0:txBody>
          <ns1:bodyPr wrap="none" lIns="0" tIns="0" rIns="0" bIns="0" anchor="t">
            <ns1:noAutofit/>
          </ns1:bodyPr>
          <ns1:lstStyle>
            <ns1:defPPr algn="l">
              <ns1:defRPr sz="1800" b="0">
                <ns1:solidFill>
                  <ns1:srgbClr val="52606B"/>
                </ns1:solidFill>
                <ns1:latin typeface="AppleGothic"/>
                <ns1:ea typeface="AppleGothic"/>
                <ns1:cs typeface="AppleGothic"/>
              </ns1:defRPr>
            </ns1:defPPr>
          </ns1:lstStyle>
          <ns1:p>
            <ns1:pPr algn="l">
              <ns1:lnSpc>
                <ns1:spcPct val="116000"/>
              </ns1:lnSpc>
              <ns1:buNone/>
              <ns1:defRPr sz="1800" b="0">
                <ns1:solidFill>
                  <ns1:srgbClr val="52606B"/>
                </ns1:solidFill>
                <ns1:latin typeface="AppleGothic"/>
                <ns1:ea typeface="AppleGothic"/>
                <ns1:cs typeface="AppleGothic"/>
              </ns1:defRPr>
            </ns1:pPr>
            <ns1:r>
              <ns1:rPr sz="1800" b="0">
                <ns1:solidFill>
                  <ns1:srgbClr val="52606B"/>
                </ns1:solidFill>
                <ns1:latin typeface="AppleGothic"/>
                <ns1:ea typeface="AppleGothic"/>
                <ns1:cs typeface="AppleGothic"/>
              </ns1:rPr>
              <ns1:t>학습할 label 위치</ns1:t>
            </ns1:r>
          </ns1:p>
        </ns0:txBody>
      </ns0:sp>
      <ns0:sp>
        <ns0:nvSpPr>
          <ns0:cNvPr id="11" name="">
            <ns1:extLst>
              <ns1:ext uri="{FF2B5EF4-FFF2-40B4-BE49-F238E27FC236}">
                <ns2:creationId id="{F3D345D4-5FA9-4773-BD13-4ACAFF9AEAB9}"/>
              </ns1:ext>
            </ns1:extLst>
          </ns0:cNvPr>
          <ns0:cNvSpPr>
            <ns1:spLocks noGrp="1"/>
          </ns0:cNvSpPr>
          <ns0:nvPr/>
        </ns0:nvSpPr>
        <ns0:spPr>
          <ns1:xfrm>
            <ns1:off x="8039100" y="4581525"/>
            <ns1:ext cx="3486150" cy="342900"/>
          </ns1:xfrm>
          <ns1:prstGeom prst="rect">
            <ns1:avLst/>
          </ns1:prstGeom>
          <ns1:noFill/>
          <ns1:ln w="0">
            <ns1:noFill/>
            <ns1:prstDash val="solid"/>
          </ns1:ln>
        </ns0:spPr>
        <ns0:txBody>
          <ns1:bodyPr wrap="none" lIns="0" tIns="0" rIns="0" bIns="0" anchor="t">
            <ns1:noAutofit/>
          </ns1:bodyPr>
          <ns1:lstStyle>
            <ns1:defPPr algn="l">
              <ns1:defRPr sz="2100" b="1">
                <ns1:solidFill>
                  <ns1:srgbClr val="17191B"/>
                </ns1:solidFill>
                <ns1:latin typeface="AppleGothic"/>
                <ns1:ea typeface="AppleGothic"/>
                <ns1:cs typeface="AppleGothic"/>
              </ns1:defRPr>
            </ns1:defPPr>
          </ns1:lstStyle>
          <ns1:p>
            <ns1:pPr algn="l">
              <ns1:lnSpc>
                <ns1:spcPct val="116000"/>
              </ns1:lnSpc>
              <ns1:buNone/>
              <ns1:defRPr sz="2100" b="1">
                <ns1:solidFill>
                  <ns1:srgbClr val="17191B"/>
                </ns1:solidFill>
                <ns1:latin typeface="AppleGothic"/>
                <ns1:ea typeface="AppleGothic"/>
                <ns1:cs typeface="AppleGothic"/>
              </ns1:defRPr>
            </ns1:pPr>
            <ns1:r>
              <ns1:rPr sz="2100" b="1">
                <ns1:solidFill>
                  <ns1:srgbClr val="17191B"/>
                </ns1:solidFill>
                <ns1:latin typeface="AppleGothic"/>
                <ns1:ea typeface="AppleGothic"/>
                <ns1:cs typeface="AppleGothic"/>
              </ns1:rPr>
              <ns1:t>빗금 영역</ns1:t>
            </ns1:r>
          </ns1:p>
        </ns0:txBody>
      </ns0:sp>
      <ns0:sp>
        <ns0:nvSpPr>
          <ns0:cNvPr id="12" name="">
            <ns1:extLst>
              <ns1:ext uri="{FF2B5EF4-FFF2-40B4-BE49-F238E27FC236}">
                <ns2:creationId id="{0AC46E17-0318-4A85-B95C-07011EC7741F}"/>
              </ns1:ext>
            </ns1:extLst>
          </ns0:cNvPr>
          <ns0:cNvSpPr>
            <ns1:spLocks noGrp="1"/>
          </ns0:cNvSpPr>
          <ns0:nvPr/>
        </ns0:nvSpPr>
        <ns0:spPr>
          <ns1:xfrm>
            <ns1:off x="8039100" y="5048250"/>
            <ns1:ext cx="3486150" cy="590550"/>
          </ns1:xfrm>
          <ns1:prstGeom prst="rect">
            <ns1:avLst/>
          </ns1:prstGeom>
          <ns1:noFill/>
          <ns1:ln w="0">
            <ns1:noFill/>
            <ns1:prstDash val="solid"/>
          </ns1:ln>
        </ns0:spPr>
        <ns0:txBody>
          <ns1:bodyPr wrap="none" lIns="0" tIns="0" rIns="0" bIns="0" anchor="t">
            <ns1:noAutofit/>
          </ns1:bodyPr>
          <ns1:lstStyle>
            <ns1:defPPr algn="l">
              <ns1:defRPr sz="1800" b="0">
                <ns1:solidFill>
                  <ns1:srgbClr val="52606B"/>
                </ns1:solidFill>
                <ns1:latin typeface="AppleGothic"/>
                <ns1:ea typeface="AppleGothic"/>
                <ns1:cs typeface="AppleGothic"/>
              </ns1:defRPr>
            </ns1:defPPr>
          </ns1:lstStyle>
          <ns1:p>
            <ns1:pPr algn="l">
              <ns1:lnSpc>
                <ns1:spcPct val="116000"/>
              </ns1:lnSpc>
              <ns1:buNone/>
              <ns1:defRPr sz="1800" b="0">
                <ns1:solidFill>
                  <ns1:srgbClr val="52606B"/>
                </ns1:solidFill>
                <ns1:latin typeface="AppleGothic"/>
                <ns1:ea typeface="AppleGothic"/>
                <ns1:cs typeface="AppleGothic"/>
              </ns1:defRPr>
            </ns1:pPr>
            <ns1:r>
              <ns1:rPr sz="1800" b="0">
                <ns1:solidFill>
                  <ns1:srgbClr val="52606B"/>
                </ns1:solidFill>
                <ns1:latin typeface="AppleGothic"/>
                <ns1:ea typeface="AppleGothic"/>
                <ns1:cs typeface="AppleGothic"/>
              </ns1:rPr>
              <ns1:t>손실 계산 제외</ns1:t>
            </ns1:r>
          </ns1:p>
        </ns0:txBody>
      </ns0:sp>
      <ns0:sp>
        <ns0:nvSpPr>
          <ns0:cNvPr id="13" name="">
            <ns1:extLst>
              <ns1:ext uri="{FF2B5EF4-FFF2-40B4-BE49-F238E27FC236}">
                <ns2:creationId id="{6352C511-B902-46EE-87D3-F6C45000A28E}"/>
              </ns1:ext>
            </ns1:extLst>
          </ns0:cNvPr>
          <ns0:cNvSpPr>
            <ns1:spLocks noGrp="1"/>
          </ns0:cNvSpPr>
          <ns0:nvPr/>
        </ns0:nvSpPr>
        <ns0:spPr>
          <ns1:xfrm>
            <ns1:off x="609600" y="5791200"/>
            <ns1:ext cx="10972800" cy="457200"/>
          </ns1:xfrm>
          <ns1:prstGeom prst="rect">
            <ns1:avLst/>
          </ns1:prstGeom>
          <ns1:noFill/>
          <ns1:ln w="0">
            <ns1:noFill/>
            <ns1:prstDash val="solid"/>
          </ns1:ln>
        </ns0:spPr>
        <ns0:txBody>
          <ns1:bodyPr wrap="none" lIns="0" tIns="0" rIns="0" bIns="0" anchor="t">
            <ns1:noAutofit/>
          </ns1:bodyPr>
          <ns1:lstStyle>
            <ns1:defPPr algn="l">
              <ns1:defRPr sz="1600" b="0">
                <ns1:solidFill>
                  <ns1:srgbClr val="52606B"/>
                </ns1:solidFill>
                <ns1:latin typeface="AppleGothic"/>
                <ns1:ea typeface="AppleGothic"/>
                <ns1:cs typeface="AppleGothic"/>
              </ns1:defRPr>
            </ns1:defPPr>
          </ns1:lstStyle>
          <ns1:p>
            <ns1:pPr algn="l">
              <ns1:lnSpc>
                <ns1:spcPct val="116000"/>
              </ns1:lnSpc>
              <ns1:buNone/>
              <ns1:defRPr sz="1600" b="0">
                <ns1:solidFill>
                  <ns1:srgbClr val="52606B"/>
                </ns1:solidFill>
                <ns1:latin typeface="AppleGothic"/>
                <ns1:ea typeface="AppleGothic"/>
                <ns1:cs typeface="AppleGothic"/>
              </ns1:defRPr>
            </ns1:pPr>
            <ns1:r>
              <ns1:rPr sz="1600" b="0">
                <ns1:solidFill>
                  <ns1:srgbClr val="52606B"/>
                </ns1:solidFill>
                <ns1:latin typeface="AppleGothic"/>
                <ns1:ea typeface="AppleGothic"/>
                <ns1:cs typeface="AppleGothic"/>
              </ns1:rPr>
              <ns1:t>Hugging Face TRL · assistant-only loss · 실제 마스크는 모델 템플릿 확인</ns1:t>
            </ns1:r>
          </ns1:p>
        </ns0:txBody>
      </ns0:sp>
    </ns0:spTree>
    <ns0:extLst>
      <ns0:ext uri="{BB962C8B-B14F-4D97-AF65-F5344CB8AC3E}">
        <ns4:creationId val="1824661980"/>
      </ns0:ext>
    </ns0:extLst>
  </ns0:cSld>
</ns0:sld>
</file>

<file path=ppt/slides/slide23.xml><?xml version="1.0" encoding="utf-8"?>
<p:sld xmlns:p="http://schemas.openxmlformats.org/presentationml/2006/main">
  <p:cSld>
    <p:bg>
      <p:bgPr>
        <a:solidFill xmlns:a="http://schemas.openxmlformats.org/drawingml/2006/main">
          <a:srgbClr val="F7F7F5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1A8DF254-6D7D-42BA-97C1-6D15A7737E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47650"/>
            <a:ext cx="9525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1400" b="0">
                <a:solidFill>
                  <a:srgbClr val="52606B"/>
                </a:solidFill>
                <a:latin typeface="AppleGothic"/>
                <a:ea typeface="AppleGothic"/>
                <a:cs typeface="AppleGothic"/>
              </a:defRPr>
            </a:defPPr>
          </a:lstStyle>
          <a:p xmlns:a="http://schemas.openxmlformats.org/drawingml/2006/main">
            <a:pPr algn="l">
              <a:lnSpc>
                <a:spcPct val="116000"/>
              </a:lnSpc>
              <a:buNone/>
              <a:defRPr sz="1400" b="0">
                <a:solidFill>
                  <a:srgbClr val="52606B"/>
                </a:solidFill>
                <a:latin typeface="AppleGothic"/>
                <a:ea typeface="AppleGothic"/>
                <a:cs typeface="AppleGothic"/>
              </a:defRPr>
            </a:pPr>
            <a:r>
              <a:rPr sz="1400" b="0">
                <a:solidFill>
                  <a:srgbClr val="52606B"/>
                </a:solidFill>
                <a:latin typeface="AppleGothic"/>
                <a:ea typeface="AppleGothic"/>
                <a:cs typeface="AppleGothic"/>
              </a:rPr>
              <a:t>LLMOPS / W07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D4BF9DA3-8550-4DEB-AAB4-76C6BB1439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8500" y="247650"/>
            <a:ext cx="7239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r">
              <a:defRPr sz="1400" b="0">
                <a:solidFill>
                  <a:srgbClr val="52606B"/>
                </a:solidFill>
                <a:latin typeface="Menlo"/>
                <a:ea typeface="Menlo"/>
                <a:cs typeface="Menlo"/>
              </a:defRPr>
            </a:defPPr>
          </a:lstStyle>
          <a:p xmlns:a="http://schemas.openxmlformats.org/drawingml/2006/main">
            <a:pPr algn="r">
              <a:lnSpc>
                <a:spcPct val="116000"/>
              </a:lnSpc>
              <a:buNone/>
              <a:defRPr sz="1400" b="0">
                <a:solidFill>
                  <a:srgbClr val="52606B"/>
                </a:solidFill>
                <a:latin typeface="Menlo"/>
                <a:ea typeface="Menlo"/>
                <a:cs typeface="Menlo"/>
              </a:defRPr>
            </a:pPr>
            <a:r>
              <a:rPr sz="1400" b="0">
                <a:solidFill>
                  <a:srgbClr val="52606B"/>
                </a:solidFill>
                <a:latin typeface="Menlo"/>
                <a:ea typeface="Menlo"/>
                <a:cs typeface="Menlo"/>
              </a:rPr>
              <a:t>23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9465AECF-5012-435B-A743-1041ABE9C1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23900"/>
            <a:ext cx="109728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3400" b="1">
                <a:solidFill>
                  <a:srgbClr val="17191B"/>
                </a:solidFill>
                <a:latin typeface="AppleGothic"/>
                <a:ea typeface="AppleGothic"/>
                <a:cs typeface="AppleGothic"/>
              </a:defRPr>
            </a:defPPr>
          </a:lstStyle>
          <a:p xmlns:a="http://schemas.openxmlformats.org/drawingml/2006/main">
            <a:pPr algn="l">
              <a:lnSpc>
                <a:spcPct val="116000"/>
              </a:lnSpc>
              <a:buNone/>
              <a:defRPr sz="3400" b="1">
                <a:solidFill>
                  <a:srgbClr val="17191B"/>
                </a:solidFill>
                <a:latin typeface="AppleGothic"/>
                <a:ea typeface="AppleGothic"/>
                <a:cs typeface="AppleGothic"/>
              </a:defRPr>
            </a:pPr>
            <a:r>
              <a:rPr sz="3400" b="1">
                <a:solidFill>
                  <a:srgbClr val="17191B"/>
                </a:solidFill>
                <a:latin typeface="AppleGothic"/>
                <a:ea typeface="AppleGothic"/>
                <a:cs typeface="AppleGothic"/>
              </a:rPr>
              <a:t>길이 제한과 문맥 손실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6450A681-60E2-4A3A-AEA8-CA13544D7F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315075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FD5D3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8427A432-9D46-49CC-8A8B-63B2A5F1EC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77000"/>
            <a:ext cx="109728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1400" b="0">
                <a:solidFill>
                  <a:srgbClr val="52606B"/>
                </a:solidFill>
                <a:latin typeface="AppleGothic"/>
                <a:ea typeface="AppleGothic"/>
                <a:cs typeface="AppleGothic"/>
              </a:defRPr>
            </a:defPPr>
          </a:lstStyle>
          <a:p xmlns:a="http://schemas.openxmlformats.org/drawingml/2006/main">
            <a:pPr algn="l">
              <a:lnSpc>
                <a:spcPct val="116000"/>
              </a:lnSpc>
              <a:buNone/>
              <a:defRPr sz="1400" b="0">
                <a:solidFill>
                  <a:srgbClr val="52606B"/>
                </a:solidFill>
                <a:latin typeface="AppleGothic"/>
                <a:ea typeface="AppleGothic"/>
                <a:cs typeface="AppleGothic"/>
              </a:defRPr>
            </a:pPr>
            <a:r>
              <a:rPr sz="1400" b="0">
                <a:solidFill>
                  <a:srgbClr val="52606B"/>
                </a:solidFill>
                <a:latin typeface="AppleGothic"/>
                <a:ea typeface="AppleGothic"/>
                <a:cs typeface="AppleGothic"/>
              </a:rPr>
              <a:t>데이터 · 모델 적응 · 비교 평가 · 기획서 초안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58F25878-BA48-4873-B5B5-68165D5915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464689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FD5D3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F1331659-146A-4B31-A10A-E803D39A99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809750"/>
            <a:ext cx="10477500" cy="426339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2700" b="1">
                <a:solidFill>
                  <a:srgbClr val="17191B"/>
                </a:solidFill>
                <a:latin typeface="AppleGothic"/>
                <a:ea typeface="AppleGothic"/>
                <a:cs typeface="AppleGothic"/>
              </a:defRPr>
            </a:defPPr>
          </a:lstStyle>
          <a:p xmlns:a="http://schemas.openxmlformats.org/drawingml/2006/main">
            <a:pPr algn="l">
              <a:lnSpc>
                <a:spcPct val="116000"/>
              </a:lnSpc>
              <a:buNone/>
              <a:defRPr sz="2700" b="1">
                <a:solidFill>
                  <a:srgbClr val="17191B"/>
                </a:solidFill>
                <a:latin typeface="AppleGothic"/>
                <a:ea typeface="AppleGothic"/>
                <a:cs typeface="AppleGothic"/>
              </a:defRPr>
            </a:pPr>
            <a:r>
              <a:rPr sz="2700" b="1">
                <a:solidFill>
                  <a:srgbClr val="17191B"/>
                </a:solidFill>
                <a:latin typeface="AppleGothic"/>
                <a:ea typeface="AppleGothic"/>
                <a:cs typeface="AppleGothic"/>
              </a:rPr>
              <a:t>문자 수와 토큰 수의 차이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882ECDA5-3430-445A-AB6B-834FBD44EB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883789"/>
            <a:ext cx="10477500" cy="337947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2100" b="0">
                <a:solidFill>
                  <a:srgbClr val="52606B"/>
                </a:solidFill>
                <a:latin typeface="AppleGothic"/>
                <a:ea typeface="AppleGothic"/>
                <a:cs typeface="AppleGothic"/>
              </a:defRPr>
            </a:defPPr>
          </a:lstStyle>
          <a:p xmlns:a="http://schemas.openxmlformats.org/drawingml/2006/main">
            <a:pPr algn="l">
              <a:lnSpc>
                <a:spcPct val="116000"/>
              </a:lnSpc>
              <a:buNone/>
              <a:defRPr sz="2100" b="0">
                <a:solidFill>
                  <a:srgbClr val="52606B"/>
                </a:solidFill>
                <a:latin typeface="AppleGothic"/>
                <a:ea typeface="AppleGothic"/>
                <a:cs typeface="AppleGothic"/>
              </a:defRPr>
            </a:pPr>
            <a:r>
              <a:rPr sz="2100" b="0">
                <a:solidFill>
                  <a:srgbClr val="52606B"/>
                </a:solidFill>
                <a:latin typeface="AppleGothic"/>
                <a:ea typeface="AppleGothic"/>
                <a:cs typeface="AppleGothic"/>
              </a:rPr>
              <a:t>문서 끝의 예외·정답이 잘리는지 확인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AF85179D-225E-47EF-B4C3-1FA7DE744B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526536"/>
            <a:ext cx="10477500" cy="337947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2100" b="0">
                <a:solidFill>
                  <a:srgbClr val="52606B"/>
                </a:solidFill>
                <a:latin typeface="AppleGothic"/>
                <a:ea typeface="AppleGothic"/>
                <a:cs typeface="AppleGothic"/>
              </a:defRPr>
            </a:defPPr>
          </a:lstStyle>
          <a:p xmlns:a="http://schemas.openxmlformats.org/drawingml/2006/main">
            <a:pPr algn="l">
              <a:lnSpc>
                <a:spcPct val="116000"/>
              </a:lnSpc>
              <a:buNone/>
              <a:defRPr sz="2100" b="0">
                <a:solidFill>
                  <a:srgbClr val="52606B"/>
                </a:solidFill>
                <a:latin typeface="AppleGothic"/>
                <a:ea typeface="AppleGothic"/>
                <a:cs typeface="AppleGothic"/>
              </a:defRPr>
            </a:pPr>
            <a:r>
              <a:rPr sz="2100" b="0">
                <a:solidFill>
                  <a:srgbClr val="52606B"/>
                </a:solidFill>
                <a:latin typeface="AppleGothic"/>
                <a:ea typeface="AppleGothic"/>
                <a:cs typeface="AppleGothic"/>
              </a:rPr>
              <a:t>모델별 토크나이저와 템플릿으로 재검증</a:t>
            </a:r>
          </a:p>
        </p:txBody>
      </p:sp>
    </p:spTree>
    <p:extLst>
      <p:ext uri="{BB962C8B-B14F-4D97-AF65-F5344CB8AC3E}">
        <p14:creationId xmlns:p14="http://schemas.microsoft.com/office/powerpoint/2010/main" val="61999159"/>
      </p:ext>
    </p:extLst>
  </p:cSld>
</p:sld>
</file>

<file path=ppt/slides/slide24.xml><?xml version="1.0" encoding="utf-8"?>
<p:sld xmlns:p="http://schemas.openxmlformats.org/presentationml/2006/main">
  <p:cSld>
    <p:bg>
      <p:bgPr>
        <a:solidFill xmlns:a="http://schemas.openxmlformats.org/drawingml/2006/main">
          <a:srgbClr val="17283B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0812E08E-BFE8-46AE-A9B0-744F35FA2F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00050"/>
            <a:ext cx="10477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1400" b="0">
                <a:solidFill>
                  <a:srgbClr val="BDC7C4"/>
                </a:solidFill>
                <a:latin typeface="AppleGothic"/>
                <a:ea typeface="AppleGothic"/>
                <a:cs typeface="AppleGothic"/>
              </a:defRPr>
            </a:defPPr>
          </a:lstStyle>
          <a:p xmlns:a="http://schemas.openxmlformats.org/drawingml/2006/main">
            <a:pPr algn="l">
              <a:lnSpc>
                <a:spcPct val="116000"/>
              </a:lnSpc>
              <a:buNone/>
              <a:defRPr sz="1400" b="0">
                <a:solidFill>
                  <a:srgbClr val="BDC7C4"/>
                </a:solidFill>
                <a:latin typeface="AppleGothic"/>
                <a:ea typeface="AppleGothic"/>
                <a:cs typeface="AppleGothic"/>
              </a:defRPr>
            </a:pPr>
            <a:r>
              <a:rPr sz="1400" b="0">
                <a:solidFill>
                  <a:srgbClr val="BDC7C4"/>
                </a:solidFill>
                <a:latin typeface="AppleGothic"/>
                <a:ea typeface="AppleGothic"/>
                <a:cs typeface="AppleGothic"/>
              </a:rPr>
              <a:t>W07 / 24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0F75C711-57E3-4DEC-94C4-0B58BA08C1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76400"/>
            <a:ext cx="10972800" cy="1524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4400" b="1">
                <a:solidFill>
                  <a:srgbClr val="FFFFFF"/>
                </a:solidFill>
                <a:latin typeface="AppleGothic"/>
                <a:ea typeface="AppleGothic"/>
                <a:cs typeface="AppleGothic"/>
              </a:defRPr>
            </a:defPPr>
          </a:lstStyle>
          <a:p xmlns:a="http://schemas.openxmlformats.org/drawingml/2006/main">
            <a:pPr algn="l">
              <a:lnSpc>
                <a:spcPct val="116000"/>
              </a:lnSpc>
              <a:buNone/>
              <a:defRPr sz="4400" b="1">
                <a:solidFill>
                  <a:srgbClr val="FFFFFF"/>
                </a:solidFill>
                <a:latin typeface="AppleGothic"/>
                <a:ea typeface="AppleGothic"/>
                <a:cs typeface="AppleGothic"/>
              </a:defRPr>
            </a:pPr>
            <a:r>
              <a:rPr sz="4400" b="1">
                <a:solidFill>
                  <a:srgbClr val="FFFFFF"/>
                </a:solidFill>
                <a:latin typeface="AppleGothic"/>
                <a:ea typeface="AppleGothic"/>
                <a:cs typeface="AppleGothic"/>
              </a:rPr>
              <a:t>LoRA와 학습 자원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8473435F-539F-4FEA-9E87-D9B1332F7D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7338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52606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A8A2559A-A79D-4A29-A547-C70C3C5844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191000"/>
            <a:ext cx="10972800" cy="36741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2300" b="0">
                <a:solidFill>
                  <a:srgbClr val="FFFFFF"/>
                </a:solidFill>
                <a:latin typeface="AppleGothic"/>
                <a:ea typeface="AppleGothic"/>
                <a:cs typeface="AppleGothic"/>
              </a:defRPr>
            </a:defPPr>
          </a:lstStyle>
          <a:p xmlns:a="http://schemas.openxmlformats.org/drawingml/2006/main">
            <a:pPr algn="l">
              <a:lnSpc>
                <a:spcPct val="116000"/>
              </a:lnSpc>
              <a:buNone/>
              <a:defRPr sz="2300" b="0">
                <a:solidFill>
                  <a:srgbClr val="FFFFFF"/>
                </a:solidFill>
                <a:latin typeface="AppleGothic"/>
                <a:ea typeface="AppleGothic"/>
                <a:cs typeface="AppleGothic"/>
              </a:defRPr>
            </a:pPr>
            <a:r>
              <a:rPr sz="2300" b="0">
                <a:solidFill>
                  <a:srgbClr val="FFFFFF"/>
                </a:solidFill>
                <a:latin typeface="AppleGothic"/>
                <a:ea typeface="AppleGothic"/>
                <a:cs typeface="AppleGothic"/>
              </a:rPr>
              <a:t>Low-Rank Adaptation · 저차원 행렬을 이용한 모델 적응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C74B4F20-B483-4DFD-9A50-48ABD76A24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729861"/>
            <a:ext cx="10972800" cy="36741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2300" b="0">
                <a:solidFill>
                  <a:srgbClr val="FFFFFF"/>
                </a:solidFill>
                <a:latin typeface="AppleGothic"/>
                <a:ea typeface="AppleGothic"/>
                <a:cs typeface="AppleGothic"/>
              </a:defRPr>
            </a:defPPr>
          </a:lstStyle>
          <a:p xmlns:a="http://schemas.openxmlformats.org/drawingml/2006/main">
            <a:pPr algn="l">
              <a:lnSpc>
                <a:spcPct val="116000"/>
              </a:lnSpc>
              <a:buNone/>
              <a:defRPr sz="2300" b="0">
                <a:solidFill>
                  <a:srgbClr val="FFFFFF"/>
                </a:solidFill>
                <a:latin typeface="AppleGothic"/>
                <a:ea typeface="AppleGothic"/>
                <a:cs typeface="AppleGothic"/>
              </a:defRPr>
            </a:pPr>
            <a:r>
              <a:rPr sz="2300" b="0">
                <a:solidFill>
                  <a:srgbClr val="FFFFFF"/>
                </a:solidFill>
                <a:latin typeface="AppleGothic"/>
                <a:ea typeface="AppleGothic"/>
                <a:cs typeface="AppleGothic"/>
              </a:rPr>
              <a:t>기존 가중치 고정과 작은 변화량 학습</a:t>
            </a:r>
          </a:p>
        </p:txBody>
      </p:sp>
    </p:spTree>
    <p:extLst>
      <p:ext uri="{BB962C8B-B14F-4D97-AF65-F5344CB8AC3E}">
        <p14:creationId xmlns:p14="http://schemas.microsoft.com/office/powerpoint/2010/main" val="383676403"/>
      </p:ext>
    </p:extLst>
  </p:cSld>
</p:sld>
</file>

<file path=ppt/slides/slide25.xml><?xml version="1.0" encoding="utf-8"?>
<p:sld xmlns:p="http://schemas.openxmlformats.org/presentationml/2006/main">
  <p:cSld>
    <p:bg>
      <p:bgPr>
        <a:solidFill xmlns:a="http://schemas.openxmlformats.org/drawingml/2006/main">
          <a:srgbClr val="F7F7F5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0AFBA28A-BDBA-420F-80D0-9563910A4D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47650"/>
            <a:ext cx="9525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1400" b="0">
                <a:solidFill>
                  <a:srgbClr val="52606B"/>
                </a:solidFill>
                <a:latin typeface="AppleGothic"/>
                <a:ea typeface="AppleGothic"/>
                <a:cs typeface="AppleGothic"/>
              </a:defRPr>
            </a:defPPr>
          </a:lstStyle>
          <a:p xmlns:a="http://schemas.openxmlformats.org/drawingml/2006/main">
            <a:pPr algn="l">
              <a:lnSpc>
                <a:spcPct val="116000"/>
              </a:lnSpc>
              <a:buNone/>
              <a:defRPr sz="1400" b="0">
                <a:solidFill>
                  <a:srgbClr val="52606B"/>
                </a:solidFill>
                <a:latin typeface="AppleGothic"/>
                <a:ea typeface="AppleGothic"/>
                <a:cs typeface="AppleGothic"/>
              </a:defRPr>
            </a:pPr>
            <a:r>
              <a:rPr sz="1400" b="0">
                <a:solidFill>
                  <a:srgbClr val="52606B"/>
                </a:solidFill>
                <a:latin typeface="AppleGothic"/>
                <a:ea typeface="AppleGothic"/>
                <a:cs typeface="AppleGothic"/>
              </a:rPr>
              <a:t>LLMOPS / W07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2829DD8B-71B8-49CA-97EF-D06FC0E1FD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8500" y="247650"/>
            <a:ext cx="7239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r">
              <a:defRPr sz="1400" b="0">
                <a:solidFill>
                  <a:srgbClr val="52606B"/>
                </a:solidFill>
                <a:latin typeface="Menlo"/>
                <a:ea typeface="Menlo"/>
                <a:cs typeface="Menlo"/>
              </a:defRPr>
            </a:defPPr>
          </a:lstStyle>
          <a:p xmlns:a="http://schemas.openxmlformats.org/drawingml/2006/main">
            <a:pPr algn="r">
              <a:lnSpc>
                <a:spcPct val="116000"/>
              </a:lnSpc>
              <a:buNone/>
              <a:defRPr sz="1400" b="0">
                <a:solidFill>
                  <a:srgbClr val="52606B"/>
                </a:solidFill>
                <a:latin typeface="Menlo"/>
                <a:ea typeface="Menlo"/>
                <a:cs typeface="Menlo"/>
              </a:defRPr>
            </a:pPr>
            <a:r>
              <a:rPr sz="1400" b="0">
                <a:solidFill>
                  <a:srgbClr val="52606B"/>
                </a:solidFill>
                <a:latin typeface="Menlo"/>
                <a:ea typeface="Menlo"/>
                <a:cs typeface="Menlo"/>
              </a:rPr>
              <a:t>25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92748AB8-AFD3-4C2C-ADD7-B643908313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23900"/>
            <a:ext cx="109728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3400" b="1">
                <a:solidFill>
                  <a:srgbClr val="17191B"/>
                </a:solidFill>
                <a:latin typeface="AppleGothic"/>
                <a:ea typeface="AppleGothic"/>
                <a:cs typeface="AppleGothic"/>
              </a:defRPr>
            </a:defPPr>
          </a:lstStyle>
          <a:p xmlns:a="http://schemas.openxmlformats.org/drawingml/2006/main">
            <a:pPr algn="l">
              <a:lnSpc>
                <a:spcPct val="116000"/>
              </a:lnSpc>
              <a:buNone/>
              <a:defRPr sz="3400" b="1">
                <a:solidFill>
                  <a:srgbClr val="17191B"/>
                </a:solidFill>
                <a:latin typeface="AppleGothic"/>
                <a:ea typeface="AppleGothic"/>
                <a:cs typeface="AppleGothic"/>
              </a:defRPr>
            </a:pPr>
            <a:r>
              <a:rPr sz="3400" b="1">
                <a:solidFill>
                  <a:srgbClr val="17191B"/>
                </a:solidFill>
                <a:latin typeface="AppleGothic"/>
                <a:ea typeface="AppleGothic"/>
                <a:cs typeface="AppleGothic"/>
              </a:rPr>
              <a:t>LoRA의 가중치 변화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80095FB0-E033-42AE-B895-9F30254866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315075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FD5D3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73E5240D-2E9F-43FB-92E1-67D99CAE46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77000"/>
            <a:ext cx="109728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1400" b="0">
                <a:solidFill>
                  <a:srgbClr val="52606B"/>
                </a:solidFill>
                <a:latin typeface="AppleGothic"/>
                <a:ea typeface="AppleGothic"/>
                <a:cs typeface="AppleGothic"/>
              </a:defRPr>
            </a:defPPr>
          </a:lstStyle>
          <a:p xmlns:a="http://schemas.openxmlformats.org/drawingml/2006/main">
            <a:pPr algn="l">
              <a:lnSpc>
                <a:spcPct val="116000"/>
              </a:lnSpc>
              <a:buNone/>
              <a:defRPr sz="1400" b="0">
                <a:solidFill>
                  <a:srgbClr val="52606B"/>
                </a:solidFill>
                <a:latin typeface="AppleGothic"/>
                <a:ea typeface="AppleGothic"/>
                <a:cs typeface="AppleGothic"/>
              </a:defRPr>
            </a:pPr>
            <a:r>
              <a:rPr sz="1400" b="0">
                <a:solidFill>
                  <a:srgbClr val="52606B"/>
                </a:solidFill>
                <a:latin typeface="AppleGothic"/>
                <a:ea typeface="AppleGothic"/>
                <a:cs typeface="AppleGothic"/>
              </a:rPr>
              <a:t>데이터 · 모델 적응 · 비교 평가 · 기획서 초안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1CCAE8DC-B57E-40C3-B0A4-72B2B22FE4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038350"/>
            <a:ext cx="10972800" cy="1047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2800" b="1">
                <a:solidFill>
                  <a:srgbClr val="17191B"/>
                </a:solidFill>
                <a:latin typeface="AppleGothic"/>
                <a:ea typeface="AppleGothic"/>
                <a:cs typeface="AppleGothic"/>
              </a:defRPr>
            </a:defPPr>
          </a:lstStyle>
          <a:p xmlns:a="http://schemas.openxmlformats.org/drawingml/2006/main">
            <a:pPr algn="l">
              <a:lnSpc>
                <a:spcPct val="116000"/>
              </a:lnSpc>
              <a:buNone/>
              <a:defRPr sz="2800" b="1">
                <a:solidFill>
                  <a:srgbClr val="17191B"/>
                </a:solidFill>
                <a:latin typeface="AppleGothic"/>
                <a:ea typeface="AppleGothic"/>
                <a:cs typeface="AppleGothic"/>
              </a:defRPr>
            </a:pPr>
            <a:r>
              <a:rPr sz="2800" b="1">
                <a:solidFill>
                  <a:srgbClr val="17191B"/>
                </a:solidFill>
                <a:latin typeface="AppleGothic"/>
                <a:ea typeface="AppleGothic"/>
                <a:cs typeface="AppleGothic"/>
              </a:rPr>
              <a:t>W′ = W + (α/r) · BA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14D6378F-0011-4552-A4E3-E40DB57D13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40995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FD5D3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31B10587-8A8F-44CB-A6F2-866FDC0A73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867150"/>
            <a:ext cx="10668000" cy="352679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2200" b="0">
                <a:solidFill>
                  <a:srgbClr val="52606B"/>
                </a:solidFill>
                <a:latin typeface="AppleGothic"/>
                <a:ea typeface="AppleGothic"/>
                <a:cs typeface="AppleGothic"/>
              </a:defRPr>
            </a:defPPr>
          </a:lstStyle>
          <a:p xmlns:a="http://schemas.openxmlformats.org/drawingml/2006/main">
            <a:pPr algn="l">
              <a:lnSpc>
                <a:spcPct val="116000"/>
              </a:lnSpc>
              <a:buNone/>
              <a:defRPr sz="2200" b="0">
                <a:solidFill>
                  <a:srgbClr val="52606B"/>
                </a:solidFill>
                <a:latin typeface="AppleGothic"/>
                <a:ea typeface="AppleGothic"/>
                <a:cs typeface="AppleGothic"/>
              </a:defRPr>
            </a:pPr>
            <a:r>
              <a:rPr sz="2200" b="0">
                <a:solidFill>
                  <a:srgbClr val="52606B"/>
                </a:solidFill>
                <a:latin typeface="AppleGothic"/>
                <a:ea typeface="AppleGothic"/>
                <a:cs typeface="AppleGothic"/>
              </a:rPr>
              <a:t>W: 고정 가중치 · BA: 학습할 변화량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D3808122-E5DD-41A8-931E-E97F689D4A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467479"/>
            <a:ext cx="10668000" cy="352679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2200" b="0">
                <a:solidFill>
                  <a:srgbClr val="52606B"/>
                </a:solidFill>
                <a:latin typeface="AppleGothic"/>
                <a:ea typeface="AppleGothic"/>
                <a:cs typeface="AppleGothic"/>
              </a:defRPr>
            </a:defPPr>
          </a:lstStyle>
          <a:p xmlns:a="http://schemas.openxmlformats.org/drawingml/2006/main">
            <a:pPr algn="l">
              <a:lnSpc>
                <a:spcPct val="116000"/>
              </a:lnSpc>
              <a:buNone/>
              <a:defRPr sz="2200" b="0">
                <a:solidFill>
                  <a:srgbClr val="52606B"/>
                </a:solidFill>
                <a:latin typeface="AppleGothic"/>
                <a:ea typeface="AppleGothic"/>
                <a:cs typeface="AppleGothic"/>
              </a:defRPr>
            </a:pPr>
            <a:r>
              <a:rPr sz="2200" b="0">
                <a:solidFill>
                  <a:srgbClr val="52606B"/>
                </a:solidFill>
                <a:latin typeface="AppleGothic"/>
                <a:ea typeface="AppleGothic"/>
                <a:cs typeface="AppleGothic"/>
              </a:rPr>
              <a:t>r: rank · α: scaling 설정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9A2E3EE7-2118-41EE-BD87-69B06C203C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791200"/>
            <a:ext cx="109728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1600" b="0">
                <a:solidFill>
                  <a:srgbClr val="52606B"/>
                </a:solidFill>
                <a:latin typeface="AppleGothic"/>
                <a:ea typeface="AppleGothic"/>
                <a:cs typeface="AppleGothic"/>
              </a:defRPr>
            </a:defPPr>
          </a:lstStyle>
          <a:p xmlns:a="http://schemas.openxmlformats.org/drawingml/2006/main">
            <a:pPr algn="l">
              <a:lnSpc>
                <a:spcPct val="116000"/>
              </a:lnSpc>
              <a:buNone/>
              <a:defRPr sz="1600" b="0">
                <a:solidFill>
                  <a:srgbClr val="52606B"/>
                </a:solidFill>
                <a:latin typeface="AppleGothic"/>
                <a:ea typeface="AppleGothic"/>
                <a:cs typeface="AppleGothic"/>
              </a:defRPr>
            </a:pPr>
            <a:r>
              <a:rPr sz="1600" b="0">
                <a:solidFill>
                  <a:srgbClr val="52606B"/>
                </a:solidFill>
                <a:latin typeface="AppleGothic"/>
                <a:ea typeface="AppleGothic"/>
                <a:cs typeface="AppleGothic"/>
              </a:rPr>
              <a:t>일반 LoRA scaling 설명 · 구현별 다른 설정은 구분</a:t>
            </a:r>
          </a:p>
        </p:txBody>
      </p:sp>
    </p:spTree>
    <p:extLst>
      <p:ext uri="{BB962C8B-B14F-4D97-AF65-F5344CB8AC3E}">
        <p14:creationId xmlns:p14="http://schemas.microsoft.com/office/powerpoint/2010/main" val="806455114"/>
      </p:ext>
    </p:extLst>
  </p:cSld>
</p:sld>
</file>

<file path=ppt/slides/slide26.xml><?xml version="1.0" encoding="utf-8"?>
<ns0:sld xmlns:ns0="http://schemas.openxmlformats.org/presentationml/2006/main" xmlns:ns1="http://schemas.openxmlformats.org/drawingml/2006/main" xmlns:ns2="http://schemas.microsoft.com/office/drawing/2014/main" xmlns:ns3="http://schemas.openxmlformats.org/officeDocument/2006/relationships" xmlns:ns4="http://schemas.microsoft.com/office/powerpoint/2010/main">
  <ns0:cSld>
    <ns0:bg>
      <ns0:bgPr>
        <ns1:solidFill>
          <ns1:srgbClr val="F7F7F5"/>
        </ns1:solidFill>
      </ns0:bgPr>
    </ns0:bg>
    <ns0:spTree>
      <ns0:nvGrpSpPr>
        <ns0:cNvPr id="1" name=""/>
        <ns0:cNvGrpSpPr/>
        <ns0:nvPr/>
      </ns0:nvGrpSpPr>
      <ns0:grpSpPr>
        <ns1:xfrm/>
      </ns0:grpSpPr>
      <ns0:sp>
        <ns0:nvSpPr>
          <ns0:cNvPr id="14" name="">
            <ns1:extLst>
              <ns1:ext uri="{FF2B5EF4-FFF2-40B4-BE49-F238E27FC236}">
                <ns2:creationId id="{16218299-4A59-469F-9D2A-EB200BBFD175}"/>
              </ns1:ext>
            </ns1:extLst>
          </ns0:cNvPr>
          <ns0:cNvSpPr>
            <ns1:spLocks noGrp="1"/>
          </ns0:cNvSpPr>
          <ns0:nvPr/>
        </ns0:nvSpPr>
        <ns0:spPr>
          <ns1:xfrm>
            <ns1:off x="609600" y="247650"/>
            <ns1:ext cx="9525000" cy="228600"/>
          </ns1:xfrm>
          <ns1:prstGeom prst="rect">
            <ns1:avLst/>
          </ns1:prstGeom>
          <ns1:noFill/>
          <ns1:ln w="0">
            <ns1:noFill/>
            <ns1:prstDash val="solid"/>
          </ns1:ln>
        </ns0:spPr>
        <ns0:txBody>
          <ns1:bodyPr wrap="none" lIns="0" tIns="0" rIns="0" bIns="0" anchor="t">
            <ns1:noAutofit/>
          </ns1:bodyPr>
          <ns1:lstStyle>
            <ns1:defPPr algn="l">
              <ns1:defRPr sz="1400" b="0">
                <ns1:solidFill>
                  <ns1:srgbClr val="52606B"/>
                </ns1:solidFill>
                <ns1:latin typeface="AppleGothic"/>
                <ns1:ea typeface="AppleGothic"/>
                <ns1:cs typeface="AppleGothic"/>
              </ns1:defRPr>
            </ns1:defPPr>
          </ns1:lstStyle>
          <ns1:p>
            <ns1:pPr algn="l">
              <ns1:lnSpc>
                <ns1:spcPct val="116000"/>
              </ns1:lnSpc>
              <ns1:buNone/>
              <ns1:defRPr sz="1400" b="0">
                <ns1:solidFill>
                  <ns1:srgbClr val="52606B"/>
                </ns1:solidFill>
                <ns1:latin typeface="AppleGothic"/>
                <ns1:ea typeface="AppleGothic"/>
                <ns1:cs typeface="AppleGothic"/>
              </ns1:defRPr>
            </ns1:pPr>
            <ns1:r>
              <ns1:rPr sz="1400" b="0">
                <ns1:solidFill>
                  <ns1:srgbClr val="52606B"/>
                </ns1:solidFill>
                <ns1:latin typeface="AppleGothic"/>
                <ns1:ea typeface="AppleGothic"/>
                <ns1:cs typeface="AppleGothic"/>
              </ns1:rPr>
              <ns1:t>LLMOPS / W07</ns1:t>
            </ns1:r>
          </ns1:p>
        </ns0:txBody>
      </ns0:sp>
      <ns0:sp>
        <ns0:nvSpPr>
          <ns0:cNvPr id="2" name="">
            <ns1:extLst>
              <ns1:ext uri="{FF2B5EF4-FFF2-40B4-BE49-F238E27FC236}">
                <ns2:creationId id="{2AEA2E39-03CD-4249-9F11-2F50B51D79C8}"/>
              </ns1:ext>
            </ns1:extLst>
          </ns0:cNvPr>
          <ns0:cNvSpPr>
            <ns1:spLocks noGrp="1"/>
          </ns0:cNvSpPr>
          <ns0:nvPr/>
        </ns0:nvSpPr>
        <ns0:spPr>
          <ns1:xfrm>
            <ns1:off x="10858500" y="247650"/>
            <ns1:ext cx="723900" cy="228600"/>
          </ns1:xfrm>
          <ns1:prstGeom prst="rect">
            <ns1:avLst/>
          </ns1:prstGeom>
          <ns1:noFill/>
          <ns1:ln w="0">
            <ns1:noFill/>
            <ns1:prstDash val="solid"/>
          </ns1:ln>
        </ns0:spPr>
        <ns0:txBody>
          <ns1:bodyPr wrap="none" lIns="0" tIns="0" rIns="0" bIns="0" anchor="t">
            <ns1:noAutofit/>
          </ns1:bodyPr>
          <ns1:lstStyle>
            <ns1:defPPr algn="r">
              <ns1:defRPr sz="1400" b="0">
                <ns1:solidFill>
                  <ns1:srgbClr val="52606B"/>
                </ns1:solidFill>
                <ns1:latin typeface="Menlo"/>
                <ns1:ea typeface="Menlo"/>
                <ns1:cs typeface="Menlo"/>
              </ns1:defRPr>
            </ns1:defPPr>
          </ns1:lstStyle>
          <ns1:p>
            <ns1:pPr algn="r">
              <ns1:lnSpc>
                <ns1:spcPct val="116000"/>
              </ns1:lnSpc>
              <ns1:buNone/>
              <ns1:defRPr sz="1400" b="0">
                <ns1:solidFill>
                  <ns1:srgbClr val="52606B"/>
                </ns1:solidFill>
                <ns1:latin typeface="Menlo"/>
                <ns1:ea typeface="Menlo"/>
                <ns1:cs typeface="Menlo"/>
              </ns1:defRPr>
            </ns1:pPr>
            <ns1:r>
              <ns1:rPr sz="1400" b="0">
                <ns1:solidFill>
                  <ns1:srgbClr val="52606B"/>
                </ns1:solidFill>
                <ns1:latin typeface="Menlo"/>
                <ns1:ea typeface="Menlo"/>
                <ns1:cs typeface="Menlo"/>
              </ns1:rPr>
              <ns1:t>26</ns1:t>
            </ns1:r>
          </ns1:p>
        </ns0:txBody>
      </ns0:sp>
      <ns0:sp>
        <ns0:nvSpPr>
          <ns0:cNvPr id="3" name="">
            <ns1:extLst>
              <ns1:ext uri="{FF2B5EF4-FFF2-40B4-BE49-F238E27FC236}">
                <ns2:creationId id="{F9A01BB1-8FAA-4150-B999-96F2B8968200}"/>
              </ns1:ext>
            </ns1:extLst>
          </ns0:cNvPr>
          <ns0:cNvSpPr>
            <ns1:spLocks noGrp="1"/>
          </ns0:cNvSpPr>
          <ns0:nvPr/>
        </ns0:nvSpPr>
        <ns0:spPr>
          <ns1:xfrm>
            <ns1:off x="609600" y="723900"/>
            <ns1:ext cx="10972800" cy="666750"/>
          </ns1:xfrm>
          <ns1:prstGeom prst="rect">
            <ns1:avLst/>
          </ns1:prstGeom>
          <ns1:noFill/>
          <ns1:ln w="0">
            <ns1:noFill/>
            <ns1:prstDash val="solid"/>
          </ns1:ln>
        </ns0:spPr>
        <ns0:txBody>
          <ns1:bodyPr wrap="none" lIns="0" tIns="0" rIns="0" bIns="0" anchor="t">
            <ns1:noAutofit/>
          </ns1:bodyPr>
          <ns1:lstStyle>
            <ns1:defPPr algn="l">
              <ns1:defRPr sz="3400" b="1">
                <ns1:solidFill>
                  <ns1:srgbClr val="17191B"/>
                </ns1:solidFill>
                <ns1:latin typeface="AppleGothic"/>
                <ns1:ea typeface="AppleGothic"/>
                <ns1:cs typeface="AppleGothic"/>
              </ns1:defRPr>
            </ns1:defPPr>
          </ns1:lstStyle>
          <ns1:p>
            <ns1:pPr algn="l">
              <ns1:lnSpc>
                <ns1:spcPct val="116000"/>
              </ns1:lnSpc>
              <ns1:buNone/>
              <ns1:defRPr sz="3400" b="1">
                <ns1:solidFill>
                  <ns1:srgbClr val="17191B"/>
                </ns1:solidFill>
                <ns1:latin typeface="AppleGothic"/>
                <ns1:ea typeface="AppleGothic"/>
                <ns1:cs typeface="AppleGothic"/>
              </ns1:defRPr>
            </ns1:pPr>
            <ns1:r>
              <ns1:rPr sz="3400" b="1">
                <ns1:solidFill>
                  <ns1:srgbClr val="17191B"/>
                </ns1:solidFill>
                <ns1:latin typeface="AppleGothic"/>
                <ns1:ea typeface="AppleGothic"/>
                <ns1:cs typeface="AppleGothic"/>
              </ns1:rPr>
              <ns1:t>LoRA의 고정 경로와 학습 경로</ns1:t>
            </ns1:r>
          </ns1:p>
        </ns0:txBody>
      </ns0:sp>
      <ns0:sp>
        <ns0:nvSpPr>
          <ns0:cNvPr id="4" name="">
            <ns1:extLst>
              <ns1:ext uri="{FF2B5EF4-FFF2-40B4-BE49-F238E27FC236}">
                <ns2:creationId id="{A5029C89-BC0A-473C-BBF4-0A9C2CB166E0}"/>
              </ns1:ext>
            </ns1:extLst>
          </ns0:cNvPr>
          <ns0:cNvSpPr>
            <ns1:spLocks noGrp="1"/>
          </ns0:cNvSpPr>
          <ns0:nvPr/>
        </ns0:nvSpPr>
        <ns0:spPr>
          <ns1:xfrm>
            <ns1:off x="609600" y="6315075"/>
            <ns1:ext cx="10972800" cy="9525"/>
          </ns1:xfrm>
          <ns1:prstGeom prst="rect">
            <ns1:avLst/>
          </ns1:prstGeom>
          <ns1:solidFill>
            <ns1:srgbClr val="CFD5D3"/>
          </ns1:solidFill>
          <ns1:ln w="0">
            <ns1:noFill/>
            <ns1:prstDash val="solid"/>
          </ns1:ln>
        </ns0:spPr>
      </ns0:sp>
      <ns0:sp>
        <ns0:nvSpPr>
          <ns0:cNvPr id="5" name="">
            <ns1:extLst>
              <ns1:ext uri="{FF2B5EF4-FFF2-40B4-BE49-F238E27FC236}">
                <ns2:creationId id="{DCCB34F3-AE06-4D71-89C1-01C253705152}"/>
              </ns1:ext>
            </ns1:extLst>
          </ns0:cNvPr>
          <ns0:cNvSpPr>
            <ns1:spLocks noGrp="1"/>
          </ns0:cNvSpPr>
          <ns0:nvPr/>
        </ns0:nvSpPr>
        <ns0:spPr>
          <ns1:xfrm>
            <ns1:off x="609600" y="6477000"/>
            <ns1:ext cx="10972800" cy="228600"/>
          </ns1:xfrm>
          <ns1:prstGeom prst="rect">
            <ns1:avLst/>
          </ns1:prstGeom>
          <ns1:noFill/>
          <ns1:ln w="0">
            <ns1:noFill/>
            <ns1:prstDash val="solid"/>
          </ns1:ln>
        </ns0:spPr>
        <ns0:txBody>
          <ns1:bodyPr wrap="none" lIns="0" tIns="0" rIns="0" bIns="0" anchor="t">
            <ns1:noAutofit/>
          </ns1:bodyPr>
          <ns1:lstStyle>
            <ns1:defPPr algn="l">
              <ns1:defRPr sz="1400" b="0">
                <ns1:solidFill>
                  <ns1:srgbClr val="52606B"/>
                </ns1:solidFill>
                <ns1:latin typeface="AppleGothic"/>
                <ns1:ea typeface="AppleGothic"/>
                <ns1:cs typeface="AppleGothic"/>
              </ns1:defRPr>
            </ns1:defPPr>
          </ns1:lstStyle>
          <ns1:p>
            <ns1:pPr algn="l">
              <ns1:lnSpc>
                <ns1:spcPct val="116000"/>
              </ns1:lnSpc>
              <ns1:buNone/>
              <ns1:defRPr sz="1400" b="0">
                <ns1:solidFill>
                  <ns1:srgbClr val="52606B"/>
                </ns1:solidFill>
                <ns1:latin typeface="AppleGothic"/>
                <ns1:ea typeface="AppleGothic"/>
                <ns1:cs typeface="AppleGothic"/>
              </ns1:defRPr>
            </ns1:pPr>
            <ns1:r>
              <ns1:rPr sz="1400" b="0">
                <ns1:solidFill>
                  <ns1:srgbClr val="52606B"/>
                </ns1:solidFill>
                <ns1:latin typeface="AppleGothic"/>
                <ns1:ea typeface="AppleGothic"/>
                <ns1:cs typeface="AppleGothic"/>
              </ns1:rPr>
              <ns1:t>데이터 · 모델 적응 · 비교 평가 · 기획서 초안</ns1:t>
            </ns1:r>
          </ns1:p>
        </ns0:txBody>
      </ns0:sp>
      <ns0:pic>
        <ns0:nvPicPr>
          <ns0:cNvPr id="6" name="">
            <ns1:extLst>
              <ns1:ext uri="{FF2B5EF4-FFF2-40B4-BE49-F238E27FC236}">
                <ns2:creationId id="{E5050AEA-F6A1-4372-9E1C-4A9F56FA619B}"/>
              </ns1:ext>
            </ns1:extLst>
          </ns0:cNvPr>
          <ns0:cNvPicPr>
            <ns1:picLocks noChangeAspect="1"/>
          </ns0:cNvPicPr>
          <ns0:nvPr/>
        </ns0:nvPicPr>
        <ns0:blipFill>
          <ns1:blip ns3:embed="R4c36c6ed29874417">
            <ns1:grayscl/>
          </ns1:blip>
          <ns1:stretch/>
        </ns0:blipFill>
        <ns0:spPr>
          <ns1:xfrm>
            <ns1:off x="1409417" y="1628775"/>
            <ns1:ext cx="3943916" cy="3905250"/>
          </ns1:xfrm>
          <ns1:prstGeom prst="rect">
            <ns1:avLst/>
          </ns1:prstGeom>
        </ns0:spPr>
      </ns0:pic>
      <ns0:sp>
        <ns0:nvSpPr>
          <ns0:cNvPr id="7" name="">
            <ns1:extLst>
              <ns1:ext uri="{FF2B5EF4-FFF2-40B4-BE49-F238E27FC236}">
                <ns2:creationId id="{FB7586F7-A687-4DBE-B6F3-DCA827939C02}"/>
              </ns1:ext>
            </ns1:extLst>
          </ns0:cNvPr>
          <ns0:cNvSpPr>
            <ns1:spLocks noGrp="1"/>
          </ns0:cNvSpPr>
          <ns0:nvPr/>
        </ns0:nvSpPr>
        <ns0:spPr>
          <ns1:xfrm>
            <ns1:off x="6800850" y="1714500"/>
            <ns1:ext cx="4648200" cy="400050"/>
          </ns1:xfrm>
          <ns1:prstGeom prst="rect">
            <ns1:avLst/>
          </ns1:prstGeom>
          <ns1:noFill/>
          <ns1:ln w="0">
            <ns1:noFill/>
            <ns1:prstDash val="solid"/>
          </ns1:ln>
        </ns0:spPr>
        <ns0:txBody>
          <ns1:bodyPr wrap="none" lIns="0" tIns="0" rIns="0" bIns="0" anchor="t">
            <ns1:noAutofit/>
          </ns1:bodyPr>
          <ns1:lstStyle>
            <ns1:defPPr algn="l">
              <ns1:defRPr sz="2300" b="1">
                <ns1:solidFill>
                  <ns1:srgbClr val="17191B"/>
                </ns1:solidFill>
                <ns1:latin typeface="AppleGothic"/>
                <ns1:ea typeface="AppleGothic"/>
                <ns1:cs typeface="AppleGothic"/>
              </ns1:defRPr>
            </ns1:defPPr>
          </ns1:lstStyle>
          <ns1:p>
            <ns1:pPr algn="l">
              <ns1:lnSpc>
                <ns1:spcPct val="116000"/>
              </ns1:lnSpc>
              <ns1:buNone/>
              <ns1:defRPr sz="2300" b="1">
                <ns1:solidFill>
                  <ns1:srgbClr val="17191B"/>
                </ns1:solidFill>
                <ns1:latin typeface="AppleGothic"/>
                <ns1:ea typeface="AppleGothic"/>
                <ns1:cs typeface="AppleGothic"/>
              </ns1:defRPr>
            </ns1:pPr>
            <ns1:r>
              <ns1:rPr sz="2300" b="1">
                <ns1:solidFill>
                  <ns1:srgbClr val="17191B"/>
                </ns1:solidFill>
                <ns1:latin typeface="AppleGothic"/>
                <ns1:ea typeface="AppleGothic"/>
                <ns1:cs typeface="AppleGothic"/>
              </ns1:rPr>
              <ns1:t>W</ns1:t>
            </ns1:r>
          </ns1:p>
        </ns0:txBody>
      </ns0:sp>
      <ns0:sp>
        <ns0:nvSpPr>
          <ns0:cNvPr id="8" name="">
            <ns1:extLst>
              <ns1:ext uri="{FF2B5EF4-FFF2-40B4-BE49-F238E27FC236}">
                <ns2:creationId id="{AFFD9883-68DD-41EC-9271-A621CEF085E3}"/>
              </ns1:ext>
            </ns1:extLst>
          </ns0:cNvPr>
          <ns0:cNvSpPr>
            <ns1:spLocks noGrp="1"/>
          </ns0:cNvSpPr>
          <ns0:nvPr/>
        </ns0:nvSpPr>
        <ns0:spPr>
          <ns1:xfrm>
            <ns1:off x="6800850" y="2200275"/>
            <ns1:ext cx="4648200" cy="647700"/>
          </ns1:xfrm>
          <ns1:prstGeom prst="rect">
            <ns1:avLst/>
          </ns1:prstGeom>
          <ns1:noFill/>
          <ns1:ln w="0">
            <ns1:noFill/>
            <ns1:prstDash val="solid"/>
          </ns1:ln>
        </ns0:spPr>
        <ns0:txBody>
          <ns1:bodyPr wrap="none" lIns="0" tIns="0" rIns="0" bIns="0" anchor="t">
            <ns1:noAutofit/>
          </ns1:bodyPr>
          <ns1:lstStyle>
            <ns1:defPPr algn="l">
              <ns1:defRPr sz="2000" b="0">
                <ns1:solidFill>
                  <ns1:srgbClr val="52606B"/>
                </ns1:solidFill>
                <ns1:latin typeface="AppleGothic"/>
                <ns1:ea typeface="AppleGothic"/>
                <ns1:cs typeface="AppleGothic"/>
              </ns1:defRPr>
            </ns1:defPPr>
          </ns1:lstStyle>
          <ns1:p>
            <ns1:pPr algn="l">
              <ns1:lnSpc>
                <ns1:spcPct val="116000"/>
              </ns1:lnSpc>
              <ns1:buNone/>
              <ns1:defRPr sz="2000" b="0">
                <ns1:solidFill>
                  <ns1:srgbClr val="52606B"/>
                </ns1:solidFill>
                <ns1:latin typeface="AppleGothic"/>
                <ns1:ea typeface="AppleGothic"/>
                <ns1:cs typeface="AppleGothic"/>
              </ns1:defRPr>
            </ns1:pPr>
            <ns1:r>
              <ns1:rPr sz="2000" b="0">
                <ns1:solidFill>
                  <ns1:srgbClr val="52606B"/>
                </ns1:solidFill>
                <ns1:latin typeface="AppleGothic"/>
                <ns1:ea typeface="AppleGothic"/>
                <ns1:cs typeface="AppleGothic"/>
              </ns1:rPr>
              <ns1:t>고정 가중치의 계산</ns1:t>
            </ns1:r>
          </ns1:p>
        </ns0:txBody>
      </ns0:sp>
      <ns0:sp>
        <ns0:nvSpPr>
          <ns0:cNvPr id="9" name="">
            <ns1:extLst>
              <ns1:ext uri="{FF2B5EF4-FFF2-40B4-BE49-F238E27FC236}">
                <ns2:creationId id="{33C5B690-9424-4BEF-8AA8-4011B6B96C12}"/>
              </ns1:ext>
            </ns1:extLst>
          </ns0:cNvPr>
          <ns0:cNvSpPr>
            <ns1:spLocks noGrp="1"/>
          </ns0:cNvSpPr>
          <ns0:nvPr/>
        </ns0:nvSpPr>
        <ns0:spPr>
          <ns1:xfrm>
            <ns1:off x="6800850" y="2952750"/>
            <ns1:ext cx="4648200" cy="400050"/>
          </ns1:xfrm>
          <ns1:prstGeom prst="rect">
            <ns1:avLst/>
          </ns1:prstGeom>
          <ns1:noFill/>
          <ns1:ln w="0">
            <ns1:noFill/>
            <ns1:prstDash val="solid"/>
          </ns1:ln>
        </ns0:spPr>
        <ns0:txBody>
          <ns1:bodyPr wrap="none" lIns="0" tIns="0" rIns="0" bIns="0" anchor="t">
            <ns1:noAutofit/>
          </ns1:bodyPr>
          <ns1:lstStyle>
            <ns1:defPPr algn="l">
              <ns1:defRPr sz="2300" b="1">
                <ns1:solidFill>
                  <ns1:srgbClr val="17191B"/>
                </ns1:solidFill>
                <ns1:latin typeface="AppleGothic"/>
                <ns1:ea typeface="AppleGothic"/>
                <ns1:cs typeface="AppleGothic"/>
              </ns1:defRPr>
            </ns1:defPPr>
          </ns1:lstStyle>
          <ns1:p>
            <ns1:pPr algn="l">
              <ns1:lnSpc>
                <ns1:spcPct val="116000"/>
              </ns1:lnSpc>
              <ns1:buNone/>
              <ns1:defRPr sz="2300" b="1">
                <ns1:solidFill>
                  <ns1:srgbClr val="17191B"/>
                </ns1:solidFill>
                <ns1:latin typeface="AppleGothic"/>
                <ns1:ea typeface="AppleGothic"/>
                <ns1:cs typeface="AppleGothic"/>
              </ns1:defRPr>
            </ns1:pPr>
            <ns1:r>
              <ns1:rPr sz="2300" b="1">
                <ns1:solidFill>
                  <ns1:srgbClr val="17191B"/>
                </ns1:solidFill>
                <ns1:latin typeface="AppleGothic"/>
                <ns1:ea typeface="AppleGothic"/>
                <ns1:cs typeface="AppleGothic"/>
              </ns1:rPr>
              <ns1:t>A와 B</ns1:t>
            </ns1:r>
          </ns1:p>
        </ns0:txBody>
      </ns0:sp>
      <ns0:sp>
        <ns0:nvSpPr>
          <ns0:cNvPr id="10" name="">
            <ns1:extLst>
              <ns1:ext uri="{FF2B5EF4-FFF2-40B4-BE49-F238E27FC236}">
                <ns2:creationId id="{8A298A7A-980D-4430-8819-B1C11D9D10A0}"/>
              </ns1:ext>
            </ns1:extLst>
          </ns0:cNvPr>
          <ns0:cNvSpPr>
            <ns1:spLocks noGrp="1"/>
          </ns0:cNvSpPr>
          <ns0:nvPr/>
        </ns0:nvSpPr>
        <ns0:spPr>
          <ns1:xfrm>
            <ns1:off x="6800850" y="3438525"/>
            <ns1:ext cx="4648200" cy="647700"/>
          </ns1:xfrm>
          <ns1:prstGeom prst="rect">
            <ns1:avLst/>
          </ns1:prstGeom>
          <ns1:noFill/>
          <ns1:ln w="0">
            <ns1:noFill/>
            <ns1:prstDash val="solid"/>
          </ns1:ln>
        </ns0:spPr>
        <ns0:txBody>
          <ns1:bodyPr wrap="none" lIns="0" tIns="0" rIns="0" bIns="0" anchor="t">
            <ns1:noAutofit/>
          </ns1:bodyPr>
          <ns1:lstStyle>
            <ns1:defPPr algn="l">
              <ns1:defRPr sz="2000" b="0">
                <ns1:solidFill>
                  <ns1:srgbClr val="52606B"/>
                </ns1:solidFill>
                <ns1:latin typeface="AppleGothic"/>
                <ns1:ea typeface="AppleGothic"/>
                <ns1:cs typeface="AppleGothic"/>
              </ns1:defRPr>
            </ns1:defPPr>
          </ns1:lstStyle>
          <ns1:p>
            <ns1:pPr algn="l">
              <ns1:lnSpc>
                <ns1:spcPct val="116000"/>
              </ns1:lnSpc>
              <ns1:buNone/>
              <ns1:defRPr sz="2000" b="0">
                <ns1:solidFill>
                  <ns1:srgbClr val="52606B"/>
                </ns1:solidFill>
                <ns1:latin typeface="AppleGothic"/>
                <ns1:ea typeface="AppleGothic"/>
                <ns1:cs typeface="AppleGothic"/>
              </ns1:defRPr>
            </ns1:pPr>
            <ns1:r>
              <ns1:rPr sz="2000" b="0">
                <ns1:solidFill>
                  <ns1:srgbClr val="52606B"/>
                </ns1:solidFill>
                <ns1:latin typeface="AppleGothic"/>
                <ns1:ea typeface="AppleGothic"/>
                <ns1:cs typeface="AppleGothic"/>
              </ns1:rPr>
              <ns1:t>학습하는 작은 두 행렬</ns1:t>
            </ns1:r>
          </ns1:p>
        </ns0:txBody>
      </ns0:sp>
      <ns0:sp>
        <ns0:nvSpPr>
          <ns0:cNvPr id="11" name="">
            <ns1:extLst>
              <ns1:ext uri="{FF2B5EF4-FFF2-40B4-BE49-F238E27FC236}">
                <ns2:creationId id="{9D1BB2E7-88CD-43DF-AEC1-8C5ADEABDD21}"/>
              </ns1:ext>
            </ns1:extLst>
          </ns0:cNvPr>
          <ns0:cNvSpPr>
            <ns1:spLocks noGrp="1"/>
          </ns0:cNvSpPr>
          <ns0:nvPr/>
        </ns0:nvSpPr>
        <ns0:spPr>
          <ns1:xfrm>
            <ns1:off x="6800850" y="4191000"/>
            <ns1:ext cx="4648200" cy="400050"/>
          </ns1:xfrm>
          <ns1:prstGeom prst="rect">
            <ns1:avLst/>
          </ns1:prstGeom>
          <ns1:noFill/>
          <ns1:ln w="0">
            <ns1:noFill/>
            <ns1:prstDash val="solid"/>
          </ns1:ln>
        </ns0:spPr>
        <ns0:txBody>
          <ns1:bodyPr wrap="none" lIns="0" tIns="0" rIns="0" bIns="0" anchor="t">
            <ns1:noAutofit/>
          </ns1:bodyPr>
          <ns1:lstStyle>
            <ns1:defPPr algn="l">
              <ns1:defRPr sz="2300" b="1">
                <ns1:solidFill>
                  <ns1:srgbClr val="17191B"/>
                </ns1:solidFill>
                <ns1:latin typeface="AppleGothic"/>
                <ns1:ea typeface="AppleGothic"/>
                <ns1:cs typeface="AppleGothic"/>
              </ns1:defRPr>
            </ns1:defPPr>
          </ns1:lstStyle>
          <ns1:p>
            <ns1:pPr algn="l">
              <ns1:lnSpc>
                <ns1:spcPct val="116000"/>
              </ns1:lnSpc>
              <ns1:buNone/>
              <ns1:defRPr sz="2300" b="1">
                <ns1:solidFill>
                  <ns1:srgbClr val="17191B"/>
                </ns1:solidFill>
                <ns1:latin typeface="AppleGothic"/>
                <ns1:ea typeface="AppleGothic"/>
                <ns1:cs typeface="AppleGothic"/>
              </ns1:defRPr>
            </ns1:pPr>
            <ns1:r>
              <ns1:rPr sz="2300" b="1">
                <ns1:solidFill>
                  <ns1:srgbClr val="17191B"/>
                </ns1:solidFill>
                <ns1:latin typeface="AppleGothic"/>
                <ns1:ea typeface="AppleGothic"/>
                <ns1:cs typeface="AppleGothic"/>
              </ns1:rPr>
              <ns1:t>차원 예시</ns1:t>
            </ns1:r>
          </ns1:p>
        </ns0:txBody>
      </ns0:sp>
      <ns0:sp>
        <ns0:nvSpPr>
          <ns0:cNvPr id="12" name="">
            <ns1:extLst>
              <ns1:ext uri="{FF2B5EF4-FFF2-40B4-BE49-F238E27FC236}">
                <ns2:creationId id="{1012D7CE-8CCA-49B2-B15E-F516F1ED046F}"/>
              </ns1:ext>
            </ns1:extLst>
          </ns0:cNvPr>
          <ns0:cNvSpPr>
            <ns1:spLocks noGrp="1"/>
          </ns0:cNvSpPr>
          <ns0:nvPr/>
        </ns0:nvSpPr>
        <ns0:spPr>
          <ns1:xfrm>
            <ns1:off x="6800850" y="4676775"/>
            <ns1:ext cx="4648200" cy="647700"/>
          </ns1:xfrm>
          <ns1:prstGeom prst="rect">
            <ns1:avLst/>
          </ns1:prstGeom>
          <ns1:noFill/>
          <ns1:ln w="0">
            <ns1:noFill/>
            <ns1:prstDash val="solid"/>
          </ns1:ln>
        </ns0:spPr>
        <ns0:txBody>
          <ns1:bodyPr wrap="none" lIns="0" tIns="0" rIns="0" bIns="0" anchor="t">
            <ns1:noAutofit/>
          </ns1:bodyPr>
          <ns1:lstStyle>
            <ns1:defPPr algn="l">
              <ns1:defRPr sz="2000" b="0">
                <ns1:solidFill>
                  <ns1:srgbClr val="52606B"/>
                </ns1:solidFill>
                <ns1:latin typeface="AppleGothic"/>
                <ns1:ea typeface="AppleGothic"/>
                <ns1:cs typeface="AppleGothic"/>
              </ns1:defRPr>
            </ns1:defPPr>
          </ns1:lstStyle>
          <ns1:p>
            <ns1:pPr algn="l">
              <ns1:lnSpc>
                <ns1:spcPct val="116000"/>
              </ns1:lnSpc>
              <ns1:buNone/>
              <ns1:defRPr sz="2000" b="0">
                <ns1:solidFill>
                  <ns1:srgbClr val="52606B"/>
                </ns1:solidFill>
                <ns1:latin typeface="AppleGothic"/>
                <ns1:ea typeface="AppleGothic"/>
                <ns1:cs typeface="AppleGothic"/>
              </ns1:defRPr>
            </ns1:pPr>
            <ns1:r>
              <ns1:rPr sz="2000" b="0">
                <ns1:solidFill>
                  <ns1:srgbClr val="52606B"/>
                </ns1:solidFill>
                <ns1:latin typeface="AppleGothic"/>
                <ns1:ea typeface="AppleGothic"/>
                <ns1:cs typeface="AppleGothic"/>
              </ns1:rPr>
              <ns1:t>A: 2×8 · B: 12×2 · BA: 12×8</ns1:t>
            </ns1:r>
          </ns1:p>
        </ns0:txBody>
      </ns0:sp>
      <ns0:sp>
        <ns0:nvSpPr>
          <ns0:cNvPr id="13" name="">
            <ns1:extLst>
              <ns1:ext uri="{FF2B5EF4-FFF2-40B4-BE49-F238E27FC236}">
                <ns2:creationId id="{C0600E9A-3F15-4BF7-A1D2-19C1C80353F0}"/>
              </ns1:ext>
            </ns1:extLst>
          </ns0:cNvPr>
          <ns0:cNvSpPr>
            <ns1:spLocks noGrp="1"/>
          </ns0:cNvSpPr>
          <ns0:nvPr/>
        </ns0:nvSpPr>
        <ns0:spPr>
          <ns1:xfrm>
            <ns1:off x="609600" y="5791200"/>
            <ns1:ext cx="10972800" cy="457200"/>
          </ns1:xfrm>
          <ns1:prstGeom prst="rect">
            <ns1:avLst/>
          </ns1:prstGeom>
          <ns1:noFill/>
          <ns1:ln w="0">
            <ns1:noFill/>
            <ns1:prstDash val="solid"/>
          </ns1:ln>
        </ns0:spPr>
        <ns0:txBody>
          <ns1:bodyPr wrap="none" lIns="0" tIns="0" rIns="0" bIns="0" anchor="t">
            <ns1:noAutofit/>
          </ns1:bodyPr>
          <ns1:lstStyle>
            <ns1:defPPr algn="l">
              <ns1:defRPr sz="1600" b="0">
                <ns1:solidFill>
                  <ns1:srgbClr val="52606B"/>
                </ns1:solidFill>
                <ns1:latin typeface="AppleGothic"/>
                <ns1:ea typeface="AppleGothic"/>
                <ns1:cs typeface="AppleGothic"/>
              </ns1:defRPr>
            </ns1:defPPr>
          </ns1:lstStyle>
          <ns1:p>
            <ns1:pPr algn="l">
              <ns1:lnSpc>
                <ns1:spcPct val="116000"/>
              </ns1:lnSpc>
              <ns1:buNone/>
              <ns1:defRPr sz="1600" b="0">
                <ns1:solidFill>
                  <ns1:srgbClr val="52606B"/>
                </ns1:solidFill>
                <ns1:latin typeface="AppleGothic"/>
                <ns1:ea typeface="AppleGothic"/>
                <ns1:cs typeface="AppleGothic"/>
              </ns1:defRPr>
            </ns1:pPr>
            <ns1:r>
              <ns1:rPr sz="1600" b="0">
                <ns1:solidFill>
                  <ns1:srgbClr val="52606B"/>
                </ns1:solidFill>
                <ns1:latin typeface="AppleGothic"/>
                <ns1:ea typeface="AppleGothic"/>
                <ns1:cs typeface="AppleGothic"/>
              </ns1:rPr>
              <ns1:t>Hu et al., 2021, Figure 1 · 원본 발췌·흑백 렌더링</ns1:t>
            </ns1:r>
          </ns1:p>
        </ns0:txBody>
      </ns0:sp>
    </ns0:spTree>
    <ns0:extLst>
      <ns0:ext uri="{BB962C8B-B14F-4D97-AF65-F5344CB8AC3E}">
        <ns4:creationId val="1055786031"/>
      </ns0:ext>
    </ns0:extLst>
  </ns0:cSld>
</ns0:sld>
</file>

<file path=ppt/slides/slide27.xml><?xml version="1.0" encoding="utf-8"?>
<p:sld xmlns:p="http://schemas.openxmlformats.org/presentationml/2006/main">
  <p:cSld>
    <p:bg>
      <p:bgPr>
        <a:solidFill xmlns:a="http://schemas.openxmlformats.org/drawingml/2006/main">
          <a:srgbClr val="F7F7F5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30417ECA-CA4E-4E99-855B-09A6F1E77E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47650"/>
            <a:ext cx="9525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1400" b="0">
                <a:solidFill>
                  <a:srgbClr val="52606B"/>
                </a:solidFill>
                <a:latin typeface="AppleGothic"/>
                <a:ea typeface="AppleGothic"/>
                <a:cs typeface="AppleGothic"/>
              </a:defRPr>
            </a:defPPr>
          </a:lstStyle>
          <a:p xmlns:a="http://schemas.openxmlformats.org/drawingml/2006/main">
            <a:pPr algn="l">
              <a:lnSpc>
                <a:spcPct val="116000"/>
              </a:lnSpc>
              <a:buNone/>
              <a:defRPr sz="1400" b="0">
                <a:solidFill>
                  <a:srgbClr val="52606B"/>
                </a:solidFill>
                <a:latin typeface="AppleGothic"/>
                <a:ea typeface="AppleGothic"/>
                <a:cs typeface="AppleGothic"/>
              </a:defRPr>
            </a:pPr>
            <a:r>
              <a:rPr sz="1400" b="0">
                <a:solidFill>
                  <a:srgbClr val="52606B"/>
                </a:solidFill>
                <a:latin typeface="AppleGothic"/>
                <a:ea typeface="AppleGothic"/>
                <a:cs typeface="AppleGothic"/>
              </a:rPr>
              <a:t>LLMOPS / W07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D862E77F-B71F-4203-82A6-0CC09DA8BA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8500" y="247650"/>
            <a:ext cx="7239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r">
              <a:defRPr sz="1400" b="0">
                <a:solidFill>
                  <a:srgbClr val="52606B"/>
                </a:solidFill>
                <a:latin typeface="Menlo"/>
                <a:ea typeface="Menlo"/>
                <a:cs typeface="Menlo"/>
              </a:defRPr>
            </a:defPPr>
          </a:lstStyle>
          <a:p xmlns:a="http://schemas.openxmlformats.org/drawingml/2006/main">
            <a:pPr algn="r">
              <a:lnSpc>
                <a:spcPct val="116000"/>
              </a:lnSpc>
              <a:buNone/>
              <a:defRPr sz="1400" b="0">
                <a:solidFill>
                  <a:srgbClr val="52606B"/>
                </a:solidFill>
                <a:latin typeface="Menlo"/>
                <a:ea typeface="Menlo"/>
                <a:cs typeface="Menlo"/>
              </a:defRPr>
            </a:pPr>
            <a:r>
              <a:rPr sz="1400" b="0">
                <a:solidFill>
                  <a:srgbClr val="52606B"/>
                </a:solidFill>
                <a:latin typeface="Menlo"/>
                <a:ea typeface="Menlo"/>
                <a:cs typeface="Menlo"/>
              </a:rPr>
              <a:t>27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82710D01-A484-4AE6-9CE6-DC75E582B6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23900"/>
            <a:ext cx="109728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3400" b="1">
                <a:solidFill>
                  <a:srgbClr val="17191B"/>
                </a:solidFill>
                <a:latin typeface="AppleGothic"/>
                <a:ea typeface="AppleGothic"/>
                <a:cs typeface="AppleGothic"/>
              </a:defRPr>
            </a:defPPr>
          </a:lstStyle>
          <a:p xmlns:a="http://schemas.openxmlformats.org/drawingml/2006/main">
            <a:pPr algn="l">
              <a:lnSpc>
                <a:spcPct val="116000"/>
              </a:lnSpc>
              <a:buNone/>
              <a:defRPr sz="3400" b="1">
                <a:solidFill>
                  <a:srgbClr val="17191B"/>
                </a:solidFill>
                <a:latin typeface="AppleGothic"/>
                <a:ea typeface="AppleGothic"/>
                <a:cs typeface="AppleGothic"/>
              </a:defRPr>
            </a:pPr>
            <a:r>
              <a:rPr sz="3400" b="1">
                <a:solidFill>
                  <a:srgbClr val="17191B"/>
                </a:solidFill>
                <a:latin typeface="AppleGothic"/>
                <a:ea typeface="AppleGothic"/>
                <a:cs typeface="AppleGothic"/>
              </a:rPr>
              <a:t>rank와 파라미터 수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21921445-15B4-460A-85F3-8A5EC547C2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315075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FD5D3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10F89993-0F6D-4156-93CD-0DB4402599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77000"/>
            <a:ext cx="109728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1400" b="0">
                <a:solidFill>
                  <a:srgbClr val="52606B"/>
                </a:solidFill>
                <a:latin typeface="AppleGothic"/>
                <a:ea typeface="AppleGothic"/>
                <a:cs typeface="AppleGothic"/>
              </a:defRPr>
            </a:defPPr>
          </a:lstStyle>
          <a:p xmlns:a="http://schemas.openxmlformats.org/drawingml/2006/main">
            <a:pPr algn="l">
              <a:lnSpc>
                <a:spcPct val="116000"/>
              </a:lnSpc>
              <a:buNone/>
              <a:defRPr sz="1400" b="0">
                <a:solidFill>
                  <a:srgbClr val="52606B"/>
                </a:solidFill>
                <a:latin typeface="AppleGothic"/>
                <a:ea typeface="AppleGothic"/>
                <a:cs typeface="AppleGothic"/>
              </a:defRPr>
            </a:pPr>
            <a:r>
              <a:rPr sz="1400" b="0">
                <a:solidFill>
                  <a:srgbClr val="52606B"/>
                </a:solidFill>
                <a:latin typeface="AppleGothic"/>
                <a:ea typeface="AppleGothic"/>
                <a:cs typeface="AppleGothic"/>
              </a:rPr>
              <a:t>데이터 · 모델 적응 · 비교 평가 · 기획서 초안</a:t>
            </a:r>
          </a:p>
        </p:txBody>
      </p:sp>
      <p:graphicFrame>
        <p:nvGraphicFrame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2738A40E-4671-45E5-924A-F8097BB8FED5}"/>
              </a:ext>
            </a:extLst>
          </p:cNvPr>
          <p:cNvGraphicFramePr/>
          <p:nvPr/>
        </p:nvGraphicFramePr>
        <p:xfrm>
          <a:off xmlns:a="http://schemas.openxmlformats.org/drawingml/2006/main" x="609600" y="1809750"/>
          <a:ext xmlns:a="http://schemas.openxmlformats.org/drawingml/2006/main" cx="10972800" cy="3714750"/>
        </p:xfrm>
        <a:graphic xmlns:a="http://schemas.openxmlformats.org/drawingml/2006/main">
          <a:graphicData uri="http://schemas.openxmlformats.org/drawingml/2006/table">
            <a:tbl>
              <a:tblPr firstRow="0" bandRow="0"/>
              <a:tblGrid>
                <a:gridCol w="2857500"/>
                <a:gridCol w="4686300"/>
                <a:gridCol w="3429000"/>
              </a:tblGrid>
              <a:tr h="742950">
                <a:tc>
                  <a:txBody>
                    <a:bodyPr wrap="none" lIns="133350" tIns="114300" rIns="133350" bIns="114300">
                      <a:noAutofit/>
                    </a:bodyPr>
                    <a:lstStyle/>
                    <a:p>
                      <a:r>
                        <a:rPr sz="1900" b="1">
                          <a:solidFill>
                            <a:srgbClr val="17283B"/>
                          </a:solidFill>
                          <a:latin typeface="AppleGothic"/>
                          <a:ea typeface="AppleGothic"/>
                          <a:cs typeface="AppleGothic"/>
                        </a:rPr>
                        <a:t>rank</a:t>
                      </a:r>
                    </a:p>
                  </a:txBody>
                  <a:tcPr marL="91440" marR="91440" marT="45720" marB="4572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EDF1F6"/>
                    </a:solidFill>
                  </a:tcPr>
                </a:tc>
                <a:tc>
                  <a:txBody>
                    <a:bodyPr wrap="none" lIns="133350" tIns="114300" rIns="133350" bIns="114300">
                      <a:noAutofit/>
                    </a:bodyPr>
                    <a:lstStyle/>
                    <a:p>
                      <a:r>
                        <a:rPr sz="1900" b="1">
                          <a:solidFill>
                            <a:srgbClr val="17283B"/>
                          </a:solidFill>
                          <a:latin typeface="AppleGothic"/>
                          <a:ea typeface="AppleGothic"/>
                          <a:cs typeface="AppleGothic"/>
                        </a:rPr>
                        <a:t>전체 행렬</a:t>
                      </a:r>
                    </a:p>
                  </a:txBody>
                  <a:tcPr marL="91440" marR="91440" marT="45720" marB="4572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EDF1F6"/>
                    </a:solidFill>
                  </a:tcPr>
                </a:tc>
                <a:tc>
                  <a:txBody>
                    <a:bodyPr wrap="none" lIns="133350" tIns="114300" rIns="133350" bIns="114300">
                      <a:noAutofit/>
                    </a:bodyPr>
                    <a:lstStyle/>
                    <a:p>
                      <a:r>
                        <a:rPr sz="1900" b="1">
                          <a:solidFill>
                            <a:srgbClr val="17283B"/>
                          </a:solidFill>
                          <a:latin typeface="AppleGothic"/>
                          <a:ea typeface="AppleGothic"/>
                          <a:cs typeface="AppleGothic"/>
                        </a:rPr>
                        <a:t>두 행렬 합계</a:t>
                      </a:r>
                    </a:p>
                  </a:txBody>
                  <a:tcPr marL="91440" marR="91440" marT="45720" marB="4572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EDF1F6"/>
                    </a:solidFill>
                  </a:tcPr>
                </a:tc>
              </a:tr>
              <a:tr h="742950">
                <a:tc>
                  <a:txBody>
                    <a:bodyPr wrap="none" lIns="133350" tIns="114300" rIns="133350" bIns="114300">
                      <a:noAutofit/>
                    </a:bodyPr>
                    <a:lstStyle/>
                    <a:p>
                      <a:r>
                        <a:rPr sz="1900" b="1">
                          <a:solidFill>
                            <a:srgbClr val="17191B"/>
                          </a:solidFill>
                          <a:latin typeface="AppleGothic"/>
                          <a:ea typeface="AppleGothic"/>
                          <a:cs typeface="AppleGothic"/>
                        </a:rPr>
                        <a:t>1</a:t>
                      </a:r>
                    </a:p>
                  </a:txBody>
                  <a:tcPr marL="91440" marR="91440" marT="45720" marB="4572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 lIns="133350" tIns="114300" rIns="133350" bIns="114300">
                      <a:noAutofit/>
                    </a:bodyPr>
                    <a:lstStyle/>
                    <a:p>
                      <a:r>
                        <a:rPr sz="1900" b="0">
                          <a:solidFill>
                            <a:srgbClr val="52606B"/>
                          </a:solidFill>
                          <a:latin typeface="AppleGothic"/>
                          <a:ea typeface="AppleGothic"/>
                          <a:cs typeface="AppleGothic"/>
                        </a:rPr>
                        <a:t>96</a:t>
                      </a:r>
                    </a:p>
                  </a:txBody>
                  <a:tcPr marL="91440" marR="91440" marT="45720" marB="4572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 lIns="133350" tIns="114300" rIns="133350" bIns="114300">
                      <a:noAutofit/>
                    </a:bodyPr>
                    <a:lstStyle/>
                    <a:p>
                      <a:r>
                        <a:rPr sz="1900" b="0">
                          <a:solidFill>
                            <a:srgbClr val="52606B"/>
                          </a:solidFill>
                          <a:latin typeface="AppleGothic"/>
                          <a:ea typeface="AppleGothic"/>
                          <a:cs typeface="AppleGothic"/>
                        </a:rPr>
                        <a:t>20</a:t>
                      </a:r>
                    </a:p>
                  </a:txBody>
                  <a:tcPr marL="91440" marR="91440" marT="45720" marB="4572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FFFFFF"/>
                    </a:solidFill>
                  </a:tcPr>
                </a:tc>
              </a:tr>
              <a:tr h="742950">
                <a:tc>
                  <a:txBody>
                    <a:bodyPr wrap="none" lIns="133350" tIns="114300" rIns="133350" bIns="114300">
                      <a:noAutofit/>
                    </a:bodyPr>
                    <a:lstStyle/>
                    <a:p>
                      <a:r>
                        <a:rPr sz="1900" b="1">
                          <a:solidFill>
                            <a:srgbClr val="17191B"/>
                          </a:solidFill>
                          <a:latin typeface="AppleGothic"/>
                          <a:ea typeface="AppleGothic"/>
                          <a:cs typeface="AppleGothic"/>
                        </a:rPr>
                        <a:t>2</a:t>
                      </a:r>
                    </a:p>
                  </a:txBody>
                  <a:tcPr marL="91440" marR="91440" marT="45720" marB="4572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 lIns="133350" tIns="114300" rIns="133350" bIns="114300">
                      <a:noAutofit/>
                    </a:bodyPr>
                    <a:lstStyle/>
                    <a:p>
                      <a:r>
                        <a:rPr sz="1900" b="0">
                          <a:solidFill>
                            <a:srgbClr val="52606B"/>
                          </a:solidFill>
                          <a:latin typeface="AppleGothic"/>
                          <a:ea typeface="AppleGothic"/>
                          <a:cs typeface="AppleGothic"/>
                        </a:rPr>
                        <a:t>96</a:t>
                      </a:r>
                    </a:p>
                  </a:txBody>
                  <a:tcPr marL="91440" marR="91440" marT="45720" marB="4572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 lIns="133350" tIns="114300" rIns="133350" bIns="114300">
                      <a:noAutofit/>
                    </a:bodyPr>
                    <a:lstStyle/>
                    <a:p>
                      <a:r>
                        <a:rPr sz="1900" b="0">
                          <a:solidFill>
                            <a:srgbClr val="52606B"/>
                          </a:solidFill>
                          <a:latin typeface="AppleGothic"/>
                          <a:ea typeface="AppleGothic"/>
                          <a:cs typeface="AppleGothic"/>
                        </a:rPr>
                        <a:t>40</a:t>
                      </a:r>
                    </a:p>
                  </a:txBody>
                  <a:tcPr marL="91440" marR="91440" marT="45720" marB="4572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FFFFFF"/>
                    </a:solidFill>
                  </a:tcPr>
                </a:tc>
              </a:tr>
              <a:tr h="742950">
                <a:tc>
                  <a:txBody>
                    <a:bodyPr wrap="none" lIns="133350" tIns="114300" rIns="133350" bIns="114300">
                      <a:noAutofit/>
                    </a:bodyPr>
                    <a:lstStyle/>
                    <a:p>
                      <a:r>
                        <a:rPr sz="1900" b="1">
                          <a:solidFill>
                            <a:srgbClr val="17191B"/>
                          </a:solidFill>
                          <a:latin typeface="AppleGothic"/>
                          <a:ea typeface="AppleGothic"/>
                          <a:cs typeface="AppleGothic"/>
                        </a:rPr>
                        <a:t>4</a:t>
                      </a:r>
                    </a:p>
                  </a:txBody>
                  <a:tcPr marL="91440" marR="91440" marT="45720" marB="4572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 lIns="133350" tIns="114300" rIns="133350" bIns="114300">
                      <a:noAutofit/>
                    </a:bodyPr>
                    <a:lstStyle/>
                    <a:p>
                      <a:r>
                        <a:rPr sz="1900" b="0">
                          <a:solidFill>
                            <a:srgbClr val="52606B"/>
                          </a:solidFill>
                          <a:latin typeface="AppleGothic"/>
                          <a:ea typeface="AppleGothic"/>
                          <a:cs typeface="AppleGothic"/>
                        </a:rPr>
                        <a:t>96</a:t>
                      </a:r>
                    </a:p>
                  </a:txBody>
                  <a:tcPr marL="91440" marR="91440" marT="45720" marB="4572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 lIns="133350" tIns="114300" rIns="133350" bIns="114300">
                      <a:noAutofit/>
                    </a:bodyPr>
                    <a:lstStyle/>
                    <a:p>
                      <a:r>
                        <a:rPr sz="1900" b="0">
                          <a:solidFill>
                            <a:srgbClr val="52606B"/>
                          </a:solidFill>
                          <a:latin typeface="AppleGothic"/>
                          <a:ea typeface="AppleGothic"/>
                          <a:cs typeface="AppleGothic"/>
                        </a:rPr>
                        <a:t>80</a:t>
                      </a:r>
                    </a:p>
                  </a:txBody>
                  <a:tcPr marL="91440" marR="91440" marT="45720" marB="4572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FFFFFF"/>
                    </a:solidFill>
                  </a:tcPr>
                </a:tc>
              </a:tr>
              <a:tr h="742950">
                <a:tc>
                  <a:txBody>
                    <a:bodyPr wrap="none" lIns="133350" tIns="114300" rIns="133350" bIns="114300">
                      <a:noAutofit/>
                    </a:bodyPr>
                    <a:lstStyle/>
                    <a:p>
                      <a:r>
                        <a:rPr sz="1900" b="1">
                          <a:solidFill>
                            <a:srgbClr val="17191B"/>
                          </a:solidFill>
                          <a:latin typeface="AppleGothic"/>
                          <a:ea typeface="AppleGothic"/>
                          <a:cs typeface="AppleGothic"/>
                        </a:rPr>
                        <a:t>8</a:t>
                      </a:r>
                    </a:p>
                  </a:txBody>
                  <a:tcPr marL="91440" marR="91440" marT="45720" marB="4572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 lIns="133350" tIns="114300" rIns="133350" bIns="114300">
                      <a:noAutofit/>
                    </a:bodyPr>
                    <a:lstStyle/>
                    <a:p>
                      <a:r>
                        <a:rPr sz="1900" b="0">
                          <a:solidFill>
                            <a:srgbClr val="52606B"/>
                          </a:solidFill>
                          <a:latin typeface="AppleGothic"/>
                          <a:ea typeface="AppleGothic"/>
                          <a:cs typeface="AppleGothic"/>
                        </a:rPr>
                        <a:t>96</a:t>
                      </a:r>
                    </a:p>
                  </a:txBody>
                  <a:tcPr marL="91440" marR="91440" marT="45720" marB="4572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 lIns="133350" tIns="114300" rIns="133350" bIns="114300">
                      <a:noAutofit/>
                    </a:bodyPr>
                    <a:lstStyle/>
                    <a:p>
                      <a:r>
                        <a:rPr sz="1900" b="0">
                          <a:solidFill>
                            <a:srgbClr val="52606B"/>
                          </a:solidFill>
                          <a:latin typeface="AppleGothic"/>
                          <a:ea typeface="AppleGothic"/>
                          <a:cs typeface="AppleGothic"/>
                        </a:rPr>
                        <a:t>160</a:t>
                      </a:r>
                    </a:p>
                  </a:txBody>
                  <a:tcPr marL="91440" marR="91440" marT="45720" marB="4572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8CADFEED-9415-44D8-8155-9C08C2232E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80975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283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1867EED0-5C1D-4332-8D45-29499CD2C6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5527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FD5D3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807621FD-93D9-4B1C-88A8-8374CCC01C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29565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FD5D3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35962294-9022-48DD-8A25-92C7B18B03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0386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FD5D3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30676CE1-D786-4562-9029-44C3227C88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78155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FD5D3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1160F7FC-FBE0-4A3F-8163-A3F3A54950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5245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283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14D10DCB-BA73-40B9-90C7-205B8C74AC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791200"/>
            <a:ext cx="109728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1600" b="0">
                <a:solidFill>
                  <a:srgbClr val="52606B"/>
                </a:solidFill>
                <a:latin typeface="AppleGothic"/>
                <a:ea typeface="AppleGothic"/>
                <a:cs typeface="AppleGothic"/>
              </a:defRPr>
            </a:defPPr>
          </a:lstStyle>
          <a:p xmlns:a="http://schemas.openxmlformats.org/drawingml/2006/main">
            <a:pPr algn="l">
              <a:lnSpc>
                <a:spcPct val="116000"/>
              </a:lnSpc>
              <a:buNone/>
              <a:defRPr sz="1600" b="0">
                <a:solidFill>
                  <a:srgbClr val="52606B"/>
                </a:solidFill>
                <a:latin typeface="AppleGothic"/>
                <a:ea typeface="AppleGothic"/>
                <a:cs typeface="AppleGothic"/>
              </a:defRPr>
            </a:pPr>
            <a:r>
              <a:rPr sz="1600" b="0">
                <a:solidFill>
                  <a:srgbClr val="52606B"/>
                </a:solidFill>
                <a:latin typeface="AppleGothic"/>
                <a:ea typeface="AppleGothic"/>
                <a:cs typeface="AppleGothic"/>
              </a:rPr>
              <a:t>12×8 행렬 · r(12+8) · 작은 예시에서 큰 rank는 절약되지 않음</a:t>
            </a:r>
          </a:p>
        </p:txBody>
      </p:sp>
    </p:spTree>
    <p:extLst>
      <p:ext uri="{BB962C8B-B14F-4D97-AF65-F5344CB8AC3E}">
        <p14:creationId xmlns:p14="http://schemas.microsoft.com/office/powerpoint/2010/main" val="2138969058"/>
      </p:ext>
    </p:extLst>
  </p:cSld>
</p:sld>
</file>

<file path=ppt/slides/slide28.xml><?xml version="1.0" encoding="utf-8"?>
<p:sld xmlns:p="http://schemas.openxmlformats.org/presentationml/2006/main">
  <p:cSld>
    <p:bg>
      <p:bgPr>
        <a:solidFill xmlns:a="http://schemas.openxmlformats.org/drawingml/2006/main">
          <a:srgbClr val="F7F7F5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EF44F752-EDBF-4701-9949-6B740A195F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47650"/>
            <a:ext cx="9525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1400" b="0">
                <a:solidFill>
                  <a:srgbClr val="52606B"/>
                </a:solidFill>
                <a:latin typeface="AppleGothic"/>
                <a:ea typeface="AppleGothic"/>
                <a:cs typeface="AppleGothic"/>
              </a:defRPr>
            </a:defPPr>
          </a:lstStyle>
          <a:p xmlns:a="http://schemas.openxmlformats.org/drawingml/2006/main">
            <a:pPr algn="l">
              <a:lnSpc>
                <a:spcPct val="116000"/>
              </a:lnSpc>
              <a:buNone/>
              <a:defRPr sz="1400" b="0">
                <a:solidFill>
                  <a:srgbClr val="52606B"/>
                </a:solidFill>
                <a:latin typeface="AppleGothic"/>
                <a:ea typeface="AppleGothic"/>
                <a:cs typeface="AppleGothic"/>
              </a:defRPr>
            </a:pPr>
            <a:r>
              <a:rPr sz="1400" b="0">
                <a:solidFill>
                  <a:srgbClr val="52606B"/>
                </a:solidFill>
                <a:latin typeface="AppleGothic"/>
                <a:ea typeface="AppleGothic"/>
                <a:cs typeface="AppleGothic"/>
              </a:rPr>
              <a:t>LLMOPS / W07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CBA14AE0-3B37-4DB3-8287-E0E0189A32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8500" y="247650"/>
            <a:ext cx="7239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r">
              <a:defRPr sz="1400" b="0">
                <a:solidFill>
                  <a:srgbClr val="52606B"/>
                </a:solidFill>
                <a:latin typeface="Menlo"/>
                <a:ea typeface="Menlo"/>
                <a:cs typeface="Menlo"/>
              </a:defRPr>
            </a:defPPr>
          </a:lstStyle>
          <a:p xmlns:a="http://schemas.openxmlformats.org/drawingml/2006/main">
            <a:pPr algn="r">
              <a:lnSpc>
                <a:spcPct val="116000"/>
              </a:lnSpc>
              <a:buNone/>
              <a:defRPr sz="1400" b="0">
                <a:solidFill>
                  <a:srgbClr val="52606B"/>
                </a:solidFill>
                <a:latin typeface="Menlo"/>
                <a:ea typeface="Menlo"/>
                <a:cs typeface="Menlo"/>
              </a:defRPr>
            </a:pPr>
            <a:r>
              <a:rPr sz="1400" b="0">
                <a:solidFill>
                  <a:srgbClr val="52606B"/>
                </a:solidFill>
                <a:latin typeface="Menlo"/>
                <a:ea typeface="Menlo"/>
                <a:cs typeface="Menlo"/>
              </a:rPr>
              <a:t>28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264A27CC-1B4E-4932-B585-D8EDFD9713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23900"/>
            <a:ext cx="109728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3400" b="1">
                <a:solidFill>
                  <a:srgbClr val="17191B"/>
                </a:solidFill>
                <a:latin typeface="AppleGothic"/>
                <a:ea typeface="AppleGothic"/>
                <a:cs typeface="AppleGothic"/>
              </a:defRPr>
            </a:defPPr>
          </a:lstStyle>
          <a:p xmlns:a="http://schemas.openxmlformats.org/drawingml/2006/main">
            <a:pPr algn="l">
              <a:lnSpc>
                <a:spcPct val="116000"/>
              </a:lnSpc>
              <a:buNone/>
              <a:defRPr sz="3400" b="1">
                <a:solidFill>
                  <a:srgbClr val="17191B"/>
                </a:solidFill>
                <a:latin typeface="AppleGothic"/>
                <a:ea typeface="AppleGothic"/>
                <a:cs typeface="AppleGothic"/>
              </a:defRPr>
            </a:pPr>
            <a:r>
              <a:rPr sz="3400" b="1">
                <a:solidFill>
                  <a:srgbClr val="17191B"/>
                </a:solidFill>
                <a:latin typeface="AppleGothic"/>
                <a:ea typeface="AppleGothic"/>
                <a:cs typeface="AppleGothic"/>
              </a:rPr>
              <a:t>rank별 파라미터 비교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185C023E-F686-4CF6-A033-29DF150F66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315075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FD5D3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D00D3357-0D68-463C-9859-17D5083E45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77000"/>
            <a:ext cx="109728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1400" b="0">
                <a:solidFill>
                  <a:srgbClr val="52606B"/>
                </a:solidFill>
                <a:latin typeface="AppleGothic"/>
                <a:ea typeface="AppleGothic"/>
                <a:cs typeface="AppleGothic"/>
              </a:defRPr>
            </a:defPPr>
          </a:lstStyle>
          <a:p xmlns:a="http://schemas.openxmlformats.org/drawingml/2006/main">
            <a:pPr algn="l">
              <a:lnSpc>
                <a:spcPct val="116000"/>
              </a:lnSpc>
              <a:buNone/>
              <a:defRPr sz="1400" b="0">
                <a:solidFill>
                  <a:srgbClr val="52606B"/>
                </a:solidFill>
                <a:latin typeface="AppleGothic"/>
                <a:ea typeface="AppleGothic"/>
                <a:cs typeface="AppleGothic"/>
              </a:defRPr>
            </a:pPr>
            <a:r>
              <a:rPr sz="1400" b="0">
                <a:solidFill>
                  <a:srgbClr val="52606B"/>
                </a:solidFill>
                <a:latin typeface="AppleGothic"/>
                <a:ea typeface="AppleGothic"/>
                <a:cs typeface="AppleGothic"/>
              </a:rPr>
              <a:t>데이터 · 모델 적응 · 비교 평가 · 기획서 초안</a:t>
            </a:r>
          </a:p>
        </p:txBody>
      </p:sp>
      <p:graphicFrame>
        <p:nvGraphicFramePr>
          <p:cNvPr id="6" name="Chart">
            <a:extLst xmlns:a="http://schemas.openxmlformats.org/drawingml/2006/main">
              <a:ext uri="{FF2B5EF4-FFF2-40B4-BE49-F238E27FC236}">
                <a16:creationId xmlns:a16="http://schemas.microsoft.com/office/drawing/2014/main" id="{11D057D7-5950-4199-AD71-B338900D5688}"/>
              </a:ext>
            </a:extLst>
          </p:cNvPr>
          <p:cNvGraphicFramePr/>
          <p:nvPr/>
        </p:nvGraphicFramePr>
        <p:xfrm>
          <a:off xmlns:a="http://schemas.openxmlformats.org/drawingml/2006/main" x="666750" y="1809750"/>
          <a:ext xmlns:a="http://schemas.openxmlformats.org/drawingml/2006/main" cx="10858500" cy="3667125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05188fb373e540db"/>
          </a:graphicData>
        </a:graphic>
      </p:graphicFrame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CC809A7A-B201-41BE-B43C-ED4DD4899F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791200"/>
            <a:ext cx="109728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1600" b="0">
                <a:solidFill>
                  <a:srgbClr val="52606B"/>
                </a:solidFill>
                <a:latin typeface="AppleGothic"/>
                <a:ea typeface="AppleGothic"/>
                <a:cs typeface="AppleGothic"/>
              </a:defRPr>
            </a:defPPr>
          </a:lstStyle>
          <a:p xmlns:a="http://schemas.openxmlformats.org/drawingml/2006/main">
            <a:pPr algn="l">
              <a:lnSpc>
                <a:spcPct val="116000"/>
              </a:lnSpc>
              <a:buNone/>
              <a:defRPr sz="1600" b="0">
                <a:solidFill>
                  <a:srgbClr val="52606B"/>
                </a:solidFill>
                <a:latin typeface="AppleGothic"/>
                <a:ea typeface="AppleGothic"/>
                <a:cs typeface="AppleGothic"/>
              </a:defRPr>
            </a:pPr>
            <a:r>
              <a:rPr sz="1600" b="0">
                <a:solidFill>
                  <a:srgbClr val="52606B"/>
                </a:solidFill>
                <a:latin typeface="AppleGothic"/>
                <a:ea typeface="AppleGothic"/>
                <a:cs typeface="AppleGothic"/>
              </a:rPr>
              <a:t>12×8 합성 행렬 · 전체96개 vs r(12+8) · 실제 모델 메모리 측정 아님</a:t>
            </a:r>
          </a:p>
        </p:txBody>
      </p:sp>
    </p:spTree>
    <p:extLst>
      <p:ext uri="{BB962C8B-B14F-4D97-AF65-F5344CB8AC3E}">
        <p14:creationId xmlns:p14="http://schemas.microsoft.com/office/powerpoint/2010/main" val="1754750033"/>
      </p:ext>
    </p:extLst>
  </p:cSld>
</p:sld>
</file>

<file path=ppt/slides/slide29.xml><?xml version="1.0" encoding="utf-8"?>
<p:sld xmlns:p="http://schemas.openxmlformats.org/presentationml/2006/main">
  <p:cSld>
    <p:bg>
      <p:bgPr>
        <a:solidFill xmlns:a="http://schemas.openxmlformats.org/drawingml/2006/main">
          <a:srgbClr val="F7F7F5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1016C6E3-9F21-4EB9-9E54-7A2370015E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47650"/>
            <a:ext cx="9525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1400" b="0">
                <a:solidFill>
                  <a:srgbClr val="52606B"/>
                </a:solidFill>
                <a:latin typeface="AppleGothic"/>
                <a:ea typeface="AppleGothic"/>
                <a:cs typeface="AppleGothic"/>
              </a:defRPr>
            </a:defPPr>
          </a:lstStyle>
          <a:p xmlns:a="http://schemas.openxmlformats.org/drawingml/2006/main">
            <a:pPr algn="l">
              <a:lnSpc>
                <a:spcPct val="116000"/>
              </a:lnSpc>
              <a:buNone/>
              <a:defRPr sz="1400" b="0">
                <a:solidFill>
                  <a:srgbClr val="52606B"/>
                </a:solidFill>
                <a:latin typeface="AppleGothic"/>
                <a:ea typeface="AppleGothic"/>
                <a:cs typeface="AppleGothic"/>
              </a:defRPr>
            </a:pPr>
            <a:r>
              <a:rPr sz="1400" b="0">
                <a:solidFill>
                  <a:srgbClr val="52606B"/>
                </a:solidFill>
                <a:latin typeface="AppleGothic"/>
                <a:ea typeface="AppleGothic"/>
                <a:cs typeface="AppleGothic"/>
              </a:rPr>
              <a:t>LLMOPS / W07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AA445D4E-3B3C-4C1A-B756-8F90AE3905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8500" y="247650"/>
            <a:ext cx="7239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r">
              <a:defRPr sz="1400" b="0">
                <a:solidFill>
                  <a:srgbClr val="52606B"/>
                </a:solidFill>
                <a:latin typeface="Menlo"/>
                <a:ea typeface="Menlo"/>
                <a:cs typeface="Menlo"/>
              </a:defRPr>
            </a:defPPr>
          </a:lstStyle>
          <a:p xmlns:a="http://schemas.openxmlformats.org/drawingml/2006/main">
            <a:pPr algn="r">
              <a:lnSpc>
                <a:spcPct val="116000"/>
              </a:lnSpc>
              <a:buNone/>
              <a:defRPr sz="1400" b="0">
                <a:solidFill>
                  <a:srgbClr val="52606B"/>
                </a:solidFill>
                <a:latin typeface="Menlo"/>
                <a:ea typeface="Menlo"/>
                <a:cs typeface="Menlo"/>
              </a:defRPr>
            </a:pPr>
            <a:r>
              <a:rPr sz="1400" b="0">
                <a:solidFill>
                  <a:srgbClr val="52606B"/>
                </a:solidFill>
                <a:latin typeface="Menlo"/>
                <a:ea typeface="Menlo"/>
                <a:cs typeface="Menlo"/>
              </a:rPr>
              <a:t>29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9F15B351-DF8D-4942-8D5C-5192008C99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23900"/>
            <a:ext cx="109728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3400" b="1">
                <a:solidFill>
                  <a:srgbClr val="17191B"/>
                </a:solidFill>
                <a:latin typeface="AppleGothic"/>
                <a:ea typeface="AppleGothic"/>
                <a:cs typeface="AppleGothic"/>
              </a:defRPr>
            </a:defPPr>
          </a:lstStyle>
          <a:p xmlns:a="http://schemas.openxmlformats.org/drawingml/2006/main">
            <a:pPr algn="l">
              <a:lnSpc>
                <a:spcPct val="116000"/>
              </a:lnSpc>
              <a:buNone/>
              <a:defRPr sz="3400" b="1">
                <a:solidFill>
                  <a:srgbClr val="17191B"/>
                </a:solidFill>
                <a:latin typeface="AppleGothic"/>
                <a:ea typeface="AppleGothic"/>
                <a:cs typeface="AppleGothic"/>
              </a:defRPr>
            </a:pPr>
            <a:r>
              <a:rPr sz="3400" b="1">
                <a:solidFill>
                  <a:srgbClr val="17191B"/>
                </a:solidFill>
                <a:latin typeface="AppleGothic"/>
                <a:ea typeface="AppleGothic"/>
                <a:cs typeface="AppleGothic"/>
              </a:rPr>
              <a:t>근사 오차와 서비스 품질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9CDF2E91-390E-419A-8015-1682033213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315075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FD5D3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ECF34368-5FBB-4EA8-9405-4370E2A581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77000"/>
            <a:ext cx="109728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1400" b="0">
                <a:solidFill>
                  <a:srgbClr val="52606B"/>
                </a:solidFill>
                <a:latin typeface="AppleGothic"/>
                <a:ea typeface="AppleGothic"/>
                <a:cs typeface="AppleGothic"/>
              </a:defRPr>
            </a:defPPr>
          </a:lstStyle>
          <a:p xmlns:a="http://schemas.openxmlformats.org/drawingml/2006/main">
            <a:pPr algn="l">
              <a:lnSpc>
                <a:spcPct val="116000"/>
              </a:lnSpc>
              <a:buNone/>
              <a:defRPr sz="1400" b="0">
                <a:solidFill>
                  <a:srgbClr val="52606B"/>
                </a:solidFill>
                <a:latin typeface="AppleGothic"/>
                <a:ea typeface="AppleGothic"/>
                <a:cs typeface="AppleGothic"/>
              </a:defRPr>
            </a:pPr>
            <a:r>
              <a:rPr sz="1400" b="0">
                <a:solidFill>
                  <a:srgbClr val="52606B"/>
                </a:solidFill>
                <a:latin typeface="AppleGothic"/>
                <a:ea typeface="AppleGothic"/>
                <a:cs typeface="AppleGothic"/>
              </a:rPr>
              <a:t>데이터 · 모델 적응 · 비교 평가 · 기획서 초안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8CF781BE-FA0D-4A8F-8A73-A5025BA2B4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057400"/>
            <a:ext cx="5295900" cy="800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2900" b="1">
                <a:solidFill>
                  <a:srgbClr val="17191B"/>
                </a:solidFill>
                <a:latin typeface="AppleGothic"/>
                <a:ea typeface="AppleGothic"/>
                <a:cs typeface="AppleGothic"/>
              </a:defRPr>
            </a:defPPr>
          </a:lstStyle>
          <a:p xmlns:a="http://schemas.openxmlformats.org/drawingml/2006/main">
            <a:pPr algn="l">
              <a:lnSpc>
                <a:spcPct val="116000"/>
              </a:lnSpc>
              <a:buNone/>
              <a:defRPr sz="2900" b="1">
                <a:solidFill>
                  <a:srgbClr val="17191B"/>
                </a:solidFill>
                <a:latin typeface="AppleGothic"/>
                <a:ea typeface="AppleGothic"/>
                <a:cs typeface="AppleGothic"/>
              </a:defRPr>
            </a:pPr>
            <a:r>
              <a:rPr sz="2900" b="1">
                <a:solidFill>
                  <a:srgbClr val="17191B"/>
                </a:solidFill>
                <a:latin typeface="AppleGothic"/>
                <a:ea typeface="AppleGothic"/>
                <a:cs typeface="AppleGothic"/>
              </a:rPr>
              <a:t>수학 실험의 결과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A4009400-9CEA-4231-9BC0-C037B09474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000375"/>
            <a:ext cx="52959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84B7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0C16AEF5-CD9E-4BE5-B26B-868AFC4E05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371850"/>
            <a:ext cx="5238750" cy="36741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2300" b="0">
                <a:solidFill>
                  <a:srgbClr val="52606B"/>
                </a:solidFill>
                <a:latin typeface="AppleGothic"/>
                <a:ea typeface="AppleGothic"/>
                <a:cs typeface="AppleGothic"/>
              </a:defRPr>
            </a:defPPr>
          </a:lstStyle>
          <a:p xmlns:a="http://schemas.openxmlformats.org/drawingml/2006/main">
            <a:pPr algn="l">
              <a:lnSpc>
                <a:spcPct val="116000"/>
              </a:lnSpc>
              <a:buNone/>
              <a:defRPr sz="2300" b="0">
                <a:solidFill>
                  <a:srgbClr val="52606B"/>
                </a:solidFill>
                <a:latin typeface="AppleGothic"/>
                <a:ea typeface="AppleGothic"/>
                <a:cs typeface="AppleGothic"/>
              </a:defRPr>
            </a:pPr>
            <a:r>
              <a:rPr sz="2300" b="0">
                <a:solidFill>
                  <a:srgbClr val="52606B"/>
                </a:solidFill>
                <a:latin typeface="AppleGothic"/>
                <a:ea typeface="AppleGothic"/>
                <a:cs typeface="AppleGothic"/>
              </a:rPr>
              <a:t>변화량 행렬 복원 오차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B9429EF4-6765-4CB6-95B4-E746F4A46D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139311"/>
            <a:ext cx="5238750" cy="36741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2300" b="0">
                <a:solidFill>
                  <a:srgbClr val="52606B"/>
                </a:solidFill>
                <a:latin typeface="AppleGothic"/>
                <a:ea typeface="AppleGothic"/>
                <a:cs typeface="AppleGothic"/>
              </a:defRPr>
            </a:defPPr>
          </a:lstStyle>
          <a:p xmlns:a="http://schemas.openxmlformats.org/drawingml/2006/main">
            <a:pPr algn="l">
              <a:lnSpc>
                <a:spcPct val="116000"/>
              </a:lnSpc>
              <a:buNone/>
              <a:defRPr sz="2300" b="0">
                <a:solidFill>
                  <a:srgbClr val="52606B"/>
                </a:solidFill>
                <a:latin typeface="AppleGothic"/>
                <a:ea typeface="AppleGothic"/>
                <a:cs typeface="AppleGothic"/>
              </a:defRPr>
            </a:pPr>
            <a:r>
              <a:rPr sz="2300" b="0">
                <a:solidFill>
                  <a:srgbClr val="52606B"/>
                </a:solidFill>
                <a:latin typeface="AppleGothic"/>
                <a:ea typeface="AppleGothic"/>
                <a:cs typeface="AppleGothic"/>
              </a:rPr>
              <a:t>rank 변화에 따른 구조 확인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7BDF235A-2EAA-4468-A3E8-F472401458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0" y="2057400"/>
            <a:ext cx="5295900" cy="800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2900" b="1">
                <a:solidFill>
                  <a:srgbClr val="17191B"/>
                </a:solidFill>
                <a:latin typeface="AppleGothic"/>
                <a:ea typeface="AppleGothic"/>
                <a:cs typeface="AppleGothic"/>
              </a:defRPr>
            </a:defPPr>
          </a:lstStyle>
          <a:p xmlns:a="http://schemas.openxmlformats.org/drawingml/2006/main">
            <a:pPr algn="l">
              <a:lnSpc>
                <a:spcPct val="116000"/>
              </a:lnSpc>
              <a:buNone/>
              <a:defRPr sz="2900" b="1">
                <a:solidFill>
                  <a:srgbClr val="17191B"/>
                </a:solidFill>
                <a:latin typeface="AppleGothic"/>
                <a:ea typeface="AppleGothic"/>
                <a:cs typeface="AppleGothic"/>
              </a:defRPr>
            </a:pPr>
            <a:r>
              <a:rPr sz="2900" b="1">
                <a:solidFill>
                  <a:srgbClr val="17191B"/>
                </a:solidFill>
                <a:latin typeface="AppleGothic"/>
                <a:ea typeface="AppleGothic"/>
                <a:cs typeface="AppleGothic"/>
              </a:rPr>
              <a:t>실제 서비스의 결과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26E0069E-80EF-4D4C-B376-B2DE5AE863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0" y="3000375"/>
            <a:ext cx="52959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52606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D87644E5-6052-4591-926D-FDB052781C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0" y="3371850"/>
            <a:ext cx="5238750" cy="36741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2300" b="0">
                <a:solidFill>
                  <a:srgbClr val="52606B"/>
                </a:solidFill>
                <a:latin typeface="AppleGothic"/>
                <a:ea typeface="AppleGothic"/>
                <a:cs typeface="AppleGothic"/>
              </a:defRPr>
            </a:defPPr>
          </a:lstStyle>
          <a:p xmlns:a="http://schemas.openxmlformats.org/drawingml/2006/main">
            <a:pPr algn="l">
              <a:lnSpc>
                <a:spcPct val="116000"/>
              </a:lnSpc>
              <a:buNone/>
              <a:defRPr sz="2300" b="0">
                <a:solidFill>
                  <a:srgbClr val="52606B"/>
                </a:solidFill>
                <a:latin typeface="AppleGothic"/>
                <a:ea typeface="AppleGothic"/>
                <a:cs typeface="AppleGothic"/>
              </a:defRPr>
            </a:pPr>
            <a:r>
              <a:rPr sz="2300" b="0">
                <a:solidFill>
                  <a:srgbClr val="52606B"/>
                </a:solidFill>
                <a:latin typeface="AppleGothic"/>
                <a:ea typeface="AppleGothic"/>
                <a:cs typeface="AppleGothic"/>
              </a:rPr>
              <a:t>근거·유용성·형식·운영 비용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CC1FFC8C-88AF-4EAC-AA2A-FCE89EC82E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0" y="4139311"/>
            <a:ext cx="5238750" cy="36741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2300" b="0">
                <a:solidFill>
                  <a:srgbClr val="52606B"/>
                </a:solidFill>
                <a:latin typeface="AppleGothic"/>
                <a:ea typeface="AppleGothic"/>
                <a:cs typeface="AppleGothic"/>
              </a:defRPr>
            </a:defPPr>
          </a:lstStyle>
          <a:p xmlns:a="http://schemas.openxmlformats.org/drawingml/2006/main">
            <a:pPr algn="l">
              <a:lnSpc>
                <a:spcPct val="116000"/>
              </a:lnSpc>
              <a:buNone/>
              <a:defRPr sz="2300" b="0">
                <a:solidFill>
                  <a:srgbClr val="52606B"/>
                </a:solidFill>
                <a:latin typeface="AppleGothic"/>
                <a:ea typeface="AppleGothic"/>
                <a:cs typeface="AppleGothic"/>
              </a:defRPr>
            </a:pPr>
            <a:r>
              <a:rPr sz="2300" b="0">
                <a:solidFill>
                  <a:srgbClr val="52606B"/>
                </a:solidFill>
                <a:latin typeface="AppleGothic"/>
                <a:ea typeface="AppleGothic"/>
                <a:cs typeface="AppleGothic"/>
              </a:rPr>
              <a:t>고정 업무 입력으로 별도 평가</a:t>
            </a:r>
          </a:p>
        </p:txBody>
      </p:sp>
    </p:spTree>
    <p:extLst>
      <p:ext uri="{BB962C8B-B14F-4D97-AF65-F5344CB8AC3E}">
        <p14:creationId xmlns:p14="http://schemas.microsoft.com/office/powerpoint/2010/main" val="1407763591"/>
      </p:ext>
    </p:extLst>
  </p:cSld>
</p:sld>
</file>

<file path=ppt/slides/slide30.xml><?xml version="1.0" encoding="utf-8"?>
<p:sld xmlns:p="http://schemas.openxmlformats.org/presentationml/2006/main">
  <p:cSld>
    <p:bg>
      <p:bgPr>
        <a:solidFill xmlns:a="http://schemas.openxmlformats.org/drawingml/2006/main">
          <a:srgbClr val="F7F7F5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9CD0322D-DB06-427D-AD6F-54F05CFB14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47650"/>
            <a:ext cx="9525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1400" b="0">
                <a:solidFill>
                  <a:srgbClr val="52606B"/>
                </a:solidFill>
                <a:latin typeface="AppleGothic"/>
                <a:ea typeface="AppleGothic"/>
                <a:cs typeface="AppleGothic"/>
              </a:defRPr>
            </a:defPPr>
          </a:lstStyle>
          <a:p xmlns:a="http://schemas.openxmlformats.org/drawingml/2006/main">
            <a:pPr algn="l">
              <a:lnSpc>
                <a:spcPct val="116000"/>
              </a:lnSpc>
              <a:buNone/>
              <a:defRPr sz="1400" b="0">
                <a:solidFill>
                  <a:srgbClr val="52606B"/>
                </a:solidFill>
                <a:latin typeface="AppleGothic"/>
                <a:ea typeface="AppleGothic"/>
                <a:cs typeface="AppleGothic"/>
              </a:defRPr>
            </a:pPr>
            <a:r>
              <a:rPr sz="1400" b="0">
                <a:solidFill>
                  <a:srgbClr val="52606B"/>
                </a:solidFill>
                <a:latin typeface="AppleGothic"/>
                <a:ea typeface="AppleGothic"/>
                <a:cs typeface="AppleGothic"/>
              </a:rPr>
              <a:t>LLMOPS / W07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2A59E5DC-801B-43D3-BA89-57523C77C7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8500" y="247650"/>
            <a:ext cx="7239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r">
              <a:defRPr sz="1400" b="0">
                <a:solidFill>
                  <a:srgbClr val="52606B"/>
                </a:solidFill>
                <a:latin typeface="Menlo"/>
                <a:ea typeface="Menlo"/>
                <a:cs typeface="Menlo"/>
              </a:defRPr>
            </a:defPPr>
          </a:lstStyle>
          <a:p xmlns:a="http://schemas.openxmlformats.org/drawingml/2006/main">
            <a:pPr algn="r">
              <a:lnSpc>
                <a:spcPct val="116000"/>
              </a:lnSpc>
              <a:buNone/>
              <a:defRPr sz="1400" b="0">
                <a:solidFill>
                  <a:srgbClr val="52606B"/>
                </a:solidFill>
                <a:latin typeface="Menlo"/>
                <a:ea typeface="Menlo"/>
                <a:cs typeface="Menlo"/>
              </a:defRPr>
            </a:pPr>
            <a:r>
              <a:rPr sz="1400" b="0">
                <a:solidFill>
                  <a:srgbClr val="52606B"/>
                </a:solidFill>
                <a:latin typeface="Menlo"/>
                <a:ea typeface="Menlo"/>
                <a:cs typeface="Menlo"/>
              </a:rPr>
              <a:t>30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3633FDC3-1A4F-4E07-9B65-F012A482EC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23900"/>
            <a:ext cx="109728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3400" b="1">
                <a:solidFill>
                  <a:srgbClr val="17191B"/>
                </a:solidFill>
                <a:latin typeface="AppleGothic"/>
                <a:ea typeface="AppleGothic"/>
                <a:cs typeface="AppleGothic"/>
              </a:defRPr>
            </a:defPPr>
          </a:lstStyle>
          <a:p xmlns:a="http://schemas.openxmlformats.org/drawingml/2006/main">
            <a:pPr algn="l">
              <a:lnSpc>
                <a:spcPct val="116000"/>
              </a:lnSpc>
              <a:buNone/>
              <a:defRPr sz="3400" b="1">
                <a:solidFill>
                  <a:srgbClr val="17191B"/>
                </a:solidFill>
                <a:latin typeface="AppleGothic"/>
                <a:ea typeface="AppleGothic"/>
                <a:cs typeface="AppleGothic"/>
              </a:defRPr>
            </a:pPr>
            <a:r>
              <a:rPr sz="3400" b="1">
                <a:solidFill>
                  <a:srgbClr val="17191B"/>
                </a:solidFill>
                <a:latin typeface="AppleGothic"/>
                <a:ea typeface="AppleGothic"/>
                <a:cs typeface="AppleGothic"/>
              </a:rPr>
              <a:t>rank별 행렬 근사 오차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14BE2AB3-E891-4C33-9E59-91767195B4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315075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FD5D3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B93EA023-A123-4635-B6B9-A98E63B584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77000"/>
            <a:ext cx="109728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1400" b="0">
                <a:solidFill>
                  <a:srgbClr val="52606B"/>
                </a:solidFill>
                <a:latin typeface="AppleGothic"/>
                <a:ea typeface="AppleGothic"/>
                <a:cs typeface="AppleGothic"/>
              </a:defRPr>
            </a:defPPr>
          </a:lstStyle>
          <a:p xmlns:a="http://schemas.openxmlformats.org/drawingml/2006/main">
            <a:pPr algn="l">
              <a:lnSpc>
                <a:spcPct val="116000"/>
              </a:lnSpc>
              <a:buNone/>
              <a:defRPr sz="1400" b="0">
                <a:solidFill>
                  <a:srgbClr val="52606B"/>
                </a:solidFill>
                <a:latin typeface="AppleGothic"/>
                <a:ea typeface="AppleGothic"/>
                <a:cs typeface="AppleGothic"/>
              </a:defRPr>
            </a:pPr>
            <a:r>
              <a:rPr sz="1400" b="0">
                <a:solidFill>
                  <a:srgbClr val="52606B"/>
                </a:solidFill>
                <a:latin typeface="AppleGothic"/>
                <a:ea typeface="AppleGothic"/>
                <a:cs typeface="AppleGothic"/>
              </a:rPr>
              <a:t>데이터 · 모델 적응 · 비교 평가 · 기획서 초안</a:t>
            </a:r>
          </a:p>
        </p:txBody>
      </p:sp>
      <p:graphicFrame>
        <p:nvGraphicFramePr>
          <p:cNvPr id="6" name="Chart">
            <a:extLst xmlns:a="http://schemas.openxmlformats.org/drawingml/2006/main">
              <a:ext uri="{FF2B5EF4-FFF2-40B4-BE49-F238E27FC236}">
                <a16:creationId xmlns:a16="http://schemas.microsoft.com/office/drawing/2014/main" id="{4A15E8C5-9275-44F7-BDFC-28D1F1ED69D6}"/>
              </a:ext>
            </a:extLst>
          </p:cNvPr>
          <p:cNvGraphicFramePr/>
          <p:nvPr/>
        </p:nvGraphicFramePr>
        <p:xfrm>
          <a:off xmlns:a="http://schemas.openxmlformats.org/drawingml/2006/main" x="666750" y="1809750"/>
          <a:ext xmlns:a="http://schemas.openxmlformats.org/drawingml/2006/main" cx="10858500" cy="3667125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0525ae6e1c284d21"/>
          </a:graphicData>
        </a:graphic>
      </p:graphicFrame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E5DDA59C-7857-4929-BF90-4F5867EF16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791200"/>
            <a:ext cx="109728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1600" b="0">
                <a:solidFill>
                  <a:srgbClr val="52606B"/>
                </a:solidFill>
                <a:latin typeface="AppleGothic"/>
                <a:ea typeface="AppleGothic"/>
                <a:cs typeface="AppleGothic"/>
              </a:defRPr>
            </a:defPPr>
          </a:lstStyle>
          <a:p xmlns:a="http://schemas.openxmlformats.org/drawingml/2006/main">
            <a:pPr algn="l">
              <a:lnSpc>
                <a:spcPct val="116000"/>
              </a:lnSpc>
              <a:buNone/>
              <a:defRPr sz="1600" b="0">
                <a:solidFill>
                  <a:srgbClr val="52606B"/>
                </a:solidFill>
                <a:latin typeface="AppleGothic"/>
                <a:ea typeface="AppleGothic"/>
                <a:cs typeface="AppleGothic"/>
              </a:defRPr>
            </a:pPr>
            <a:r>
              <a:rPr sz="1600" b="0">
                <a:solidFill>
                  <a:srgbClr val="52606B"/>
                </a:solidFill>
                <a:latin typeface="AppleGothic"/>
                <a:ea typeface="AppleGothic"/>
                <a:cs typeface="AppleGothic"/>
              </a:rPr>
              <a:t>Notebook02 실행 결과 · 상대 Frobenius 오차 · 실제 LoRA 학습 결과 아님</a:t>
            </a:r>
          </a:p>
        </p:txBody>
      </p:sp>
    </p:spTree>
    <p:extLst>
      <p:ext uri="{BB962C8B-B14F-4D97-AF65-F5344CB8AC3E}">
        <p14:creationId xmlns:p14="http://schemas.microsoft.com/office/powerpoint/2010/main" val="760171052"/>
      </p:ext>
    </p:extLst>
  </p:cSld>
</p:sld>
</file>

<file path=ppt/slides/slide31.xml><?xml version="1.0" encoding="utf-8"?>
<p:sld xmlns:p="http://schemas.openxmlformats.org/presentationml/2006/main">
  <p:cSld>
    <p:bg>
      <p:bgPr>
        <a:solidFill xmlns:a="http://schemas.openxmlformats.org/drawingml/2006/main">
          <a:srgbClr val="F7F7F5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88D10892-E388-4BD2-B6A6-99F0CC7595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47650"/>
            <a:ext cx="9525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1400" b="0">
                <a:solidFill>
                  <a:srgbClr val="52606B"/>
                </a:solidFill>
                <a:latin typeface="AppleGothic"/>
                <a:ea typeface="AppleGothic"/>
                <a:cs typeface="AppleGothic"/>
              </a:defRPr>
            </a:defPPr>
          </a:lstStyle>
          <a:p xmlns:a="http://schemas.openxmlformats.org/drawingml/2006/main">
            <a:pPr algn="l">
              <a:lnSpc>
                <a:spcPct val="116000"/>
              </a:lnSpc>
              <a:buNone/>
              <a:defRPr sz="1400" b="0">
                <a:solidFill>
                  <a:srgbClr val="52606B"/>
                </a:solidFill>
                <a:latin typeface="AppleGothic"/>
                <a:ea typeface="AppleGothic"/>
                <a:cs typeface="AppleGothic"/>
              </a:defRPr>
            </a:pPr>
            <a:r>
              <a:rPr sz="1400" b="0">
                <a:solidFill>
                  <a:srgbClr val="52606B"/>
                </a:solidFill>
                <a:latin typeface="AppleGothic"/>
                <a:ea typeface="AppleGothic"/>
                <a:cs typeface="AppleGothic"/>
              </a:rPr>
              <a:t>LLMOPS / W07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9FD33AB5-095E-45B0-85CC-3600356A25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8500" y="247650"/>
            <a:ext cx="7239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r">
              <a:defRPr sz="1400" b="0">
                <a:solidFill>
                  <a:srgbClr val="52606B"/>
                </a:solidFill>
                <a:latin typeface="Menlo"/>
                <a:ea typeface="Menlo"/>
                <a:cs typeface="Menlo"/>
              </a:defRPr>
            </a:defPPr>
          </a:lstStyle>
          <a:p xmlns:a="http://schemas.openxmlformats.org/drawingml/2006/main">
            <a:pPr algn="r">
              <a:lnSpc>
                <a:spcPct val="116000"/>
              </a:lnSpc>
              <a:buNone/>
              <a:defRPr sz="1400" b="0">
                <a:solidFill>
                  <a:srgbClr val="52606B"/>
                </a:solidFill>
                <a:latin typeface="Menlo"/>
                <a:ea typeface="Menlo"/>
                <a:cs typeface="Menlo"/>
              </a:defRPr>
            </a:pPr>
            <a:r>
              <a:rPr sz="1400" b="0">
                <a:solidFill>
                  <a:srgbClr val="52606B"/>
                </a:solidFill>
                <a:latin typeface="Menlo"/>
                <a:ea typeface="Menlo"/>
                <a:cs typeface="Menlo"/>
              </a:rPr>
              <a:t>31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22043CF8-9144-4AD3-8073-D6BDA2DC1C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23900"/>
            <a:ext cx="109728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3400" b="1">
                <a:solidFill>
                  <a:srgbClr val="17191B"/>
                </a:solidFill>
                <a:latin typeface="AppleGothic"/>
                <a:ea typeface="AppleGothic"/>
                <a:cs typeface="AppleGothic"/>
              </a:defRPr>
            </a:defPPr>
          </a:lstStyle>
          <a:p xmlns:a="http://schemas.openxmlformats.org/drawingml/2006/main">
            <a:pPr algn="l">
              <a:lnSpc>
                <a:spcPct val="116000"/>
              </a:lnSpc>
              <a:buNone/>
              <a:defRPr sz="3400" b="1">
                <a:solidFill>
                  <a:srgbClr val="17191B"/>
                </a:solidFill>
                <a:latin typeface="AppleGothic"/>
                <a:ea typeface="AppleGothic"/>
                <a:cs typeface="AppleGothic"/>
              </a:defRPr>
            </a:pPr>
            <a:r>
              <a:rPr sz="3400" b="1">
                <a:solidFill>
                  <a:srgbClr val="17191B"/>
                </a:solidFill>
                <a:latin typeface="AppleGothic"/>
                <a:ea typeface="AppleGothic"/>
                <a:cs typeface="AppleGothic"/>
              </a:rPr>
              <a:t>특이값 분해 실험의 범위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5304D7FD-0C59-4790-8699-8356255553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315075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FD5D3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55477C60-2C0B-441F-9E75-14B96F2949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77000"/>
            <a:ext cx="109728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1400" b="0">
                <a:solidFill>
                  <a:srgbClr val="52606B"/>
                </a:solidFill>
                <a:latin typeface="AppleGothic"/>
                <a:ea typeface="AppleGothic"/>
                <a:cs typeface="AppleGothic"/>
              </a:defRPr>
            </a:defPPr>
          </a:lstStyle>
          <a:p xmlns:a="http://schemas.openxmlformats.org/drawingml/2006/main">
            <a:pPr algn="l">
              <a:lnSpc>
                <a:spcPct val="116000"/>
              </a:lnSpc>
              <a:buNone/>
              <a:defRPr sz="1400" b="0">
                <a:solidFill>
                  <a:srgbClr val="52606B"/>
                </a:solidFill>
                <a:latin typeface="AppleGothic"/>
                <a:ea typeface="AppleGothic"/>
                <a:cs typeface="AppleGothic"/>
              </a:defRPr>
            </a:pPr>
            <a:r>
              <a:rPr sz="1400" b="0">
                <a:solidFill>
                  <a:srgbClr val="52606B"/>
                </a:solidFill>
                <a:latin typeface="AppleGothic"/>
                <a:ea typeface="AppleGothic"/>
                <a:cs typeface="AppleGothic"/>
              </a:rPr>
              <a:t>데이터 · 모델 적응 · 비교 평가 · 기획서 초안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1115B5FF-3034-4506-9AEC-6B5064E7B4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464689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FD5D3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FDEF464F-C9FA-46E8-821E-257B4B55C9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809750"/>
            <a:ext cx="10477500" cy="426339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2700" b="1">
                <a:solidFill>
                  <a:srgbClr val="17191B"/>
                </a:solidFill>
                <a:latin typeface="AppleGothic"/>
                <a:ea typeface="AppleGothic"/>
                <a:cs typeface="AppleGothic"/>
              </a:defRPr>
            </a:defPPr>
          </a:lstStyle>
          <a:p xmlns:a="http://schemas.openxmlformats.org/drawingml/2006/main">
            <a:pPr algn="l">
              <a:lnSpc>
                <a:spcPct val="116000"/>
              </a:lnSpc>
              <a:buNone/>
              <a:defRPr sz="2700" b="1">
                <a:solidFill>
                  <a:srgbClr val="17191B"/>
                </a:solidFill>
                <a:latin typeface="AppleGothic"/>
                <a:ea typeface="AppleGothic"/>
                <a:cs typeface="AppleGothic"/>
              </a:defRPr>
            </a:pPr>
            <a:r>
              <a:rPr sz="2700" b="1">
                <a:solidFill>
                  <a:srgbClr val="17191B"/>
                </a:solidFill>
                <a:latin typeface="AppleGothic"/>
                <a:ea typeface="AppleGothic"/>
                <a:cs typeface="AppleGothic"/>
              </a:rPr>
              <a:t>SVD · Singular Value Decomposition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4D4E48CC-1038-42EE-B339-9B284C655E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883789"/>
            <a:ext cx="10477500" cy="337947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2100" b="0">
                <a:solidFill>
                  <a:srgbClr val="52606B"/>
                </a:solidFill>
                <a:latin typeface="AppleGothic"/>
                <a:ea typeface="AppleGothic"/>
                <a:cs typeface="AppleGothic"/>
              </a:defRPr>
            </a:defPPr>
          </a:lstStyle>
          <a:p xmlns:a="http://schemas.openxmlformats.org/drawingml/2006/main">
            <a:pPr algn="l">
              <a:lnSpc>
                <a:spcPct val="116000"/>
              </a:lnSpc>
              <a:buNone/>
              <a:defRPr sz="2100" b="0">
                <a:solidFill>
                  <a:srgbClr val="52606B"/>
                </a:solidFill>
                <a:latin typeface="AppleGothic"/>
                <a:ea typeface="AppleGothic"/>
                <a:cs typeface="AppleGothic"/>
              </a:defRPr>
            </a:pPr>
            <a:r>
              <a:rPr sz="2100" b="0">
                <a:solidFill>
                  <a:srgbClr val="52606B"/>
                </a:solidFill>
                <a:latin typeface="AppleGothic"/>
                <a:ea typeface="AppleGothic"/>
                <a:cs typeface="AppleGothic"/>
              </a:rPr>
              <a:t>이미 만든 행렬을 저차원으로 근사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D0AB2EF5-9F23-42F9-B9DE-B7D3F8DFB5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526536"/>
            <a:ext cx="10477500" cy="337947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2100" b="0">
                <a:solidFill>
                  <a:srgbClr val="52606B"/>
                </a:solidFill>
                <a:latin typeface="AppleGothic"/>
                <a:ea typeface="AppleGothic"/>
                <a:cs typeface="AppleGothic"/>
              </a:defRPr>
            </a:defPPr>
          </a:lstStyle>
          <a:p xmlns:a="http://schemas.openxmlformats.org/drawingml/2006/main">
            <a:pPr algn="l">
              <a:lnSpc>
                <a:spcPct val="116000"/>
              </a:lnSpc>
              <a:buNone/>
              <a:defRPr sz="2100" b="0">
                <a:solidFill>
                  <a:srgbClr val="52606B"/>
                </a:solidFill>
                <a:latin typeface="AppleGothic"/>
                <a:ea typeface="AppleGothic"/>
                <a:cs typeface="AppleGothic"/>
              </a:defRPr>
            </a:pPr>
            <a:r>
              <a:rPr sz="2100" b="0">
                <a:solidFill>
                  <a:srgbClr val="52606B"/>
                </a:solidFill>
                <a:latin typeface="AppleGothic"/>
                <a:ea typeface="AppleGothic"/>
                <a:cs typeface="AppleGothic"/>
              </a:rPr>
              <a:t>실제 LoRA는 데이터·손실에 따라 A·B를 학습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7C26BAEC-E50B-497D-AEF7-2B5B3D4D3D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791200"/>
            <a:ext cx="109728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1600" b="0">
                <a:solidFill>
                  <a:srgbClr val="52606B"/>
                </a:solidFill>
                <a:latin typeface="AppleGothic"/>
                <a:ea typeface="AppleGothic"/>
                <a:cs typeface="AppleGothic"/>
              </a:defRPr>
            </a:defPPr>
          </a:lstStyle>
          <a:p xmlns:a="http://schemas.openxmlformats.org/drawingml/2006/main">
            <a:pPr algn="l">
              <a:lnSpc>
                <a:spcPct val="116000"/>
              </a:lnSpc>
              <a:buNone/>
              <a:defRPr sz="1600" b="0">
                <a:solidFill>
                  <a:srgbClr val="52606B"/>
                </a:solidFill>
                <a:latin typeface="AppleGothic"/>
                <a:ea typeface="AppleGothic"/>
                <a:cs typeface="AppleGothic"/>
              </a:defRPr>
            </a:pPr>
            <a:r>
              <a:rPr sz="1600" b="0">
                <a:solidFill>
                  <a:srgbClr val="52606B"/>
                </a:solidFill>
                <a:latin typeface="AppleGothic"/>
                <a:ea typeface="AppleGothic"/>
                <a:cs typeface="AppleGothic"/>
              </a:rPr>
              <a:t>Notebook의 SVD 결과를 Adapter 학습 성공으로 표시하지 않음</a:t>
            </a:r>
          </a:p>
        </p:txBody>
      </p:sp>
    </p:spTree>
    <p:extLst>
      <p:ext uri="{BB962C8B-B14F-4D97-AF65-F5344CB8AC3E}">
        <p14:creationId xmlns:p14="http://schemas.microsoft.com/office/powerpoint/2010/main" val="2051926024"/>
      </p:ext>
    </p:extLst>
  </p:cSld>
</p:sld>
</file>

<file path=ppt/slides/slide32.xml><?xml version="1.0" encoding="utf-8"?>
<ns0:sld xmlns:ns0="http://schemas.openxmlformats.org/presentationml/2006/main" xmlns:ns1="http://schemas.openxmlformats.org/drawingml/2006/main" xmlns:ns2="http://schemas.microsoft.com/office/drawing/2014/main" xmlns:ns3="http://schemas.openxmlformats.org/officeDocument/2006/relationships" xmlns:ns4="http://schemas.microsoft.com/office/powerpoint/2010/main">
  <ns0:cSld>
    <ns0:bg>
      <ns0:bgPr>
        <ns1:solidFill>
          <ns1:srgbClr val="F7F7F5"/>
        </ns1:solidFill>
      </ns0:bgPr>
    </ns0:bg>
    <ns0:spTree>
      <ns0:nvGrpSpPr>
        <ns0:cNvPr id="1" name=""/>
        <ns0:cNvGrpSpPr/>
        <ns0:nvPr/>
      </ns0:nvGrpSpPr>
      <ns0:grpSpPr>
        <ns1:xfrm/>
      </ns0:grpSpPr>
      <ns0:sp>
        <ns0:nvSpPr>
          <ns0:cNvPr id="11" name="">
            <ns1:extLst>
              <ns1:ext uri="{FF2B5EF4-FFF2-40B4-BE49-F238E27FC236}">
                <ns2:creationId id="{B3796D79-C6F5-4B6A-B87A-4E3D71174902}"/>
              </ns1:ext>
            </ns1:extLst>
          </ns0:cNvPr>
          <ns0:cNvSpPr>
            <ns1:spLocks noGrp="1"/>
          </ns0:cNvSpPr>
          <ns0:nvPr/>
        </ns0:nvSpPr>
        <ns0:spPr>
          <ns1:xfrm>
            <ns1:off x="609600" y="247650"/>
            <ns1:ext cx="9525000" cy="228600"/>
          </ns1:xfrm>
          <ns1:prstGeom prst="rect">
            <ns1:avLst/>
          </ns1:prstGeom>
          <ns1:noFill/>
          <ns1:ln w="0">
            <ns1:noFill/>
            <ns1:prstDash val="solid"/>
          </ns1:ln>
        </ns0:spPr>
        <ns0:txBody>
          <ns1:bodyPr wrap="none" lIns="0" tIns="0" rIns="0" bIns="0" anchor="t">
            <ns1:noAutofit/>
          </ns1:bodyPr>
          <ns1:lstStyle>
            <ns1:defPPr algn="l">
              <ns1:defRPr sz="1400" b="0">
                <ns1:solidFill>
                  <ns1:srgbClr val="52606B"/>
                </ns1:solidFill>
                <ns1:latin typeface="AppleGothic"/>
                <ns1:ea typeface="AppleGothic"/>
                <ns1:cs typeface="AppleGothic"/>
              </ns1:defRPr>
            </ns1:defPPr>
          </ns1:lstStyle>
          <ns1:p>
            <ns1:pPr algn="l">
              <ns1:lnSpc>
                <ns1:spcPct val="116000"/>
              </ns1:lnSpc>
              <ns1:buNone/>
              <ns1:defRPr sz="1400" b="0">
                <ns1:solidFill>
                  <ns1:srgbClr val="52606B"/>
                </ns1:solidFill>
                <ns1:latin typeface="AppleGothic"/>
                <ns1:ea typeface="AppleGothic"/>
                <ns1:cs typeface="AppleGothic"/>
              </ns1:defRPr>
            </ns1:pPr>
            <ns1:r>
              <ns1:rPr sz="1400" b="0">
                <ns1:solidFill>
                  <ns1:srgbClr val="52606B"/>
                </ns1:solidFill>
                <ns1:latin typeface="AppleGothic"/>
                <ns1:ea typeface="AppleGothic"/>
                <ns1:cs typeface="AppleGothic"/>
              </ns1:rPr>
              <ns1:t>LLMOPS / W07</ns1:t>
            </ns1:r>
          </ns1:p>
        </ns0:txBody>
      </ns0:sp>
      <ns0:sp>
        <ns0:nvSpPr>
          <ns0:cNvPr id="2" name="">
            <ns1:extLst>
              <ns1:ext uri="{FF2B5EF4-FFF2-40B4-BE49-F238E27FC236}">
                <ns2:creationId id="{71C286A6-39D8-4034-99F7-A8A3C29935B3}"/>
              </ns1:ext>
            </ns1:extLst>
          </ns0:cNvPr>
          <ns0:cNvSpPr>
            <ns1:spLocks noGrp="1"/>
          </ns0:cNvSpPr>
          <ns0:nvPr/>
        </ns0:nvSpPr>
        <ns0:spPr>
          <ns1:xfrm>
            <ns1:off x="10858500" y="247650"/>
            <ns1:ext cx="723900" cy="228600"/>
          </ns1:xfrm>
          <ns1:prstGeom prst="rect">
            <ns1:avLst/>
          </ns1:prstGeom>
          <ns1:noFill/>
          <ns1:ln w="0">
            <ns1:noFill/>
            <ns1:prstDash val="solid"/>
          </ns1:ln>
        </ns0:spPr>
        <ns0:txBody>
          <ns1:bodyPr wrap="none" lIns="0" tIns="0" rIns="0" bIns="0" anchor="t">
            <ns1:noAutofit/>
          </ns1:bodyPr>
          <ns1:lstStyle>
            <ns1:defPPr algn="r">
              <ns1:defRPr sz="1400" b="0">
                <ns1:solidFill>
                  <ns1:srgbClr val="52606B"/>
                </ns1:solidFill>
                <ns1:latin typeface="Menlo"/>
                <ns1:ea typeface="Menlo"/>
                <ns1:cs typeface="Menlo"/>
              </ns1:defRPr>
            </ns1:defPPr>
          </ns1:lstStyle>
          <ns1:p>
            <ns1:pPr algn="r">
              <ns1:lnSpc>
                <ns1:spcPct val="116000"/>
              </ns1:lnSpc>
              <ns1:buNone/>
              <ns1:defRPr sz="1400" b="0">
                <ns1:solidFill>
                  <ns1:srgbClr val="52606B"/>
                </ns1:solidFill>
                <ns1:latin typeface="Menlo"/>
                <ns1:ea typeface="Menlo"/>
                <ns1:cs typeface="Menlo"/>
              </ns1:defRPr>
            </ns1:pPr>
            <ns1:r>
              <ns1:rPr sz="1400" b="0">
                <ns1:solidFill>
                  <ns1:srgbClr val="52606B"/>
                </ns1:solidFill>
                <ns1:latin typeface="Menlo"/>
                <ns1:ea typeface="Menlo"/>
                <ns1:cs typeface="Menlo"/>
              </ns1:rPr>
              <ns1:t>32</ns1:t>
            </ns1:r>
          </ns1:p>
        </ns0:txBody>
      </ns0:sp>
      <ns0:sp>
        <ns0:nvSpPr>
          <ns0:cNvPr id="3" name="">
            <ns1:extLst>
              <ns1:ext uri="{FF2B5EF4-FFF2-40B4-BE49-F238E27FC236}">
                <ns2:creationId id="{59469F07-4DD5-47D9-B8AD-3C3DC9A2EB37}"/>
              </ns1:ext>
            </ns1:extLst>
          </ns0:cNvPr>
          <ns0:cNvSpPr>
            <ns1:spLocks noGrp="1"/>
          </ns0:cNvSpPr>
          <ns0:nvPr/>
        </ns0:nvSpPr>
        <ns0:spPr>
          <ns1:xfrm>
            <ns1:off x="609600" y="723900"/>
            <ns1:ext cx="10972800" cy="666750"/>
          </ns1:xfrm>
          <ns1:prstGeom prst="rect">
            <ns1:avLst/>
          </ns1:prstGeom>
          <ns1:noFill/>
          <ns1:ln w="0">
            <ns1:noFill/>
            <ns1:prstDash val="solid"/>
          </ns1:ln>
        </ns0:spPr>
        <ns0:txBody>
          <ns1:bodyPr wrap="none" lIns="0" tIns="0" rIns="0" bIns="0" anchor="t">
            <ns1:noAutofit/>
          </ns1:bodyPr>
          <ns1:lstStyle>
            <ns1:defPPr algn="l">
              <ns1:defRPr sz="3400" b="1">
                <ns1:solidFill>
                  <ns1:srgbClr val="17191B"/>
                </ns1:solidFill>
                <ns1:latin typeface="AppleGothic"/>
                <ns1:ea typeface="AppleGothic"/>
                <ns1:cs typeface="AppleGothic"/>
              </ns1:defRPr>
            </ns1:defPPr>
          </ns1:lstStyle>
          <ns1:p>
            <ns1:pPr algn="l">
              <ns1:lnSpc>
                <ns1:spcPct val="116000"/>
              </ns1:lnSpc>
              <ns1:buNone/>
              <ns1:defRPr sz="3400" b="1">
                <ns1:solidFill>
                  <ns1:srgbClr val="17191B"/>
                </ns1:solidFill>
                <ns1:latin typeface="AppleGothic"/>
                <ns1:ea typeface="AppleGothic"/>
                <ns1:cs typeface="AppleGothic"/>
              </ns1:defRPr>
            </ns1:pPr>
            <ns1:r>
              <ns1:rPr sz="3400" b="1">
                <ns1:solidFill>
                  <ns1:srgbClr val="17191B"/>
                </ns1:solidFill>
                <ns1:latin typeface="AppleGothic"/>
                <ns1:ea typeface="AppleGothic"/>
                <ns1:cs typeface="AppleGothic"/>
              </ns1:rPr>
              <ns1:t>전체 미세조정·LoRA·QLoRA</ns1:t>
            </ns1:r>
          </ns1:p>
        </ns0:txBody>
      </ns0:sp>
      <ns0:sp>
        <ns0:nvSpPr>
          <ns0:cNvPr id="4" name="">
            <ns1:extLst>
              <ns1:ext uri="{FF2B5EF4-FFF2-40B4-BE49-F238E27FC236}">
                <ns2:creationId id="{04DD1972-A721-4862-A27C-0C3CCCD3DA6E}"/>
              </ns1:ext>
            </ns1:extLst>
          </ns0:cNvPr>
          <ns0:cNvSpPr>
            <ns1:spLocks noGrp="1"/>
          </ns0:cNvSpPr>
          <ns0:nvPr/>
        </ns0:nvSpPr>
        <ns0:spPr>
          <ns1:xfrm>
            <ns1:off x="609600" y="6315075"/>
            <ns1:ext cx="10972800" cy="9525"/>
          </ns1:xfrm>
          <ns1:prstGeom prst="rect">
            <ns1:avLst/>
          </ns1:prstGeom>
          <ns1:solidFill>
            <ns1:srgbClr val="CFD5D3"/>
          </ns1:solidFill>
          <ns1:ln w="0">
            <ns1:noFill/>
            <ns1:prstDash val="solid"/>
          </ns1:ln>
        </ns0:spPr>
      </ns0:sp>
      <ns0:sp>
        <ns0:nvSpPr>
          <ns0:cNvPr id="5" name="">
            <ns1:extLst>
              <ns1:ext uri="{FF2B5EF4-FFF2-40B4-BE49-F238E27FC236}">
                <ns2:creationId id="{4B16995D-9A7B-494B-A595-266560D6E749}"/>
              </ns1:ext>
            </ns1:extLst>
          </ns0:cNvPr>
          <ns0:cNvSpPr>
            <ns1:spLocks noGrp="1"/>
          </ns0:cNvSpPr>
          <ns0:nvPr/>
        </ns0:nvSpPr>
        <ns0:spPr>
          <ns1:xfrm>
            <ns1:off x="609600" y="6477000"/>
            <ns1:ext cx="10972800" cy="228600"/>
          </ns1:xfrm>
          <ns1:prstGeom prst="rect">
            <ns1:avLst/>
          </ns1:prstGeom>
          <ns1:noFill/>
          <ns1:ln w="0">
            <ns1:noFill/>
            <ns1:prstDash val="solid"/>
          </ns1:ln>
        </ns0:spPr>
        <ns0:txBody>
          <ns1:bodyPr wrap="none" lIns="0" tIns="0" rIns="0" bIns="0" anchor="t">
            <ns1:noAutofit/>
          </ns1:bodyPr>
          <ns1:lstStyle>
            <ns1:defPPr algn="l">
              <ns1:defRPr sz="1400" b="0">
                <ns1:solidFill>
                  <ns1:srgbClr val="52606B"/>
                </ns1:solidFill>
                <ns1:latin typeface="AppleGothic"/>
                <ns1:ea typeface="AppleGothic"/>
                <ns1:cs typeface="AppleGothic"/>
              </ns1:defRPr>
            </ns1:defPPr>
          </ns1:lstStyle>
          <ns1:p>
            <ns1:pPr algn="l">
              <ns1:lnSpc>
                <ns1:spcPct val="116000"/>
              </ns1:lnSpc>
              <ns1:buNone/>
              <ns1:defRPr sz="1400" b="0">
                <ns1:solidFill>
                  <ns1:srgbClr val="52606B"/>
                </ns1:solidFill>
                <ns1:latin typeface="AppleGothic"/>
                <ns1:ea typeface="AppleGothic"/>
                <ns1:cs typeface="AppleGothic"/>
              </ns1:defRPr>
            </ns1:pPr>
            <ns1:r>
              <ns1:rPr sz="1400" b="0">
                <ns1:solidFill>
                  <ns1:srgbClr val="52606B"/>
                </ns1:solidFill>
                <ns1:latin typeface="AppleGothic"/>
                <ns1:ea typeface="AppleGothic"/>
                <ns1:cs typeface="AppleGothic"/>
              </ns1:rPr>
              <ns1:t>데이터 · 모델 적응 · 비교 평가 · 기획서 초안</ns1:t>
            </ns1:r>
          </ns1:p>
        </ns0:txBody>
      </ns0:sp>
      <ns0:pic>
        <ns0:nvPicPr>
          <ns0:cNvPr id="6" name="">
            <ns1:extLst>
              <ns1:ext uri="{FF2B5EF4-FFF2-40B4-BE49-F238E27FC236}">
                <ns2:creationId id="{36356FEA-AD34-44D6-AC8A-6AECBCA76AA9}"/>
              </ns1:ext>
            </ns1:extLst>
          </ns0:cNvPr>
          <ns0:cNvPicPr>
            <ns1:picLocks noChangeAspect="1"/>
          </ns0:cNvPicPr>
          <ns0:nvPr/>
        </ns0:nvPicPr>
        <ns0:blipFill>
          <ns1:blip ns3:embed="Rb997ea4201a84fa4">
            <ns1:grayscl/>
          </ns1:blip>
          <ns1:stretch/>
        </ns0:blipFill>
        <ns0:spPr>
          <ns1:xfrm>
            <ns1:off x="1331595" y="1562100"/>
            <ns1:ext cx="9528810" cy="3905250"/>
          </ns1:xfrm>
          <ns1:prstGeom prst="rect">
            <ns1:avLst/>
          </ns1:prstGeom>
        </ns0:spPr>
      </ns0:pic>
      <ns0:sp>
        <ns0:nvSpPr>
          <ns0:cNvPr id="7" name="">
            <ns1:extLst>
              <ns1:ext uri="{FF2B5EF4-FFF2-40B4-BE49-F238E27FC236}">
                <ns2:creationId id="{7469EA71-EB92-4C5E-8B11-ADA5C868B35C}"/>
              </ns1:ext>
            </ns1:extLst>
          </ns0:cNvPr>
          <ns0:cNvSpPr>
            <ns1:spLocks noGrp="1"/>
          </ns0:cNvSpPr>
          <ns0:nvPr/>
        </ns0:nvSpPr>
        <ns0:spPr>
          <ns1:xfrm>
            <ns1:off x="609600" y="5553075"/>
            <ns1:ext cx="3486150" cy="361950"/>
          </ns1:xfrm>
          <ns1:prstGeom prst="rect">
            <ns1:avLst/>
          </ns1:prstGeom>
          <ns1:noFill/>
          <ns1:ln w="0">
            <ns1:noFill/>
            <ns1:prstDash val="solid"/>
          </ns1:ln>
        </ns0:spPr>
        <ns0:txBody>
          <ns1:bodyPr wrap="none" lIns="0" tIns="0" rIns="0" bIns="0" anchor="t">
            <ns1:noAutofit/>
          </ns1:bodyPr>
          <ns1:lstStyle>
            <ns1:defPPr algn="l">
              <ns1:defRPr sz="1800" b="0">
                <ns1:solidFill>
                  <ns1:srgbClr val="52606B"/>
                </ns1:solidFill>
                <ns1:latin typeface="AppleGothic"/>
                <ns1:ea typeface="AppleGothic"/>
                <ns1:cs typeface="AppleGothic"/>
              </ns1:defRPr>
            </ns1:defPPr>
          </ns1:lstStyle>
          <ns1:p>
            <ns1:pPr algn="l">
              <ns1:lnSpc>
                <ns1:spcPct val="116000"/>
              </ns1:lnSpc>
              <ns1:buNone/>
              <ns1:defRPr sz="1800" b="0">
                <ns1:solidFill>
                  <ns1:srgbClr val="52606B"/>
                </ns1:solidFill>
                <ns1:latin typeface="AppleGothic"/>
                <ns1:ea typeface="AppleGothic"/>
                <ns1:cs typeface="AppleGothic"/>
              </ns1:defRPr>
            </ns1:pPr>
            <ns1:r>
              <ns1:rPr sz="1800" b="0">
                <ns1:solidFill>
                  <ns1:srgbClr val="52606B"/>
                </ns1:solidFill>
                <ns1:latin typeface="AppleGothic"/>
                <ns1:ea typeface="AppleGothic"/>
                <ns1:cs typeface="AppleGothic"/>
              </ns1:rPr>
              <ns1:t>모델 가중치와 optimizer 상태</ns1:t>
            </ns1:r>
          </ns1:p>
        </ns0:txBody>
      </ns0:sp>
      <ns0:sp>
        <ns0:nvSpPr>
          <ns0:cNvPr id="8" name="">
            <ns1:extLst>
              <ns1:ext uri="{FF2B5EF4-FFF2-40B4-BE49-F238E27FC236}">
                <ns2:creationId id="{C896B363-DD90-4031-A338-C75DEEF7F5B5}"/>
              </ns1:ext>
            </ns1:extLst>
          </ns0:cNvPr>
          <ns0:cNvSpPr>
            <ns1:spLocks noGrp="1"/>
          </ns0:cNvSpPr>
          <ns0:nvPr/>
        </ns0:nvSpPr>
        <ns0:spPr>
          <ns1:xfrm>
            <ns1:off x="4324350" y="5553075"/>
            <ns1:ext cx="3486150" cy="361950"/>
          </ns1:xfrm>
          <ns1:prstGeom prst="rect">
            <ns1:avLst/>
          </ns1:prstGeom>
          <ns1:noFill/>
          <ns1:ln w="0">
            <ns1:noFill/>
            <ns1:prstDash val="solid"/>
          </ns1:ln>
        </ns0:spPr>
        <ns0:txBody>
          <ns1:bodyPr wrap="none" lIns="0" tIns="0" rIns="0" bIns="0" anchor="t">
            <ns1:noAutofit/>
          </ns1:bodyPr>
          <ns1:lstStyle>
            <ns1:defPPr algn="l">
              <ns1:defRPr sz="1800" b="0">
                <ns1:solidFill>
                  <ns1:srgbClr val="52606B"/>
                </ns1:solidFill>
                <ns1:latin typeface="AppleGothic"/>
                <ns1:ea typeface="AppleGothic"/>
                <ns1:cs typeface="AppleGothic"/>
              </ns1:defRPr>
            </ns1:defPPr>
          </ns1:lstStyle>
          <ns1:p>
            <ns1:pPr algn="l">
              <ns1:lnSpc>
                <ns1:spcPct val="116000"/>
              </ns1:lnSpc>
              <ns1:buNone/>
              <ns1:defRPr sz="1800" b="0">
                <ns1:solidFill>
                  <ns1:srgbClr val="52606B"/>
                </ns1:solidFill>
                <ns1:latin typeface="AppleGothic"/>
                <ns1:ea typeface="AppleGothic"/>
                <ns1:cs typeface="AppleGothic"/>
              </ns1:defRPr>
            </ns1:pPr>
            <ns1:r>
              <ns1:rPr sz="1800" b="0">
                <ns1:solidFill>
                  <ns1:srgbClr val="52606B"/>
                </ns1:solidFill>
                <ns1:latin typeface="AppleGothic"/>
                <ns1:ea typeface="AppleGothic"/>
                <ns1:cs typeface="AppleGothic"/>
              </ns1:rPr>
              <ns1:t>고정 모델과 학습 Adapter</ns1:t>
            </ns1:r>
          </ns1:p>
        </ns0:txBody>
      </ns0:sp>
      <ns0:sp>
        <ns0:nvSpPr>
          <ns0:cNvPr id="9" name="">
            <ns1:extLst>
              <ns1:ext uri="{FF2B5EF4-FFF2-40B4-BE49-F238E27FC236}">
                <ns2:creationId id="{D204B697-FE6B-4867-83DA-463BBB2E42B2}"/>
              </ns1:ext>
            </ns1:extLst>
          </ns0:cNvPr>
          <ns0:cNvSpPr>
            <ns1:spLocks noGrp="1"/>
          </ns0:cNvSpPr>
          <ns0:nvPr/>
        </ns0:nvSpPr>
        <ns0:spPr>
          <ns1:xfrm>
            <ns1:off x="8039100" y="5553075"/>
            <ns1:ext cx="3486150" cy="361950"/>
          </ns1:xfrm>
          <ns1:prstGeom prst="rect">
            <ns1:avLst/>
          </ns1:prstGeom>
          <ns1:noFill/>
          <ns1:ln w="0">
            <ns1:noFill/>
            <ns1:prstDash val="solid"/>
          </ns1:ln>
        </ns0:spPr>
        <ns0:txBody>
          <ns1:bodyPr wrap="none" lIns="0" tIns="0" rIns="0" bIns="0" anchor="t">
            <ns1:noAutofit/>
          </ns1:bodyPr>
          <ns1:lstStyle>
            <ns1:defPPr algn="l">
              <ns1:defRPr sz="1800" b="0">
                <ns1:solidFill>
                  <ns1:srgbClr val="52606B"/>
                </ns1:solidFill>
                <ns1:latin typeface="AppleGothic"/>
                <ns1:ea typeface="AppleGothic"/>
                <ns1:cs typeface="AppleGothic"/>
              </ns1:defRPr>
            </ns1:defPPr>
          </ns1:lstStyle>
          <ns1:p>
            <ns1:pPr algn="l">
              <ns1:lnSpc>
                <ns1:spcPct val="116000"/>
              </ns1:lnSpc>
              <ns1:buNone/>
              <ns1:defRPr sz="1800" b="0">
                <ns1:solidFill>
                  <ns1:srgbClr val="52606B"/>
                </ns1:solidFill>
                <ns1:latin typeface="AppleGothic"/>
                <ns1:ea typeface="AppleGothic"/>
                <ns1:cs typeface="AppleGothic"/>
              </ns1:defRPr>
            </ns1:pPr>
            <ns1:r>
              <ns1:rPr sz="1800" b="0">
                <ns1:solidFill>
                  <ns1:srgbClr val="52606B"/>
                </ns1:solidFill>
                <ns1:latin typeface="AppleGothic"/>
                <ns1:ea typeface="AppleGothic"/>
                <ns1:cs typeface="AppleGothic"/>
              </ns1:rPr>
              <ns1:t>4-bit 고정 모델과 Adapter</ns1:t>
            </ns1:r>
          </ns1:p>
        </ns0:txBody>
      </ns0:sp>
      <ns0:sp>
        <ns0:nvSpPr>
          <ns0:cNvPr id="10" name="">
            <ns1:extLst>
              <ns1:ext uri="{FF2B5EF4-FFF2-40B4-BE49-F238E27FC236}">
                <ns2:creationId id="{3D39BFE3-7CE6-4187-9F0E-35B5B1D03621}"/>
              </ns1:ext>
            </ns1:extLst>
          </ns0:cNvPr>
          <ns0:cNvSpPr>
            <ns1:spLocks noGrp="1"/>
          </ns0:cNvSpPr>
          <ns0:nvPr/>
        </ns0:nvSpPr>
        <ns0:spPr>
          <ns1:xfrm>
            <ns1:off x="609600" y="6019800"/>
            <ns1:ext cx="10972800" cy="247650"/>
          </ns1:xfrm>
          <ns1:prstGeom prst="rect">
            <ns1:avLst/>
          </ns1:prstGeom>
          <ns1:noFill/>
          <ns1:ln w="0">
            <ns1:noFill/>
            <ns1:prstDash val="solid"/>
          </ns1:ln>
        </ns0:spPr>
        <ns0:txBody>
          <ns1:bodyPr wrap="none" lIns="0" tIns="0" rIns="0" bIns="0" anchor="t">
            <ns1:noAutofit/>
          </ns1:bodyPr>
          <ns1:lstStyle>
            <ns1:defPPr algn="l">
              <ns1:defRPr sz="1400" b="0">
                <ns1:solidFill>
                  <ns1:srgbClr val="52606B"/>
                </ns1:solidFill>
                <ns1:latin typeface="AppleGothic"/>
                <ns1:ea typeface="AppleGothic"/>
                <ns1:cs typeface="AppleGothic"/>
              </ns1:defRPr>
            </ns1:defPPr>
          </ns1:lstStyle>
          <ns1:p>
            <ns1:pPr algn="l">
              <ns1:lnSpc>
                <ns1:spcPct val="116000"/>
              </ns1:lnSpc>
              <ns1:buNone/>
              <ns1:defRPr sz="1400" b="0">
                <ns1:solidFill>
                  <ns1:srgbClr val="52606B"/>
                </ns1:solidFill>
                <ns1:latin typeface="AppleGothic"/>
                <ns1:ea typeface="AppleGothic"/>
                <ns1:cs typeface="AppleGothic"/>
              </ns1:defRPr>
            </ns1:pPr>
            <ns1:r>
              <ns1:rPr sz="1400" b="0">
                <ns1:solidFill>
                  <ns1:srgbClr val="52606B"/>
                </ns1:solidFill>
                <ns1:latin typeface="AppleGothic"/>
                <ns1:ea typeface="AppleGothic"/>
                <ns1:cs typeface="AppleGothic"/>
              </ns1:rPr>
              <ns1:t>QLoRA Figure 1 · CC BY 4.0 · 흑백 발췌</ns1:t>
            </ns1:r>
          </ns1:p>
        </ns0:txBody>
      </ns0:sp>
    </ns0:spTree>
    <ns0:extLst>
      <ns0:ext uri="{BB962C8B-B14F-4D97-AF65-F5344CB8AC3E}">
        <ns4:creationId val="315305099"/>
      </ns0:ext>
    </ns0:extLst>
  </ns0:cSld>
</ns0:sld>
</file>

<file path=ppt/slides/slide33.xml><?xml version="1.0" encoding="utf-8"?>
<p:sld xmlns:p="http://schemas.openxmlformats.org/presentationml/2006/main">
  <p:cSld>
    <p:bg>
      <p:bgPr>
        <a:solidFill xmlns:a="http://schemas.openxmlformats.org/drawingml/2006/main">
          <a:srgbClr val="F7F7F5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C79DF3F8-0061-49C0-9264-2C07FF4288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47650"/>
            <a:ext cx="9525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1400" b="0">
                <a:solidFill>
                  <a:srgbClr val="52606B"/>
                </a:solidFill>
                <a:latin typeface="AppleGothic"/>
                <a:ea typeface="AppleGothic"/>
                <a:cs typeface="AppleGothic"/>
              </a:defRPr>
            </a:defPPr>
          </a:lstStyle>
          <a:p xmlns:a="http://schemas.openxmlformats.org/drawingml/2006/main">
            <a:pPr algn="l">
              <a:lnSpc>
                <a:spcPct val="116000"/>
              </a:lnSpc>
              <a:buNone/>
              <a:defRPr sz="1400" b="0">
                <a:solidFill>
                  <a:srgbClr val="52606B"/>
                </a:solidFill>
                <a:latin typeface="AppleGothic"/>
                <a:ea typeface="AppleGothic"/>
                <a:cs typeface="AppleGothic"/>
              </a:defRPr>
            </a:pPr>
            <a:r>
              <a:rPr sz="1400" b="0">
                <a:solidFill>
                  <a:srgbClr val="52606B"/>
                </a:solidFill>
                <a:latin typeface="AppleGothic"/>
                <a:ea typeface="AppleGothic"/>
                <a:cs typeface="AppleGothic"/>
              </a:rPr>
              <a:t>LLMOPS / W07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0BEF3CAB-0773-4F45-9B3F-F4195071A2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8500" y="247650"/>
            <a:ext cx="7239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r">
              <a:defRPr sz="1400" b="0">
                <a:solidFill>
                  <a:srgbClr val="52606B"/>
                </a:solidFill>
                <a:latin typeface="Menlo"/>
                <a:ea typeface="Menlo"/>
                <a:cs typeface="Menlo"/>
              </a:defRPr>
            </a:defPPr>
          </a:lstStyle>
          <a:p xmlns:a="http://schemas.openxmlformats.org/drawingml/2006/main">
            <a:pPr algn="r">
              <a:lnSpc>
                <a:spcPct val="116000"/>
              </a:lnSpc>
              <a:buNone/>
              <a:defRPr sz="1400" b="0">
                <a:solidFill>
                  <a:srgbClr val="52606B"/>
                </a:solidFill>
                <a:latin typeface="Menlo"/>
                <a:ea typeface="Menlo"/>
                <a:cs typeface="Menlo"/>
              </a:defRPr>
            </a:pPr>
            <a:r>
              <a:rPr sz="1400" b="0">
                <a:solidFill>
                  <a:srgbClr val="52606B"/>
                </a:solidFill>
                <a:latin typeface="Menlo"/>
                <a:ea typeface="Menlo"/>
                <a:cs typeface="Menlo"/>
              </a:rPr>
              <a:t>33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F8724491-CA82-41CA-BB21-ED93FE3712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23900"/>
            <a:ext cx="109728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3400" b="1">
                <a:solidFill>
                  <a:srgbClr val="17191B"/>
                </a:solidFill>
                <a:latin typeface="AppleGothic"/>
                <a:ea typeface="AppleGothic"/>
                <a:cs typeface="AppleGothic"/>
              </a:defRPr>
            </a:defPPr>
          </a:lstStyle>
          <a:p xmlns:a="http://schemas.openxmlformats.org/drawingml/2006/main">
            <a:pPr algn="l">
              <a:lnSpc>
                <a:spcPct val="116000"/>
              </a:lnSpc>
              <a:buNone/>
              <a:defRPr sz="3400" b="1">
                <a:solidFill>
                  <a:srgbClr val="17191B"/>
                </a:solidFill>
                <a:latin typeface="AppleGothic"/>
                <a:ea typeface="AppleGothic"/>
                <a:cs typeface="AppleGothic"/>
              </a:defRPr>
            </a:pPr>
            <a:r>
              <a:rPr sz="3400" b="1">
                <a:solidFill>
                  <a:srgbClr val="17191B"/>
                </a:solidFill>
                <a:latin typeface="AppleGothic"/>
                <a:ea typeface="AppleGothic"/>
                <a:cs typeface="AppleGothic"/>
              </a:rPr>
              <a:t>메모리 추정의 구성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877BBAEA-EFFE-4897-9526-3888EE3EA6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315075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FD5D3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5E006E60-066C-4BBC-B118-56F4BBD2FD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77000"/>
            <a:ext cx="109728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1400" b="0">
                <a:solidFill>
                  <a:srgbClr val="52606B"/>
                </a:solidFill>
                <a:latin typeface="AppleGothic"/>
                <a:ea typeface="AppleGothic"/>
                <a:cs typeface="AppleGothic"/>
              </a:defRPr>
            </a:defPPr>
          </a:lstStyle>
          <a:p xmlns:a="http://schemas.openxmlformats.org/drawingml/2006/main">
            <a:pPr algn="l">
              <a:lnSpc>
                <a:spcPct val="116000"/>
              </a:lnSpc>
              <a:buNone/>
              <a:defRPr sz="1400" b="0">
                <a:solidFill>
                  <a:srgbClr val="52606B"/>
                </a:solidFill>
                <a:latin typeface="AppleGothic"/>
                <a:ea typeface="AppleGothic"/>
                <a:cs typeface="AppleGothic"/>
              </a:defRPr>
            </a:pPr>
            <a:r>
              <a:rPr sz="1400" b="0">
                <a:solidFill>
                  <a:srgbClr val="52606B"/>
                </a:solidFill>
                <a:latin typeface="AppleGothic"/>
                <a:ea typeface="AppleGothic"/>
                <a:cs typeface="AppleGothic"/>
              </a:rPr>
              <a:t>데이터 · 모델 적응 · 비교 평가 · 기획서 초안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1A34C279-FC36-465B-A86F-1DE3016B22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464689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FD5D3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669D5435-1B3C-4B83-93A6-CF3B9B12D2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809750"/>
            <a:ext cx="10477500" cy="426339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2700" b="1">
                <a:solidFill>
                  <a:srgbClr val="17191B"/>
                </a:solidFill>
                <a:latin typeface="AppleGothic"/>
                <a:ea typeface="AppleGothic"/>
                <a:cs typeface="AppleGothic"/>
              </a:defRPr>
            </a:defPPr>
          </a:lstStyle>
          <a:p xmlns:a="http://schemas.openxmlformats.org/drawingml/2006/main">
            <a:pPr algn="l">
              <a:lnSpc>
                <a:spcPct val="116000"/>
              </a:lnSpc>
              <a:buNone/>
              <a:defRPr sz="2700" b="1">
                <a:solidFill>
                  <a:srgbClr val="17191B"/>
                </a:solidFill>
                <a:latin typeface="AppleGothic"/>
                <a:ea typeface="AppleGothic"/>
                <a:cs typeface="AppleGothic"/>
              </a:defRPr>
            </a:pPr>
            <a:r>
              <a:rPr sz="2700" b="1">
                <a:solidFill>
                  <a:srgbClr val="17191B"/>
                </a:solidFill>
                <a:latin typeface="AppleGothic"/>
                <a:ea typeface="AppleGothic"/>
                <a:cs typeface="AppleGothic"/>
              </a:rPr>
              <a:t>가중치 크기만으로 GPU 메모리 판단 불가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EA9109A5-ED1E-4B19-8631-A3E1F81153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883789"/>
            <a:ext cx="10477500" cy="337947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2100" b="0">
                <a:solidFill>
                  <a:srgbClr val="52606B"/>
                </a:solidFill>
                <a:latin typeface="AppleGothic"/>
                <a:ea typeface="AppleGothic"/>
                <a:cs typeface="AppleGothic"/>
              </a:defRPr>
            </a:defPPr>
          </a:lstStyle>
          <a:p xmlns:a="http://schemas.openxmlformats.org/drawingml/2006/main">
            <a:pPr algn="l">
              <a:lnSpc>
                <a:spcPct val="116000"/>
              </a:lnSpc>
              <a:buNone/>
              <a:defRPr sz="2100" b="0">
                <a:solidFill>
                  <a:srgbClr val="52606B"/>
                </a:solidFill>
                <a:latin typeface="AppleGothic"/>
                <a:ea typeface="AppleGothic"/>
                <a:cs typeface="AppleGothic"/>
              </a:defRPr>
            </a:pPr>
            <a:r>
              <a:rPr sz="2100" b="0">
                <a:solidFill>
                  <a:srgbClr val="52606B"/>
                </a:solidFill>
                <a:latin typeface="AppleGothic"/>
                <a:ea typeface="AppleGothic"/>
                <a:cs typeface="AppleGothic"/>
              </a:rPr>
              <a:t>gradient·optimizer state·activation·버퍼 추가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CDBCA6BA-7C7F-449C-A5D4-E885670AA5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526536"/>
            <a:ext cx="10477500" cy="337947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2100" b="0">
                <a:solidFill>
                  <a:srgbClr val="52606B"/>
                </a:solidFill>
                <a:latin typeface="AppleGothic"/>
                <a:ea typeface="AppleGothic"/>
                <a:cs typeface="AppleGothic"/>
              </a:defRPr>
            </a:defPPr>
          </a:lstStyle>
          <a:p xmlns:a="http://schemas.openxmlformats.org/drawingml/2006/main">
            <a:pPr algn="l">
              <a:lnSpc>
                <a:spcPct val="116000"/>
              </a:lnSpc>
              <a:buNone/>
              <a:defRPr sz="2100" b="0">
                <a:solidFill>
                  <a:srgbClr val="52606B"/>
                </a:solidFill>
                <a:latin typeface="AppleGothic"/>
                <a:ea typeface="AppleGothic"/>
                <a:cs typeface="AppleGothic"/>
              </a:defRPr>
            </a:pPr>
            <a:r>
              <a:rPr sz="2100" b="0">
                <a:solidFill>
                  <a:srgbClr val="52606B"/>
                </a:solidFill>
                <a:latin typeface="AppleGothic"/>
                <a:ea typeface="AppleGothic"/>
                <a:cs typeface="AppleGothic"/>
              </a:rPr>
              <a:t>동일 모델·길이·batch에서 최대 사용량 측정</a:t>
            </a:r>
          </a:p>
        </p:txBody>
      </p:sp>
    </p:spTree>
    <p:extLst>
      <p:ext uri="{BB962C8B-B14F-4D97-AF65-F5344CB8AC3E}">
        <p14:creationId xmlns:p14="http://schemas.microsoft.com/office/powerpoint/2010/main" val="288692467"/>
      </p:ext>
    </p:extLst>
  </p:cSld>
</p:sld>
</file>

<file path=ppt/slides/slide34.xml><?xml version="1.0" encoding="utf-8"?>
<p:sld xmlns:p="http://schemas.openxmlformats.org/presentationml/2006/main">
  <p:cSld>
    <p:bg>
      <p:bgPr>
        <a:solidFill xmlns:a="http://schemas.openxmlformats.org/drawingml/2006/main">
          <a:srgbClr val="F7F7F5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7C4AA0C7-34A8-4306-9206-A5824341C7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47650"/>
            <a:ext cx="9525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1400" b="0">
                <a:solidFill>
                  <a:srgbClr val="52606B"/>
                </a:solidFill>
                <a:latin typeface="AppleGothic"/>
                <a:ea typeface="AppleGothic"/>
                <a:cs typeface="AppleGothic"/>
              </a:defRPr>
            </a:defPPr>
          </a:lstStyle>
          <a:p xmlns:a="http://schemas.openxmlformats.org/drawingml/2006/main">
            <a:pPr algn="l">
              <a:lnSpc>
                <a:spcPct val="116000"/>
              </a:lnSpc>
              <a:buNone/>
              <a:defRPr sz="1400" b="0">
                <a:solidFill>
                  <a:srgbClr val="52606B"/>
                </a:solidFill>
                <a:latin typeface="AppleGothic"/>
                <a:ea typeface="AppleGothic"/>
                <a:cs typeface="AppleGothic"/>
              </a:defRPr>
            </a:pPr>
            <a:r>
              <a:rPr sz="1400" b="0">
                <a:solidFill>
                  <a:srgbClr val="52606B"/>
                </a:solidFill>
                <a:latin typeface="AppleGothic"/>
                <a:ea typeface="AppleGothic"/>
                <a:cs typeface="AppleGothic"/>
              </a:rPr>
              <a:t>LLMOPS / W07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5AD01BDA-D049-4446-A3D4-C9C6B3BB4C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8500" y="247650"/>
            <a:ext cx="7239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r">
              <a:defRPr sz="1400" b="0">
                <a:solidFill>
                  <a:srgbClr val="52606B"/>
                </a:solidFill>
                <a:latin typeface="Menlo"/>
                <a:ea typeface="Menlo"/>
                <a:cs typeface="Menlo"/>
              </a:defRPr>
            </a:defPPr>
          </a:lstStyle>
          <a:p xmlns:a="http://schemas.openxmlformats.org/drawingml/2006/main">
            <a:pPr algn="r">
              <a:lnSpc>
                <a:spcPct val="116000"/>
              </a:lnSpc>
              <a:buNone/>
              <a:defRPr sz="1400" b="0">
                <a:solidFill>
                  <a:srgbClr val="52606B"/>
                </a:solidFill>
                <a:latin typeface="Menlo"/>
                <a:ea typeface="Menlo"/>
                <a:cs typeface="Menlo"/>
              </a:defRPr>
            </a:pPr>
            <a:r>
              <a:rPr sz="1400" b="0">
                <a:solidFill>
                  <a:srgbClr val="52606B"/>
                </a:solidFill>
                <a:latin typeface="Menlo"/>
                <a:ea typeface="Menlo"/>
                <a:cs typeface="Menlo"/>
              </a:rPr>
              <a:t>34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83BF219A-C54B-41A0-9D09-88E22588A7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23900"/>
            <a:ext cx="109728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3400" b="1">
                <a:solidFill>
                  <a:srgbClr val="17191B"/>
                </a:solidFill>
                <a:latin typeface="AppleGothic"/>
                <a:ea typeface="AppleGothic"/>
                <a:cs typeface="AppleGothic"/>
              </a:defRPr>
            </a:defPPr>
          </a:lstStyle>
          <a:p xmlns:a="http://schemas.openxmlformats.org/drawingml/2006/main">
            <a:pPr algn="l">
              <a:lnSpc>
                <a:spcPct val="116000"/>
              </a:lnSpc>
              <a:buNone/>
              <a:defRPr sz="3400" b="1">
                <a:solidFill>
                  <a:srgbClr val="17191B"/>
                </a:solidFill>
                <a:latin typeface="AppleGothic"/>
                <a:ea typeface="AppleGothic"/>
                <a:cs typeface="AppleGothic"/>
              </a:defRPr>
            </a:pPr>
            <a:r>
              <a:rPr sz="3400" b="1">
                <a:solidFill>
                  <a:srgbClr val="17191B"/>
                </a:solidFill>
                <a:latin typeface="AppleGothic"/>
                <a:ea typeface="AppleGothic"/>
                <a:cs typeface="AppleGothic"/>
              </a:rPr>
              <a:t>Adapter 버전의 구성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9E3F1A0D-13EE-4669-88C8-229A1765C2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315075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FD5D3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DE44125E-CEF7-4DF0-A8FF-BA3A5155AF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77000"/>
            <a:ext cx="109728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1400" b="0">
                <a:solidFill>
                  <a:srgbClr val="52606B"/>
                </a:solidFill>
                <a:latin typeface="AppleGothic"/>
                <a:ea typeface="AppleGothic"/>
                <a:cs typeface="AppleGothic"/>
              </a:defRPr>
            </a:defPPr>
          </a:lstStyle>
          <a:p xmlns:a="http://schemas.openxmlformats.org/drawingml/2006/main">
            <a:pPr algn="l">
              <a:lnSpc>
                <a:spcPct val="116000"/>
              </a:lnSpc>
              <a:buNone/>
              <a:defRPr sz="1400" b="0">
                <a:solidFill>
                  <a:srgbClr val="52606B"/>
                </a:solidFill>
                <a:latin typeface="AppleGothic"/>
                <a:ea typeface="AppleGothic"/>
                <a:cs typeface="AppleGothic"/>
              </a:defRPr>
            </a:pPr>
            <a:r>
              <a:rPr sz="1400" b="0">
                <a:solidFill>
                  <a:srgbClr val="52606B"/>
                </a:solidFill>
                <a:latin typeface="AppleGothic"/>
                <a:ea typeface="AppleGothic"/>
                <a:cs typeface="AppleGothic"/>
              </a:rPr>
              <a:t>데이터 · 모델 적응 · 비교 평가 · 기획서 초안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F86D6DD8-B096-4C52-AAFD-FC288D8E1E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714625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FD5D3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76C731A8-E064-473C-913C-6F20B3DFEF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57475"/>
            <a:ext cx="152400" cy="1238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84B7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BE72FB20-F009-46D0-940B-0AAB286740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095500"/>
            <a:ext cx="25527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1800" b="0">
                <a:solidFill>
                  <a:srgbClr val="284B72"/>
                </a:solidFill>
                <a:latin typeface="Menlo"/>
                <a:ea typeface="Menlo"/>
                <a:cs typeface="Menlo"/>
              </a:defRPr>
            </a:defPPr>
          </a:lstStyle>
          <a:p xmlns:a="http://schemas.openxmlformats.org/drawingml/2006/main">
            <a:pPr algn="l">
              <a:lnSpc>
                <a:spcPct val="116000"/>
              </a:lnSpc>
              <a:buNone/>
              <a:defRPr sz="1800" b="0">
                <a:solidFill>
                  <a:srgbClr val="284B72"/>
                </a:solidFill>
                <a:latin typeface="Menlo"/>
                <a:ea typeface="Menlo"/>
                <a:cs typeface="Menlo"/>
              </a:defRPr>
            </a:pPr>
            <a:r>
              <a:rPr sz="1800" b="0">
                <a:solidFill>
                  <a:srgbClr val="284B72"/>
                </a:solidFill>
                <a:latin typeface="Menlo"/>
                <a:ea typeface="Menlo"/>
                <a:cs typeface="Menlo"/>
              </a:rPr>
              <a:t>01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2273A367-68DE-4828-9D40-C287D42DDD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067050"/>
            <a:ext cx="249555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2500" b="1">
                <a:solidFill>
                  <a:srgbClr val="17191B"/>
                </a:solidFill>
                <a:latin typeface="AppleGothic"/>
                <a:ea typeface="AppleGothic"/>
                <a:cs typeface="AppleGothic"/>
              </a:defRPr>
            </a:defPPr>
          </a:lstStyle>
          <a:p xmlns:a="http://schemas.openxmlformats.org/drawingml/2006/main">
            <a:pPr algn="l">
              <a:lnSpc>
                <a:spcPct val="116000"/>
              </a:lnSpc>
              <a:buNone/>
              <a:defRPr sz="2500" b="1">
                <a:solidFill>
                  <a:srgbClr val="17191B"/>
                </a:solidFill>
                <a:latin typeface="AppleGothic"/>
                <a:ea typeface="AppleGothic"/>
                <a:cs typeface="AppleGothic"/>
              </a:defRPr>
            </a:pPr>
            <a:r>
              <a:rPr sz="2500" b="1">
                <a:solidFill>
                  <a:srgbClr val="17191B"/>
                </a:solidFill>
                <a:latin typeface="AppleGothic"/>
                <a:ea typeface="AppleGothic"/>
                <a:cs typeface="AppleGothic"/>
              </a:rPr>
              <a:t>Base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D0B8DA2F-E7C0-49F4-AEDC-5C3E5CC72B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029075"/>
            <a:ext cx="2495550" cy="914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1800" b="0">
                <a:solidFill>
                  <a:srgbClr val="52606B"/>
                </a:solidFill>
                <a:latin typeface="AppleGothic"/>
                <a:ea typeface="AppleGothic"/>
                <a:cs typeface="AppleGothic"/>
              </a:defRPr>
            </a:defPPr>
          </a:lstStyle>
          <a:p xmlns:a="http://schemas.openxmlformats.org/drawingml/2006/main">
            <a:pPr algn="l">
              <a:lnSpc>
                <a:spcPct val="116000"/>
              </a:lnSpc>
              <a:buNone/>
              <a:defRPr sz="1800" b="0">
                <a:solidFill>
                  <a:srgbClr val="52606B"/>
                </a:solidFill>
                <a:latin typeface="AppleGothic"/>
                <a:ea typeface="AppleGothic"/>
                <a:cs typeface="AppleGothic"/>
              </a:defRPr>
            </a:pPr>
            <a:r>
              <a:rPr sz="1800" b="0">
                <a:solidFill>
                  <a:srgbClr val="52606B"/>
                </a:solidFill>
                <a:latin typeface="AppleGothic"/>
                <a:ea typeface="AppleGothic"/>
                <a:cs typeface="AppleGothic"/>
              </a:rPr>
              <a:t>모델·revision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547490E0-75C6-4C15-82A5-A0A978BF6E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52800" y="2657475"/>
            <a:ext cx="152400" cy="1238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84B7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4CCC6767-173A-4DC7-8CC8-57AE195E7E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52800" y="2095500"/>
            <a:ext cx="25527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1800" b="0">
                <a:solidFill>
                  <a:srgbClr val="284B72"/>
                </a:solidFill>
                <a:latin typeface="Menlo"/>
                <a:ea typeface="Menlo"/>
                <a:cs typeface="Menlo"/>
              </a:defRPr>
            </a:defPPr>
          </a:lstStyle>
          <a:p xmlns:a="http://schemas.openxmlformats.org/drawingml/2006/main">
            <a:pPr algn="l">
              <a:lnSpc>
                <a:spcPct val="116000"/>
              </a:lnSpc>
              <a:buNone/>
              <a:defRPr sz="1800" b="0">
                <a:solidFill>
                  <a:srgbClr val="284B72"/>
                </a:solidFill>
                <a:latin typeface="Menlo"/>
                <a:ea typeface="Menlo"/>
                <a:cs typeface="Menlo"/>
              </a:defRPr>
            </a:pPr>
            <a:r>
              <a:rPr sz="1800" b="0">
                <a:solidFill>
                  <a:srgbClr val="284B72"/>
                </a:solidFill>
                <a:latin typeface="Menlo"/>
                <a:ea typeface="Menlo"/>
                <a:cs typeface="Menlo"/>
              </a:rPr>
              <a:t>02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79E9CDB1-9749-4B02-9560-01900881A7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52800" y="3067050"/>
            <a:ext cx="249555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2500" b="1">
                <a:solidFill>
                  <a:srgbClr val="17191B"/>
                </a:solidFill>
                <a:latin typeface="AppleGothic"/>
                <a:ea typeface="AppleGothic"/>
                <a:cs typeface="AppleGothic"/>
              </a:defRPr>
            </a:defPPr>
          </a:lstStyle>
          <a:p xmlns:a="http://schemas.openxmlformats.org/drawingml/2006/main">
            <a:pPr algn="l">
              <a:lnSpc>
                <a:spcPct val="116000"/>
              </a:lnSpc>
              <a:buNone/>
              <a:defRPr sz="2500" b="1">
                <a:solidFill>
                  <a:srgbClr val="17191B"/>
                </a:solidFill>
                <a:latin typeface="AppleGothic"/>
                <a:ea typeface="AppleGothic"/>
                <a:cs typeface="AppleGothic"/>
              </a:defRPr>
            </a:pPr>
            <a:r>
              <a:rPr sz="2500" b="1">
                <a:solidFill>
                  <a:srgbClr val="17191B"/>
                </a:solidFill>
                <a:latin typeface="AppleGothic"/>
                <a:ea typeface="AppleGothic"/>
                <a:cs typeface="AppleGothic"/>
              </a:rPr>
              <a:t>Tokenizer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1ADECE81-5685-404E-975D-BA8B70FF52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52800" y="4029075"/>
            <a:ext cx="2495550" cy="914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1800" b="0">
                <a:solidFill>
                  <a:srgbClr val="52606B"/>
                </a:solidFill>
                <a:latin typeface="AppleGothic"/>
                <a:ea typeface="AppleGothic"/>
                <a:cs typeface="AppleGothic"/>
              </a:defRPr>
            </a:defPPr>
          </a:lstStyle>
          <a:p xmlns:a="http://schemas.openxmlformats.org/drawingml/2006/main">
            <a:pPr algn="l">
              <a:lnSpc>
                <a:spcPct val="116000"/>
              </a:lnSpc>
              <a:buNone/>
              <a:defRPr sz="1800" b="0">
                <a:solidFill>
                  <a:srgbClr val="52606B"/>
                </a:solidFill>
                <a:latin typeface="AppleGothic"/>
                <a:ea typeface="AppleGothic"/>
                <a:cs typeface="AppleGothic"/>
              </a:defRPr>
            </a:pPr>
            <a:r>
              <a:rPr sz="1800" b="0">
                <a:solidFill>
                  <a:srgbClr val="52606B"/>
                </a:solidFill>
                <a:latin typeface="AppleGothic"/>
                <a:ea typeface="AppleGothic"/>
                <a:cs typeface="AppleGothic"/>
              </a:rPr>
              <a:t>템플릿·버전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3C5EF361-9334-4087-8832-11622861BF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0" y="2657475"/>
            <a:ext cx="152400" cy="1238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84B7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1EDD5112-9E82-4689-9733-720E1CB766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0" y="2095500"/>
            <a:ext cx="25527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1800" b="0">
                <a:solidFill>
                  <a:srgbClr val="284B72"/>
                </a:solidFill>
                <a:latin typeface="Menlo"/>
                <a:ea typeface="Menlo"/>
                <a:cs typeface="Menlo"/>
              </a:defRPr>
            </a:defPPr>
          </a:lstStyle>
          <a:p xmlns:a="http://schemas.openxmlformats.org/drawingml/2006/main">
            <a:pPr algn="l">
              <a:lnSpc>
                <a:spcPct val="116000"/>
              </a:lnSpc>
              <a:buNone/>
              <a:defRPr sz="1800" b="0">
                <a:solidFill>
                  <a:srgbClr val="284B72"/>
                </a:solidFill>
                <a:latin typeface="Menlo"/>
                <a:ea typeface="Menlo"/>
                <a:cs typeface="Menlo"/>
              </a:defRPr>
            </a:pPr>
            <a:r>
              <a:rPr sz="1800" b="0">
                <a:solidFill>
                  <a:srgbClr val="284B72"/>
                </a:solidFill>
                <a:latin typeface="Menlo"/>
                <a:ea typeface="Menlo"/>
                <a:cs typeface="Menlo"/>
              </a:rPr>
              <a:t>03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621DC32B-00E2-49D4-8ACD-432ABB1043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0" y="3067050"/>
            <a:ext cx="249555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2500" b="1">
                <a:solidFill>
                  <a:srgbClr val="17191B"/>
                </a:solidFill>
                <a:latin typeface="AppleGothic"/>
                <a:ea typeface="AppleGothic"/>
                <a:cs typeface="AppleGothic"/>
              </a:defRPr>
            </a:defPPr>
          </a:lstStyle>
          <a:p xmlns:a="http://schemas.openxmlformats.org/drawingml/2006/main">
            <a:pPr algn="l">
              <a:lnSpc>
                <a:spcPct val="116000"/>
              </a:lnSpc>
              <a:buNone/>
              <a:defRPr sz="2500" b="1">
                <a:solidFill>
                  <a:srgbClr val="17191B"/>
                </a:solidFill>
                <a:latin typeface="AppleGothic"/>
                <a:ea typeface="AppleGothic"/>
                <a:cs typeface="AppleGothic"/>
              </a:defRPr>
            </a:pPr>
            <a:r>
              <a:rPr sz="2500" b="1">
                <a:solidFill>
                  <a:srgbClr val="17191B"/>
                </a:solidFill>
                <a:latin typeface="AppleGothic"/>
                <a:ea typeface="AppleGothic"/>
                <a:cs typeface="AppleGothic"/>
              </a:rPr>
              <a:t>Adapter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E645CF1C-2193-4D1A-ACB1-11B68B9297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0" y="4029075"/>
            <a:ext cx="2495550" cy="914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1800" b="0">
                <a:solidFill>
                  <a:srgbClr val="52606B"/>
                </a:solidFill>
                <a:latin typeface="AppleGothic"/>
                <a:ea typeface="AppleGothic"/>
                <a:cs typeface="AppleGothic"/>
              </a:defRPr>
            </a:defPPr>
          </a:lstStyle>
          <a:p xmlns:a="http://schemas.openxmlformats.org/drawingml/2006/main">
            <a:pPr algn="l">
              <a:lnSpc>
                <a:spcPct val="116000"/>
              </a:lnSpc>
              <a:buNone/>
              <a:defRPr sz="1800" b="0">
                <a:solidFill>
                  <a:srgbClr val="52606B"/>
                </a:solidFill>
                <a:latin typeface="AppleGothic"/>
                <a:ea typeface="AppleGothic"/>
                <a:cs typeface="AppleGothic"/>
              </a:defRPr>
            </a:pPr>
            <a:r>
              <a:rPr sz="1800" b="0">
                <a:solidFill>
                  <a:srgbClr val="52606B"/>
                </a:solidFill>
                <a:latin typeface="AppleGothic"/>
                <a:ea typeface="AppleGothic"/>
                <a:cs typeface="AppleGothic"/>
              </a:rPr>
              <a:t>설정·데이터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B86AEF22-036F-4680-BFA8-9CC74520F7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39200" y="2657475"/>
            <a:ext cx="152400" cy="1238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84B7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C612E41E-FF0B-4910-AD66-86CB95760E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39200" y="2095500"/>
            <a:ext cx="25527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1800" b="0">
                <a:solidFill>
                  <a:srgbClr val="284B72"/>
                </a:solidFill>
                <a:latin typeface="Menlo"/>
                <a:ea typeface="Menlo"/>
                <a:cs typeface="Menlo"/>
              </a:defRPr>
            </a:defPPr>
          </a:lstStyle>
          <a:p xmlns:a="http://schemas.openxmlformats.org/drawingml/2006/main">
            <a:pPr algn="l">
              <a:lnSpc>
                <a:spcPct val="116000"/>
              </a:lnSpc>
              <a:buNone/>
              <a:defRPr sz="1800" b="0">
                <a:solidFill>
                  <a:srgbClr val="284B72"/>
                </a:solidFill>
                <a:latin typeface="Menlo"/>
                <a:ea typeface="Menlo"/>
                <a:cs typeface="Menlo"/>
              </a:defRPr>
            </a:pPr>
            <a:r>
              <a:rPr sz="1800" b="0">
                <a:solidFill>
                  <a:srgbClr val="284B72"/>
                </a:solidFill>
                <a:latin typeface="Menlo"/>
                <a:ea typeface="Menlo"/>
                <a:cs typeface="Menlo"/>
              </a:rPr>
              <a:t>04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FF910459-80E2-4236-AC3D-7ACC6ED581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39200" y="3067050"/>
            <a:ext cx="249555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2500" b="1">
                <a:solidFill>
                  <a:srgbClr val="17191B"/>
                </a:solidFill>
                <a:latin typeface="AppleGothic"/>
                <a:ea typeface="AppleGothic"/>
                <a:cs typeface="AppleGothic"/>
              </a:defRPr>
            </a:defPPr>
          </a:lstStyle>
          <a:p xmlns:a="http://schemas.openxmlformats.org/drawingml/2006/main">
            <a:pPr algn="l">
              <a:lnSpc>
                <a:spcPct val="116000"/>
              </a:lnSpc>
              <a:buNone/>
              <a:defRPr sz="2500" b="1">
                <a:solidFill>
                  <a:srgbClr val="17191B"/>
                </a:solidFill>
                <a:latin typeface="AppleGothic"/>
                <a:ea typeface="AppleGothic"/>
                <a:cs typeface="AppleGothic"/>
              </a:defRPr>
            </a:pPr>
            <a:r>
              <a:rPr sz="2500" b="1">
                <a:solidFill>
                  <a:srgbClr val="17191B"/>
                </a:solidFill>
                <a:latin typeface="AppleGothic"/>
                <a:ea typeface="AppleGothic"/>
                <a:cs typeface="AppleGothic"/>
              </a:rPr>
              <a:t>평가 기록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98CB492A-2443-4EE0-B234-AB0F21A919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39200" y="4029075"/>
            <a:ext cx="2495550" cy="914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1800" b="0">
                <a:solidFill>
                  <a:srgbClr val="52606B"/>
                </a:solidFill>
                <a:latin typeface="AppleGothic"/>
                <a:ea typeface="AppleGothic"/>
                <a:cs typeface="AppleGothic"/>
              </a:defRPr>
            </a:defPPr>
          </a:lstStyle>
          <a:p xmlns:a="http://schemas.openxmlformats.org/drawingml/2006/main">
            <a:pPr algn="l">
              <a:lnSpc>
                <a:spcPct val="116000"/>
              </a:lnSpc>
              <a:buNone/>
              <a:defRPr sz="1800" b="0">
                <a:solidFill>
                  <a:srgbClr val="52606B"/>
                </a:solidFill>
                <a:latin typeface="AppleGothic"/>
                <a:ea typeface="AppleGothic"/>
                <a:cs typeface="AppleGothic"/>
              </a:defRPr>
            </a:pPr>
            <a:r>
              <a:rPr sz="1800" b="0">
                <a:solidFill>
                  <a:srgbClr val="52606B"/>
                </a:solidFill>
                <a:latin typeface="AppleGothic"/>
                <a:ea typeface="AppleGothic"/>
                <a:cs typeface="AppleGothic"/>
              </a:rPr>
              <a:t>입력·결과·환경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008BE843-E403-4DA3-8305-29C56CFCF5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791200"/>
            <a:ext cx="109728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1600" b="0">
                <a:solidFill>
                  <a:srgbClr val="52606B"/>
                </a:solidFill>
                <a:latin typeface="AppleGothic"/>
                <a:ea typeface="AppleGothic"/>
                <a:cs typeface="AppleGothic"/>
              </a:defRPr>
            </a:defPPr>
          </a:lstStyle>
          <a:p xmlns:a="http://schemas.openxmlformats.org/drawingml/2006/main">
            <a:pPr algn="l">
              <a:lnSpc>
                <a:spcPct val="116000"/>
              </a:lnSpc>
              <a:buNone/>
              <a:defRPr sz="1600" b="0">
                <a:solidFill>
                  <a:srgbClr val="52606B"/>
                </a:solidFill>
                <a:latin typeface="AppleGothic"/>
                <a:ea typeface="AppleGothic"/>
                <a:cs typeface="AppleGothic"/>
              </a:defRPr>
            </a:pPr>
            <a:r>
              <a:rPr sz="1600" b="0">
                <a:solidFill>
                  <a:srgbClr val="52606B"/>
                </a:solidFill>
                <a:latin typeface="AppleGothic"/>
                <a:ea typeface="AppleGothic"/>
                <a:cs typeface="AppleGothic"/>
              </a:rPr>
              <a:t>Adapter 파일만 남기면 재현·복구가 어려움</a:t>
            </a:r>
          </a:p>
        </p:txBody>
      </p:sp>
    </p:spTree>
    <p:extLst>
      <p:ext uri="{BB962C8B-B14F-4D97-AF65-F5344CB8AC3E}">
        <p14:creationId xmlns:p14="http://schemas.microsoft.com/office/powerpoint/2010/main" val="989322097"/>
      </p:ext>
    </p:extLst>
  </p:cSld>
</p:sld>
</file>

<file path=ppt/slides/slide35.xml><?xml version="1.0" encoding="utf-8"?>
<p:sld xmlns:p="http://schemas.openxmlformats.org/presentationml/2006/main">
  <p:cSld>
    <p:bg>
      <p:bgPr>
        <a:solidFill xmlns:a="http://schemas.openxmlformats.org/drawingml/2006/main">
          <a:srgbClr val="F7F7F5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6F0BEA5E-C672-41A1-9154-38F96CD936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47650"/>
            <a:ext cx="9525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1400" b="0">
                <a:solidFill>
                  <a:srgbClr val="52606B"/>
                </a:solidFill>
                <a:latin typeface="AppleGothic"/>
                <a:ea typeface="AppleGothic"/>
                <a:cs typeface="AppleGothic"/>
              </a:defRPr>
            </a:defPPr>
          </a:lstStyle>
          <a:p xmlns:a="http://schemas.openxmlformats.org/drawingml/2006/main">
            <a:pPr algn="l">
              <a:lnSpc>
                <a:spcPct val="116000"/>
              </a:lnSpc>
              <a:buNone/>
              <a:defRPr sz="1400" b="0">
                <a:solidFill>
                  <a:srgbClr val="52606B"/>
                </a:solidFill>
                <a:latin typeface="AppleGothic"/>
                <a:ea typeface="AppleGothic"/>
                <a:cs typeface="AppleGothic"/>
              </a:defRPr>
            </a:pPr>
            <a:r>
              <a:rPr sz="1400" b="0">
                <a:solidFill>
                  <a:srgbClr val="52606B"/>
                </a:solidFill>
                <a:latin typeface="AppleGothic"/>
                <a:ea typeface="AppleGothic"/>
                <a:cs typeface="AppleGothic"/>
              </a:rPr>
              <a:t>LLMOPS / W07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8D06FF9E-54C0-4F9F-AFBB-2FED9078FD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8500" y="247650"/>
            <a:ext cx="7239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r">
              <a:defRPr sz="1400" b="0">
                <a:solidFill>
                  <a:srgbClr val="52606B"/>
                </a:solidFill>
                <a:latin typeface="Menlo"/>
                <a:ea typeface="Menlo"/>
                <a:cs typeface="Menlo"/>
              </a:defRPr>
            </a:defPPr>
          </a:lstStyle>
          <a:p xmlns:a="http://schemas.openxmlformats.org/drawingml/2006/main">
            <a:pPr algn="r">
              <a:lnSpc>
                <a:spcPct val="116000"/>
              </a:lnSpc>
              <a:buNone/>
              <a:defRPr sz="1400" b="0">
                <a:solidFill>
                  <a:srgbClr val="52606B"/>
                </a:solidFill>
                <a:latin typeface="Menlo"/>
                <a:ea typeface="Menlo"/>
                <a:cs typeface="Menlo"/>
              </a:defRPr>
            </a:pPr>
            <a:r>
              <a:rPr sz="1400" b="0">
                <a:solidFill>
                  <a:srgbClr val="52606B"/>
                </a:solidFill>
                <a:latin typeface="Menlo"/>
                <a:ea typeface="Menlo"/>
                <a:cs typeface="Menlo"/>
              </a:rPr>
              <a:t>35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F53A31DE-768C-4EE8-9B6D-A0BB4DB3BC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23900"/>
            <a:ext cx="109728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3400" b="1">
                <a:solidFill>
                  <a:srgbClr val="17191B"/>
                </a:solidFill>
                <a:latin typeface="AppleGothic"/>
                <a:ea typeface="AppleGothic"/>
                <a:cs typeface="AppleGothic"/>
              </a:defRPr>
            </a:defPPr>
          </a:lstStyle>
          <a:p xmlns:a="http://schemas.openxmlformats.org/drawingml/2006/main">
            <a:pPr algn="l">
              <a:lnSpc>
                <a:spcPct val="116000"/>
              </a:lnSpc>
              <a:buNone/>
              <a:defRPr sz="3400" b="1">
                <a:solidFill>
                  <a:srgbClr val="17191B"/>
                </a:solidFill>
                <a:latin typeface="AppleGothic"/>
                <a:ea typeface="AppleGothic"/>
                <a:cs typeface="AppleGothic"/>
              </a:defRPr>
            </a:pPr>
            <a:r>
              <a:rPr sz="3400" b="1">
                <a:solidFill>
                  <a:srgbClr val="17191B"/>
                </a:solidFill>
                <a:latin typeface="AppleGothic"/>
                <a:ea typeface="AppleGothic"/>
                <a:cs typeface="AppleGothic"/>
              </a:rPr>
              <a:t>학습 전 실행 조건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E5FEB1FD-B75C-49B2-9ECE-69E38D2BC7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315075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FD5D3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AA63C88C-FAC5-4C3F-8186-BF52D99BBD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77000"/>
            <a:ext cx="109728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1400" b="0">
                <a:solidFill>
                  <a:srgbClr val="52606B"/>
                </a:solidFill>
                <a:latin typeface="AppleGothic"/>
                <a:ea typeface="AppleGothic"/>
                <a:cs typeface="AppleGothic"/>
              </a:defRPr>
            </a:defPPr>
          </a:lstStyle>
          <a:p xmlns:a="http://schemas.openxmlformats.org/drawingml/2006/main">
            <a:pPr algn="l">
              <a:lnSpc>
                <a:spcPct val="116000"/>
              </a:lnSpc>
              <a:buNone/>
              <a:defRPr sz="1400" b="0">
                <a:solidFill>
                  <a:srgbClr val="52606B"/>
                </a:solidFill>
                <a:latin typeface="AppleGothic"/>
                <a:ea typeface="AppleGothic"/>
                <a:cs typeface="AppleGothic"/>
              </a:defRPr>
            </a:pPr>
            <a:r>
              <a:rPr sz="1400" b="0">
                <a:solidFill>
                  <a:srgbClr val="52606B"/>
                </a:solidFill>
                <a:latin typeface="AppleGothic"/>
                <a:ea typeface="AppleGothic"/>
                <a:cs typeface="AppleGothic"/>
              </a:rPr>
              <a:t>데이터 · 모델 적응 · 비교 평가 · 기획서 초안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3AAAC1F5-5361-4D23-82AD-9E76B8B087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847850"/>
            <a:ext cx="5715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1800" b="0">
                <a:solidFill>
                  <a:srgbClr val="284B72"/>
                </a:solidFill>
                <a:latin typeface="Menlo"/>
                <a:ea typeface="Menlo"/>
                <a:cs typeface="Menlo"/>
              </a:defRPr>
            </a:defPPr>
          </a:lstStyle>
          <a:p xmlns:a="http://schemas.openxmlformats.org/drawingml/2006/main">
            <a:pPr algn="l">
              <a:lnSpc>
                <a:spcPct val="116000"/>
              </a:lnSpc>
              <a:buNone/>
              <a:defRPr sz="1800" b="0">
                <a:solidFill>
                  <a:srgbClr val="284B72"/>
                </a:solidFill>
                <a:latin typeface="Menlo"/>
                <a:ea typeface="Menlo"/>
                <a:cs typeface="Menlo"/>
              </a:defRPr>
            </a:pPr>
            <a:r>
              <a:rPr sz="1800" b="0">
                <a:solidFill>
                  <a:srgbClr val="284B72"/>
                </a:solidFill>
                <a:latin typeface="Menlo"/>
                <a:ea typeface="Menlo"/>
                <a:cs typeface="Menlo"/>
              </a:rPr>
              <a:t>01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902AF07C-5EC4-4CE5-93FD-DEBAE03B94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90650" y="1828800"/>
            <a:ext cx="3000375" cy="36741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2300" b="1">
                <a:solidFill>
                  <a:srgbClr val="17191B"/>
                </a:solidFill>
                <a:latin typeface="AppleGothic"/>
                <a:ea typeface="AppleGothic"/>
                <a:cs typeface="AppleGothic"/>
              </a:defRPr>
            </a:defPPr>
          </a:lstStyle>
          <a:p xmlns:a="http://schemas.openxmlformats.org/drawingml/2006/main">
            <a:pPr algn="l">
              <a:lnSpc>
                <a:spcPct val="116000"/>
              </a:lnSpc>
              <a:buNone/>
              <a:defRPr sz="2300" b="1">
                <a:solidFill>
                  <a:srgbClr val="17191B"/>
                </a:solidFill>
                <a:latin typeface="AppleGothic"/>
                <a:ea typeface="AppleGothic"/>
                <a:cs typeface="AppleGothic"/>
              </a:defRPr>
            </a:pPr>
            <a:r>
              <a:rPr sz="2300" b="1">
                <a:solidFill>
                  <a:srgbClr val="17191B"/>
                </a:solidFill>
                <a:latin typeface="AppleGothic"/>
                <a:ea typeface="AppleGothic"/>
                <a:cs typeface="AppleGothic"/>
              </a:rPr>
              <a:t>자료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F51A058C-F764-4892-BF8C-154B8EFD84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81550" y="1828800"/>
            <a:ext cx="6781800" cy="36741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2100" b="0">
                <a:solidFill>
                  <a:srgbClr val="52606B"/>
                </a:solidFill>
                <a:latin typeface="AppleGothic"/>
                <a:ea typeface="AppleGothic"/>
                <a:cs typeface="AppleGothic"/>
              </a:defRPr>
            </a:defPPr>
          </a:lstStyle>
          <a:p xmlns:a="http://schemas.openxmlformats.org/drawingml/2006/main">
            <a:pPr algn="l">
              <a:lnSpc>
                <a:spcPct val="116000"/>
              </a:lnSpc>
              <a:buNone/>
              <a:defRPr sz="2100" b="0">
                <a:solidFill>
                  <a:srgbClr val="52606B"/>
                </a:solidFill>
                <a:latin typeface="AppleGothic"/>
                <a:ea typeface="AppleGothic"/>
                <a:cs typeface="AppleGothic"/>
              </a:defRPr>
            </a:pPr>
            <a:r>
              <a:rPr sz="2100" b="0">
                <a:solidFill>
                  <a:srgbClr val="52606B"/>
                </a:solidFill>
                <a:latin typeface="AppleGothic"/>
                <a:ea typeface="AppleGothic"/>
                <a:cs typeface="AppleGothic"/>
              </a:rPr>
              <a:t>사용 허가·분할·누출 점검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39EB9DB9-E547-4997-9E55-635B7309A3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90650" y="2329561"/>
            <a:ext cx="1019175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FD5D3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FFF41DF0-3DBE-4DC4-9B73-A91BE9963D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086100"/>
            <a:ext cx="5715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1800" b="0">
                <a:solidFill>
                  <a:srgbClr val="284B72"/>
                </a:solidFill>
                <a:latin typeface="Menlo"/>
                <a:ea typeface="Menlo"/>
                <a:cs typeface="Menlo"/>
              </a:defRPr>
            </a:defPPr>
          </a:lstStyle>
          <a:p xmlns:a="http://schemas.openxmlformats.org/drawingml/2006/main">
            <a:pPr algn="l">
              <a:lnSpc>
                <a:spcPct val="116000"/>
              </a:lnSpc>
              <a:buNone/>
              <a:defRPr sz="1800" b="0">
                <a:solidFill>
                  <a:srgbClr val="284B72"/>
                </a:solidFill>
                <a:latin typeface="Menlo"/>
                <a:ea typeface="Menlo"/>
                <a:cs typeface="Menlo"/>
              </a:defRPr>
            </a:pPr>
            <a:r>
              <a:rPr sz="1800" b="0">
                <a:solidFill>
                  <a:srgbClr val="284B72"/>
                </a:solidFill>
                <a:latin typeface="Menlo"/>
                <a:ea typeface="Menlo"/>
                <a:cs typeface="Menlo"/>
              </a:rPr>
              <a:t>02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6ECD3516-2205-4B8F-ABFE-BC66BA5901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90650" y="3067050"/>
            <a:ext cx="3000375" cy="36741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2300" b="1">
                <a:solidFill>
                  <a:srgbClr val="17191B"/>
                </a:solidFill>
                <a:latin typeface="AppleGothic"/>
                <a:ea typeface="AppleGothic"/>
                <a:cs typeface="AppleGothic"/>
              </a:defRPr>
            </a:defPPr>
          </a:lstStyle>
          <a:p xmlns:a="http://schemas.openxmlformats.org/drawingml/2006/main">
            <a:pPr algn="l">
              <a:lnSpc>
                <a:spcPct val="116000"/>
              </a:lnSpc>
              <a:buNone/>
              <a:defRPr sz="2300" b="1">
                <a:solidFill>
                  <a:srgbClr val="17191B"/>
                </a:solidFill>
                <a:latin typeface="AppleGothic"/>
                <a:ea typeface="AppleGothic"/>
                <a:cs typeface="AppleGothic"/>
              </a:defRPr>
            </a:pPr>
            <a:r>
              <a:rPr sz="2300" b="1">
                <a:solidFill>
                  <a:srgbClr val="17191B"/>
                </a:solidFill>
                <a:latin typeface="AppleGothic"/>
                <a:ea typeface="AppleGothic"/>
                <a:cs typeface="AppleGothic"/>
              </a:rPr>
              <a:t>환경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5B4A09F9-D708-4C94-9FA1-4B40BE7B73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81550" y="3067050"/>
            <a:ext cx="6781800" cy="36741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2100" b="0">
                <a:solidFill>
                  <a:srgbClr val="52606B"/>
                </a:solidFill>
                <a:latin typeface="AppleGothic"/>
                <a:ea typeface="AppleGothic"/>
                <a:cs typeface="AppleGothic"/>
              </a:defRPr>
            </a:defPPr>
          </a:lstStyle>
          <a:p xmlns:a="http://schemas.openxmlformats.org/drawingml/2006/main">
            <a:pPr algn="l">
              <a:lnSpc>
                <a:spcPct val="116000"/>
              </a:lnSpc>
              <a:buNone/>
              <a:defRPr sz="2100" b="0">
                <a:solidFill>
                  <a:srgbClr val="52606B"/>
                </a:solidFill>
                <a:latin typeface="AppleGothic"/>
                <a:ea typeface="AppleGothic"/>
                <a:cs typeface="AppleGothic"/>
              </a:defRPr>
            </a:pPr>
            <a:r>
              <a:rPr sz="2100" b="0">
                <a:solidFill>
                  <a:srgbClr val="52606B"/>
                </a:solidFill>
                <a:latin typeface="AppleGothic"/>
                <a:ea typeface="AppleGothic"/>
                <a:cs typeface="AppleGothic"/>
              </a:rPr>
              <a:t>GPU·라이브러리·모델 접근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69E08C87-D91C-41B0-BE57-954DC977E3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90650" y="3567811"/>
            <a:ext cx="1019175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FD5D3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4C178A2E-226D-4F3C-A8DB-BAD38712A8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324350"/>
            <a:ext cx="5715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1800" b="0">
                <a:solidFill>
                  <a:srgbClr val="284B72"/>
                </a:solidFill>
                <a:latin typeface="Menlo"/>
                <a:ea typeface="Menlo"/>
                <a:cs typeface="Menlo"/>
              </a:defRPr>
            </a:defPPr>
          </a:lstStyle>
          <a:p xmlns:a="http://schemas.openxmlformats.org/drawingml/2006/main">
            <a:pPr algn="l">
              <a:lnSpc>
                <a:spcPct val="116000"/>
              </a:lnSpc>
              <a:buNone/>
              <a:defRPr sz="1800" b="0">
                <a:solidFill>
                  <a:srgbClr val="284B72"/>
                </a:solidFill>
                <a:latin typeface="Menlo"/>
                <a:ea typeface="Menlo"/>
                <a:cs typeface="Menlo"/>
              </a:defRPr>
            </a:pPr>
            <a:r>
              <a:rPr sz="1800" b="0">
                <a:solidFill>
                  <a:srgbClr val="284B72"/>
                </a:solidFill>
                <a:latin typeface="Menlo"/>
                <a:ea typeface="Menlo"/>
                <a:cs typeface="Menlo"/>
              </a:rPr>
              <a:t>03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BE985390-744A-4B5F-8B5D-1F16AA21D9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90650" y="4305300"/>
            <a:ext cx="3000375" cy="36741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2300" b="1">
                <a:solidFill>
                  <a:srgbClr val="17191B"/>
                </a:solidFill>
                <a:latin typeface="AppleGothic"/>
                <a:ea typeface="AppleGothic"/>
                <a:cs typeface="AppleGothic"/>
              </a:defRPr>
            </a:defPPr>
          </a:lstStyle>
          <a:p xmlns:a="http://schemas.openxmlformats.org/drawingml/2006/main">
            <a:pPr algn="l">
              <a:lnSpc>
                <a:spcPct val="116000"/>
              </a:lnSpc>
              <a:buNone/>
              <a:defRPr sz="2300" b="1">
                <a:solidFill>
                  <a:srgbClr val="17191B"/>
                </a:solidFill>
                <a:latin typeface="AppleGothic"/>
                <a:ea typeface="AppleGothic"/>
                <a:cs typeface="AppleGothic"/>
              </a:defRPr>
            </a:pPr>
            <a:r>
              <a:rPr sz="2300" b="1">
                <a:solidFill>
                  <a:srgbClr val="17191B"/>
                </a:solidFill>
                <a:latin typeface="AppleGothic"/>
                <a:ea typeface="AppleGothic"/>
                <a:cs typeface="AppleGothic"/>
              </a:rPr>
              <a:t>평가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D4A0782B-D56A-4016-8228-8ADCD6F5B7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81550" y="4305300"/>
            <a:ext cx="6781800" cy="36741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2100" b="0">
                <a:solidFill>
                  <a:srgbClr val="52606B"/>
                </a:solidFill>
                <a:latin typeface="AppleGothic"/>
                <a:ea typeface="AppleGothic"/>
                <a:cs typeface="AppleGothic"/>
              </a:defRPr>
            </a:defPPr>
          </a:lstStyle>
          <a:p xmlns:a="http://schemas.openxmlformats.org/drawingml/2006/main">
            <a:pPr algn="l">
              <a:lnSpc>
                <a:spcPct val="116000"/>
              </a:lnSpc>
              <a:buNone/>
              <a:defRPr sz="2100" b="0">
                <a:solidFill>
                  <a:srgbClr val="52606B"/>
                </a:solidFill>
                <a:latin typeface="AppleGothic"/>
                <a:ea typeface="AppleGothic"/>
                <a:cs typeface="AppleGothic"/>
              </a:defRPr>
            </a:pPr>
            <a:r>
              <a:rPr sz="2100" b="0">
                <a:solidFill>
                  <a:srgbClr val="52606B"/>
                </a:solidFill>
                <a:latin typeface="AppleGothic"/>
                <a:ea typeface="AppleGothic"/>
                <a:cs typeface="AppleGothic"/>
              </a:rPr>
              <a:t>동일 입력·실패 유형·중단 조건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6EC2F0DD-E01F-48EE-833B-741E71160D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90650" y="4806061"/>
            <a:ext cx="1019175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FD5D3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71CD8636-79F3-45D8-8574-F385EB58D5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791200"/>
            <a:ext cx="109728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1600" b="0">
                <a:solidFill>
                  <a:srgbClr val="52606B"/>
                </a:solidFill>
                <a:latin typeface="AppleGothic"/>
                <a:ea typeface="AppleGothic"/>
                <a:cs typeface="AppleGothic"/>
              </a:defRPr>
            </a:defPPr>
          </a:lstStyle>
          <a:p xmlns:a="http://schemas.openxmlformats.org/drawingml/2006/main">
            <a:pPr algn="l">
              <a:lnSpc>
                <a:spcPct val="116000"/>
              </a:lnSpc>
              <a:buNone/>
              <a:defRPr sz="1600" b="0">
                <a:solidFill>
                  <a:srgbClr val="52606B"/>
                </a:solidFill>
                <a:latin typeface="AppleGothic"/>
                <a:ea typeface="AppleGothic"/>
                <a:cs typeface="AppleGothic"/>
              </a:defRPr>
            </a:pPr>
            <a:r>
              <a:rPr sz="1600" b="0">
                <a:solidFill>
                  <a:srgbClr val="52606B"/>
                </a:solidFill>
                <a:latin typeface="AppleGothic"/>
                <a:ea typeface="AppleGothic"/>
                <a:cs typeface="AppleGothic"/>
              </a:rPr>
              <a:t>이번 필수 실습은 모델 다운로드·GPU 학습 없이 진행</a:t>
            </a:r>
          </a:p>
        </p:txBody>
      </p:sp>
    </p:spTree>
    <p:extLst>
      <p:ext uri="{BB962C8B-B14F-4D97-AF65-F5344CB8AC3E}">
        <p14:creationId xmlns:p14="http://schemas.microsoft.com/office/powerpoint/2010/main" val="474361966"/>
      </p:ext>
    </p:extLst>
  </p:cSld>
</p:sld>
</file>

<file path=ppt/slides/slide36.xml><?xml version="1.0" encoding="utf-8"?>
<p:sld xmlns:p="http://schemas.openxmlformats.org/presentationml/2006/main">
  <p:cSld>
    <p:bg>
      <p:bgPr>
        <a:solidFill xmlns:a="http://schemas.openxmlformats.org/drawingml/2006/main">
          <a:srgbClr val="17283B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01B7E26D-4108-41AE-A85F-ABF9B4F81A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00050"/>
            <a:ext cx="10477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1400" b="0">
                <a:solidFill>
                  <a:srgbClr val="BDC7C4"/>
                </a:solidFill>
                <a:latin typeface="AppleGothic"/>
                <a:ea typeface="AppleGothic"/>
                <a:cs typeface="AppleGothic"/>
              </a:defRPr>
            </a:defPPr>
          </a:lstStyle>
          <a:p xmlns:a="http://schemas.openxmlformats.org/drawingml/2006/main">
            <a:pPr algn="l">
              <a:lnSpc>
                <a:spcPct val="116000"/>
              </a:lnSpc>
              <a:buNone/>
              <a:defRPr sz="1400" b="0">
                <a:solidFill>
                  <a:srgbClr val="BDC7C4"/>
                </a:solidFill>
                <a:latin typeface="AppleGothic"/>
                <a:ea typeface="AppleGothic"/>
                <a:cs typeface="AppleGothic"/>
              </a:defRPr>
            </a:pPr>
            <a:r>
              <a:rPr sz="1400" b="0">
                <a:solidFill>
                  <a:srgbClr val="BDC7C4"/>
                </a:solidFill>
                <a:latin typeface="AppleGothic"/>
                <a:ea typeface="AppleGothic"/>
                <a:cs typeface="AppleGothic"/>
              </a:rPr>
              <a:t>W07 / 36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462E924C-C1E5-4AAF-A164-CA97E4307C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76400"/>
            <a:ext cx="10972800" cy="1524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4400" b="1">
                <a:solidFill>
                  <a:srgbClr val="FFFFFF"/>
                </a:solidFill>
                <a:latin typeface="AppleGothic"/>
                <a:ea typeface="AppleGothic"/>
                <a:cs typeface="AppleGothic"/>
              </a:defRPr>
            </a:defPPr>
          </a:lstStyle>
          <a:p xmlns:a="http://schemas.openxmlformats.org/drawingml/2006/main">
            <a:pPr algn="l">
              <a:lnSpc>
                <a:spcPct val="116000"/>
              </a:lnSpc>
              <a:buNone/>
              <a:defRPr sz="4400" b="1">
                <a:solidFill>
                  <a:srgbClr val="FFFFFF"/>
                </a:solidFill>
                <a:latin typeface="AppleGothic"/>
                <a:ea typeface="AppleGothic"/>
                <a:cs typeface="AppleGothic"/>
              </a:defRPr>
            </a:pPr>
            <a:r>
              <a:rPr sz="4400" b="1">
                <a:solidFill>
                  <a:srgbClr val="FFFFFF"/>
                </a:solidFill>
                <a:latin typeface="AppleGothic"/>
                <a:ea typeface="AppleGothic"/>
                <a:cs typeface="AppleGothic"/>
              </a:rPr>
              <a:t>선호 데이터와 DPO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C13CA0C7-9A01-4D35-A2DC-D659A1848F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7338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52606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51C7C589-38A6-459B-AA05-EF27C0B35B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191000"/>
            <a:ext cx="10972800" cy="36741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2300" b="0">
                <a:solidFill>
                  <a:srgbClr val="FFFFFF"/>
                </a:solidFill>
                <a:latin typeface="AppleGothic"/>
                <a:ea typeface="AppleGothic"/>
                <a:cs typeface="AppleGothic"/>
              </a:defRPr>
            </a:defPPr>
          </a:lstStyle>
          <a:p xmlns:a="http://schemas.openxmlformats.org/drawingml/2006/main">
            <a:pPr algn="l">
              <a:lnSpc>
                <a:spcPct val="116000"/>
              </a:lnSpc>
              <a:buNone/>
              <a:defRPr sz="2300" b="0">
                <a:solidFill>
                  <a:srgbClr val="FFFFFF"/>
                </a:solidFill>
                <a:latin typeface="AppleGothic"/>
                <a:ea typeface="AppleGothic"/>
                <a:cs typeface="AppleGothic"/>
              </a:defRPr>
            </a:pPr>
            <a:r>
              <a:rPr sz="2300" b="0">
                <a:solidFill>
                  <a:srgbClr val="FFFFFF"/>
                </a:solidFill>
                <a:latin typeface="AppleGothic"/>
                <a:ea typeface="AppleGothic"/>
                <a:cs typeface="AppleGothic"/>
              </a:rPr>
              <a:t>Direct Preference Optimization · 직접 선호 최적화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B37F0C7E-B761-4740-B771-901CC7256A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729861"/>
            <a:ext cx="10972800" cy="36741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2300" b="0">
                <a:solidFill>
                  <a:srgbClr val="FFFFFF"/>
                </a:solidFill>
                <a:latin typeface="AppleGothic"/>
                <a:ea typeface="AppleGothic"/>
                <a:cs typeface="AppleGothic"/>
              </a:defRPr>
            </a:defPPr>
          </a:lstStyle>
          <a:p xmlns:a="http://schemas.openxmlformats.org/drawingml/2006/main">
            <a:pPr algn="l">
              <a:lnSpc>
                <a:spcPct val="116000"/>
              </a:lnSpc>
              <a:buNone/>
              <a:defRPr sz="2300" b="0">
                <a:solidFill>
                  <a:srgbClr val="FFFFFF"/>
                </a:solidFill>
                <a:latin typeface="AppleGothic"/>
                <a:ea typeface="AppleGothic"/>
                <a:cs typeface="AppleGothic"/>
              </a:defRPr>
            </a:pPr>
            <a:r>
              <a:rPr sz="2300" b="0">
                <a:solidFill>
                  <a:srgbClr val="FFFFFF"/>
                </a:solidFill>
                <a:latin typeface="AppleGothic"/>
                <a:ea typeface="AppleGothic"/>
                <a:cs typeface="AppleGothic"/>
              </a:rPr>
              <a:t>같은 질문의 두 답변과 선택 기준</a:t>
            </a:r>
          </a:p>
        </p:txBody>
      </p:sp>
    </p:spTree>
    <p:extLst>
      <p:ext uri="{BB962C8B-B14F-4D97-AF65-F5344CB8AC3E}">
        <p14:creationId xmlns:p14="http://schemas.microsoft.com/office/powerpoint/2010/main" val="666945026"/>
      </p:ext>
    </p:extLst>
  </p:cSld>
</p:sld>
</file>

<file path=ppt/slides/slide37.xml><?xml version="1.0" encoding="utf-8"?>
<p:sld xmlns:p="http://schemas.openxmlformats.org/presentationml/2006/main">
  <p:cSld>
    <p:bg>
      <p:bgPr>
        <a:solidFill xmlns:a="http://schemas.openxmlformats.org/drawingml/2006/main">
          <a:srgbClr val="F7F7F5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BCC54F70-05FA-4459-BF9C-E5FB9316D3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47650"/>
            <a:ext cx="9525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1400" b="0">
                <a:solidFill>
                  <a:srgbClr val="52606B"/>
                </a:solidFill>
                <a:latin typeface="AppleGothic"/>
                <a:ea typeface="AppleGothic"/>
                <a:cs typeface="AppleGothic"/>
              </a:defRPr>
            </a:defPPr>
          </a:lstStyle>
          <a:p xmlns:a="http://schemas.openxmlformats.org/drawingml/2006/main">
            <a:pPr algn="l">
              <a:lnSpc>
                <a:spcPct val="116000"/>
              </a:lnSpc>
              <a:buNone/>
              <a:defRPr sz="1400" b="0">
                <a:solidFill>
                  <a:srgbClr val="52606B"/>
                </a:solidFill>
                <a:latin typeface="AppleGothic"/>
                <a:ea typeface="AppleGothic"/>
                <a:cs typeface="AppleGothic"/>
              </a:defRPr>
            </a:pPr>
            <a:r>
              <a:rPr sz="1400" b="0">
                <a:solidFill>
                  <a:srgbClr val="52606B"/>
                </a:solidFill>
                <a:latin typeface="AppleGothic"/>
                <a:ea typeface="AppleGothic"/>
                <a:cs typeface="AppleGothic"/>
              </a:rPr>
              <a:t>LLMOPS / W07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20E10E08-2194-4B00-89CB-9197FF56CE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8500" y="247650"/>
            <a:ext cx="7239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r">
              <a:defRPr sz="1400" b="0">
                <a:solidFill>
                  <a:srgbClr val="52606B"/>
                </a:solidFill>
                <a:latin typeface="Menlo"/>
                <a:ea typeface="Menlo"/>
                <a:cs typeface="Menlo"/>
              </a:defRPr>
            </a:defPPr>
          </a:lstStyle>
          <a:p xmlns:a="http://schemas.openxmlformats.org/drawingml/2006/main">
            <a:pPr algn="r">
              <a:lnSpc>
                <a:spcPct val="116000"/>
              </a:lnSpc>
              <a:buNone/>
              <a:defRPr sz="1400" b="0">
                <a:solidFill>
                  <a:srgbClr val="52606B"/>
                </a:solidFill>
                <a:latin typeface="Menlo"/>
                <a:ea typeface="Menlo"/>
                <a:cs typeface="Menlo"/>
              </a:defRPr>
            </a:pPr>
            <a:r>
              <a:rPr sz="1400" b="0">
                <a:solidFill>
                  <a:srgbClr val="52606B"/>
                </a:solidFill>
                <a:latin typeface="Menlo"/>
                <a:ea typeface="Menlo"/>
                <a:cs typeface="Menlo"/>
              </a:rPr>
              <a:t>37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FA5263D5-4A18-460C-8708-4EF3A64D44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23900"/>
            <a:ext cx="109728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3400" b="1">
                <a:solidFill>
                  <a:srgbClr val="17191B"/>
                </a:solidFill>
                <a:latin typeface="AppleGothic"/>
                <a:ea typeface="AppleGothic"/>
                <a:cs typeface="AppleGothic"/>
              </a:defRPr>
            </a:defPPr>
          </a:lstStyle>
          <a:p xmlns:a="http://schemas.openxmlformats.org/drawingml/2006/main">
            <a:pPr algn="l">
              <a:lnSpc>
                <a:spcPct val="116000"/>
              </a:lnSpc>
              <a:buNone/>
              <a:defRPr sz="3400" b="1">
                <a:solidFill>
                  <a:srgbClr val="17191B"/>
                </a:solidFill>
                <a:latin typeface="AppleGothic"/>
                <a:ea typeface="AppleGothic"/>
                <a:cs typeface="AppleGothic"/>
              </a:defRPr>
            </a:pPr>
            <a:r>
              <a:rPr sz="3400" b="1">
                <a:solidFill>
                  <a:srgbClr val="17191B"/>
                </a:solidFill>
                <a:latin typeface="AppleGothic"/>
                <a:ea typeface="AppleGothic"/>
                <a:cs typeface="AppleGothic"/>
              </a:rPr>
              <a:t>기대 답변과 선호쌍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C7A62F8C-55B7-463A-B39E-9B4C3061EF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315075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FD5D3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0A302B79-E2F1-4741-BD39-91B445C5E2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77000"/>
            <a:ext cx="109728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1400" b="0">
                <a:solidFill>
                  <a:srgbClr val="52606B"/>
                </a:solidFill>
                <a:latin typeface="AppleGothic"/>
                <a:ea typeface="AppleGothic"/>
                <a:cs typeface="AppleGothic"/>
              </a:defRPr>
            </a:defPPr>
          </a:lstStyle>
          <a:p xmlns:a="http://schemas.openxmlformats.org/drawingml/2006/main">
            <a:pPr algn="l">
              <a:lnSpc>
                <a:spcPct val="116000"/>
              </a:lnSpc>
              <a:buNone/>
              <a:defRPr sz="1400" b="0">
                <a:solidFill>
                  <a:srgbClr val="52606B"/>
                </a:solidFill>
                <a:latin typeface="AppleGothic"/>
                <a:ea typeface="AppleGothic"/>
                <a:cs typeface="AppleGothic"/>
              </a:defRPr>
            </a:pPr>
            <a:r>
              <a:rPr sz="1400" b="0">
                <a:solidFill>
                  <a:srgbClr val="52606B"/>
                </a:solidFill>
                <a:latin typeface="AppleGothic"/>
                <a:ea typeface="AppleGothic"/>
                <a:cs typeface="AppleGothic"/>
              </a:rPr>
              <a:t>데이터 · 모델 적응 · 비교 평가 · 기획서 초안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479592C1-A033-497D-AC0F-0CF117D914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057400"/>
            <a:ext cx="5295900" cy="800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2900" b="1">
                <a:solidFill>
                  <a:srgbClr val="17191B"/>
                </a:solidFill>
                <a:latin typeface="AppleGothic"/>
                <a:ea typeface="AppleGothic"/>
                <a:cs typeface="AppleGothic"/>
              </a:defRPr>
            </a:defPPr>
          </a:lstStyle>
          <a:p xmlns:a="http://schemas.openxmlformats.org/drawingml/2006/main">
            <a:pPr algn="l">
              <a:lnSpc>
                <a:spcPct val="116000"/>
              </a:lnSpc>
              <a:buNone/>
              <a:defRPr sz="2900" b="1">
                <a:solidFill>
                  <a:srgbClr val="17191B"/>
                </a:solidFill>
                <a:latin typeface="AppleGothic"/>
                <a:ea typeface="AppleGothic"/>
                <a:cs typeface="AppleGothic"/>
              </a:defRPr>
            </a:pPr>
            <a:r>
              <a:rPr sz="2900" b="1">
                <a:solidFill>
                  <a:srgbClr val="17191B"/>
                </a:solidFill>
                <a:latin typeface="AppleGothic"/>
                <a:ea typeface="AppleGothic"/>
                <a:cs typeface="AppleGothic"/>
              </a:rPr>
              <a:t>SFT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C39F2AC6-E39E-4669-A1C3-72E2DFE450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000375"/>
            <a:ext cx="52959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84B7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F454EF72-F141-495B-B511-4733445357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371850"/>
            <a:ext cx="5238750" cy="36741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2300" b="0">
                <a:solidFill>
                  <a:srgbClr val="52606B"/>
                </a:solidFill>
                <a:latin typeface="AppleGothic"/>
                <a:ea typeface="AppleGothic"/>
                <a:cs typeface="AppleGothic"/>
              </a:defRPr>
            </a:defPPr>
          </a:lstStyle>
          <a:p xmlns:a="http://schemas.openxmlformats.org/drawingml/2006/main">
            <a:pPr algn="l">
              <a:lnSpc>
                <a:spcPct val="116000"/>
              </a:lnSpc>
              <a:buNone/>
              <a:defRPr sz="2300" b="0">
                <a:solidFill>
                  <a:srgbClr val="52606B"/>
                </a:solidFill>
                <a:latin typeface="AppleGothic"/>
                <a:ea typeface="AppleGothic"/>
                <a:cs typeface="AppleGothic"/>
              </a:defRPr>
            </a:pPr>
            <a:r>
              <a:rPr sz="2300" b="0">
                <a:solidFill>
                  <a:srgbClr val="52606B"/>
                </a:solidFill>
                <a:latin typeface="AppleGothic"/>
                <a:ea typeface="AppleGothic"/>
                <a:cs typeface="AppleGothic"/>
              </a:rPr>
              <a:t>입력 → 기대 답변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2F4EC7F9-9A41-4C64-A13B-568CC1E226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139311"/>
            <a:ext cx="5238750" cy="36741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2300" b="0">
                <a:solidFill>
                  <a:srgbClr val="52606B"/>
                </a:solidFill>
                <a:latin typeface="AppleGothic"/>
                <a:ea typeface="AppleGothic"/>
                <a:cs typeface="AppleGothic"/>
              </a:defRPr>
            </a:defPPr>
          </a:lstStyle>
          <a:p xmlns:a="http://schemas.openxmlformats.org/drawingml/2006/main">
            <a:pPr algn="l">
              <a:lnSpc>
                <a:spcPct val="116000"/>
              </a:lnSpc>
              <a:buNone/>
              <a:defRPr sz="2300" b="0">
                <a:solidFill>
                  <a:srgbClr val="52606B"/>
                </a:solidFill>
                <a:latin typeface="AppleGothic"/>
                <a:ea typeface="AppleGothic"/>
                <a:cs typeface="AppleGothic"/>
              </a:defRPr>
            </a:pPr>
            <a:r>
              <a:rPr sz="2300" b="0">
                <a:solidFill>
                  <a:srgbClr val="52606B"/>
                </a:solidFill>
                <a:latin typeface="AppleGothic"/>
                <a:ea typeface="AppleGothic"/>
                <a:cs typeface="AppleGothic"/>
              </a:rPr>
              <a:t>원하는 출력을 직접 제시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A6D1D10C-FFE9-43EA-9043-48D768D2B4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0" y="2057400"/>
            <a:ext cx="5295900" cy="800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2900" b="1">
                <a:solidFill>
                  <a:srgbClr val="17191B"/>
                </a:solidFill>
                <a:latin typeface="AppleGothic"/>
                <a:ea typeface="AppleGothic"/>
                <a:cs typeface="AppleGothic"/>
              </a:defRPr>
            </a:defPPr>
          </a:lstStyle>
          <a:p xmlns:a="http://schemas.openxmlformats.org/drawingml/2006/main">
            <a:pPr algn="l">
              <a:lnSpc>
                <a:spcPct val="116000"/>
              </a:lnSpc>
              <a:buNone/>
              <a:defRPr sz="2900" b="1">
                <a:solidFill>
                  <a:srgbClr val="17191B"/>
                </a:solidFill>
                <a:latin typeface="AppleGothic"/>
                <a:ea typeface="AppleGothic"/>
                <a:cs typeface="AppleGothic"/>
              </a:defRPr>
            </a:pPr>
            <a:r>
              <a:rPr sz="2900" b="1">
                <a:solidFill>
                  <a:srgbClr val="17191B"/>
                </a:solidFill>
                <a:latin typeface="AppleGothic"/>
                <a:ea typeface="AppleGothic"/>
                <a:cs typeface="AppleGothic"/>
              </a:rPr>
              <a:t>DPO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9C048936-62EF-4294-9B1F-262D083EAF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0" y="3000375"/>
            <a:ext cx="52959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52606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BE7F90BF-EBB0-4477-B708-75D06501C2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0" y="3371850"/>
            <a:ext cx="5238750" cy="36741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2300" b="0">
                <a:solidFill>
                  <a:srgbClr val="52606B"/>
                </a:solidFill>
                <a:latin typeface="AppleGothic"/>
                <a:ea typeface="AppleGothic"/>
                <a:cs typeface="AppleGothic"/>
              </a:defRPr>
            </a:defPPr>
          </a:lstStyle>
          <a:p xmlns:a="http://schemas.openxmlformats.org/drawingml/2006/main">
            <a:pPr algn="l">
              <a:lnSpc>
                <a:spcPct val="116000"/>
              </a:lnSpc>
              <a:buNone/>
              <a:defRPr sz="2300" b="0">
                <a:solidFill>
                  <a:srgbClr val="52606B"/>
                </a:solidFill>
                <a:latin typeface="AppleGothic"/>
                <a:ea typeface="AppleGothic"/>
                <a:cs typeface="AppleGothic"/>
              </a:defRPr>
            </a:pPr>
            <a:r>
              <a:rPr sz="2300" b="0">
                <a:solidFill>
                  <a:srgbClr val="52606B"/>
                </a:solidFill>
                <a:latin typeface="AppleGothic"/>
                <a:ea typeface="AppleGothic"/>
                <a:cs typeface="AppleGothic"/>
              </a:rPr>
              <a:t>질문 + chosen + rejected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4B205C7B-DAD5-4CD5-913B-828D97B149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0" y="4139311"/>
            <a:ext cx="5238750" cy="36741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2300" b="0">
                <a:solidFill>
                  <a:srgbClr val="52606B"/>
                </a:solidFill>
                <a:latin typeface="AppleGothic"/>
                <a:ea typeface="AppleGothic"/>
                <a:cs typeface="AppleGothic"/>
              </a:defRPr>
            </a:defPPr>
          </a:lstStyle>
          <a:p xmlns:a="http://schemas.openxmlformats.org/drawingml/2006/main">
            <a:pPr algn="l">
              <a:lnSpc>
                <a:spcPct val="116000"/>
              </a:lnSpc>
              <a:buNone/>
              <a:defRPr sz="2300" b="0">
                <a:solidFill>
                  <a:srgbClr val="52606B"/>
                </a:solidFill>
                <a:latin typeface="AppleGothic"/>
                <a:ea typeface="AppleGothic"/>
                <a:cs typeface="AppleGothic"/>
              </a:defRPr>
            </a:pPr>
            <a:r>
              <a:rPr sz="2300" b="0">
                <a:solidFill>
                  <a:srgbClr val="52606B"/>
                </a:solidFill>
                <a:latin typeface="AppleGothic"/>
                <a:ea typeface="AppleGothic"/>
                <a:cs typeface="AppleGothic"/>
              </a:rPr>
              <a:t>두 출력의 상대 선택 기준</a:t>
            </a:r>
          </a:p>
        </p:txBody>
      </p:sp>
    </p:spTree>
    <p:extLst>
      <p:ext uri="{BB962C8B-B14F-4D97-AF65-F5344CB8AC3E}">
        <p14:creationId xmlns:p14="http://schemas.microsoft.com/office/powerpoint/2010/main" val="1158333180"/>
      </p:ext>
    </p:extLst>
  </p:cSld>
</p:sld>
</file>

<file path=ppt/slides/slide38.xml><?xml version="1.0" encoding="utf-8"?>
<p:sld xmlns:p="http://schemas.openxmlformats.org/presentationml/2006/main">
  <p:cSld>
    <p:bg>
      <p:bgPr>
        <a:solidFill xmlns:a="http://schemas.openxmlformats.org/drawingml/2006/main">
          <a:srgbClr val="F7F7F5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336B53EE-6A01-41CD-ACFF-ADF565B9F2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47650"/>
            <a:ext cx="9525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1400" b="0">
                <a:solidFill>
                  <a:srgbClr val="52606B"/>
                </a:solidFill>
                <a:latin typeface="AppleGothic"/>
                <a:ea typeface="AppleGothic"/>
                <a:cs typeface="AppleGothic"/>
              </a:defRPr>
            </a:defPPr>
          </a:lstStyle>
          <a:p xmlns:a="http://schemas.openxmlformats.org/drawingml/2006/main">
            <a:pPr algn="l">
              <a:lnSpc>
                <a:spcPct val="116000"/>
              </a:lnSpc>
              <a:buNone/>
              <a:defRPr sz="1400" b="0">
                <a:solidFill>
                  <a:srgbClr val="52606B"/>
                </a:solidFill>
                <a:latin typeface="AppleGothic"/>
                <a:ea typeface="AppleGothic"/>
                <a:cs typeface="AppleGothic"/>
              </a:defRPr>
            </a:pPr>
            <a:r>
              <a:rPr sz="1400" b="0">
                <a:solidFill>
                  <a:srgbClr val="52606B"/>
                </a:solidFill>
                <a:latin typeface="AppleGothic"/>
                <a:ea typeface="AppleGothic"/>
                <a:cs typeface="AppleGothic"/>
              </a:rPr>
              <a:t>LLMOPS / W07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9CC39A7A-7AE9-4544-992A-E0E3D16F56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8500" y="247650"/>
            <a:ext cx="7239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r">
              <a:defRPr sz="1400" b="0">
                <a:solidFill>
                  <a:srgbClr val="52606B"/>
                </a:solidFill>
                <a:latin typeface="Menlo"/>
                <a:ea typeface="Menlo"/>
                <a:cs typeface="Menlo"/>
              </a:defRPr>
            </a:defPPr>
          </a:lstStyle>
          <a:p xmlns:a="http://schemas.openxmlformats.org/drawingml/2006/main">
            <a:pPr algn="r">
              <a:lnSpc>
                <a:spcPct val="116000"/>
              </a:lnSpc>
              <a:buNone/>
              <a:defRPr sz="1400" b="0">
                <a:solidFill>
                  <a:srgbClr val="52606B"/>
                </a:solidFill>
                <a:latin typeface="Menlo"/>
                <a:ea typeface="Menlo"/>
                <a:cs typeface="Menlo"/>
              </a:defRPr>
            </a:pPr>
            <a:r>
              <a:rPr sz="1400" b="0">
                <a:solidFill>
                  <a:srgbClr val="52606B"/>
                </a:solidFill>
                <a:latin typeface="Menlo"/>
                <a:ea typeface="Menlo"/>
                <a:cs typeface="Menlo"/>
              </a:rPr>
              <a:t>38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37F51EA5-E9D9-4A96-9A61-30FFB44F55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23900"/>
            <a:ext cx="109728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3400" b="1">
                <a:solidFill>
                  <a:srgbClr val="17191B"/>
                </a:solidFill>
                <a:latin typeface="AppleGothic"/>
                <a:ea typeface="AppleGothic"/>
                <a:cs typeface="AppleGothic"/>
              </a:defRPr>
            </a:defPPr>
          </a:lstStyle>
          <a:p xmlns:a="http://schemas.openxmlformats.org/drawingml/2006/main">
            <a:pPr algn="l">
              <a:lnSpc>
                <a:spcPct val="116000"/>
              </a:lnSpc>
              <a:buNone/>
              <a:defRPr sz="3400" b="1">
                <a:solidFill>
                  <a:srgbClr val="17191B"/>
                </a:solidFill>
                <a:latin typeface="AppleGothic"/>
                <a:ea typeface="AppleGothic"/>
                <a:cs typeface="AppleGothic"/>
              </a:defRPr>
            </a:pPr>
            <a:r>
              <a:rPr sz="3400" b="1">
                <a:solidFill>
                  <a:srgbClr val="17191B"/>
                </a:solidFill>
                <a:latin typeface="AppleGothic"/>
                <a:ea typeface="AppleGothic"/>
                <a:cs typeface="AppleGothic"/>
              </a:rPr>
              <a:t>선호쌍의 예시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0528C916-1B39-4E35-8B1E-B5342A2EF5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315075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FD5D3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9A878A4E-399E-4ABE-A506-21BF005B39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77000"/>
            <a:ext cx="109728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1400" b="0">
                <a:solidFill>
                  <a:srgbClr val="52606B"/>
                </a:solidFill>
                <a:latin typeface="AppleGothic"/>
                <a:ea typeface="AppleGothic"/>
                <a:cs typeface="AppleGothic"/>
              </a:defRPr>
            </a:defPPr>
          </a:lstStyle>
          <a:p xmlns:a="http://schemas.openxmlformats.org/drawingml/2006/main">
            <a:pPr algn="l">
              <a:lnSpc>
                <a:spcPct val="116000"/>
              </a:lnSpc>
              <a:buNone/>
              <a:defRPr sz="1400" b="0">
                <a:solidFill>
                  <a:srgbClr val="52606B"/>
                </a:solidFill>
                <a:latin typeface="AppleGothic"/>
                <a:ea typeface="AppleGothic"/>
                <a:cs typeface="AppleGothic"/>
              </a:defRPr>
            </a:pPr>
            <a:r>
              <a:rPr sz="1400" b="0">
                <a:solidFill>
                  <a:srgbClr val="52606B"/>
                </a:solidFill>
                <a:latin typeface="AppleGothic"/>
                <a:ea typeface="AppleGothic"/>
                <a:cs typeface="AppleGothic"/>
              </a:rPr>
              <a:t>데이터 · 모델 적응 · 비교 평가 · 기획서 초안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EAF5DD44-ED7D-41F2-9C72-81B0D6AD3F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464689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FD5D3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562269EE-A5AF-4743-AAA6-2E4D429D83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809750"/>
            <a:ext cx="10477500" cy="426339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2700" b="1">
                <a:solidFill>
                  <a:srgbClr val="17191B"/>
                </a:solidFill>
                <a:latin typeface="AppleGothic"/>
                <a:ea typeface="AppleGothic"/>
                <a:cs typeface="AppleGothic"/>
              </a:defRPr>
            </a:defPPr>
          </a:lstStyle>
          <a:p xmlns:a="http://schemas.openxmlformats.org/drawingml/2006/main">
            <a:pPr algn="l">
              <a:lnSpc>
                <a:spcPct val="116000"/>
              </a:lnSpc>
              <a:buNone/>
              <a:defRPr sz="2700" b="1">
                <a:solidFill>
                  <a:srgbClr val="17191B"/>
                </a:solidFill>
                <a:latin typeface="AppleGothic"/>
                <a:ea typeface="AppleGothic"/>
                <a:cs typeface="AppleGothic"/>
              </a:defRPr>
            </a:pPr>
            <a:r>
              <a:rPr sz="2700" b="1">
                <a:solidFill>
                  <a:srgbClr val="17191B"/>
                </a:solidFill>
                <a:latin typeface="AppleGothic"/>
                <a:ea typeface="AppleGothic"/>
                <a:cs typeface="AppleGothic"/>
              </a:rPr>
              <a:t>질문: 근거 문서가 없는 문의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4A0F0D98-E65F-41C4-B1E1-77EFEEBF7A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883789"/>
            <a:ext cx="10477500" cy="337947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2100" b="0">
                <a:solidFill>
                  <a:srgbClr val="52606B"/>
                </a:solidFill>
                <a:latin typeface="AppleGothic"/>
                <a:ea typeface="AppleGothic"/>
                <a:cs typeface="AppleGothic"/>
              </a:defRPr>
            </a:defPPr>
          </a:lstStyle>
          <a:p xmlns:a="http://schemas.openxmlformats.org/drawingml/2006/main">
            <a:pPr algn="l">
              <a:lnSpc>
                <a:spcPct val="116000"/>
              </a:lnSpc>
              <a:buNone/>
              <a:defRPr sz="2100" b="0">
                <a:solidFill>
                  <a:srgbClr val="52606B"/>
                </a:solidFill>
                <a:latin typeface="AppleGothic"/>
                <a:ea typeface="AppleGothic"/>
                <a:cs typeface="AppleGothic"/>
              </a:defRPr>
            </a:pPr>
            <a:r>
              <a:rPr sz="2100" b="0">
                <a:solidFill>
                  <a:srgbClr val="52606B"/>
                </a:solidFill>
                <a:latin typeface="AppleGothic"/>
                <a:ea typeface="AppleGothic"/>
                <a:cs typeface="AppleGothic"/>
              </a:rPr>
              <a:t>선택: 확인할 수 없어 담당자 검토가 필요합니다.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CE30D5B5-ED40-42DC-AB42-E4415495BE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526536"/>
            <a:ext cx="10477500" cy="337947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2100" b="0">
                <a:solidFill>
                  <a:srgbClr val="52606B"/>
                </a:solidFill>
                <a:latin typeface="AppleGothic"/>
                <a:ea typeface="AppleGothic"/>
                <a:cs typeface="AppleGothic"/>
              </a:defRPr>
            </a:defPPr>
          </a:lstStyle>
          <a:p xmlns:a="http://schemas.openxmlformats.org/drawingml/2006/main">
            <a:pPr algn="l">
              <a:lnSpc>
                <a:spcPct val="116000"/>
              </a:lnSpc>
              <a:buNone/>
              <a:defRPr sz="2100" b="0">
                <a:solidFill>
                  <a:srgbClr val="52606B"/>
                </a:solidFill>
                <a:latin typeface="AppleGothic"/>
                <a:ea typeface="AppleGothic"/>
                <a:cs typeface="AppleGothic"/>
              </a:defRPr>
            </a:pPr>
            <a:r>
              <a:rPr sz="2100" b="0">
                <a:solidFill>
                  <a:srgbClr val="52606B"/>
                </a:solidFill>
                <a:latin typeface="AppleGothic"/>
                <a:ea typeface="AppleGothic"/>
                <a:cs typeface="AppleGothic"/>
              </a:rPr>
              <a:t>비선택: 무조건 승인됩니다.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9C8275AD-274B-44F8-BAF5-CABBE0B055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791200"/>
            <a:ext cx="109728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1600" b="0">
                <a:solidFill>
                  <a:srgbClr val="52606B"/>
                </a:solidFill>
                <a:latin typeface="AppleGothic"/>
                <a:ea typeface="AppleGothic"/>
                <a:cs typeface="AppleGothic"/>
              </a:defRPr>
            </a:defPPr>
          </a:lstStyle>
          <a:p xmlns:a="http://schemas.openxmlformats.org/drawingml/2006/main">
            <a:pPr algn="l">
              <a:lnSpc>
                <a:spcPct val="116000"/>
              </a:lnSpc>
              <a:buNone/>
              <a:defRPr sz="1600" b="0">
                <a:solidFill>
                  <a:srgbClr val="52606B"/>
                </a:solidFill>
                <a:latin typeface="AppleGothic"/>
                <a:ea typeface="AppleGothic"/>
                <a:cs typeface="AppleGothic"/>
              </a:defRPr>
            </a:pPr>
            <a:r>
              <a:rPr sz="1600" b="0">
                <a:solidFill>
                  <a:srgbClr val="52606B"/>
                </a:solidFill>
                <a:latin typeface="AppleGothic"/>
                <a:ea typeface="AppleGothic"/>
                <a:cs typeface="AppleGothic"/>
              </a:rPr>
              <a:t>합성 예시 · 선택 기준: 근거 없는 단정 방지</a:t>
            </a:r>
          </a:p>
        </p:txBody>
      </p:sp>
    </p:spTree>
    <p:extLst>
      <p:ext uri="{BB962C8B-B14F-4D97-AF65-F5344CB8AC3E}">
        <p14:creationId xmlns:p14="http://schemas.microsoft.com/office/powerpoint/2010/main" val="1907365926"/>
      </p:ext>
    </p:extLst>
  </p:cSld>
</p:sld>
</file>

<file path=ppt/slides/slide39.xml><?xml version="1.0" encoding="utf-8"?>
<p:sld xmlns:p="http://schemas.openxmlformats.org/presentationml/2006/main">
  <p:cSld>
    <p:bg>
      <p:bgPr>
        <a:solidFill xmlns:a="http://schemas.openxmlformats.org/drawingml/2006/main">
          <a:srgbClr val="F7F7F5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6D54E250-1076-4BEF-8541-283DE7B383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47650"/>
            <a:ext cx="9525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1400" b="0">
                <a:solidFill>
                  <a:srgbClr val="52606B"/>
                </a:solidFill>
                <a:latin typeface="AppleGothic"/>
                <a:ea typeface="AppleGothic"/>
                <a:cs typeface="AppleGothic"/>
              </a:defRPr>
            </a:defPPr>
          </a:lstStyle>
          <a:p xmlns:a="http://schemas.openxmlformats.org/drawingml/2006/main">
            <a:pPr algn="l">
              <a:lnSpc>
                <a:spcPct val="116000"/>
              </a:lnSpc>
              <a:buNone/>
              <a:defRPr sz="1400" b="0">
                <a:solidFill>
                  <a:srgbClr val="52606B"/>
                </a:solidFill>
                <a:latin typeface="AppleGothic"/>
                <a:ea typeface="AppleGothic"/>
                <a:cs typeface="AppleGothic"/>
              </a:defRPr>
            </a:pPr>
            <a:r>
              <a:rPr sz="1400" b="0">
                <a:solidFill>
                  <a:srgbClr val="52606B"/>
                </a:solidFill>
                <a:latin typeface="AppleGothic"/>
                <a:ea typeface="AppleGothic"/>
                <a:cs typeface="AppleGothic"/>
              </a:rPr>
              <a:t>LLMOPS / W07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170008F7-CD1B-4AC1-947C-93BB8FBE75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8500" y="247650"/>
            <a:ext cx="7239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r">
              <a:defRPr sz="1400" b="0">
                <a:solidFill>
                  <a:srgbClr val="52606B"/>
                </a:solidFill>
                <a:latin typeface="Menlo"/>
                <a:ea typeface="Menlo"/>
                <a:cs typeface="Menlo"/>
              </a:defRPr>
            </a:defPPr>
          </a:lstStyle>
          <a:p xmlns:a="http://schemas.openxmlformats.org/drawingml/2006/main">
            <a:pPr algn="r">
              <a:lnSpc>
                <a:spcPct val="116000"/>
              </a:lnSpc>
              <a:buNone/>
              <a:defRPr sz="1400" b="0">
                <a:solidFill>
                  <a:srgbClr val="52606B"/>
                </a:solidFill>
                <a:latin typeface="Menlo"/>
                <a:ea typeface="Menlo"/>
                <a:cs typeface="Menlo"/>
              </a:defRPr>
            </a:pPr>
            <a:r>
              <a:rPr sz="1400" b="0">
                <a:solidFill>
                  <a:srgbClr val="52606B"/>
                </a:solidFill>
                <a:latin typeface="Menlo"/>
                <a:ea typeface="Menlo"/>
                <a:cs typeface="Menlo"/>
              </a:rPr>
              <a:t>39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11E62D23-3752-4D02-A06C-99447E76F0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23900"/>
            <a:ext cx="109728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3400" b="1">
                <a:solidFill>
                  <a:srgbClr val="17191B"/>
                </a:solidFill>
                <a:latin typeface="AppleGothic"/>
                <a:ea typeface="AppleGothic"/>
                <a:cs typeface="AppleGothic"/>
              </a:defRPr>
            </a:defPPr>
          </a:lstStyle>
          <a:p xmlns:a="http://schemas.openxmlformats.org/drawingml/2006/main">
            <a:pPr algn="l">
              <a:lnSpc>
                <a:spcPct val="116000"/>
              </a:lnSpc>
              <a:buNone/>
              <a:defRPr sz="3400" b="1">
                <a:solidFill>
                  <a:srgbClr val="17191B"/>
                </a:solidFill>
                <a:latin typeface="AppleGothic"/>
                <a:ea typeface="AppleGothic"/>
                <a:cs typeface="AppleGothic"/>
              </a:defRPr>
            </a:pPr>
            <a:r>
              <a:rPr sz="3400" b="1">
                <a:solidFill>
                  <a:srgbClr val="17191B"/>
                </a:solidFill>
                <a:latin typeface="AppleGothic"/>
                <a:ea typeface="AppleGothic"/>
                <a:cs typeface="AppleGothic"/>
              </a:rPr>
              <a:t>선호 데이터의 검토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494DC762-661D-4998-A1F1-A4FB4C563B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315075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FD5D3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DFBC7946-BEFE-4B2D-87CE-98C0EC8AAB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77000"/>
            <a:ext cx="109728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1400" b="0">
                <a:solidFill>
                  <a:srgbClr val="52606B"/>
                </a:solidFill>
                <a:latin typeface="AppleGothic"/>
                <a:ea typeface="AppleGothic"/>
                <a:cs typeface="AppleGothic"/>
              </a:defRPr>
            </a:defPPr>
          </a:lstStyle>
          <a:p xmlns:a="http://schemas.openxmlformats.org/drawingml/2006/main">
            <a:pPr algn="l">
              <a:lnSpc>
                <a:spcPct val="116000"/>
              </a:lnSpc>
              <a:buNone/>
              <a:defRPr sz="1400" b="0">
                <a:solidFill>
                  <a:srgbClr val="52606B"/>
                </a:solidFill>
                <a:latin typeface="AppleGothic"/>
                <a:ea typeface="AppleGothic"/>
                <a:cs typeface="AppleGothic"/>
              </a:defRPr>
            </a:pPr>
            <a:r>
              <a:rPr sz="1400" b="0">
                <a:solidFill>
                  <a:srgbClr val="52606B"/>
                </a:solidFill>
                <a:latin typeface="AppleGothic"/>
                <a:ea typeface="AppleGothic"/>
                <a:cs typeface="AppleGothic"/>
              </a:rPr>
              <a:t>데이터 · 모델 적응 · 비교 평가 · 기획서 초안</a:t>
            </a:r>
          </a:p>
        </p:txBody>
      </p:sp>
      <p:graphicFrame>
        <p:nvGraphicFrame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7943D4E8-C23F-467E-9DF1-FC36F1A0D43F}"/>
              </a:ext>
            </a:extLst>
          </p:cNvPr>
          <p:cNvGraphicFramePr/>
          <p:nvPr/>
        </p:nvGraphicFramePr>
        <p:xfrm>
          <a:off xmlns:a="http://schemas.openxmlformats.org/drawingml/2006/main" x="609600" y="1809750"/>
          <a:ext xmlns:a="http://schemas.openxmlformats.org/drawingml/2006/main" cx="10972800" cy="3714750"/>
        </p:xfrm>
        <a:graphic xmlns:a="http://schemas.openxmlformats.org/drawingml/2006/main">
          <a:graphicData uri="http://schemas.openxmlformats.org/drawingml/2006/table">
            <a:tbl>
              <a:tblPr firstRow="0" bandRow="0"/>
              <a:tblGrid>
                <a:gridCol w="3238500"/>
                <a:gridCol w="7734300"/>
              </a:tblGrid>
              <a:tr h="742950">
                <a:tc>
                  <a:txBody>
                    <a:bodyPr wrap="none" lIns="133350" tIns="114300" rIns="133350" bIns="114300">
                      <a:noAutofit/>
                    </a:bodyPr>
                    <a:lstStyle/>
                    <a:p>
                      <a:r>
                        <a:rPr sz="1900" b="1">
                          <a:solidFill>
                            <a:srgbClr val="17283B"/>
                          </a:solidFill>
                          <a:latin typeface="AppleGothic"/>
                          <a:ea typeface="AppleGothic"/>
                          <a:cs typeface="AppleGothic"/>
                        </a:rPr>
                        <a:t>항목</a:t>
                      </a:r>
                    </a:p>
                  </a:txBody>
                  <a:tcPr marL="91440" marR="91440" marT="45720" marB="4572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EDF1F6"/>
                    </a:solidFill>
                  </a:tcPr>
                </a:tc>
                <a:tc>
                  <a:txBody>
                    <a:bodyPr wrap="none" lIns="133350" tIns="114300" rIns="133350" bIns="114300">
                      <a:noAutofit/>
                    </a:bodyPr>
                    <a:lstStyle/>
                    <a:p>
                      <a:r>
                        <a:rPr sz="1900" b="1">
                          <a:solidFill>
                            <a:srgbClr val="17283B"/>
                          </a:solidFill>
                          <a:latin typeface="AppleGothic"/>
                          <a:ea typeface="AppleGothic"/>
                          <a:cs typeface="AppleGothic"/>
                        </a:rPr>
                        <a:t>질문</a:t>
                      </a:r>
                    </a:p>
                  </a:txBody>
                  <a:tcPr marL="91440" marR="91440" marT="45720" marB="4572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EDF1F6"/>
                    </a:solidFill>
                  </a:tcPr>
                </a:tc>
              </a:tr>
              <a:tr h="742950">
                <a:tc>
                  <a:txBody>
                    <a:bodyPr wrap="none" lIns="133350" tIns="114300" rIns="133350" bIns="114300">
                      <a:noAutofit/>
                    </a:bodyPr>
                    <a:lstStyle/>
                    <a:p>
                      <a:r>
                        <a:rPr sz="1900" b="1">
                          <a:solidFill>
                            <a:srgbClr val="17191B"/>
                          </a:solidFill>
                          <a:latin typeface="AppleGothic"/>
                          <a:ea typeface="AppleGothic"/>
                          <a:cs typeface="AppleGothic"/>
                        </a:rPr>
                        <a:t>동일 입력</a:t>
                      </a:r>
                    </a:p>
                  </a:txBody>
                  <a:tcPr marL="91440" marR="91440" marT="45720" marB="4572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 lIns="133350" tIns="114300" rIns="133350" bIns="114300">
                      <a:noAutofit/>
                    </a:bodyPr>
                    <a:lstStyle/>
                    <a:p>
                      <a:r>
                        <a:rPr sz="1900" b="0">
                          <a:solidFill>
                            <a:srgbClr val="52606B"/>
                          </a:solidFill>
                          <a:latin typeface="AppleGothic"/>
                          <a:ea typeface="AppleGothic"/>
                          <a:cs typeface="AppleGothic"/>
                        </a:rPr>
                        <a:t>두 답변이 같은 질문에 대한 것인가</a:t>
                      </a:r>
                    </a:p>
                  </a:txBody>
                  <a:tcPr marL="91440" marR="91440" marT="45720" marB="4572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FFFFFF"/>
                    </a:solidFill>
                  </a:tcPr>
                </a:tc>
              </a:tr>
              <a:tr h="742950">
                <a:tc>
                  <a:txBody>
                    <a:bodyPr wrap="none" lIns="133350" tIns="114300" rIns="133350" bIns="114300">
                      <a:noAutofit/>
                    </a:bodyPr>
                    <a:lstStyle/>
                    <a:p>
                      <a:r>
                        <a:rPr sz="1900" b="1">
                          <a:solidFill>
                            <a:srgbClr val="17191B"/>
                          </a:solidFill>
                          <a:latin typeface="AppleGothic"/>
                          <a:ea typeface="AppleGothic"/>
                          <a:cs typeface="AppleGothic"/>
                        </a:rPr>
                        <a:t>선택 이유</a:t>
                      </a:r>
                    </a:p>
                  </a:txBody>
                  <a:tcPr marL="91440" marR="91440" marT="45720" marB="4572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 lIns="133350" tIns="114300" rIns="133350" bIns="114300">
                      <a:noAutofit/>
                    </a:bodyPr>
                    <a:lstStyle/>
                    <a:p>
                      <a:r>
                        <a:rPr sz="1900" b="0">
                          <a:solidFill>
                            <a:srgbClr val="52606B"/>
                          </a:solidFill>
                          <a:latin typeface="AppleGothic"/>
                          <a:ea typeface="AppleGothic"/>
                          <a:cs typeface="AppleGothic"/>
                        </a:rPr>
                        <a:t>근거·유용성·형식 중 기준이 명시됐는가</a:t>
                      </a:r>
                    </a:p>
                  </a:txBody>
                  <a:tcPr marL="91440" marR="91440" marT="45720" marB="4572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FFFFFF"/>
                    </a:solidFill>
                  </a:tcPr>
                </a:tc>
              </a:tr>
              <a:tr h="742950">
                <a:tc>
                  <a:txBody>
                    <a:bodyPr wrap="none" lIns="133350" tIns="114300" rIns="133350" bIns="114300">
                      <a:noAutofit/>
                    </a:bodyPr>
                    <a:lstStyle/>
                    <a:p>
                      <a:r>
                        <a:rPr sz="1900" b="1">
                          <a:solidFill>
                            <a:srgbClr val="17191B"/>
                          </a:solidFill>
                          <a:latin typeface="AppleGothic"/>
                          <a:ea typeface="AppleGothic"/>
                          <a:cs typeface="AppleGothic"/>
                        </a:rPr>
                        <a:t>차이</a:t>
                      </a:r>
                    </a:p>
                  </a:txBody>
                  <a:tcPr marL="91440" marR="91440" marT="45720" marB="4572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 lIns="133350" tIns="114300" rIns="133350" bIns="114300">
                      <a:noAutofit/>
                    </a:bodyPr>
                    <a:lstStyle/>
                    <a:p>
                      <a:r>
                        <a:rPr sz="1900" b="0">
                          <a:solidFill>
                            <a:srgbClr val="52606B"/>
                          </a:solidFill>
                          <a:latin typeface="AppleGothic"/>
                          <a:ea typeface="AppleGothic"/>
                          <a:cs typeface="AppleGothic"/>
                        </a:rPr>
                        <a:t>동일 답변·여러 품질 차이가 섞이지 않았는가</a:t>
                      </a:r>
                    </a:p>
                  </a:txBody>
                  <a:tcPr marL="91440" marR="91440" marT="45720" marB="4572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FFFFFF"/>
                    </a:solidFill>
                  </a:tcPr>
                </a:tc>
              </a:tr>
              <a:tr h="742950">
                <a:tc>
                  <a:txBody>
                    <a:bodyPr wrap="none" lIns="133350" tIns="114300" rIns="133350" bIns="114300">
                      <a:noAutofit/>
                    </a:bodyPr>
                    <a:lstStyle/>
                    <a:p>
                      <a:r>
                        <a:rPr sz="1900" b="1">
                          <a:solidFill>
                            <a:srgbClr val="17191B"/>
                          </a:solidFill>
                          <a:latin typeface="AppleGothic"/>
                          <a:ea typeface="AppleGothic"/>
                          <a:cs typeface="AppleGothic"/>
                        </a:rPr>
                        <a:t>편향</a:t>
                      </a:r>
                    </a:p>
                  </a:txBody>
                  <a:tcPr marL="91440" marR="91440" marT="45720" marB="4572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 lIns="133350" tIns="114300" rIns="133350" bIns="114300">
                      <a:noAutofit/>
                    </a:bodyPr>
                    <a:lstStyle/>
                    <a:p>
                      <a:r>
                        <a:rPr sz="1900" b="0">
                          <a:solidFill>
                            <a:srgbClr val="52606B"/>
                          </a:solidFill>
                          <a:latin typeface="AppleGothic"/>
                          <a:ea typeface="AppleGothic"/>
                          <a:cs typeface="AppleGothic"/>
                        </a:rPr>
                        <a:t>길이·순서·라벨러 선호를 검토했는가</a:t>
                      </a:r>
                    </a:p>
                  </a:txBody>
                  <a:tcPr marL="91440" marR="91440" marT="45720" marB="4572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BF5B1B73-663A-4CA2-AE6F-9A9DC84DAA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80975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283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14BC4A66-3813-44F3-93AE-4CE78AD838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5527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FD5D3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E8621906-E9B4-4388-A7F4-97317FC9BD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29565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FD5D3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0BF86C0F-450F-4FD4-B712-D46FE0940C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0386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FD5D3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8E500370-0D77-4D9D-9AA9-F1C61098C9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78155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FD5D3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4CB84057-3569-44DA-9773-FB3A527716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5245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283B"/>
          </a:solidFill>
          <a:ln xmlns:a="http://schemas.openxmlformats.org/drawingml/2006/main" w="0">
            <a:noFill/>
            <a:prstDash val="solid"/>
          </a:ln>
        </p:spPr>
      </p:sp>
    </p:spTree>
    <p:extLst>
      <p:ext uri="{BB962C8B-B14F-4D97-AF65-F5344CB8AC3E}">
        <p14:creationId xmlns:p14="http://schemas.microsoft.com/office/powerpoint/2010/main" val="1547559376"/>
      </p:ext>
    </p:extLst>
  </p:cSld>
</p:sld>
</file>

<file path=ppt/slides/slide40.xml><?xml version="1.0" encoding="utf-8"?>
<p:sld xmlns:p="http://schemas.openxmlformats.org/presentationml/2006/main">
  <p:cSld>
    <p:bg>
      <p:bgPr>
        <a:solidFill xmlns:a="http://schemas.openxmlformats.org/drawingml/2006/main">
          <a:srgbClr val="F7F7F5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4328958D-CA43-449C-88BF-B40406F1B2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47650"/>
            <a:ext cx="9525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1400" b="0">
                <a:solidFill>
                  <a:srgbClr val="52606B"/>
                </a:solidFill>
                <a:latin typeface="AppleGothic"/>
                <a:ea typeface="AppleGothic"/>
                <a:cs typeface="AppleGothic"/>
              </a:defRPr>
            </a:defPPr>
          </a:lstStyle>
          <a:p xmlns:a="http://schemas.openxmlformats.org/drawingml/2006/main">
            <a:pPr algn="l">
              <a:lnSpc>
                <a:spcPct val="116000"/>
              </a:lnSpc>
              <a:buNone/>
              <a:defRPr sz="1400" b="0">
                <a:solidFill>
                  <a:srgbClr val="52606B"/>
                </a:solidFill>
                <a:latin typeface="AppleGothic"/>
                <a:ea typeface="AppleGothic"/>
                <a:cs typeface="AppleGothic"/>
              </a:defRPr>
            </a:pPr>
            <a:r>
              <a:rPr sz="1400" b="0">
                <a:solidFill>
                  <a:srgbClr val="52606B"/>
                </a:solidFill>
                <a:latin typeface="AppleGothic"/>
                <a:ea typeface="AppleGothic"/>
                <a:cs typeface="AppleGothic"/>
              </a:rPr>
              <a:t>LLMOPS / W07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CDFE1658-50A2-4CDF-91FF-2019D86FE3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8500" y="247650"/>
            <a:ext cx="7239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r">
              <a:defRPr sz="1400" b="0">
                <a:solidFill>
                  <a:srgbClr val="52606B"/>
                </a:solidFill>
                <a:latin typeface="Menlo"/>
                <a:ea typeface="Menlo"/>
                <a:cs typeface="Menlo"/>
              </a:defRPr>
            </a:defPPr>
          </a:lstStyle>
          <a:p xmlns:a="http://schemas.openxmlformats.org/drawingml/2006/main">
            <a:pPr algn="r">
              <a:lnSpc>
                <a:spcPct val="116000"/>
              </a:lnSpc>
              <a:buNone/>
              <a:defRPr sz="1400" b="0">
                <a:solidFill>
                  <a:srgbClr val="52606B"/>
                </a:solidFill>
                <a:latin typeface="Menlo"/>
                <a:ea typeface="Menlo"/>
                <a:cs typeface="Menlo"/>
              </a:defRPr>
            </a:pPr>
            <a:r>
              <a:rPr sz="1400" b="0">
                <a:solidFill>
                  <a:srgbClr val="52606B"/>
                </a:solidFill>
                <a:latin typeface="Menlo"/>
                <a:ea typeface="Menlo"/>
                <a:cs typeface="Menlo"/>
              </a:rPr>
              <a:t>40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871BE770-E750-42FD-9DCD-7B6D14E42D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23900"/>
            <a:ext cx="109728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3400" b="1">
                <a:solidFill>
                  <a:srgbClr val="17191B"/>
                </a:solidFill>
                <a:latin typeface="AppleGothic"/>
                <a:ea typeface="AppleGothic"/>
                <a:cs typeface="AppleGothic"/>
              </a:defRPr>
            </a:defPPr>
          </a:lstStyle>
          <a:p xmlns:a="http://schemas.openxmlformats.org/drawingml/2006/main">
            <a:pPr algn="l">
              <a:lnSpc>
                <a:spcPct val="116000"/>
              </a:lnSpc>
              <a:buNone/>
              <a:defRPr sz="3400" b="1">
                <a:solidFill>
                  <a:srgbClr val="17191B"/>
                </a:solidFill>
                <a:latin typeface="AppleGothic"/>
                <a:ea typeface="AppleGothic"/>
                <a:cs typeface="AppleGothic"/>
              </a:defRPr>
            </a:pPr>
            <a:r>
              <a:rPr sz="3400" b="1">
                <a:solidFill>
                  <a:srgbClr val="17191B"/>
                </a:solidFill>
                <a:latin typeface="AppleGothic"/>
                <a:ea typeface="AppleGothic"/>
                <a:cs typeface="AppleGothic"/>
              </a:rPr>
              <a:t>길이와 품질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FA4643B6-94F2-41FD-A29C-E3A4DAB482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315075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FD5D3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DC53D5FD-CDF3-4352-9390-53D23688F6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77000"/>
            <a:ext cx="109728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1400" b="0">
                <a:solidFill>
                  <a:srgbClr val="52606B"/>
                </a:solidFill>
                <a:latin typeface="AppleGothic"/>
                <a:ea typeface="AppleGothic"/>
                <a:cs typeface="AppleGothic"/>
              </a:defRPr>
            </a:defPPr>
          </a:lstStyle>
          <a:p xmlns:a="http://schemas.openxmlformats.org/drawingml/2006/main">
            <a:pPr algn="l">
              <a:lnSpc>
                <a:spcPct val="116000"/>
              </a:lnSpc>
              <a:buNone/>
              <a:defRPr sz="1400" b="0">
                <a:solidFill>
                  <a:srgbClr val="52606B"/>
                </a:solidFill>
                <a:latin typeface="AppleGothic"/>
                <a:ea typeface="AppleGothic"/>
                <a:cs typeface="AppleGothic"/>
              </a:defRPr>
            </a:pPr>
            <a:r>
              <a:rPr sz="1400" b="0">
                <a:solidFill>
                  <a:srgbClr val="52606B"/>
                </a:solidFill>
                <a:latin typeface="AppleGothic"/>
                <a:ea typeface="AppleGothic"/>
                <a:cs typeface="AppleGothic"/>
              </a:rPr>
              <a:t>데이터 · 모델 적응 · 비교 평가 · 기획서 초안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4E40B8E1-74C0-4D4D-9408-61A4E524CA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057400"/>
            <a:ext cx="5295900" cy="800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2900" b="1">
                <a:solidFill>
                  <a:srgbClr val="17191B"/>
                </a:solidFill>
                <a:latin typeface="AppleGothic"/>
                <a:ea typeface="AppleGothic"/>
                <a:cs typeface="AppleGothic"/>
              </a:defRPr>
            </a:defPPr>
          </a:lstStyle>
          <a:p xmlns:a="http://schemas.openxmlformats.org/drawingml/2006/main">
            <a:pPr algn="l">
              <a:lnSpc>
                <a:spcPct val="116000"/>
              </a:lnSpc>
              <a:buNone/>
              <a:defRPr sz="2900" b="1">
                <a:solidFill>
                  <a:srgbClr val="17191B"/>
                </a:solidFill>
                <a:latin typeface="AppleGothic"/>
                <a:ea typeface="AppleGothic"/>
                <a:cs typeface="AppleGothic"/>
              </a:defRPr>
            </a:pPr>
            <a:r>
              <a:rPr sz="2900" b="1">
                <a:solidFill>
                  <a:srgbClr val="17191B"/>
                </a:solidFill>
                <a:latin typeface="AppleGothic"/>
                <a:ea typeface="AppleGothic"/>
                <a:cs typeface="AppleGothic"/>
              </a:rPr>
              <a:t>길이가 긴 답변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802CDFA1-6F7F-40E1-BD04-85CD90221C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000375"/>
            <a:ext cx="52959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84B7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65E642AC-C6DA-42FA-A11A-368C0E56FB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371850"/>
            <a:ext cx="5238750" cy="36741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2300" b="0">
                <a:solidFill>
                  <a:srgbClr val="52606B"/>
                </a:solidFill>
                <a:latin typeface="AppleGothic"/>
                <a:ea typeface="AppleGothic"/>
                <a:cs typeface="AppleGothic"/>
              </a:defRPr>
            </a:defPPr>
          </a:lstStyle>
          <a:p xmlns:a="http://schemas.openxmlformats.org/drawingml/2006/main">
            <a:pPr algn="l">
              <a:lnSpc>
                <a:spcPct val="116000"/>
              </a:lnSpc>
              <a:buNone/>
              <a:defRPr sz="2300" b="0">
                <a:solidFill>
                  <a:srgbClr val="52606B"/>
                </a:solidFill>
                <a:latin typeface="AppleGothic"/>
                <a:ea typeface="AppleGothic"/>
                <a:cs typeface="AppleGothic"/>
              </a:defRPr>
            </a:pPr>
            <a:r>
              <a:rPr sz="2300" b="0">
                <a:solidFill>
                  <a:srgbClr val="52606B"/>
                </a:solidFill>
                <a:latin typeface="AppleGothic"/>
                <a:ea typeface="AppleGothic"/>
                <a:cs typeface="AppleGothic"/>
              </a:rPr>
              <a:t>자세해 보여 선택될 수 있음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87C5FAA3-9077-46DE-AF8E-1F2F14DF01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139311"/>
            <a:ext cx="5238750" cy="36741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2300" b="0">
                <a:solidFill>
                  <a:srgbClr val="52606B"/>
                </a:solidFill>
                <a:latin typeface="AppleGothic"/>
                <a:ea typeface="AppleGothic"/>
                <a:cs typeface="AppleGothic"/>
              </a:defRPr>
            </a:defPPr>
          </a:lstStyle>
          <a:p xmlns:a="http://schemas.openxmlformats.org/drawingml/2006/main">
            <a:pPr algn="l">
              <a:lnSpc>
                <a:spcPct val="116000"/>
              </a:lnSpc>
              <a:buNone/>
              <a:defRPr sz="2300" b="0">
                <a:solidFill>
                  <a:srgbClr val="52606B"/>
                </a:solidFill>
                <a:latin typeface="AppleGothic"/>
                <a:ea typeface="AppleGothic"/>
                <a:cs typeface="AppleGothic"/>
              </a:defRPr>
            </a:pPr>
            <a:r>
              <a:rPr sz="2300" b="0">
                <a:solidFill>
                  <a:srgbClr val="52606B"/>
                </a:solidFill>
                <a:latin typeface="AppleGothic"/>
                <a:ea typeface="AppleGothic"/>
                <a:cs typeface="AppleGothic"/>
              </a:rPr>
              <a:t>근거 없는 내용도 길어질 수 있음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EF59AD83-1752-4FEA-84DA-0B49B57E04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0" y="2057400"/>
            <a:ext cx="5295900" cy="800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2900" b="1">
                <a:solidFill>
                  <a:srgbClr val="17191B"/>
                </a:solidFill>
                <a:latin typeface="AppleGothic"/>
                <a:ea typeface="AppleGothic"/>
                <a:cs typeface="AppleGothic"/>
              </a:defRPr>
            </a:defPPr>
          </a:lstStyle>
          <a:p xmlns:a="http://schemas.openxmlformats.org/drawingml/2006/main">
            <a:pPr algn="l">
              <a:lnSpc>
                <a:spcPct val="116000"/>
              </a:lnSpc>
              <a:buNone/>
              <a:defRPr sz="2900" b="1">
                <a:solidFill>
                  <a:srgbClr val="17191B"/>
                </a:solidFill>
                <a:latin typeface="AppleGothic"/>
                <a:ea typeface="AppleGothic"/>
                <a:cs typeface="AppleGothic"/>
              </a:defRPr>
            </a:pPr>
            <a:r>
              <a:rPr sz="2900" b="1">
                <a:solidFill>
                  <a:srgbClr val="17191B"/>
                </a:solidFill>
                <a:latin typeface="AppleGothic"/>
                <a:ea typeface="AppleGothic"/>
                <a:cs typeface="AppleGothic"/>
              </a:rPr>
              <a:t>업무 기준에 맞는 답변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59FB7AF3-317D-4EEC-9A4D-16BACCB74B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0" y="3000375"/>
            <a:ext cx="52959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52606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09B16819-F098-4C74-866C-BF243A6AE3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0" y="3371850"/>
            <a:ext cx="5238750" cy="36741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2300" b="0">
                <a:solidFill>
                  <a:srgbClr val="52606B"/>
                </a:solidFill>
                <a:latin typeface="AppleGothic"/>
                <a:ea typeface="AppleGothic"/>
                <a:cs typeface="AppleGothic"/>
              </a:defRPr>
            </a:defPPr>
          </a:lstStyle>
          <a:p xmlns:a="http://schemas.openxmlformats.org/drawingml/2006/main">
            <a:pPr algn="l">
              <a:lnSpc>
                <a:spcPct val="116000"/>
              </a:lnSpc>
              <a:buNone/>
              <a:defRPr sz="2300" b="0">
                <a:solidFill>
                  <a:srgbClr val="52606B"/>
                </a:solidFill>
                <a:latin typeface="AppleGothic"/>
                <a:ea typeface="AppleGothic"/>
                <a:cs typeface="AppleGothic"/>
              </a:defRPr>
            </a:pPr>
            <a:r>
              <a:rPr sz="2300" b="0">
                <a:solidFill>
                  <a:srgbClr val="52606B"/>
                </a:solidFill>
                <a:latin typeface="AppleGothic"/>
                <a:ea typeface="AppleGothic"/>
                <a:cs typeface="AppleGothic"/>
              </a:rPr>
              <a:t>필요한 내용과 근거 충족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0FF12E6F-CC38-4104-99DE-3F2D4711D0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0" y="4139311"/>
            <a:ext cx="5238750" cy="36741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2300" b="0">
                <a:solidFill>
                  <a:srgbClr val="52606B"/>
                </a:solidFill>
                <a:latin typeface="AppleGothic"/>
                <a:ea typeface="AppleGothic"/>
                <a:cs typeface="AppleGothic"/>
              </a:defRPr>
            </a:defPPr>
          </a:lstStyle>
          <a:p xmlns:a="http://schemas.openxmlformats.org/drawingml/2006/main">
            <a:pPr algn="l">
              <a:lnSpc>
                <a:spcPct val="116000"/>
              </a:lnSpc>
              <a:buNone/>
              <a:defRPr sz="2300" b="0">
                <a:solidFill>
                  <a:srgbClr val="52606B"/>
                </a:solidFill>
                <a:latin typeface="AppleGothic"/>
                <a:ea typeface="AppleGothic"/>
                <a:cs typeface="AppleGothic"/>
              </a:defRPr>
            </a:pPr>
            <a:r>
              <a:rPr sz="2300" b="0">
                <a:solidFill>
                  <a:srgbClr val="52606B"/>
                </a:solidFill>
                <a:latin typeface="AppleGothic"/>
                <a:ea typeface="AppleGothic"/>
                <a:cs typeface="AppleGothic"/>
              </a:rPr>
              <a:t>길이와 별개로 기준별 검토</a:t>
            </a:r>
          </a:p>
        </p:txBody>
      </p:sp>
    </p:spTree>
    <p:extLst>
      <p:ext uri="{BB962C8B-B14F-4D97-AF65-F5344CB8AC3E}">
        <p14:creationId xmlns:p14="http://schemas.microsoft.com/office/powerpoint/2010/main" val="278804090"/>
      </p:ext>
    </p:extLst>
  </p:cSld>
</p:sld>
</file>

<file path=ppt/slides/slide41.xml><?xml version="1.0" encoding="utf-8"?>
<p:sld xmlns:p="http://schemas.openxmlformats.org/presentationml/2006/main">
  <p:cSld>
    <p:bg>
      <p:bgPr>
        <a:solidFill xmlns:a="http://schemas.openxmlformats.org/drawingml/2006/main">
          <a:srgbClr val="F7F7F5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A5E30880-C6AE-4834-9AA1-6E819013BA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47650"/>
            <a:ext cx="9525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1400" b="0">
                <a:solidFill>
                  <a:srgbClr val="52606B"/>
                </a:solidFill>
                <a:latin typeface="AppleGothic"/>
                <a:ea typeface="AppleGothic"/>
                <a:cs typeface="AppleGothic"/>
              </a:defRPr>
            </a:defPPr>
          </a:lstStyle>
          <a:p xmlns:a="http://schemas.openxmlformats.org/drawingml/2006/main">
            <a:pPr algn="l">
              <a:lnSpc>
                <a:spcPct val="116000"/>
              </a:lnSpc>
              <a:buNone/>
              <a:defRPr sz="1400" b="0">
                <a:solidFill>
                  <a:srgbClr val="52606B"/>
                </a:solidFill>
                <a:latin typeface="AppleGothic"/>
                <a:ea typeface="AppleGothic"/>
                <a:cs typeface="AppleGothic"/>
              </a:defRPr>
            </a:pPr>
            <a:r>
              <a:rPr sz="1400" b="0">
                <a:solidFill>
                  <a:srgbClr val="52606B"/>
                </a:solidFill>
                <a:latin typeface="AppleGothic"/>
                <a:ea typeface="AppleGothic"/>
                <a:cs typeface="AppleGothic"/>
              </a:rPr>
              <a:t>LLMOPS / W07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50C8BD84-9948-47E9-B4BE-D7E7555807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8500" y="247650"/>
            <a:ext cx="7239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r">
              <a:defRPr sz="1400" b="0">
                <a:solidFill>
                  <a:srgbClr val="52606B"/>
                </a:solidFill>
                <a:latin typeface="Menlo"/>
                <a:ea typeface="Menlo"/>
                <a:cs typeface="Menlo"/>
              </a:defRPr>
            </a:defPPr>
          </a:lstStyle>
          <a:p xmlns:a="http://schemas.openxmlformats.org/drawingml/2006/main">
            <a:pPr algn="r">
              <a:lnSpc>
                <a:spcPct val="116000"/>
              </a:lnSpc>
              <a:buNone/>
              <a:defRPr sz="1400" b="0">
                <a:solidFill>
                  <a:srgbClr val="52606B"/>
                </a:solidFill>
                <a:latin typeface="Menlo"/>
                <a:ea typeface="Menlo"/>
                <a:cs typeface="Menlo"/>
              </a:defRPr>
            </a:pPr>
            <a:r>
              <a:rPr sz="1400" b="0">
                <a:solidFill>
                  <a:srgbClr val="52606B"/>
                </a:solidFill>
                <a:latin typeface="Menlo"/>
                <a:ea typeface="Menlo"/>
                <a:cs typeface="Menlo"/>
              </a:rPr>
              <a:t>41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7437C956-A28A-462A-8338-6DD23D4E6B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23900"/>
            <a:ext cx="109728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3400" b="1">
                <a:solidFill>
                  <a:srgbClr val="17191B"/>
                </a:solidFill>
                <a:latin typeface="AppleGothic"/>
                <a:ea typeface="AppleGothic"/>
                <a:cs typeface="AppleGothic"/>
              </a:defRPr>
            </a:defPPr>
          </a:lstStyle>
          <a:p xmlns:a="http://schemas.openxmlformats.org/drawingml/2006/main">
            <a:pPr algn="l">
              <a:lnSpc>
                <a:spcPct val="116000"/>
              </a:lnSpc>
              <a:buNone/>
              <a:defRPr sz="3400" b="1">
                <a:solidFill>
                  <a:srgbClr val="17191B"/>
                </a:solidFill>
                <a:latin typeface="AppleGothic"/>
                <a:ea typeface="AppleGothic"/>
                <a:cs typeface="AppleGothic"/>
              </a:defRPr>
            </a:pPr>
            <a:r>
              <a:rPr sz="3400" b="1">
                <a:solidFill>
                  <a:srgbClr val="17191B"/>
                </a:solidFill>
                <a:latin typeface="AppleGothic"/>
                <a:ea typeface="AppleGothic"/>
                <a:cs typeface="AppleGothic"/>
              </a:rPr>
              <a:t>DPO의 입력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B97B774F-4D4F-43B0-B825-5D30AF8BC2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315075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FD5D3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71C7A336-56C8-463D-906B-F423E0BDF0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77000"/>
            <a:ext cx="109728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1400" b="0">
                <a:solidFill>
                  <a:srgbClr val="52606B"/>
                </a:solidFill>
                <a:latin typeface="AppleGothic"/>
                <a:ea typeface="AppleGothic"/>
                <a:cs typeface="AppleGothic"/>
              </a:defRPr>
            </a:defPPr>
          </a:lstStyle>
          <a:p xmlns:a="http://schemas.openxmlformats.org/drawingml/2006/main">
            <a:pPr algn="l">
              <a:lnSpc>
                <a:spcPct val="116000"/>
              </a:lnSpc>
              <a:buNone/>
              <a:defRPr sz="1400" b="0">
                <a:solidFill>
                  <a:srgbClr val="52606B"/>
                </a:solidFill>
                <a:latin typeface="AppleGothic"/>
                <a:ea typeface="AppleGothic"/>
                <a:cs typeface="AppleGothic"/>
              </a:defRPr>
            </a:pPr>
            <a:r>
              <a:rPr sz="1400" b="0">
                <a:solidFill>
                  <a:srgbClr val="52606B"/>
                </a:solidFill>
                <a:latin typeface="AppleGothic"/>
                <a:ea typeface="AppleGothic"/>
                <a:cs typeface="AppleGothic"/>
              </a:rPr>
              <a:t>데이터 · 모델 적응 · 비교 평가 · 기획서 초안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8EF0D24D-9FD6-4677-A1E9-294A6AF9E4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714625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FD5D3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AE3E4387-8C59-47FF-B973-69EE050E7C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57475"/>
            <a:ext cx="152400" cy="1238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84B7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EE3607AF-7500-4237-8EBA-7D37A74638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095500"/>
            <a:ext cx="25527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1800" b="0">
                <a:solidFill>
                  <a:srgbClr val="284B72"/>
                </a:solidFill>
                <a:latin typeface="Menlo"/>
                <a:ea typeface="Menlo"/>
                <a:cs typeface="Menlo"/>
              </a:defRPr>
            </a:defPPr>
          </a:lstStyle>
          <a:p xmlns:a="http://schemas.openxmlformats.org/drawingml/2006/main">
            <a:pPr algn="l">
              <a:lnSpc>
                <a:spcPct val="116000"/>
              </a:lnSpc>
              <a:buNone/>
              <a:defRPr sz="1800" b="0">
                <a:solidFill>
                  <a:srgbClr val="284B72"/>
                </a:solidFill>
                <a:latin typeface="Menlo"/>
                <a:ea typeface="Menlo"/>
                <a:cs typeface="Menlo"/>
              </a:defRPr>
            </a:pPr>
            <a:r>
              <a:rPr sz="1800" b="0">
                <a:solidFill>
                  <a:srgbClr val="284B72"/>
                </a:solidFill>
                <a:latin typeface="Menlo"/>
                <a:ea typeface="Menlo"/>
                <a:cs typeface="Menlo"/>
              </a:rPr>
              <a:t>01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55CFAC58-DC5C-4EFD-8273-03FD647997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067050"/>
            <a:ext cx="249555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2500" b="1">
                <a:solidFill>
                  <a:srgbClr val="17191B"/>
                </a:solidFill>
                <a:latin typeface="AppleGothic"/>
                <a:ea typeface="AppleGothic"/>
                <a:cs typeface="AppleGothic"/>
              </a:defRPr>
            </a:defPPr>
          </a:lstStyle>
          <a:p xmlns:a="http://schemas.openxmlformats.org/drawingml/2006/main">
            <a:pPr algn="l">
              <a:lnSpc>
                <a:spcPct val="116000"/>
              </a:lnSpc>
              <a:buNone/>
              <a:defRPr sz="2500" b="1">
                <a:solidFill>
                  <a:srgbClr val="17191B"/>
                </a:solidFill>
                <a:latin typeface="AppleGothic"/>
                <a:ea typeface="AppleGothic"/>
                <a:cs typeface="AppleGothic"/>
              </a:defRPr>
            </a:pPr>
            <a:r>
              <a:rPr sz="2500" b="1">
                <a:solidFill>
                  <a:srgbClr val="17191B"/>
                </a:solidFill>
                <a:latin typeface="AppleGothic"/>
                <a:ea typeface="AppleGothic"/>
                <a:cs typeface="AppleGothic"/>
              </a:rPr>
              <a:t>질문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44F6FBD4-F778-4C9B-86D7-CDFC04A2A5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029075"/>
            <a:ext cx="2495550" cy="914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1800" b="0">
                <a:solidFill>
                  <a:srgbClr val="52606B"/>
                </a:solidFill>
                <a:latin typeface="AppleGothic"/>
                <a:ea typeface="AppleGothic"/>
                <a:cs typeface="AppleGothic"/>
              </a:defRPr>
            </a:defPPr>
          </a:lstStyle>
          <a:p xmlns:a="http://schemas.openxmlformats.org/drawingml/2006/main">
            <a:pPr algn="l">
              <a:lnSpc>
                <a:spcPct val="116000"/>
              </a:lnSpc>
              <a:buNone/>
              <a:defRPr sz="1800" b="0">
                <a:solidFill>
                  <a:srgbClr val="52606B"/>
                </a:solidFill>
                <a:latin typeface="AppleGothic"/>
                <a:ea typeface="AppleGothic"/>
                <a:cs typeface="AppleGothic"/>
              </a:defRPr>
            </a:pPr>
            <a:r>
              <a:rPr sz="1800" b="0">
                <a:solidFill>
                  <a:srgbClr val="52606B"/>
                </a:solidFill>
                <a:latin typeface="AppleGothic"/>
                <a:ea typeface="AppleGothic"/>
                <a:cs typeface="AppleGothic"/>
              </a:rPr>
              <a:t>같은 prompt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3C0DBAF0-A72A-4518-9500-8E2C869B4F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52800" y="2657475"/>
            <a:ext cx="152400" cy="1238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84B7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9281148D-2784-47EF-9615-4F89DF14D3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52800" y="2095500"/>
            <a:ext cx="25527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1800" b="0">
                <a:solidFill>
                  <a:srgbClr val="284B72"/>
                </a:solidFill>
                <a:latin typeface="Menlo"/>
                <a:ea typeface="Menlo"/>
                <a:cs typeface="Menlo"/>
              </a:defRPr>
            </a:defPPr>
          </a:lstStyle>
          <a:p xmlns:a="http://schemas.openxmlformats.org/drawingml/2006/main">
            <a:pPr algn="l">
              <a:lnSpc>
                <a:spcPct val="116000"/>
              </a:lnSpc>
              <a:buNone/>
              <a:defRPr sz="1800" b="0">
                <a:solidFill>
                  <a:srgbClr val="284B72"/>
                </a:solidFill>
                <a:latin typeface="Menlo"/>
                <a:ea typeface="Menlo"/>
                <a:cs typeface="Menlo"/>
              </a:defRPr>
            </a:pPr>
            <a:r>
              <a:rPr sz="1800" b="0">
                <a:solidFill>
                  <a:srgbClr val="284B72"/>
                </a:solidFill>
                <a:latin typeface="Menlo"/>
                <a:ea typeface="Menlo"/>
                <a:cs typeface="Menlo"/>
              </a:rPr>
              <a:t>02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8916207F-67EE-40E9-8902-A65707FAD1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52800" y="3067050"/>
            <a:ext cx="249555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2500" b="1">
                <a:solidFill>
                  <a:srgbClr val="17191B"/>
                </a:solidFill>
                <a:latin typeface="AppleGothic"/>
                <a:ea typeface="AppleGothic"/>
                <a:cs typeface="AppleGothic"/>
              </a:defRPr>
            </a:defPPr>
          </a:lstStyle>
          <a:p xmlns:a="http://schemas.openxmlformats.org/drawingml/2006/main">
            <a:pPr algn="l">
              <a:lnSpc>
                <a:spcPct val="116000"/>
              </a:lnSpc>
              <a:buNone/>
              <a:defRPr sz="2500" b="1">
                <a:solidFill>
                  <a:srgbClr val="17191B"/>
                </a:solidFill>
                <a:latin typeface="AppleGothic"/>
                <a:ea typeface="AppleGothic"/>
                <a:cs typeface="AppleGothic"/>
              </a:defRPr>
            </a:pPr>
            <a:r>
              <a:rPr sz="2500" b="1">
                <a:solidFill>
                  <a:srgbClr val="17191B"/>
                </a:solidFill>
                <a:latin typeface="AppleGothic"/>
                <a:ea typeface="AppleGothic"/>
                <a:cs typeface="AppleGothic"/>
              </a:rPr>
              <a:t>선호쌍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EBC2C63E-B1B3-4D95-B3BA-2EDF1C0D9D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52800" y="4029075"/>
            <a:ext cx="2495550" cy="914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1800" b="0">
                <a:solidFill>
                  <a:srgbClr val="52606B"/>
                </a:solidFill>
                <a:latin typeface="AppleGothic"/>
                <a:ea typeface="AppleGothic"/>
                <a:cs typeface="AppleGothic"/>
              </a:defRPr>
            </a:defPPr>
          </a:lstStyle>
          <a:p xmlns:a="http://schemas.openxmlformats.org/drawingml/2006/main">
            <a:pPr algn="l">
              <a:lnSpc>
                <a:spcPct val="116000"/>
              </a:lnSpc>
              <a:buNone/>
              <a:defRPr sz="1800" b="0">
                <a:solidFill>
                  <a:srgbClr val="52606B"/>
                </a:solidFill>
                <a:latin typeface="AppleGothic"/>
                <a:ea typeface="AppleGothic"/>
                <a:cs typeface="AppleGothic"/>
              </a:defRPr>
            </a:pPr>
            <a:r>
              <a:rPr sz="1800" b="0">
                <a:solidFill>
                  <a:srgbClr val="52606B"/>
                </a:solidFill>
                <a:latin typeface="AppleGothic"/>
                <a:ea typeface="AppleGothic"/>
                <a:cs typeface="AppleGothic"/>
              </a:rPr>
              <a:t>chosen / rejected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3EF8DC7D-5AAD-42BF-BCF0-373813B2B2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0" y="2657475"/>
            <a:ext cx="152400" cy="1238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84B7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12B599BB-CB1A-4F21-BB7E-39F7917167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0" y="2095500"/>
            <a:ext cx="25527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1800" b="0">
                <a:solidFill>
                  <a:srgbClr val="284B72"/>
                </a:solidFill>
                <a:latin typeface="Menlo"/>
                <a:ea typeface="Menlo"/>
                <a:cs typeface="Menlo"/>
              </a:defRPr>
            </a:defPPr>
          </a:lstStyle>
          <a:p xmlns:a="http://schemas.openxmlformats.org/drawingml/2006/main">
            <a:pPr algn="l">
              <a:lnSpc>
                <a:spcPct val="116000"/>
              </a:lnSpc>
              <a:buNone/>
              <a:defRPr sz="1800" b="0">
                <a:solidFill>
                  <a:srgbClr val="284B72"/>
                </a:solidFill>
                <a:latin typeface="Menlo"/>
                <a:ea typeface="Menlo"/>
                <a:cs typeface="Menlo"/>
              </a:defRPr>
            </a:pPr>
            <a:r>
              <a:rPr sz="1800" b="0">
                <a:solidFill>
                  <a:srgbClr val="284B72"/>
                </a:solidFill>
                <a:latin typeface="Menlo"/>
                <a:ea typeface="Menlo"/>
                <a:cs typeface="Menlo"/>
              </a:rPr>
              <a:t>03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297BFBB9-1DA4-4379-A114-68506F09E5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0" y="3067050"/>
            <a:ext cx="249555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2500" b="1">
                <a:solidFill>
                  <a:srgbClr val="17191B"/>
                </a:solidFill>
                <a:latin typeface="AppleGothic"/>
                <a:ea typeface="AppleGothic"/>
                <a:cs typeface="AppleGothic"/>
              </a:defRPr>
            </a:defPPr>
          </a:lstStyle>
          <a:p xmlns:a="http://schemas.openxmlformats.org/drawingml/2006/main">
            <a:pPr algn="l">
              <a:lnSpc>
                <a:spcPct val="116000"/>
              </a:lnSpc>
              <a:buNone/>
              <a:defRPr sz="2500" b="1">
                <a:solidFill>
                  <a:srgbClr val="17191B"/>
                </a:solidFill>
                <a:latin typeface="AppleGothic"/>
                <a:ea typeface="AppleGothic"/>
                <a:cs typeface="AppleGothic"/>
              </a:defRPr>
            </a:pPr>
            <a:r>
              <a:rPr sz="2500" b="1">
                <a:solidFill>
                  <a:srgbClr val="17191B"/>
                </a:solidFill>
                <a:latin typeface="AppleGothic"/>
                <a:ea typeface="AppleGothic"/>
                <a:cs typeface="AppleGothic"/>
              </a:rPr>
              <a:t>reference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09600004-3771-4CDB-968F-BD83D79506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0" y="4029075"/>
            <a:ext cx="2495550" cy="914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1800" b="0">
                <a:solidFill>
                  <a:srgbClr val="52606B"/>
                </a:solidFill>
                <a:latin typeface="AppleGothic"/>
                <a:ea typeface="AppleGothic"/>
                <a:cs typeface="AppleGothic"/>
              </a:defRPr>
            </a:defPPr>
          </a:lstStyle>
          <a:p xmlns:a="http://schemas.openxmlformats.org/drawingml/2006/main">
            <a:pPr algn="l">
              <a:lnSpc>
                <a:spcPct val="116000"/>
              </a:lnSpc>
              <a:buNone/>
              <a:defRPr sz="1800" b="0">
                <a:solidFill>
                  <a:srgbClr val="52606B"/>
                </a:solidFill>
                <a:latin typeface="AppleGothic"/>
                <a:ea typeface="AppleGothic"/>
                <a:cs typeface="AppleGothic"/>
              </a:defRPr>
            </a:pPr>
            <a:r>
              <a:rPr sz="1800" b="0">
                <a:solidFill>
                  <a:srgbClr val="52606B"/>
                </a:solidFill>
                <a:latin typeface="AppleGothic"/>
                <a:ea typeface="AppleGothic"/>
                <a:cs typeface="AppleGothic"/>
              </a:rPr>
              <a:t>고정 비교 정책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E2452789-9764-468E-8556-0FBDE157DB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39200" y="2657475"/>
            <a:ext cx="152400" cy="1238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84B7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51508AD0-4350-4A32-8938-A6D6C96B8B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39200" y="2095500"/>
            <a:ext cx="25527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1800" b="0">
                <a:solidFill>
                  <a:srgbClr val="284B72"/>
                </a:solidFill>
                <a:latin typeface="Menlo"/>
                <a:ea typeface="Menlo"/>
                <a:cs typeface="Menlo"/>
              </a:defRPr>
            </a:defPPr>
          </a:lstStyle>
          <a:p xmlns:a="http://schemas.openxmlformats.org/drawingml/2006/main">
            <a:pPr algn="l">
              <a:lnSpc>
                <a:spcPct val="116000"/>
              </a:lnSpc>
              <a:buNone/>
              <a:defRPr sz="1800" b="0">
                <a:solidFill>
                  <a:srgbClr val="284B72"/>
                </a:solidFill>
                <a:latin typeface="Menlo"/>
                <a:ea typeface="Menlo"/>
                <a:cs typeface="Menlo"/>
              </a:defRPr>
            </a:pPr>
            <a:r>
              <a:rPr sz="1800" b="0">
                <a:solidFill>
                  <a:srgbClr val="284B72"/>
                </a:solidFill>
                <a:latin typeface="Menlo"/>
                <a:ea typeface="Menlo"/>
                <a:cs typeface="Menlo"/>
              </a:rPr>
              <a:t>04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E4CD35BE-2520-4AF9-BB3C-0209BDAC41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39200" y="3067050"/>
            <a:ext cx="249555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2500" b="1">
                <a:solidFill>
                  <a:srgbClr val="17191B"/>
                </a:solidFill>
                <a:latin typeface="AppleGothic"/>
                <a:ea typeface="AppleGothic"/>
                <a:cs typeface="AppleGothic"/>
              </a:defRPr>
            </a:defPPr>
          </a:lstStyle>
          <a:p xmlns:a="http://schemas.openxmlformats.org/drawingml/2006/main">
            <a:pPr algn="l">
              <a:lnSpc>
                <a:spcPct val="116000"/>
              </a:lnSpc>
              <a:buNone/>
              <a:defRPr sz="2500" b="1">
                <a:solidFill>
                  <a:srgbClr val="17191B"/>
                </a:solidFill>
                <a:latin typeface="AppleGothic"/>
                <a:ea typeface="AppleGothic"/>
                <a:cs typeface="AppleGothic"/>
              </a:defRPr>
            </a:pPr>
            <a:r>
              <a:rPr sz="2500" b="1">
                <a:solidFill>
                  <a:srgbClr val="17191B"/>
                </a:solidFill>
                <a:latin typeface="AppleGothic"/>
                <a:ea typeface="AppleGothic"/>
                <a:cs typeface="AppleGothic"/>
              </a:rPr>
              <a:t>policy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6C9DC978-34FF-44B9-82AB-0934535C62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39200" y="4029075"/>
            <a:ext cx="2495550" cy="914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1800" b="0">
                <a:solidFill>
                  <a:srgbClr val="52606B"/>
                </a:solidFill>
                <a:latin typeface="AppleGothic"/>
                <a:ea typeface="AppleGothic"/>
                <a:cs typeface="AppleGothic"/>
              </a:defRPr>
            </a:defPPr>
          </a:lstStyle>
          <a:p xmlns:a="http://schemas.openxmlformats.org/drawingml/2006/main">
            <a:pPr algn="l">
              <a:lnSpc>
                <a:spcPct val="116000"/>
              </a:lnSpc>
              <a:buNone/>
              <a:defRPr sz="1800" b="0">
                <a:solidFill>
                  <a:srgbClr val="52606B"/>
                </a:solidFill>
                <a:latin typeface="AppleGothic"/>
                <a:ea typeface="AppleGothic"/>
                <a:cs typeface="AppleGothic"/>
              </a:defRPr>
            </a:pPr>
            <a:r>
              <a:rPr sz="1800" b="0">
                <a:solidFill>
                  <a:srgbClr val="52606B"/>
                </a:solidFill>
                <a:latin typeface="AppleGothic"/>
                <a:ea typeface="AppleGothic"/>
                <a:cs typeface="AppleGothic"/>
              </a:rPr>
              <a:t>학습 대상 모델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15DA505E-064D-4DD7-88D6-98F386A645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791200"/>
            <a:ext cx="109728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1600" b="0">
                <a:solidFill>
                  <a:srgbClr val="52606B"/>
                </a:solidFill>
                <a:latin typeface="AppleGothic"/>
                <a:ea typeface="AppleGothic"/>
                <a:cs typeface="AppleGothic"/>
              </a:defRPr>
            </a:defPPr>
          </a:lstStyle>
          <a:p xmlns:a="http://schemas.openxmlformats.org/drawingml/2006/main">
            <a:pPr algn="l">
              <a:lnSpc>
                <a:spcPct val="116000"/>
              </a:lnSpc>
              <a:buNone/>
              <a:defRPr sz="1600" b="0">
                <a:solidFill>
                  <a:srgbClr val="52606B"/>
                </a:solidFill>
                <a:latin typeface="AppleGothic"/>
                <a:ea typeface="AppleGothic"/>
                <a:cs typeface="AppleGothic"/>
              </a:defRPr>
            </a:pPr>
            <a:r>
              <a:rPr sz="1600" b="0">
                <a:solidFill>
                  <a:srgbClr val="52606B"/>
                </a:solidFill>
                <a:latin typeface="AppleGothic"/>
                <a:ea typeface="AppleGothic"/>
                <a:cs typeface="AppleGothic"/>
              </a:rPr>
              <a:t>선호쌍을 더 잘 구분하는 방향의 최적화 · 일반 정확성은 별도 평가</a:t>
            </a:r>
          </a:p>
        </p:txBody>
      </p:sp>
    </p:spTree>
    <p:extLst>
      <p:ext uri="{BB962C8B-B14F-4D97-AF65-F5344CB8AC3E}">
        <p14:creationId xmlns:p14="http://schemas.microsoft.com/office/powerpoint/2010/main" val="21967003"/>
      </p:ext>
    </p:extLst>
  </p:cSld>
</p:sld>
</file>

<file path=ppt/slides/slide42.xml><?xml version="1.0" encoding="utf-8"?>
<p:sld xmlns:p="http://schemas.openxmlformats.org/presentationml/2006/main">
  <p:cSld>
    <p:bg>
      <p:bgPr>
        <a:solidFill xmlns:a="http://schemas.openxmlformats.org/drawingml/2006/main">
          <a:srgbClr val="F7F7F5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C9FFA1A8-F148-4115-9568-E0906A5C33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47650"/>
            <a:ext cx="9525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1400" b="0">
                <a:solidFill>
                  <a:srgbClr val="52606B"/>
                </a:solidFill>
                <a:latin typeface="AppleGothic"/>
                <a:ea typeface="AppleGothic"/>
                <a:cs typeface="AppleGothic"/>
              </a:defRPr>
            </a:defPPr>
          </a:lstStyle>
          <a:p xmlns:a="http://schemas.openxmlformats.org/drawingml/2006/main">
            <a:pPr algn="l">
              <a:lnSpc>
                <a:spcPct val="116000"/>
              </a:lnSpc>
              <a:buNone/>
              <a:defRPr sz="1400" b="0">
                <a:solidFill>
                  <a:srgbClr val="52606B"/>
                </a:solidFill>
                <a:latin typeface="AppleGothic"/>
                <a:ea typeface="AppleGothic"/>
                <a:cs typeface="AppleGothic"/>
              </a:defRPr>
            </a:pPr>
            <a:r>
              <a:rPr sz="1400" b="0">
                <a:solidFill>
                  <a:srgbClr val="52606B"/>
                </a:solidFill>
                <a:latin typeface="AppleGothic"/>
                <a:ea typeface="AppleGothic"/>
                <a:cs typeface="AppleGothic"/>
              </a:rPr>
              <a:t>LLMOPS / W07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0136820D-8E95-42B1-9F18-5BF1D9A1CE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8500" y="247650"/>
            <a:ext cx="7239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r">
              <a:defRPr sz="1400" b="0">
                <a:solidFill>
                  <a:srgbClr val="52606B"/>
                </a:solidFill>
                <a:latin typeface="Menlo"/>
                <a:ea typeface="Menlo"/>
                <a:cs typeface="Menlo"/>
              </a:defRPr>
            </a:defPPr>
          </a:lstStyle>
          <a:p xmlns:a="http://schemas.openxmlformats.org/drawingml/2006/main">
            <a:pPr algn="r">
              <a:lnSpc>
                <a:spcPct val="116000"/>
              </a:lnSpc>
              <a:buNone/>
              <a:defRPr sz="1400" b="0">
                <a:solidFill>
                  <a:srgbClr val="52606B"/>
                </a:solidFill>
                <a:latin typeface="Menlo"/>
                <a:ea typeface="Menlo"/>
                <a:cs typeface="Menlo"/>
              </a:defRPr>
            </a:pPr>
            <a:r>
              <a:rPr sz="1400" b="0">
                <a:solidFill>
                  <a:srgbClr val="52606B"/>
                </a:solidFill>
                <a:latin typeface="Menlo"/>
                <a:ea typeface="Menlo"/>
                <a:cs typeface="Menlo"/>
              </a:rPr>
              <a:t>42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62F565F8-0F65-484D-8AE9-E8E54D2710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23900"/>
            <a:ext cx="109728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3400" b="1">
                <a:solidFill>
                  <a:srgbClr val="17191B"/>
                </a:solidFill>
                <a:latin typeface="AppleGothic"/>
                <a:ea typeface="AppleGothic"/>
                <a:cs typeface="AppleGothic"/>
              </a:defRPr>
            </a:defPPr>
          </a:lstStyle>
          <a:p xmlns:a="http://schemas.openxmlformats.org/drawingml/2006/main">
            <a:pPr algn="l">
              <a:lnSpc>
                <a:spcPct val="116000"/>
              </a:lnSpc>
              <a:buNone/>
              <a:defRPr sz="3400" b="1">
                <a:solidFill>
                  <a:srgbClr val="17191B"/>
                </a:solidFill>
                <a:latin typeface="AppleGothic"/>
                <a:ea typeface="AppleGothic"/>
                <a:cs typeface="AppleGothic"/>
              </a:defRPr>
            </a:pPr>
            <a:r>
              <a:rPr sz="3400" b="1">
                <a:solidFill>
                  <a:srgbClr val="17191B"/>
                </a:solidFill>
                <a:latin typeface="AppleGothic"/>
                <a:ea typeface="AppleGothic"/>
                <a:cs typeface="AppleGothic"/>
              </a:rPr>
              <a:t>DPO의 비교량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94E0F973-A089-4B75-817D-1A0996E48C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315075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FD5D3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D595CA4E-D6FA-4AD3-8352-FF98513BA6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77000"/>
            <a:ext cx="109728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1400" b="0">
                <a:solidFill>
                  <a:srgbClr val="52606B"/>
                </a:solidFill>
                <a:latin typeface="AppleGothic"/>
                <a:ea typeface="AppleGothic"/>
                <a:cs typeface="AppleGothic"/>
              </a:defRPr>
            </a:defPPr>
          </a:lstStyle>
          <a:p xmlns:a="http://schemas.openxmlformats.org/drawingml/2006/main">
            <a:pPr algn="l">
              <a:lnSpc>
                <a:spcPct val="116000"/>
              </a:lnSpc>
              <a:buNone/>
              <a:defRPr sz="1400" b="0">
                <a:solidFill>
                  <a:srgbClr val="52606B"/>
                </a:solidFill>
                <a:latin typeface="AppleGothic"/>
                <a:ea typeface="AppleGothic"/>
                <a:cs typeface="AppleGothic"/>
              </a:defRPr>
            </a:pPr>
            <a:r>
              <a:rPr sz="1400" b="0">
                <a:solidFill>
                  <a:srgbClr val="52606B"/>
                </a:solidFill>
                <a:latin typeface="AppleGothic"/>
                <a:ea typeface="AppleGothic"/>
                <a:cs typeface="AppleGothic"/>
              </a:rPr>
              <a:t>데이터 · 모델 적응 · 비교 평가 · 기획서 초안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D0F9A3AB-5B5C-4C6C-83AD-1581DDA9B0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038350"/>
            <a:ext cx="10972800" cy="1047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2800" b="1">
                <a:solidFill>
                  <a:srgbClr val="17191B"/>
                </a:solidFill>
                <a:latin typeface="AppleGothic"/>
                <a:ea typeface="AppleGothic"/>
                <a:cs typeface="AppleGothic"/>
              </a:defRPr>
            </a:defPPr>
          </a:lstStyle>
          <a:p xmlns:a="http://schemas.openxmlformats.org/drawingml/2006/main">
            <a:pPr algn="l">
              <a:lnSpc>
                <a:spcPct val="116000"/>
              </a:lnSpc>
              <a:buNone/>
              <a:defRPr sz="2800" b="1">
                <a:solidFill>
                  <a:srgbClr val="17191B"/>
                </a:solidFill>
                <a:latin typeface="AppleGothic"/>
                <a:ea typeface="AppleGothic"/>
                <a:cs typeface="AppleGothic"/>
              </a:defRPr>
            </a:pPr>
            <a:r>
              <a:rPr sz="2800" b="1">
                <a:solidFill>
                  <a:srgbClr val="17191B"/>
                </a:solidFill>
                <a:latin typeface="AppleGothic"/>
                <a:ea typeface="AppleGothic"/>
                <a:cs typeface="AppleGothic"/>
              </a:rPr>
              <a:t>m = policy 차이 − reference 차이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D0D6D507-34FF-43E1-B9CA-2A54243D33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40995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FD5D3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9A6D38E7-D2A8-42F8-9B4D-042A5997B8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867150"/>
            <a:ext cx="10668000" cy="352679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2200" b="0">
                <a:solidFill>
                  <a:srgbClr val="52606B"/>
                </a:solidFill>
                <a:latin typeface="AppleGothic"/>
                <a:ea typeface="AppleGothic"/>
                <a:cs typeface="AppleGothic"/>
              </a:defRPr>
            </a:defPPr>
          </a:lstStyle>
          <a:p xmlns:a="http://schemas.openxmlformats.org/drawingml/2006/main">
            <a:pPr algn="l">
              <a:lnSpc>
                <a:spcPct val="116000"/>
              </a:lnSpc>
              <a:buNone/>
              <a:defRPr sz="2200" b="0">
                <a:solidFill>
                  <a:srgbClr val="52606B"/>
                </a:solidFill>
                <a:latin typeface="AppleGothic"/>
                <a:ea typeface="AppleGothic"/>
                <a:cs typeface="AppleGothic"/>
              </a:defRPr>
            </a:pPr>
            <a:r>
              <a:rPr sz="2200" b="0">
                <a:solidFill>
                  <a:srgbClr val="52606B"/>
                </a:solidFill>
                <a:latin typeface="AppleGothic"/>
                <a:ea typeface="AppleGothic"/>
                <a:cs typeface="AppleGothic"/>
              </a:rPr>
              <a:t>각 차이 = log P(chosen) − log P(rejected)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C88EAC1F-7B2D-4033-A2BB-BF8A67BB71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467479"/>
            <a:ext cx="10668000" cy="352679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2200" b="0">
                <a:solidFill>
                  <a:srgbClr val="52606B"/>
                </a:solidFill>
                <a:latin typeface="AppleGothic"/>
                <a:ea typeface="AppleGothic"/>
                <a:cs typeface="AppleGothic"/>
              </a:defRPr>
            </a:defPPr>
          </a:lstStyle>
          <a:p xmlns:a="http://schemas.openxmlformats.org/drawingml/2006/main">
            <a:pPr algn="l">
              <a:lnSpc>
                <a:spcPct val="116000"/>
              </a:lnSpc>
              <a:buNone/>
              <a:defRPr sz="2200" b="0">
                <a:solidFill>
                  <a:srgbClr val="52606B"/>
                </a:solidFill>
                <a:latin typeface="AppleGothic"/>
                <a:ea typeface="AppleGothic"/>
                <a:cs typeface="AppleGothic"/>
              </a:defRPr>
            </a:pPr>
            <a:r>
              <a:rPr sz="2200" b="0">
                <a:solidFill>
                  <a:srgbClr val="52606B"/>
                </a:solidFill>
                <a:latin typeface="AppleGothic"/>
                <a:ea typeface="AppleGothic"/>
                <a:cs typeface="AppleGothic"/>
              </a:rPr>
              <a:t>시퀀스 log probability · Judge 점수 아님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628C87C3-39E1-4FC1-B2E9-C5B725AB36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791200"/>
            <a:ext cx="109728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1600" b="0">
                <a:solidFill>
                  <a:srgbClr val="52606B"/>
                </a:solidFill>
                <a:latin typeface="AppleGothic"/>
                <a:ea typeface="AppleGothic"/>
                <a:cs typeface="AppleGothic"/>
              </a:defRPr>
            </a:defPPr>
          </a:lstStyle>
          <a:p xmlns:a="http://schemas.openxmlformats.org/drawingml/2006/main">
            <a:pPr algn="l">
              <a:lnSpc>
                <a:spcPct val="116000"/>
              </a:lnSpc>
              <a:buNone/>
              <a:defRPr sz="1600" b="0">
                <a:solidFill>
                  <a:srgbClr val="52606B"/>
                </a:solidFill>
                <a:latin typeface="AppleGothic"/>
                <a:ea typeface="AppleGothic"/>
                <a:cs typeface="AppleGothic"/>
              </a:defRPr>
            </a:pPr>
            <a:r>
              <a:rPr sz="1600" b="0">
                <a:solidFill>
                  <a:srgbClr val="52606B"/>
                </a:solidFill>
                <a:latin typeface="AppleGothic"/>
                <a:ea typeface="AppleGothic"/>
                <a:cs typeface="AppleGothic"/>
              </a:rPr>
              <a:t>입력·토큰화·종료 조건을 같은 기준으로 계산</a:t>
            </a:r>
          </a:p>
        </p:txBody>
      </p:sp>
    </p:spTree>
    <p:extLst>
      <p:ext uri="{BB962C8B-B14F-4D97-AF65-F5344CB8AC3E}">
        <p14:creationId xmlns:p14="http://schemas.microsoft.com/office/powerpoint/2010/main" val="623104617"/>
      </p:ext>
    </p:extLst>
  </p:cSld>
</p:sld>
</file>

<file path=ppt/slides/slide43.xml><?xml version="1.0" encoding="utf-8"?>
<p:sld xmlns:p="http://schemas.openxmlformats.org/presentationml/2006/main">
  <p:cSld>
    <p:bg>
      <p:bgPr>
        <a:solidFill xmlns:a="http://schemas.openxmlformats.org/drawingml/2006/main">
          <a:srgbClr val="F7F7F5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511A50BC-569D-4BDF-8A9A-FC72092477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47650"/>
            <a:ext cx="9525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1400" b="0">
                <a:solidFill>
                  <a:srgbClr val="52606B"/>
                </a:solidFill>
                <a:latin typeface="AppleGothic"/>
                <a:ea typeface="AppleGothic"/>
                <a:cs typeface="AppleGothic"/>
              </a:defRPr>
            </a:defPPr>
          </a:lstStyle>
          <a:p xmlns:a="http://schemas.openxmlformats.org/drawingml/2006/main">
            <a:pPr algn="l">
              <a:lnSpc>
                <a:spcPct val="116000"/>
              </a:lnSpc>
              <a:buNone/>
              <a:defRPr sz="1400" b="0">
                <a:solidFill>
                  <a:srgbClr val="52606B"/>
                </a:solidFill>
                <a:latin typeface="AppleGothic"/>
                <a:ea typeface="AppleGothic"/>
                <a:cs typeface="AppleGothic"/>
              </a:defRPr>
            </a:pPr>
            <a:r>
              <a:rPr sz="1400" b="0">
                <a:solidFill>
                  <a:srgbClr val="52606B"/>
                </a:solidFill>
                <a:latin typeface="AppleGothic"/>
                <a:ea typeface="AppleGothic"/>
                <a:cs typeface="AppleGothic"/>
              </a:rPr>
              <a:t>LLMOPS / W07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18612E9B-C112-4547-BA56-66059169D4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8500" y="247650"/>
            <a:ext cx="7239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r">
              <a:defRPr sz="1400" b="0">
                <a:solidFill>
                  <a:srgbClr val="52606B"/>
                </a:solidFill>
                <a:latin typeface="Menlo"/>
                <a:ea typeface="Menlo"/>
                <a:cs typeface="Menlo"/>
              </a:defRPr>
            </a:defPPr>
          </a:lstStyle>
          <a:p xmlns:a="http://schemas.openxmlformats.org/drawingml/2006/main">
            <a:pPr algn="r">
              <a:lnSpc>
                <a:spcPct val="116000"/>
              </a:lnSpc>
              <a:buNone/>
              <a:defRPr sz="1400" b="0">
                <a:solidFill>
                  <a:srgbClr val="52606B"/>
                </a:solidFill>
                <a:latin typeface="Menlo"/>
                <a:ea typeface="Menlo"/>
                <a:cs typeface="Menlo"/>
              </a:defRPr>
            </a:pPr>
            <a:r>
              <a:rPr sz="1400" b="0">
                <a:solidFill>
                  <a:srgbClr val="52606B"/>
                </a:solidFill>
                <a:latin typeface="Menlo"/>
                <a:ea typeface="Menlo"/>
                <a:cs typeface="Menlo"/>
              </a:rPr>
              <a:t>43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B43ACB59-DDF5-4E06-AF31-5B5AAADCAB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23900"/>
            <a:ext cx="109728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3400" b="1">
                <a:solidFill>
                  <a:srgbClr val="17191B"/>
                </a:solidFill>
                <a:latin typeface="AppleGothic"/>
                <a:ea typeface="AppleGothic"/>
                <a:cs typeface="AppleGothic"/>
              </a:defRPr>
            </a:defPPr>
          </a:lstStyle>
          <a:p xmlns:a="http://schemas.openxmlformats.org/drawingml/2006/main">
            <a:pPr algn="l">
              <a:lnSpc>
                <a:spcPct val="116000"/>
              </a:lnSpc>
              <a:buNone/>
              <a:defRPr sz="3400" b="1">
                <a:solidFill>
                  <a:srgbClr val="17191B"/>
                </a:solidFill>
                <a:latin typeface="AppleGothic"/>
                <a:ea typeface="AppleGothic"/>
                <a:cs typeface="AppleGothic"/>
              </a:defRPr>
            </a:pPr>
            <a:r>
              <a:rPr sz="3400" b="1">
                <a:solidFill>
                  <a:srgbClr val="17191B"/>
                </a:solidFill>
                <a:latin typeface="AppleGothic"/>
                <a:ea typeface="AppleGothic"/>
                <a:cs typeface="AppleGothic"/>
              </a:rPr>
              <a:t>DPO 손실의 방향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9B370C08-F71C-4EA7-A660-0DC57E63FC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315075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FD5D3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AC362C26-7274-4B5E-AE8D-34F248BEF2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77000"/>
            <a:ext cx="109728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1400" b="0">
                <a:solidFill>
                  <a:srgbClr val="52606B"/>
                </a:solidFill>
                <a:latin typeface="AppleGothic"/>
                <a:ea typeface="AppleGothic"/>
                <a:cs typeface="AppleGothic"/>
              </a:defRPr>
            </a:defPPr>
          </a:lstStyle>
          <a:p xmlns:a="http://schemas.openxmlformats.org/drawingml/2006/main">
            <a:pPr algn="l">
              <a:lnSpc>
                <a:spcPct val="116000"/>
              </a:lnSpc>
              <a:buNone/>
              <a:defRPr sz="1400" b="0">
                <a:solidFill>
                  <a:srgbClr val="52606B"/>
                </a:solidFill>
                <a:latin typeface="AppleGothic"/>
                <a:ea typeface="AppleGothic"/>
                <a:cs typeface="AppleGothic"/>
              </a:defRPr>
            </a:pPr>
            <a:r>
              <a:rPr sz="1400" b="0">
                <a:solidFill>
                  <a:srgbClr val="52606B"/>
                </a:solidFill>
                <a:latin typeface="AppleGothic"/>
                <a:ea typeface="AppleGothic"/>
                <a:cs typeface="AppleGothic"/>
              </a:rPr>
              <a:t>데이터 · 모델 적응 · 비교 평가 · 기획서 초안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0DEA9D96-A3DF-4FF8-BE2D-FF564C3DAC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038350"/>
            <a:ext cx="10972800" cy="1047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2800" b="1">
                <a:solidFill>
                  <a:srgbClr val="17191B"/>
                </a:solidFill>
                <a:latin typeface="AppleGothic"/>
                <a:ea typeface="AppleGothic"/>
                <a:cs typeface="AppleGothic"/>
              </a:defRPr>
            </a:defPPr>
          </a:lstStyle>
          <a:p xmlns:a="http://schemas.openxmlformats.org/drawingml/2006/main">
            <a:pPr algn="l">
              <a:lnSpc>
                <a:spcPct val="116000"/>
              </a:lnSpc>
              <a:buNone/>
              <a:defRPr sz="2800" b="1">
                <a:solidFill>
                  <a:srgbClr val="17191B"/>
                </a:solidFill>
                <a:latin typeface="AppleGothic"/>
                <a:ea typeface="AppleGothic"/>
                <a:cs typeface="AppleGothic"/>
              </a:defRPr>
            </a:pPr>
            <a:r>
              <a:rPr sz="2800" b="1">
                <a:solidFill>
                  <a:srgbClr val="17191B"/>
                </a:solidFill>
                <a:latin typeface="AppleGothic"/>
                <a:ea typeface="AppleGothic"/>
                <a:cs typeface="AppleGothic"/>
              </a:rPr>
              <a:t>Loss = −log sigmoid(β · m)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3E5D2977-4D56-48D0-AE8C-C100D909A6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40995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FD5D3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0F73D595-0006-44EA-96FF-3B204B672A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867150"/>
            <a:ext cx="10668000" cy="352679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2200" b="0">
                <a:solidFill>
                  <a:srgbClr val="52606B"/>
                </a:solidFill>
                <a:latin typeface="AppleGothic"/>
                <a:ea typeface="AppleGothic"/>
                <a:cs typeface="AppleGothic"/>
              </a:defRPr>
            </a:defPPr>
          </a:lstStyle>
          <a:p xmlns:a="http://schemas.openxmlformats.org/drawingml/2006/main">
            <a:pPr algn="l">
              <a:lnSpc>
                <a:spcPct val="116000"/>
              </a:lnSpc>
              <a:buNone/>
              <a:defRPr sz="2200" b="0">
                <a:solidFill>
                  <a:srgbClr val="52606B"/>
                </a:solidFill>
                <a:latin typeface="AppleGothic"/>
                <a:ea typeface="AppleGothic"/>
                <a:cs typeface="AppleGothic"/>
              </a:defRPr>
            </a:pPr>
            <a:r>
              <a:rPr sz="2200" b="0">
                <a:solidFill>
                  <a:srgbClr val="52606B"/>
                </a:solidFill>
                <a:latin typeface="AppleGothic"/>
                <a:ea typeface="AppleGothic"/>
                <a:cs typeface="AppleGothic"/>
              </a:rPr>
              <a:t>m이 증가하면 해당 선호쌍의 손실 감소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8CDC00A6-0402-4579-866F-9B90A093C3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467479"/>
            <a:ext cx="10668000" cy="352679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2200" b="0">
                <a:solidFill>
                  <a:srgbClr val="52606B"/>
                </a:solidFill>
                <a:latin typeface="AppleGothic"/>
                <a:ea typeface="AppleGothic"/>
                <a:cs typeface="AppleGothic"/>
              </a:defRPr>
            </a:defPPr>
          </a:lstStyle>
          <a:p xmlns:a="http://schemas.openxmlformats.org/drawingml/2006/main">
            <a:pPr algn="l">
              <a:lnSpc>
                <a:spcPct val="116000"/>
              </a:lnSpc>
              <a:buNone/>
              <a:defRPr sz="2200" b="0">
                <a:solidFill>
                  <a:srgbClr val="52606B"/>
                </a:solidFill>
                <a:latin typeface="AppleGothic"/>
                <a:ea typeface="AppleGothic"/>
                <a:cs typeface="AppleGothic"/>
              </a:defRPr>
            </a:pPr>
            <a:r>
              <a:rPr sz="2200" b="0">
                <a:solidFill>
                  <a:srgbClr val="52606B"/>
                </a:solidFill>
                <a:latin typeface="AppleGothic"/>
                <a:ea typeface="AppleGothic"/>
                <a:cs typeface="AppleGothic"/>
              </a:rPr>
              <a:t>β: reference 대비 변화의 제어와 관련된 설정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4B7C3C9F-B9C8-4837-9645-42A09F209C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791200"/>
            <a:ext cx="109728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1600" b="0">
                <a:solidFill>
                  <a:srgbClr val="52606B"/>
                </a:solidFill>
                <a:latin typeface="AppleGothic"/>
                <a:ea typeface="AppleGothic"/>
                <a:cs typeface="AppleGothic"/>
              </a:defRPr>
            </a:defPPr>
          </a:lstStyle>
          <a:p xmlns:a="http://schemas.openxmlformats.org/drawingml/2006/main">
            <a:pPr algn="l">
              <a:lnSpc>
                <a:spcPct val="116000"/>
              </a:lnSpc>
              <a:buNone/>
              <a:defRPr sz="1600" b="0">
                <a:solidFill>
                  <a:srgbClr val="52606B"/>
                </a:solidFill>
                <a:latin typeface="AppleGothic"/>
                <a:ea typeface="AppleGothic"/>
                <a:cs typeface="AppleGothic"/>
              </a:defRPr>
            </a:pPr>
            <a:r>
              <a:rPr sz="1600" b="0">
                <a:solidFill>
                  <a:srgbClr val="52606B"/>
                </a:solidFill>
                <a:latin typeface="AppleGothic"/>
                <a:ea typeface="AppleGothic"/>
                <a:cs typeface="AppleGothic"/>
              </a:rPr>
              <a:t>한 쌍의 손실 감소가 서비스 품질 향상 전체를 뜻하지 않음</a:t>
            </a:r>
          </a:p>
        </p:txBody>
      </p:sp>
    </p:spTree>
    <p:extLst>
      <p:ext uri="{BB962C8B-B14F-4D97-AF65-F5344CB8AC3E}">
        <p14:creationId xmlns:p14="http://schemas.microsoft.com/office/powerpoint/2010/main" val="1192346822"/>
      </p:ext>
    </p:extLst>
  </p:cSld>
</p:sld>
</file>

<file path=ppt/slides/slide44.xml><?xml version="1.0" encoding="utf-8"?>
<p:sld xmlns:p="http://schemas.openxmlformats.org/presentationml/2006/main">
  <p:cSld>
    <p:bg>
      <p:bgPr>
        <a:solidFill xmlns:a="http://schemas.openxmlformats.org/drawingml/2006/main">
          <a:srgbClr val="F7F7F5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9B4352CD-83CD-4A31-A056-3A52BAC3D9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47650"/>
            <a:ext cx="9525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1400" b="0">
                <a:solidFill>
                  <a:srgbClr val="52606B"/>
                </a:solidFill>
                <a:latin typeface="AppleGothic"/>
                <a:ea typeface="AppleGothic"/>
                <a:cs typeface="AppleGothic"/>
              </a:defRPr>
            </a:defPPr>
          </a:lstStyle>
          <a:p xmlns:a="http://schemas.openxmlformats.org/drawingml/2006/main">
            <a:pPr algn="l">
              <a:lnSpc>
                <a:spcPct val="116000"/>
              </a:lnSpc>
              <a:buNone/>
              <a:defRPr sz="1400" b="0">
                <a:solidFill>
                  <a:srgbClr val="52606B"/>
                </a:solidFill>
                <a:latin typeface="AppleGothic"/>
                <a:ea typeface="AppleGothic"/>
                <a:cs typeface="AppleGothic"/>
              </a:defRPr>
            </a:pPr>
            <a:r>
              <a:rPr sz="1400" b="0">
                <a:solidFill>
                  <a:srgbClr val="52606B"/>
                </a:solidFill>
                <a:latin typeface="AppleGothic"/>
                <a:ea typeface="AppleGothic"/>
                <a:cs typeface="AppleGothic"/>
              </a:rPr>
              <a:t>LLMOPS / W07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CF72357D-36E4-4B5C-854F-658F546C4F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8500" y="247650"/>
            <a:ext cx="7239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r">
              <a:defRPr sz="1400" b="0">
                <a:solidFill>
                  <a:srgbClr val="52606B"/>
                </a:solidFill>
                <a:latin typeface="Menlo"/>
                <a:ea typeface="Menlo"/>
                <a:cs typeface="Menlo"/>
              </a:defRPr>
            </a:defPPr>
          </a:lstStyle>
          <a:p xmlns:a="http://schemas.openxmlformats.org/drawingml/2006/main">
            <a:pPr algn="r">
              <a:lnSpc>
                <a:spcPct val="116000"/>
              </a:lnSpc>
              <a:buNone/>
              <a:defRPr sz="1400" b="0">
                <a:solidFill>
                  <a:srgbClr val="52606B"/>
                </a:solidFill>
                <a:latin typeface="Menlo"/>
                <a:ea typeface="Menlo"/>
                <a:cs typeface="Menlo"/>
              </a:defRPr>
            </a:pPr>
            <a:r>
              <a:rPr sz="1400" b="0">
                <a:solidFill>
                  <a:srgbClr val="52606B"/>
                </a:solidFill>
                <a:latin typeface="Menlo"/>
                <a:ea typeface="Menlo"/>
                <a:cs typeface="Menlo"/>
              </a:rPr>
              <a:t>44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C946B28C-2F41-4C5D-9A49-75AF59C41B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23900"/>
            <a:ext cx="109728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3400" b="1">
                <a:solidFill>
                  <a:srgbClr val="17191B"/>
                </a:solidFill>
                <a:latin typeface="AppleGothic"/>
                <a:ea typeface="AppleGothic"/>
                <a:cs typeface="AppleGothic"/>
              </a:defRPr>
            </a:defPPr>
          </a:lstStyle>
          <a:p xmlns:a="http://schemas.openxmlformats.org/drawingml/2006/main">
            <a:pPr algn="l">
              <a:lnSpc>
                <a:spcPct val="116000"/>
              </a:lnSpc>
              <a:buNone/>
              <a:defRPr sz="3400" b="1">
                <a:solidFill>
                  <a:srgbClr val="17191B"/>
                </a:solidFill>
                <a:latin typeface="AppleGothic"/>
                <a:ea typeface="AppleGothic"/>
                <a:cs typeface="AppleGothic"/>
              </a:defRPr>
            </a:pPr>
            <a:r>
              <a:rPr sz="3400" b="1">
                <a:solidFill>
                  <a:srgbClr val="17191B"/>
                </a:solidFill>
                <a:latin typeface="AppleGothic"/>
                <a:ea typeface="AppleGothic"/>
                <a:cs typeface="AppleGothic"/>
              </a:rPr>
              <a:t>손실의 수치 계산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CD8DD696-54CC-47D8-9A17-492B3FDA74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315075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FD5D3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530D692C-0D24-43A7-A7F1-A8AE38D900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77000"/>
            <a:ext cx="109728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1400" b="0">
                <a:solidFill>
                  <a:srgbClr val="52606B"/>
                </a:solidFill>
                <a:latin typeface="AppleGothic"/>
                <a:ea typeface="AppleGothic"/>
                <a:cs typeface="AppleGothic"/>
              </a:defRPr>
            </a:defPPr>
          </a:lstStyle>
          <a:p xmlns:a="http://schemas.openxmlformats.org/drawingml/2006/main">
            <a:pPr algn="l">
              <a:lnSpc>
                <a:spcPct val="116000"/>
              </a:lnSpc>
              <a:buNone/>
              <a:defRPr sz="1400" b="0">
                <a:solidFill>
                  <a:srgbClr val="52606B"/>
                </a:solidFill>
                <a:latin typeface="AppleGothic"/>
                <a:ea typeface="AppleGothic"/>
                <a:cs typeface="AppleGothic"/>
              </a:defRPr>
            </a:pPr>
            <a:r>
              <a:rPr sz="1400" b="0">
                <a:solidFill>
                  <a:srgbClr val="52606B"/>
                </a:solidFill>
                <a:latin typeface="AppleGothic"/>
                <a:ea typeface="AppleGothic"/>
                <a:cs typeface="AppleGothic"/>
              </a:rPr>
              <a:t>데이터 · 모델 적응 · 비교 평가 · 기획서 초안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EC13389A-9E90-4093-ABE2-C6FB23E8C4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981200"/>
            <a:ext cx="10972800" cy="178231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283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84E651DD-EE7B-4BDD-B63B-4A337ECF5B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2286000"/>
            <a:ext cx="10477500" cy="121081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1800" b="0">
                <a:solidFill>
                  <a:srgbClr val="FFFFFF"/>
                </a:solidFill>
                <a:latin typeface="Menlo"/>
                <a:ea typeface="Menlo"/>
                <a:cs typeface="Menlo"/>
              </a:defRPr>
            </a:defPPr>
          </a:lstStyle>
          <a:p xmlns:a="http://schemas.openxmlformats.org/drawingml/2006/main">
            <a:pPr algn="l">
              <a:lnSpc>
                <a:spcPct val="116000"/>
              </a:lnSpc>
              <a:buNone/>
              <a:defRPr sz="1800" b="0">
                <a:solidFill>
                  <a:srgbClr val="FFFFFF"/>
                </a:solidFill>
                <a:latin typeface="Menlo"/>
                <a:ea typeface="Menlo"/>
                <a:cs typeface="Menlo"/>
              </a:defRPr>
            </a:pPr>
            <a:r>
              <a:rPr sz="1800" b="0">
                <a:solidFill>
                  <a:srgbClr val="FFFFFF"/>
                </a:solidFill>
                <a:latin typeface="Menlo"/>
                <a:ea typeface="Menlo"/>
                <a:cs typeface="Menlo"/>
              </a:rPr>
              <a:t>loss0 = dpo_loss(-3, -3, -3, -3, .1)</a:t>
            </a:r>
          </a:p>
          <a:p xmlns:a="http://schemas.openxmlformats.org/drawingml/2006/main">
            <a:pPr algn="l">
              <a:lnSpc>
                <a:spcPct val="116000"/>
              </a:lnSpc>
              <a:buNone/>
              <a:defRPr sz="1800" b="0">
                <a:solidFill>
                  <a:srgbClr val="FFFFFF"/>
                </a:solidFill>
                <a:latin typeface="Menlo"/>
                <a:ea typeface="Menlo"/>
                <a:cs typeface="Menlo"/>
              </a:defRPr>
            </a:pPr>
            <a:r>
              <a:rPr sz="1800" b="0">
                <a:solidFill>
                  <a:srgbClr val="FFFFFF"/>
                </a:solidFill>
                <a:latin typeface="Menlo"/>
                <a:ea typeface="Menlo"/>
                <a:cs typeface="Menlo"/>
              </a:rPr>
              <a:t>good = dpo_loss(-2, -5, -3, -3, .1)</a:t>
            </a:r>
          </a:p>
          <a:p xmlns:a="http://schemas.openxmlformats.org/drawingml/2006/main">
            <a:pPr algn="l">
              <a:lnSpc>
                <a:spcPct val="116000"/>
              </a:lnSpc>
              <a:buNone/>
              <a:defRPr sz="1800" b="0">
                <a:solidFill>
                  <a:srgbClr val="FFFFFF"/>
                </a:solidFill>
                <a:latin typeface="Menlo"/>
                <a:ea typeface="Menlo"/>
                <a:cs typeface="Menlo"/>
              </a:defRPr>
            </a:pPr>
            <a:r>
              <a:rPr sz="1800" b="0">
                <a:solidFill>
                  <a:srgbClr val="FFFFFF"/>
                </a:solidFill>
                <a:latin typeface="Menlo"/>
                <a:ea typeface="Menlo"/>
                <a:cs typeface="Menlo"/>
              </a:rPr>
              <a:t>bad = dpo_loss(-5, -2, -3, -3, .1)</a:t>
            </a:r>
          </a:p>
          <a:p xmlns:a="http://schemas.openxmlformats.org/drawingml/2006/main">
            <a:pPr algn="l">
              <a:lnSpc>
                <a:spcPct val="116000"/>
              </a:lnSpc>
              <a:buNone/>
              <a:defRPr sz="1800" b="0">
                <a:solidFill>
                  <a:srgbClr val="FFFFFF"/>
                </a:solidFill>
                <a:latin typeface="Menlo"/>
                <a:ea typeface="Menlo"/>
                <a:cs typeface="Menlo"/>
              </a:defRPr>
            </a:pPr>
            <a:r>
              <a:rPr sz="1800" b="0">
                <a:solidFill>
                  <a:srgbClr val="FFFFFF"/>
                </a:solidFill>
                <a:latin typeface="Menlo"/>
                <a:ea typeface="Menlo"/>
                <a:cs typeface="Menlo"/>
              </a:rPr>
              <a:t>assert good &lt; loss0 &lt; bad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9A097CEE-6266-4BA7-8F78-3840800AAE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791200"/>
            <a:ext cx="109728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1600" b="0">
                <a:solidFill>
                  <a:srgbClr val="52606B"/>
                </a:solidFill>
                <a:latin typeface="AppleGothic"/>
                <a:ea typeface="AppleGothic"/>
                <a:cs typeface="AppleGothic"/>
              </a:defRPr>
            </a:defPPr>
          </a:lstStyle>
          <a:p xmlns:a="http://schemas.openxmlformats.org/drawingml/2006/main">
            <a:pPr algn="l">
              <a:lnSpc>
                <a:spcPct val="116000"/>
              </a:lnSpc>
              <a:buNone/>
              <a:defRPr sz="1600" b="0">
                <a:solidFill>
                  <a:srgbClr val="52606B"/>
                </a:solidFill>
                <a:latin typeface="AppleGothic"/>
                <a:ea typeface="AppleGothic"/>
                <a:cs typeface="AppleGothic"/>
              </a:defRPr>
            </a:pPr>
            <a:r>
              <a:rPr sz="1600" b="0">
                <a:solidFill>
                  <a:srgbClr val="52606B"/>
                </a:solidFill>
                <a:latin typeface="AppleGothic"/>
                <a:ea typeface="AppleGothic"/>
                <a:cs typeface="AppleGothic"/>
              </a:rPr>
              <a:t>Notebook 03 · logaddexp로 수치 안정성 확보</a:t>
            </a:r>
          </a:p>
        </p:txBody>
      </p:sp>
    </p:spTree>
    <p:extLst>
      <p:ext uri="{BB962C8B-B14F-4D97-AF65-F5344CB8AC3E}">
        <p14:creationId xmlns:p14="http://schemas.microsoft.com/office/powerpoint/2010/main" val="824917669"/>
      </p:ext>
    </p:extLst>
  </p:cSld>
</p:sld>
</file>

<file path=ppt/slides/slide45.xml><?xml version="1.0" encoding="utf-8"?>
<p:sld xmlns:p="http://schemas.openxmlformats.org/presentationml/2006/main">
  <p:cSld>
    <p:bg>
      <p:bgPr>
        <a:solidFill xmlns:a="http://schemas.openxmlformats.org/drawingml/2006/main">
          <a:srgbClr val="F7F7F5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8D97947D-EA91-4626-8277-D2F5F43380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47650"/>
            <a:ext cx="9525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1400" b="0">
                <a:solidFill>
                  <a:srgbClr val="52606B"/>
                </a:solidFill>
                <a:latin typeface="AppleGothic"/>
                <a:ea typeface="AppleGothic"/>
                <a:cs typeface="AppleGothic"/>
              </a:defRPr>
            </a:defPPr>
          </a:lstStyle>
          <a:p xmlns:a="http://schemas.openxmlformats.org/drawingml/2006/main">
            <a:pPr algn="l">
              <a:lnSpc>
                <a:spcPct val="116000"/>
              </a:lnSpc>
              <a:buNone/>
              <a:defRPr sz="1400" b="0">
                <a:solidFill>
                  <a:srgbClr val="52606B"/>
                </a:solidFill>
                <a:latin typeface="AppleGothic"/>
                <a:ea typeface="AppleGothic"/>
                <a:cs typeface="AppleGothic"/>
              </a:defRPr>
            </a:pPr>
            <a:r>
              <a:rPr sz="1400" b="0">
                <a:solidFill>
                  <a:srgbClr val="52606B"/>
                </a:solidFill>
                <a:latin typeface="AppleGothic"/>
                <a:ea typeface="AppleGothic"/>
                <a:cs typeface="AppleGothic"/>
              </a:rPr>
              <a:t>LLMOPS / W07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7FB9D838-DDD7-45C3-B5EF-7FB7FCCC26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8500" y="247650"/>
            <a:ext cx="7239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r">
              <a:defRPr sz="1400" b="0">
                <a:solidFill>
                  <a:srgbClr val="52606B"/>
                </a:solidFill>
                <a:latin typeface="Menlo"/>
                <a:ea typeface="Menlo"/>
                <a:cs typeface="Menlo"/>
              </a:defRPr>
            </a:defPPr>
          </a:lstStyle>
          <a:p xmlns:a="http://schemas.openxmlformats.org/drawingml/2006/main">
            <a:pPr algn="r">
              <a:lnSpc>
                <a:spcPct val="116000"/>
              </a:lnSpc>
              <a:buNone/>
              <a:defRPr sz="1400" b="0">
                <a:solidFill>
                  <a:srgbClr val="52606B"/>
                </a:solidFill>
                <a:latin typeface="Menlo"/>
                <a:ea typeface="Menlo"/>
                <a:cs typeface="Menlo"/>
              </a:defRPr>
            </a:pPr>
            <a:r>
              <a:rPr sz="1400" b="0">
                <a:solidFill>
                  <a:srgbClr val="52606B"/>
                </a:solidFill>
                <a:latin typeface="Menlo"/>
                <a:ea typeface="Menlo"/>
                <a:cs typeface="Menlo"/>
              </a:rPr>
              <a:t>45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717C26D8-EB97-43AB-A353-76658970CD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23900"/>
            <a:ext cx="109728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3400" b="1">
                <a:solidFill>
                  <a:srgbClr val="17191B"/>
                </a:solidFill>
                <a:latin typeface="AppleGothic"/>
                <a:ea typeface="AppleGothic"/>
                <a:cs typeface="AppleGothic"/>
              </a:defRPr>
            </a:defPPr>
          </a:lstStyle>
          <a:p xmlns:a="http://schemas.openxmlformats.org/drawingml/2006/main">
            <a:pPr algn="l">
              <a:lnSpc>
                <a:spcPct val="116000"/>
              </a:lnSpc>
              <a:buNone/>
              <a:defRPr sz="3400" b="1">
                <a:solidFill>
                  <a:srgbClr val="17191B"/>
                </a:solidFill>
                <a:latin typeface="AppleGothic"/>
                <a:ea typeface="AppleGothic"/>
                <a:cs typeface="AppleGothic"/>
              </a:defRPr>
            </a:pPr>
            <a:r>
              <a:rPr sz="3400" b="1">
                <a:solidFill>
                  <a:srgbClr val="17191B"/>
                </a:solidFill>
                <a:latin typeface="AppleGothic"/>
                <a:ea typeface="AppleGothic"/>
                <a:cs typeface="AppleGothic"/>
              </a:rPr>
              <a:t>고정 log probability의 비교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5724B9F5-8B36-4C34-9368-652F6290EA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315075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FD5D3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CDA37FBD-9250-45CE-ACE7-C58EFBCF71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77000"/>
            <a:ext cx="109728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1400" b="0">
                <a:solidFill>
                  <a:srgbClr val="52606B"/>
                </a:solidFill>
                <a:latin typeface="AppleGothic"/>
                <a:ea typeface="AppleGothic"/>
                <a:cs typeface="AppleGothic"/>
              </a:defRPr>
            </a:defPPr>
          </a:lstStyle>
          <a:p xmlns:a="http://schemas.openxmlformats.org/drawingml/2006/main">
            <a:pPr algn="l">
              <a:lnSpc>
                <a:spcPct val="116000"/>
              </a:lnSpc>
              <a:buNone/>
              <a:defRPr sz="1400" b="0">
                <a:solidFill>
                  <a:srgbClr val="52606B"/>
                </a:solidFill>
                <a:latin typeface="AppleGothic"/>
                <a:ea typeface="AppleGothic"/>
                <a:cs typeface="AppleGothic"/>
              </a:defRPr>
            </a:pPr>
            <a:r>
              <a:rPr sz="1400" b="0">
                <a:solidFill>
                  <a:srgbClr val="52606B"/>
                </a:solidFill>
                <a:latin typeface="AppleGothic"/>
                <a:ea typeface="AppleGothic"/>
                <a:cs typeface="AppleGothic"/>
              </a:rPr>
              <a:t>데이터 · 모델 적응 · 비교 평가 · 기획서 초안</a:t>
            </a:r>
          </a:p>
        </p:txBody>
      </p:sp>
      <p:graphicFrame>
        <p:nvGraphicFrame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626DAA71-2B24-40C7-A272-58EDF711F539}"/>
              </a:ext>
            </a:extLst>
          </p:cNvPr>
          <p:cNvGraphicFramePr/>
          <p:nvPr/>
        </p:nvGraphicFramePr>
        <p:xfrm>
          <a:off xmlns:a="http://schemas.openxmlformats.org/drawingml/2006/main" x="609600" y="1809750"/>
          <a:ext xmlns:a="http://schemas.openxmlformats.org/drawingml/2006/main" cx="10972800" cy="2971800"/>
        </p:xfrm>
        <a:graphic xmlns:a="http://schemas.openxmlformats.org/drawingml/2006/main">
          <a:graphicData uri="http://schemas.openxmlformats.org/drawingml/2006/table">
            <a:tbl>
              <a:tblPr firstRow="0" bandRow="0"/>
              <a:tblGrid>
                <a:gridCol w="2857500"/>
                <a:gridCol w="4686300"/>
                <a:gridCol w="3429000"/>
              </a:tblGrid>
              <a:tr h="742950">
                <a:tc>
                  <a:txBody>
                    <a:bodyPr wrap="none" lIns="133350" tIns="114300" rIns="133350" bIns="114300">
                      <a:noAutofit/>
                    </a:bodyPr>
                    <a:lstStyle/>
                    <a:p>
                      <a:r>
                        <a:rPr sz="1900" b="1">
                          <a:solidFill>
                            <a:srgbClr val="17283B"/>
                          </a:solidFill>
                          <a:latin typeface="AppleGothic"/>
                          <a:ea typeface="AppleGothic"/>
                          <a:cs typeface="AppleGothic"/>
                        </a:rPr>
                        <a:t>조건</a:t>
                      </a:r>
                    </a:p>
                  </a:txBody>
                  <a:tcPr marL="91440" marR="91440" marT="45720" marB="4572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EDF1F6"/>
                    </a:solidFill>
                  </a:tcPr>
                </a:tc>
                <a:tc>
                  <a:txBody>
                    <a:bodyPr wrap="none" lIns="133350" tIns="114300" rIns="133350" bIns="114300">
                      <a:noAutofit/>
                    </a:bodyPr>
                    <a:lstStyle/>
                    <a:p>
                      <a:r>
                        <a:rPr sz="1900" b="1">
                          <a:solidFill>
                            <a:srgbClr val="17283B"/>
                          </a:solidFill>
                          <a:latin typeface="AppleGothic"/>
                          <a:ea typeface="AppleGothic"/>
                          <a:cs typeface="AppleGothic"/>
                        </a:rPr>
                        <a:t>margin</a:t>
                      </a:r>
                    </a:p>
                  </a:txBody>
                  <a:tcPr marL="91440" marR="91440" marT="45720" marB="4572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EDF1F6"/>
                    </a:solidFill>
                  </a:tcPr>
                </a:tc>
                <a:tc>
                  <a:txBody>
                    <a:bodyPr wrap="none" lIns="133350" tIns="114300" rIns="133350" bIns="114300">
                      <a:noAutofit/>
                    </a:bodyPr>
                    <a:lstStyle/>
                    <a:p>
                      <a:r>
                        <a:rPr sz="1900" b="1">
                          <a:solidFill>
                            <a:srgbClr val="17283B"/>
                          </a:solidFill>
                          <a:latin typeface="AppleGothic"/>
                          <a:ea typeface="AppleGothic"/>
                          <a:cs typeface="AppleGothic"/>
                        </a:rPr>
                        <a:t>손실 · β=0.1</a:t>
                      </a:r>
                    </a:p>
                  </a:txBody>
                  <a:tcPr marL="91440" marR="91440" marT="45720" marB="4572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EDF1F6"/>
                    </a:solidFill>
                  </a:tcPr>
                </a:tc>
              </a:tr>
              <a:tr h="742950">
                <a:tc>
                  <a:txBody>
                    <a:bodyPr wrap="none" lIns="133350" tIns="114300" rIns="133350" bIns="114300">
                      <a:noAutofit/>
                    </a:bodyPr>
                    <a:lstStyle/>
                    <a:p>
                      <a:r>
                        <a:rPr sz="1900" b="1">
                          <a:solidFill>
                            <a:srgbClr val="17191B"/>
                          </a:solidFill>
                          <a:latin typeface="AppleGothic"/>
                          <a:ea typeface="AppleGothic"/>
                          <a:cs typeface="AppleGothic"/>
                        </a:rPr>
                        <a:t>기준선</a:t>
                      </a:r>
                    </a:p>
                  </a:txBody>
                  <a:tcPr marL="91440" marR="91440" marT="45720" marB="4572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 lIns="133350" tIns="114300" rIns="133350" bIns="114300">
                      <a:noAutofit/>
                    </a:bodyPr>
                    <a:lstStyle/>
                    <a:p>
                      <a:r>
                        <a:rPr sz="1900" b="0">
                          <a:solidFill>
                            <a:srgbClr val="52606B"/>
                          </a:solidFill>
                          <a:latin typeface="AppleGothic"/>
                          <a:ea typeface="AppleGothic"/>
                          <a:cs typeface="AppleGothic"/>
                        </a:rPr>
                        <a:t>0</a:t>
                      </a:r>
                    </a:p>
                  </a:txBody>
                  <a:tcPr marL="91440" marR="91440" marT="45720" marB="4572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 lIns="133350" tIns="114300" rIns="133350" bIns="114300">
                      <a:noAutofit/>
                    </a:bodyPr>
                    <a:lstStyle/>
                    <a:p>
                      <a:r>
                        <a:rPr sz="1900" b="0">
                          <a:solidFill>
                            <a:srgbClr val="52606B"/>
                          </a:solidFill>
                          <a:latin typeface="AppleGothic"/>
                          <a:ea typeface="AppleGothic"/>
                          <a:cs typeface="AppleGothic"/>
                        </a:rPr>
                        <a:t>0.6931</a:t>
                      </a:r>
                    </a:p>
                  </a:txBody>
                  <a:tcPr marL="91440" marR="91440" marT="45720" marB="4572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FFFFFF"/>
                    </a:solidFill>
                  </a:tcPr>
                </a:tc>
              </a:tr>
              <a:tr h="742950">
                <a:tc>
                  <a:txBody>
                    <a:bodyPr wrap="none" lIns="133350" tIns="114300" rIns="133350" bIns="114300">
                      <a:noAutofit/>
                    </a:bodyPr>
                    <a:lstStyle/>
                    <a:p>
                      <a:r>
                        <a:rPr sz="1900" b="1">
                          <a:solidFill>
                            <a:srgbClr val="17191B"/>
                          </a:solidFill>
                          <a:latin typeface="AppleGothic"/>
                          <a:ea typeface="AppleGothic"/>
                          <a:cs typeface="AppleGothic"/>
                        </a:rPr>
                        <a:t>선호 방향</a:t>
                      </a:r>
                    </a:p>
                  </a:txBody>
                  <a:tcPr marL="91440" marR="91440" marT="45720" marB="4572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 lIns="133350" tIns="114300" rIns="133350" bIns="114300">
                      <a:noAutofit/>
                    </a:bodyPr>
                    <a:lstStyle/>
                    <a:p>
                      <a:r>
                        <a:rPr sz="1900" b="0">
                          <a:solidFill>
                            <a:srgbClr val="52606B"/>
                          </a:solidFill>
                          <a:latin typeface="AppleGothic"/>
                          <a:ea typeface="AppleGothic"/>
                          <a:cs typeface="AppleGothic"/>
                        </a:rPr>
                        <a:t>3</a:t>
                      </a:r>
                    </a:p>
                  </a:txBody>
                  <a:tcPr marL="91440" marR="91440" marT="45720" marB="4572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 lIns="133350" tIns="114300" rIns="133350" bIns="114300">
                      <a:noAutofit/>
                    </a:bodyPr>
                    <a:lstStyle/>
                    <a:p>
                      <a:r>
                        <a:rPr sz="1900" b="0">
                          <a:solidFill>
                            <a:srgbClr val="52606B"/>
                          </a:solidFill>
                          <a:latin typeface="AppleGothic"/>
                          <a:ea typeface="AppleGothic"/>
                          <a:cs typeface="AppleGothic"/>
                        </a:rPr>
                        <a:t>0.5544</a:t>
                      </a:r>
                    </a:p>
                  </a:txBody>
                  <a:tcPr marL="91440" marR="91440" marT="45720" marB="4572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FFFFFF"/>
                    </a:solidFill>
                  </a:tcPr>
                </a:tc>
              </a:tr>
              <a:tr h="742950">
                <a:tc>
                  <a:txBody>
                    <a:bodyPr wrap="none" lIns="133350" tIns="114300" rIns="133350" bIns="114300">
                      <a:noAutofit/>
                    </a:bodyPr>
                    <a:lstStyle/>
                    <a:p>
                      <a:r>
                        <a:rPr sz="1900" b="1">
                          <a:solidFill>
                            <a:srgbClr val="17191B"/>
                          </a:solidFill>
                          <a:latin typeface="AppleGothic"/>
                          <a:ea typeface="AppleGothic"/>
                          <a:cs typeface="AppleGothic"/>
                        </a:rPr>
                        <a:t>반대 방향</a:t>
                      </a:r>
                    </a:p>
                  </a:txBody>
                  <a:tcPr marL="91440" marR="91440" marT="45720" marB="4572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 lIns="133350" tIns="114300" rIns="133350" bIns="114300">
                      <a:noAutofit/>
                    </a:bodyPr>
                    <a:lstStyle/>
                    <a:p>
                      <a:r>
                        <a:rPr sz="1900" b="0">
                          <a:solidFill>
                            <a:srgbClr val="52606B"/>
                          </a:solidFill>
                          <a:latin typeface="AppleGothic"/>
                          <a:ea typeface="AppleGothic"/>
                          <a:cs typeface="AppleGothic"/>
                        </a:rPr>
                        <a:t>−3</a:t>
                      </a:r>
                    </a:p>
                  </a:txBody>
                  <a:tcPr marL="91440" marR="91440" marT="45720" marB="4572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 lIns="133350" tIns="114300" rIns="133350" bIns="114300">
                      <a:noAutofit/>
                    </a:bodyPr>
                    <a:lstStyle/>
                    <a:p>
                      <a:r>
                        <a:rPr sz="1900" b="0">
                          <a:solidFill>
                            <a:srgbClr val="52606B"/>
                          </a:solidFill>
                          <a:latin typeface="AppleGothic"/>
                          <a:ea typeface="AppleGothic"/>
                          <a:cs typeface="AppleGothic"/>
                        </a:rPr>
                        <a:t>0.8544</a:t>
                      </a:r>
                    </a:p>
                  </a:txBody>
                  <a:tcPr marL="91440" marR="91440" marT="45720" marB="4572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79DBFC83-28FE-4510-A2B9-B858280393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80975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283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F8D51243-BCD6-42B9-9770-ECAED2B1F4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5527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FD5D3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EC5C0CCD-386D-42F4-8BFE-34B8092C00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29565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FD5D3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154C03AC-050B-44DF-BBBD-902D51BD9D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0386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FD5D3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106781A8-5314-4FFE-88C7-F0C961A277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78155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283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D6E48761-603F-439F-A85F-790344F467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791200"/>
            <a:ext cx="109728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1600" b="0">
                <a:solidFill>
                  <a:srgbClr val="52606B"/>
                </a:solidFill>
                <a:latin typeface="AppleGothic"/>
                <a:ea typeface="AppleGothic"/>
                <a:cs typeface="AppleGothic"/>
              </a:defRPr>
            </a:defPPr>
          </a:lstStyle>
          <a:p xmlns:a="http://schemas.openxmlformats.org/drawingml/2006/main">
            <a:pPr algn="l">
              <a:lnSpc>
                <a:spcPct val="116000"/>
              </a:lnSpc>
              <a:buNone/>
              <a:defRPr sz="1600" b="0">
                <a:solidFill>
                  <a:srgbClr val="52606B"/>
                </a:solidFill>
                <a:latin typeface="AppleGothic"/>
                <a:ea typeface="AppleGothic"/>
                <a:cs typeface="AppleGothic"/>
              </a:defRPr>
            </a:pPr>
            <a:r>
              <a:rPr sz="1600" b="0">
                <a:solidFill>
                  <a:srgbClr val="52606B"/>
                </a:solidFill>
                <a:latin typeface="AppleGothic"/>
                <a:ea typeface="AppleGothic"/>
                <a:cs typeface="AppleGothic"/>
              </a:rPr>
              <a:t>수식 확인용 값 · 모델 평가 결과 아님</a:t>
            </a:r>
          </a:p>
        </p:txBody>
      </p:sp>
    </p:spTree>
    <p:extLst>
      <p:ext uri="{BB962C8B-B14F-4D97-AF65-F5344CB8AC3E}">
        <p14:creationId xmlns:p14="http://schemas.microsoft.com/office/powerpoint/2010/main" val="501946327"/>
      </p:ext>
    </p:extLst>
  </p:cSld>
</p:sld>
</file>

<file path=ppt/slides/slide46.xml><?xml version="1.0" encoding="utf-8"?>
<p:sld xmlns:p="http://schemas.openxmlformats.org/presentationml/2006/main">
  <p:cSld>
    <p:bg>
      <p:bgPr>
        <a:solidFill xmlns:a="http://schemas.openxmlformats.org/drawingml/2006/main">
          <a:srgbClr val="F7F7F5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5A1F028D-7C5F-49AA-BBFD-588EACA343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47650"/>
            <a:ext cx="9525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1400" b="0">
                <a:solidFill>
                  <a:srgbClr val="52606B"/>
                </a:solidFill>
                <a:latin typeface="AppleGothic"/>
                <a:ea typeface="AppleGothic"/>
                <a:cs typeface="AppleGothic"/>
              </a:defRPr>
            </a:defPPr>
          </a:lstStyle>
          <a:p xmlns:a="http://schemas.openxmlformats.org/drawingml/2006/main">
            <a:pPr algn="l">
              <a:lnSpc>
                <a:spcPct val="116000"/>
              </a:lnSpc>
              <a:buNone/>
              <a:defRPr sz="1400" b="0">
                <a:solidFill>
                  <a:srgbClr val="52606B"/>
                </a:solidFill>
                <a:latin typeface="AppleGothic"/>
                <a:ea typeface="AppleGothic"/>
                <a:cs typeface="AppleGothic"/>
              </a:defRPr>
            </a:pPr>
            <a:r>
              <a:rPr sz="1400" b="0">
                <a:solidFill>
                  <a:srgbClr val="52606B"/>
                </a:solidFill>
                <a:latin typeface="AppleGothic"/>
                <a:ea typeface="AppleGothic"/>
                <a:cs typeface="AppleGothic"/>
              </a:rPr>
              <a:t>LLMOPS / W07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B628CC9F-E73B-4368-AC75-9997E55AF1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8500" y="247650"/>
            <a:ext cx="7239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r">
              <a:defRPr sz="1400" b="0">
                <a:solidFill>
                  <a:srgbClr val="52606B"/>
                </a:solidFill>
                <a:latin typeface="Menlo"/>
                <a:ea typeface="Menlo"/>
                <a:cs typeface="Menlo"/>
              </a:defRPr>
            </a:defPPr>
          </a:lstStyle>
          <a:p xmlns:a="http://schemas.openxmlformats.org/drawingml/2006/main">
            <a:pPr algn="r">
              <a:lnSpc>
                <a:spcPct val="116000"/>
              </a:lnSpc>
              <a:buNone/>
              <a:defRPr sz="1400" b="0">
                <a:solidFill>
                  <a:srgbClr val="52606B"/>
                </a:solidFill>
                <a:latin typeface="Menlo"/>
                <a:ea typeface="Menlo"/>
                <a:cs typeface="Menlo"/>
              </a:defRPr>
            </a:pPr>
            <a:r>
              <a:rPr sz="1400" b="0">
                <a:solidFill>
                  <a:srgbClr val="52606B"/>
                </a:solidFill>
                <a:latin typeface="Menlo"/>
                <a:ea typeface="Menlo"/>
                <a:cs typeface="Menlo"/>
              </a:rPr>
              <a:t>46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A4B1948E-6747-4C79-95F8-59B9C729CB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23900"/>
            <a:ext cx="109728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3400" b="1">
                <a:solidFill>
                  <a:srgbClr val="17191B"/>
                </a:solidFill>
                <a:latin typeface="AppleGothic"/>
                <a:ea typeface="AppleGothic"/>
                <a:cs typeface="AppleGothic"/>
              </a:defRPr>
            </a:defPPr>
          </a:lstStyle>
          <a:p xmlns:a="http://schemas.openxmlformats.org/drawingml/2006/main">
            <a:pPr algn="l">
              <a:lnSpc>
                <a:spcPct val="116000"/>
              </a:lnSpc>
              <a:buNone/>
              <a:defRPr sz="3400" b="1">
                <a:solidFill>
                  <a:srgbClr val="17191B"/>
                </a:solidFill>
                <a:latin typeface="AppleGothic"/>
                <a:ea typeface="AppleGothic"/>
                <a:cs typeface="AppleGothic"/>
              </a:defRPr>
            </a:pPr>
            <a:r>
              <a:rPr sz="3400" b="1">
                <a:solidFill>
                  <a:srgbClr val="17191B"/>
                </a:solidFill>
                <a:latin typeface="AppleGothic"/>
                <a:ea typeface="AppleGothic"/>
                <a:cs typeface="AppleGothic"/>
              </a:rPr>
              <a:t>margin과 DPO 손실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B7AD1989-F107-43A1-8DCE-9A72E62177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315075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FD5D3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59ADE432-B331-4D2D-AAFB-E3D2EDB2FB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77000"/>
            <a:ext cx="109728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1400" b="0">
                <a:solidFill>
                  <a:srgbClr val="52606B"/>
                </a:solidFill>
                <a:latin typeface="AppleGothic"/>
                <a:ea typeface="AppleGothic"/>
                <a:cs typeface="AppleGothic"/>
              </a:defRPr>
            </a:defPPr>
          </a:lstStyle>
          <a:p xmlns:a="http://schemas.openxmlformats.org/drawingml/2006/main">
            <a:pPr algn="l">
              <a:lnSpc>
                <a:spcPct val="116000"/>
              </a:lnSpc>
              <a:buNone/>
              <a:defRPr sz="1400" b="0">
                <a:solidFill>
                  <a:srgbClr val="52606B"/>
                </a:solidFill>
                <a:latin typeface="AppleGothic"/>
                <a:ea typeface="AppleGothic"/>
                <a:cs typeface="AppleGothic"/>
              </a:defRPr>
            </a:pPr>
            <a:r>
              <a:rPr sz="1400" b="0">
                <a:solidFill>
                  <a:srgbClr val="52606B"/>
                </a:solidFill>
                <a:latin typeface="AppleGothic"/>
                <a:ea typeface="AppleGothic"/>
                <a:cs typeface="AppleGothic"/>
              </a:rPr>
              <a:t>데이터 · 모델 적응 · 비교 평가 · 기획서 초안</a:t>
            </a:r>
          </a:p>
        </p:txBody>
      </p:sp>
      <p:graphicFrame>
        <p:nvGraphicFramePr>
          <p:cNvPr id="6" name="Chart">
            <a:extLst xmlns:a="http://schemas.openxmlformats.org/drawingml/2006/main">
              <a:ext uri="{FF2B5EF4-FFF2-40B4-BE49-F238E27FC236}">
                <a16:creationId xmlns:a16="http://schemas.microsoft.com/office/drawing/2014/main" id="{A580A4D7-2AC7-41D7-95DC-CD8C87C28BAB}"/>
              </a:ext>
            </a:extLst>
          </p:cNvPr>
          <p:cNvGraphicFramePr/>
          <p:nvPr/>
        </p:nvGraphicFramePr>
        <p:xfrm>
          <a:off xmlns:a="http://schemas.openxmlformats.org/drawingml/2006/main" x="666750" y="1809750"/>
          <a:ext xmlns:a="http://schemas.openxmlformats.org/drawingml/2006/main" cx="10858500" cy="3667125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9222b762d31c42eb"/>
          </a:graphicData>
        </a:graphic>
      </p:graphicFrame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56A389D6-4F3D-4B53-B25D-8DDBF150A4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791200"/>
            <a:ext cx="109728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1600" b="0">
                <a:solidFill>
                  <a:srgbClr val="52606B"/>
                </a:solidFill>
                <a:latin typeface="AppleGothic"/>
                <a:ea typeface="AppleGothic"/>
                <a:cs typeface="AppleGothic"/>
              </a:defRPr>
            </a:defPPr>
          </a:lstStyle>
          <a:p xmlns:a="http://schemas.openxmlformats.org/drawingml/2006/main">
            <a:pPr algn="l">
              <a:lnSpc>
                <a:spcPct val="116000"/>
              </a:lnSpc>
              <a:buNone/>
              <a:defRPr sz="1600" b="0">
                <a:solidFill>
                  <a:srgbClr val="52606B"/>
                </a:solidFill>
                <a:latin typeface="AppleGothic"/>
                <a:ea typeface="AppleGothic"/>
                <a:cs typeface="AppleGothic"/>
              </a:defRPr>
            </a:pPr>
            <a:r>
              <a:rPr sz="1600" b="0">
                <a:solidFill>
                  <a:srgbClr val="52606B"/>
                </a:solidFill>
                <a:latin typeface="AppleGothic"/>
                <a:ea typeface="AppleGothic"/>
                <a:cs typeface="AppleGothic"/>
              </a:rPr>
              <a:t>β=0.1 · 고정 log probability 수치 실험 · 업무 품질 측정 아님</a:t>
            </a:r>
          </a:p>
        </p:txBody>
      </p:sp>
    </p:spTree>
    <p:extLst>
      <p:ext uri="{BB962C8B-B14F-4D97-AF65-F5344CB8AC3E}">
        <p14:creationId xmlns:p14="http://schemas.microsoft.com/office/powerpoint/2010/main" val="1468512245"/>
      </p:ext>
    </p:extLst>
  </p:cSld>
</p:sld>
</file>

<file path=ppt/slides/slide47.xml><?xml version="1.0" encoding="utf-8"?>
<p:sld xmlns:p="http://schemas.openxmlformats.org/presentationml/2006/main">
  <p:cSld>
    <p:bg>
      <p:bgPr>
        <a:solidFill xmlns:a="http://schemas.openxmlformats.org/drawingml/2006/main">
          <a:srgbClr val="F7F7F5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50F7EE3F-F8C0-4B48-B505-6504AAC4E8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47650"/>
            <a:ext cx="9525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1400" b="0">
                <a:solidFill>
                  <a:srgbClr val="52606B"/>
                </a:solidFill>
                <a:latin typeface="AppleGothic"/>
                <a:ea typeface="AppleGothic"/>
                <a:cs typeface="AppleGothic"/>
              </a:defRPr>
            </a:defPPr>
          </a:lstStyle>
          <a:p xmlns:a="http://schemas.openxmlformats.org/drawingml/2006/main">
            <a:pPr algn="l">
              <a:lnSpc>
                <a:spcPct val="116000"/>
              </a:lnSpc>
              <a:buNone/>
              <a:defRPr sz="1400" b="0">
                <a:solidFill>
                  <a:srgbClr val="52606B"/>
                </a:solidFill>
                <a:latin typeface="AppleGothic"/>
                <a:ea typeface="AppleGothic"/>
                <a:cs typeface="AppleGothic"/>
              </a:defRPr>
            </a:pPr>
            <a:r>
              <a:rPr sz="1400" b="0">
                <a:solidFill>
                  <a:srgbClr val="52606B"/>
                </a:solidFill>
                <a:latin typeface="AppleGothic"/>
                <a:ea typeface="AppleGothic"/>
                <a:cs typeface="AppleGothic"/>
              </a:rPr>
              <a:t>LLMOPS / W07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2CAC6E0B-9A01-4036-9839-747E179FAA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8500" y="247650"/>
            <a:ext cx="7239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r">
              <a:defRPr sz="1400" b="0">
                <a:solidFill>
                  <a:srgbClr val="52606B"/>
                </a:solidFill>
                <a:latin typeface="Menlo"/>
                <a:ea typeface="Menlo"/>
                <a:cs typeface="Menlo"/>
              </a:defRPr>
            </a:defPPr>
          </a:lstStyle>
          <a:p xmlns:a="http://schemas.openxmlformats.org/drawingml/2006/main">
            <a:pPr algn="r">
              <a:lnSpc>
                <a:spcPct val="116000"/>
              </a:lnSpc>
              <a:buNone/>
              <a:defRPr sz="1400" b="0">
                <a:solidFill>
                  <a:srgbClr val="52606B"/>
                </a:solidFill>
                <a:latin typeface="Menlo"/>
                <a:ea typeface="Menlo"/>
                <a:cs typeface="Menlo"/>
              </a:defRPr>
            </a:pPr>
            <a:r>
              <a:rPr sz="1400" b="0">
                <a:solidFill>
                  <a:srgbClr val="52606B"/>
                </a:solidFill>
                <a:latin typeface="Menlo"/>
                <a:ea typeface="Menlo"/>
                <a:cs typeface="Menlo"/>
              </a:rPr>
              <a:t>47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CD9FF9AE-965C-4EB6-BC3C-0082F8EA22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23900"/>
            <a:ext cx="109728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3400" b="1">
                <a:solidFill>
                  <a:srgbClr val="17191B"/>
                </a:solidFill>
                <a:latin typeface="AppleGothic"/>
                <a:ea typeface="AppleGothic"/>
                <a:cs typeface="AppleGothic"/>
              </a:defRPr>
            </a:defPPr>
          </a:lstStyle>
          <a:p xmlns:a="http://schemas.openxmlformats.org/drawingml/2006/main">
            <a:pPr algn="l">
              <a:lnSpc>
                <a:spcPct val="116000"/>
              </a:lnSpc>
              <a:buNone/>
              <a:defRPr sz="3400" b="1">
                <a:solidFill>
                  <a:srgbClr val="17191B"/>
                </a:solidFill>
                <a:latin typeface="AppleGothic"/>
                <a:ea typeface="AppleGothic"/>
                <a:cs typeface="AppleGothic"/>
              </a:defRPr>
            </a:pPr>
            <a:r>
              <a:rPr sz="3400" b="1">
                <a:solidFill>
                  <a:srgbClr val="17191B"/>
                </a:solidFill>
                <a:latin typeface="AppleGothic"/>
                <a:ea typeface="AppleGothic"/>
                <a:cs typeface="AppleGothic"/>
              </a:rPr>
              <a:t>장난감 정책의 학습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000BD2B0-6C90-4465-8313-AE90A98BEA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315075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FD5D3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B658EFC3-4F29-4FAF-936E-6233587874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77000"/>
            <a:ext cx="109728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1400" b="0">
                <a:solidFill>
                  <a:srgbClr val="52606B"/>
                </a:solidFill>
                <a:latin typeface="AppleGothic"/>
                <a:ea typeface="AppleGothic"/>
                <a:cs typeface="AppleGothic"/>
              </a:defRPr>
            </a:defPPr>
          </a:lstStyle>
          <a:p xmlns:a="http://schemas.openxmlformats.org/drawingml/2006/main">
            <a:pPr algn="l">
              <a:lnSpc>
                <a:spcPct val="116000"/>
              </a:lnSpc>
              <a:buNone/>
              <a:defRPr sz="1400" b="0">
                <a:solidFill>
                  <a:srgbClr val="52606B"/>
                </a:solidFill>
                <a:latin typeface="AppleGothic"/>
                <a:ea typeface="AppleGothic"/>
                <a:cs typeface="AppleGothic"/>
              </a:defRPr>
            </a:pPr>
            <a:r>
              <a:rPr sz="1400" b="0">
                <a:solidFill>
                  <a:srgbClr val="52606B"/>
                </a:solidFill>
                <a:latin typeface="AppleGothic"/>
                <a:ea typeface="AppleGothic"/>
                <a:cs typeface="AppleGothic"/>
              </a:rPr>
              <a:t>데이터 · 모델 적응 · 비교 평가 · 기획서 초안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51434D4C-C8A4-424A-A83E-B806A93889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464689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FD5D3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AB078E2E-B6C5-4DD9-B749-7F3724D0DB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809750"/>
            <a:ext cx="10477500" cy="426339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2700" b="1">
                <a:solidFill>
                  <a:srgbClr val="17191B"/>
                </a:solidFill>
                <a:latin typeface="AppleGothic"/>
                <a:ea typeface="AppleGothic"/>
                <a:cs typeface="AppleGothic"/>
              </a:defRPr>
            </a:defPPr>
          </a:lstStyle>
          <a:p xmlns:a="http://schemas.openxmlformats.org/drawingml/2006/main">
            <a:pPr algn="l">
              <a:lnSpc>
                <a:spcPct val="116000"/>
              </a:lnSpc>
              <a:buNone/>
              <a:defRPr sz="2700" b="1">
                <a:solidFill>
                  <a:srgbClr val="17191B"/>
                </a:solidFill>
                <a:latin typeface="AppleGothic"/>
                <a:ea typeface="AppleGothic"/>
                <a:cs typeface="AppleGothic"/>
              </a:defRPr>
            </a:pPr>
            <a:r>
              <a:rPr sz="2700" b="1">
                <a:solidFill>
                  <a:srgbClr val="17191B"/>
                </a:solidFill>
                <a:latin typeface="AppleGothic"/>
                <a:ea typeface="AppleGothic"/>
                <a:cs typeface="AppleGothic"/>
              </a:rPr>
              <a:t>질문 한 개 · 고정 답변 두 개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F8D372A2-12DC-4F45-BAFF-D96528DD7C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883789"/>
            <a:ext cx="10477500" cy="337947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2100" b="0">
                <a:solidFill>
                  <a:srgbClr val="52606B"/>
                </a:solidFill>
                <a:latin typeface="AppleGothic"/>
                <a:ea typeface="AppleGothic"/>
                <a:cs typeface="AppleGothic"/>
              </a:defRPr>
            </a:defPPr>
          </a:lstStyle>
          <a:p xmlns:a="http://schemas.openxmlformats.org/drawingml/2006/main">
            <a:pPr algn="l">
              <a:lnSpc>
                <a:spcPct val="116000"/>
              </a:lnSpc>
              <a:buNone/>
              <a:defRPr sz="2100" b="0">
                <a:solidFill>
                  <a:srgbClr val="52606B"/>
                </a:solidFill>
                <a:latin typeface="AppleGothic"/>
                <a:ea typeface="AppleGothic"/>
                <a:cs typeface="AppleGothic"/>
              </a:defRPr>
            </a:pPr>
            <a:r>
              <a:rPr sz="2100" b="0">
                <a:solidFill>
                  <a:srgbClr val="52606B"/>
                </a:solidFill>
                <a:latin typeface="AppleGothic"/>
                <a:ea typeface="AppleGothic"/>
                <a:cs typeface="AppleGothic"/>
              </a:rPr>
              <a:t>선택 확률을 결정하는 θ 하나만 갱신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9BB8A2C8-CD49-4697-AA61-A60C66CAA6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526536"/>
            <a:ext cx="10477500" cy="337947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2100" b="0">
                <a:solidFill>
                  <a:srgbClr val="52606B"/>
                </a:solidFill>
                <a:latin typeface="AppleGothic"/>
                <a:ea typeface="AppleGothic"/>
                <a:cs typeface="AppleGothic"/>
              </a:defRPr>
            </a:defPPr>
          </a:lstStyle>
          <a:p xmlns:a="http://schemas.openxmlformats.org/drawingml/2006/main">
            <a:pPr algn="l">
              <a:lnSpc>
                <a:spcPct val="116000"/>
              </a:lnSpc>
              <a:buNone/>
              <a:defRPr sz="2100" b="0">
                <a:solidFill>
                  <a:srgbClr val="52606B"/>
                </a:solidFill>
                <a:latin typeface="AppleGothic"/>
                <a:ea typeface="AppleGothic"/>
                <a:cs typeface="AppleGothic"/>
              </a:defRPr>
            </a:pPr>
            <a:r>
              <a:rPr sz="2100" b="0">
                <a:solidFill>
                  <a:srgbClr val="52606B"/>
                </a:solidFill>
                <a:latin typeface="AppleGothic"/>
                <a:ea typeface="AppleGothic"/>
                <a:cs typeface="AppleGothic"/>
              </a:rPr>
              <a:t>새 질문의 일반화·정확성·안전성 미검증</a:t>
            </a:r>
          </a:p>
        </p:txBody>
      </p:sp>
    </p:spTree>
    <p:extLst>
      <p:ext uri="{BB962C8B-B14F-4D97-AF65-F5344CB8AC3E}">
        <p14:creationId xmlns:p14="http://schemas.microsoft.com/office/powerpoint/2010/main" val="1185197337"/>
      </p:ext>
    </p:extLst>
  </p:cSld>
</p:sld>
</file>

<file path=ppt/slides/slide48.xml><?xml version="1.0" encoding="utf-8"?>
<p:sld xmlns:p="http://schemas.openxmlformats.org/presentationml/2006/main">
  <p:cSld>
    <p:bg>
      <p:bgPr>
        <a:solidFill xmlns:a="http://schemas.openxmlformats.org/drawingml/2006/main">
          <a:srgbClr val="F7F7F5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FF05BBB7-7477-43E8-A441-184EFC59A6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47650"/>
            <a:ext cx="9525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1400" b="0">
                <a:solidFill>
                  <a:srgbClr val="52606B"/>
                </a:solidFill>
                <a:latin typeface="AppleGothic"/>
                <a:ea typeface="AppleGothic"/>
                <a:cs typeface="AppleGothic"/>
              </a:defRPr>
            </a:defPPr>
          </a:lstStyle>
          <a:p xmlns:a="http://schemas.openxmlformats.org/drawingml/2006/main">
            <a:pPr algn="l">
              <a:lnSpc>
                <a:spcPct val="116000"/>
              </a:lnSpc>
              <a:buNone/>
              <a:defRPr sz="1400" b="0">
                <a:solidFill>
                  <a:srgbClr val="52606B"/>
                </a:solidFill>
                <a:latin typeface="AppleGothic"/>
                <a:ea typeface="AppleGothic"/>
                <a:cs typeface="AppleGothic"/>
              </a:defRPr>
            </a:pPr>
            <a:r>
              <a:rPr sz="1400" b="0">
                <a:solidFill>
                  <a:srgbClr val="52606B"/>
                </a:solidFill>
                <a:latin typeface="AppleGothic"/>
                <a:ea typeface="AppleGothic"/>
                <a:cs typeface="AppleGothic"/>
              </a:rPr>
              <a:t>LLMOPS / W07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C67EC5DC-CADB-40FF-9C57-E401E8313A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8500" y="247650"/>
            <a:ext cx="7239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r">
              <a:defRPr sz="1400" b="0">
                <a:solidFill>
                  <a:srgbClr val="52606B"/>
                </a:solidFill>
                <a:latin typeface="Menlo"/>
                <a:ea typeface="Menlo"/>
                <a:cs typeface="Menlo"/>
              </a:defRPr>
            </a:defPPr>
          </a:lstStyle>
          <a:p xmlns:a="http://schemas.openxmlformats.org/drawingml/2006/main">
            <a:pPr algn="r">
              <a:lnSpc>
                <a:spcPct val="116000"/>
              </a:lnSpc>
              <a:buNone/>
              <a:defRPr sz="1400" b="0">
                <a:solidFill>
                  <a:srgbClr val="52606B"/>
                </a:solidFill>
                <a:latin typeface="Menlo"/>
                <a:ea typeface="Menlo"/>
                <a:cs typeface="Menlo"/>
              </a:defRPr>
            </a:pPr>
            <a:r>
              <a:rPr sz="1400" b="0">
                <a:solidFill>
                  <a:srgbClr val="52606B"/>
                </a:solidFill>
                <a:latin typeface="Menlo"/>
                <a:ea typeface="Menlo"/>
                <a:cs typeface="Menlo"/>
              </a:rPr>
              <a:t>48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5A053450-79C7-4044-8A96-652205946A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23900"/>
            <a:ext cx="109728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3400" b="1">
                <a:solidFill>
                  <a:srgbClr val="17191B"/>
                </a:solidFill>
                <a:latin typeface="AppleGothic"/>
                <a:ea typeface="AppleGothic"/>
                <a:cs typeface="AppleGothic"/>
              </a:defRPr>
            </a:defPPr>
          </a:lstStyle>
          <a:p xmlns:a="http://schemas.openxmlformats.org/drawingml/2006/main">
            <a:pPr algn="l">
              <a:lnSpc>
                <a:spcPct val="116000"/>
              </a:lnSpc>
              <a:buNone/>
              <a:defRPr sz="3400" b="1">
                <a:solidFill>
                  <a:srgbClr val="17191B"/>
                </a:solidFill>
                <a:latin typeface="AppleGothic"/>
                <a:ea typeface="AppleGothic"/>
                <a:cs typeface="AppleGothic"/>
              </a:defRPr>
            </a:pPr>
            <a:r>
              <a:rPr sz="3400" b="1">
                <a:solidFill>
                  <a:srgbClr val="17191B"/>
                </a:solidFill>
                <a:latin typeface="AppleGothic"/>
                <a:ea typeface="AppleGothic"/>
                <a:cs typeface="AppleGothic"/>
              </a:rPr>
              <a:t>DPO의 단순화와 남은 비용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62AE1B7A-69FD-4229-97F0-277FE1538D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315075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FD5D3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AD7F7FCB-ED19-40D3-9918-0850286159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77000"/>
            <a:ext cx="109728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1400" b="0">
                <a:solidFill>
                  <a:srgbClr val="52606B"/>
                </a:solidFill>
                <a:latin typeface="AppleGothic"/>
                <a:ea typeface="AppleGothic"/>
                <a:cs typeface="AppleGothic"/>
              </a:defRPr>
            </a:defPPr>
          </a:lstStyle>
          <a:p xmlns:a="http://schemas.openxmlformats.org/drawingml/2006/main">
            <a:pPr algn="l">
              <a:lnSpc>
                <a:spcPct val="116000"/>
              </a:lnSpc>
              <a:buNone/>
              <a:defRPr sz="1400" b="0">
                <a:solidFill>
                  <a:srgbClr val="52606B"/>
                </a:solidFill>
                <a:latin typeface="AppleGothic"/>
                <a:ea typeface="AppleGothic"/>
                <a:cs typeface="AppleGothic"/>
              </a:defRPr>
            </a:pPr>
            <a:r>
              <a:rPr sz="1400" b="0">
                <a:solidFill>
                  <a:srgbClr val="52606B"/>
                </a:solidFill>
                <a:latin typeface="AppleGothic"/>
                <a:ea typeface="AppleGothic"/>
                <a:cs typeface="AppleGothic"/>
              </a:rPr>
              <a:t>데이터 · 모델 적응 · 비교 평가 · 기획서 초안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80BF4AED-4B38-433D-A4A4-2E41F0BBD6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057400"/>
            <a:ext cx="5295900" cy="800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2900" b="1">
                <a:solidFill>
                  <a:srgbClr val="17191B"/>
                </a:solidFill>
                <a:latin typeface="AppleGothic"/>
                <a:ea typeface="AppleGothic"/>
                <a:cs typeface="AppleGothic"/>
              </a:defRPr>
            </a:defPPr>
          </a:lstStyle>
          <a:p xmlns:a="http://schemas.openxmlformats.org/drawingml/2006/main">
            <a:pPr algn="l">
              <a:lnSpc>
                <a:spcPct val="116000"/>
              </a:lnSpc>
              <a:buNone/>
              <a:defRPr sz="2900" b="1">
                <a:solidFill>
                  <a:srgbClr val="17191B"/>
                </a:solidFill>
                <a:latin typeface="AppleGothic"/>
                <a:ea typeface="AppleGothic"/>
                <a:cs typeface="AppleGothic"/>
              </a:defRPr>
            </a:pPr>
            <a:r>
              <a:rPr sz="2900" b="1">
                <a:solidFill>
                  <a:srgbClr val="17191B"/>
                </a:solidFill>
                <a:latin typeface="AppleGothic"/>
                <a:ea typeface="AppleGothic"/>
                <a:cs typeface="AppleGothic"/>
              </a:rPr>
              <a:t>PPO 기반 RLHF 경로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07238BF0-73DD-4DD8-928A-0C72F97185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000375"/>
            <a:ext cx="52959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84B7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B9804991-4653-4B5E-9E06-C139FAEF9F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371850"/>
            <a:ext cx="5238750" cy="36741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2300" b="0">
                <a:solidFill>
                  <a:srgbClr val="52606B"/>
                </a:solidFill>
                <a:latin typeface="AppleGothic"/>
                <a:ea typeface="AppleGothic"/>
                <a:cs typeface="AppleGothic"/>
              </a:defRPr>
            </a:defPPr>
          </a:lstStyle>
          <a:p xmlns:a="http://schemas.openxmlformats.org/drawingml/2006/main">
            <a:pPr algn="l">
              <a:lnSpc>
                <a:spcPct val="116000"/>
              </a:lnSpc>
              <a:buNone/>
              <a:defRPr sz="2300" b="0">
                <a:solidFill>
                  <a:srgbClr val="52606B"/>
                </a:solidFill>
                <a:latin typeface="AppleGothic"/>
                <a:ea typeface="AppleGothic"/>
                <a:cs typeface="AppleGothic"/>
              </a:defRPr>
            </a:pPr>
            <a:r>
              <a:rPr sz="2300" b="0">
                <a:solidFill>
                  <a:srgbClr val="52606B"/>
                </a:solidFill>
                <a:latin typeface="AppleGothic"/>
                <a:ea typeface="AppleGothic"/>
                <a:cs typeface="AppleGothic"/>
              </a:rPr>
              <a:t>보상 모델·온라인 샘플링 등 필요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1AD5E72C-F30D-40A5-A23D-B293EDCFC9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139311"/>
            <a:ext cx="5238750" cy="36741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2300" b="0">
                <a:solidFill>
                  <a:srgbClr val="52606B"/>
                </a:solidFill>
                <a:latin typeface="AppleGothic"/>
                <a:ea typeface="AppleGothic"/>
                <a:cs typeface="AppleGothic"/>
              </a:defRPr>
            </a:defPPr>
          </a:lstStyle>
          <a:p xmlns:a="http://schemas.openxmlformats.org/drawingml/2006/main">
            <a:pPr algn="l">
              <a:lnSpc>
                <a:spcPct val="116000"/>
              </a:lnSpc>
              <a:buNone/>
              <a:defRPr sz="2300" b="0">
                <a:solidFill>
                  <a:srgbClr val="52606B"/>
                </a:solidFill>
                <a:latin typeface="AppleGothic"/>
                <a:ea typeface="AppleGothic"/>
                <a:cs typeface="AppleGothic"/>
              </a:defRPr>
            </a:pPr>
            <a:r>
              <a:rPr sz="2300" b="0">
                <a:solidFill>
                  <a:srgbClr val="52606B"/>
                </a:solidFill>
                <a:latin typeface="AppleGothic"/>
                <a:ea typeface="AppleGothic"/>
                <a:cs typeface="AppleGothic"/>
              </a:rPr>
              <a:t>실행 구성과 자원 관리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21B2F276-F3B7-4E12-9EC5-C9C47D6712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0" y="2057400"/>
            <a:ext cx="5295900" cy="800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2900" b="1">
                <a:solidFill>
                  <a:srgbClr val="17191B"/>
                </a:solidFill>
                <a:latin typeface="AppleGothic"/>
                <a:ea typeface="AppleGothic"/>
                <a:cs typeface="AppleGothic"/>
              </a:defRPr>
            </a:defPPr>
          </a:lstStyle>
          <a:p xmlns:a="http://schemas.openxmlformats.org/drawingml/2006/main">
            <a:pPr algn="l">
              <a:lnSpc>
                <a:spcPct val="116000"/>
              </a:lnSpc>
              <a:buNone/>
              <a:defRPr sz="2900" b="1">
                <a:solidFill>
                  <a:srgbClr val="17191B"/>
                </a:solidFill>
                <a:latin typeface="AppleGothic"/>
                <a:ea typeface="AppleGothic"/>
                <a:cs typeface="AppleGothic"/>
              </a:defRPr>
            </a:pPr>
            <a:r>
              <a:rPr sz="2900" b="1">
                <a:solidFill>
                  <a:srgbClr val="17191B"/>
                </a:solidFill>
                <a:latin typeface="AppleGothic"/>
                <a:ea typeface="AppleGothic"/>
                <a:cs typeface="AppleGothic"/>
              </a:rPr>
              <a:t>DPO 경로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ECA09DA6-2C66-4F7C-94A7-D1BA977639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0" y="3000375"/>
            <a:ext cx="52959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52606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7D8FCF2F-7C5D-4E18-A5A4-24A2FF60AB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0" y="3371850"/>
            <a:ext cx="5238750" cy="36741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2300" b="0">
                <a:solidFill>
                  <a:srgbClr val="52606B"/>
                </a:solidFill>
                <a:latin typeface="AppleGothic"/>
                <a:ea typeface="AppleGothic"/>
                <a:cs typeface="AppleGothic"/>
              </a:defRPr>
            </a:defPPr>
          </a:lstStyle>
          <a:p xmlns:a="http://schemas.openxmlformats.org/drawingml/2006/main">
            <a:pPr algn="l">
              <a:lnSpc>
                <a:spcPct val="116000"/>
              </a:lnSpc>
              <a:buNone/>
              <a:defRPr sz="2300" b="0">
                <a:solidFill>
                  <a:srgbClr val="52606B"/>
                </a:solidFill>
                <a:latin typeface="AppleGothic"/>
                <a:ea typeface="AppleGothic"/>
                <a:cs typeface="AppleGothic"/>
              </a:defRPr>
            </a:pPr>
            <a:r>
              <a:rPr sz="2300" b="0">
                <a:solidFill>
                  <a:srgbClr val="52606B"/>
                </a:solidFill>
                <a:latin typeface="AppleGothic"/>
                <a:ea typeface="AppleGothic"/>
                <a:cs typeface="AppleGothic"/>
              </a:rPr>
              <a:t>고정 선호쌍·reference로 학습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20A103E7-D023-4A03-B03A-32B93BE97F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0" y="4139311"/>
            <a:ext cx="5238750" cy="36741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2300" b="0">
                <a:solidFill>
                  <a:srgbClr val="52606B"/>
                </a:solidFill>
                <a:latin typeface="AppleGothic"/>
                <a:ea typeface="AppleGothic"/>
                <a:cs typeface="AppleGothic"/>
              </a:defRPr>
            </a:defPPr>
          </a:lstStyle>
          <a:p xmlns:a="http://schemas.openxmlformats.org/drawingml/2006/main">
            <a:pPr algn="l">
              <a:lnSpc>
                <a:spcPct val="116000"/>
              </a:lnSpc>
              <a:buNone/>
              <a:defRPr sz="2300" b="0">
                <a:solidFill>
                  <a:srgbClr val="52606B"/>
                </a:solidFill>
                <a:latin typeface="AppleGothic"/>
                <a:ea typeface="AppleGothic"/>
                <a:cs typeface="AppleGothic"/>
              </a:defRPr>
            </a:pPr>
            <a:r>
              <a:rPr sz="2300" b="0">
                <a:solidFill>
                  <a:srgbClr val="52606B"/>
                </a:solidFill>
                <a:latin typeface="AppleGothic"/>
                <a:ea typeface="AppleGothic"/>
                <a:cs typeface="AppleGothic"/>
              </a:rPr>
              <a:t>자료 라벨·편향·재평가는 여전히 필요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00386C85-A6BF-4482-A57E-D0236BF831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791200"/>
            <a:ext cx="109728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1600" b="0">
                <a:solidFill>
                  <a:srgbClr val="52606B"/>
                </a:solidFill>
                <a:latin typeface="AppleGothic"/>
                <a:ea typeface="AppleGothic"/>
                <a:cs typeface="AppleGothic"/>
              </a:defRPr>
            </a:defPPr>
          </a:lstStyle>
          <a:p xmlns:a="http://schemas.openxmlformats.org/drawingml/2006/main">
            <a:pPr algn="l">
              <a:lnSpc>
                <a:spcPct val="116000"/>
              </a:lnSpc>
              <a:buNone/>
              <a:defRPr sz="1600" b="0">
                <a:solidFill>
                  <a:srgbClr val="52606B"/>
                </a:solidFill>
                <a:latin typeface="AppleGothic"/>
                <a:ea typeface="AppleGothic"/>
                <a:cs typeface="AppleGothic"/>
              </a:defRPr>
            </a:pPr>
            <a:r>
              <a:rPr sz="1600" b="0">
                <a:solidFill>
                  <a:srgbClr val="52606B"/>
                </a:solidFill>
                <a:latin typeface="AppleGothic"/>
                <a:ea typeface="AppleGothic"/>
                <a:cs typeface="AppleGothic"/>
              </a:rPr>
              <a:t>RLHF · Reinforcement Learning from Human Feedback · 인간 피드백 기반 강화학습</a:t>
            </a:r>
          </a:p>
        </p:txBody>
      </p:sp>
    </p:spTree>
    <p:extLst>
      <p:ext uri="{BB962C8B-B14F-4D97-AF65-F5344CB8AC3E}">
        <p14:creationId xmlns:p14="http://schemas.microsoft.com/office/powerpoint/2010/main" val="1836858615"/>
      </p:ext>
    </p:extLst>
  </p:cSld>
</p:sld>
</file>

<file path=ppt/slides/slide49.xml><?xml version="1.0" encoding="utf-8"?>
<p:sld xmlns:p="http://schemas.openxmlformats.org/presentationml/2006/main">
  <p:cSld>
    <p:bg>
      <p:bgPr>
        <a:solidFill xmlns:a="http://schemas.openxmlformats.org/drawingml/2006/main">
          <a:srgbClr val="17283B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47BE9445-E2EF-4F0E-BF53-9B3FE28715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00050"/>
            <a:ext cx="10477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1400" b="0">
                <a:solidFill>
                  <a:srgbClr val="BDC7C4"/>
                </a:solidFill>
                <a:latin typeface="AppleGothic"/>
                <a:ea typeface="AppleGothic"/>
                <a:cs typeface="AppleGothic"/>
              </a:defRPr>
            </a:defPPr>
          </a:lstStyle>
          <a:p xmlns:a="http://schemas.openxmlformats.org/drawingml/2006/main">
            <a:pPr algn="l">
              <a:lnSpc>
                <a:spcPct val="116000"/>
              </a:lnSpc>
              <a:buNone/>
              <a:defRPr sz="1400" b="0">
                <a:solidFill>
                  <a:srgbClr val="BDC7C4"/>
                </a:solidFill>
                <a:latin typeface="AppleGothic"/>
                <a:ea typeface="AppleGothic"/>
                <a:cs typeface="AppleGothic"/>
              </a:defRPr>
            </a:pPr>
            <a:r>
              <a:rPr sz="1400" b="0">
                <a:solidFill>
                  <a:srgbClr val="BDC7C4"/>
                </a:solidFill>
                <a:latin typeface="AppleGothic"/>
                <a:ea typeface="AppleGothic"/>
                <a:cs typeface="AppleGothic"/>
              </a:rPr>
              <a:t>W07 / 49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7AFD3AA5-5448-4E73-92DA-9DFDD6ABC3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76400"/>
            <a:ext cx="10972800" cy="1524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4400" b="1">
                <a:solidFill>
                  <a:srgbClr val="FFFFFF"/>
                </a:solidFill>
                <a:latin typeface="AppleGothic"/>
                <a:ea typeface="AppleGothic"/>
                <a:cs typeface="AppleGothic"/>
              </a:defRPr>
            </a:defPPr>
          </a:lstStyle>
          <a:p xmlns:a="http://schemas.openxmlformats.org/drawingml/2006/main">
            <a:pPr algn="l">
              <a:lnSpc>
                <a:spcPct val="116000"/>
              </a:lnSpc>
              <a:buNone/>
              <a:defRPr sz="4400" b="1">
                <a:solidFill>
                  <a:srgbClr val="FFFFFF"/>
                </a:solidFill>
                <a:latin typeface="AppleGothic"/>
                <a:ea typeface="AppleGothic"/>
                <a:cs typeface="AppleGothic"/>
              </a:defRPr>
            </a:pPr>
            <a:r>
              <a:rPr sz="4400" b="1">
                <a:solidFill>
                  <a:srgbClr val="FFFFFF"/>
                </a:solidFill>
                <a:latin typeface="AppleGothic"/>
                <a:ea typeface="AppleGothic"/>
                <a:cs typeface="AppleGothic"/>
              </a:rPr>
              <a:t>비교 평가와 기술 선택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EA48B68F-4881-49DD-AC13-88753E3555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7338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52606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CAA82D7A-A8D8-4036-B1CD-017A7E853C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191000"/>
            <a:ext cx="10972800" cy="36741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2300" b="0">
                <a:solidFill>
                  <a:srgbClr val="FFFFFF"/>
                </a:solidFill>
                <a:latin typeface="AppleGothic"/>
                <a:ea typeface="AppleGothic"/>
                <a:cs typeface="AppleGothic"/>
              </a:defRPr>
            </a:defPPr>
          </a:lstStyle>
          <a:p xmlns:a="http://schemas.openxmlformats.org/drawingml/2006/main">
            <a:pPr algn="l">
              <a:lnSpc>
                <a:spcPct val="116000"/>
              </a:lnSpc>
              <a:buNone/>
              <a:defRPr sz="2300" b="0">
                <a:solidFill>
                  <a:srgbClr val="FFFFFF"/>
                </a:solidFill>
                <a:latin typeface="AppleGothic"/>
                <a:ea typeface="AppleGothic"/>
                <a:cs typeface="AppleGothic"/>
              </a:defRPr>
            </a:pPr>
            <a:r>
              <a:rPr sz="2300" b="0">
                <a:solidFill>
                  <a:srgbClr val="FFFFFF"/>
                </a:solidFill>
                <a:latin typeface="AppleGothic"/>
                <a:ea typeface="AppleGothic"/>
                <a:cs typeface="AppleGothic"/>
              </a:rPr>
              <a:t>품질 · 운영 비용 · 실패 유형의 분리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61B2F906-F96E-4751-9A60-C6B792AEDD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729861"/>
            <a:ext cx="10972800" cy="36741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2300" b="0">
                <a:solidFill>
                  <a:srgbClr val="FFFFFF"/>
                </a:solidFill>
                <a:latin typeface="AppleGothic"/>
                <a:ea typeface="AppleGothic"/>
                <a:cs typeface="AppleGothic"/>
              </a:defRPr>
            </a:defPPr>
          </a:lstStyle>
          <a:p xmlns:a="http://schemas.openxmlformats.org/drawingml/2006/main">
            <a:pPr algn="l">
              <a:lnSpc>
                <a:spcPct val="116000"/>
              </a:lnSpc>
              <a:buNone/>
              <a:defRPr sz="2300" b="0">
                <a:solidFill>
                  <a:srgbClr val="FFFFFF"/>
                </a:solidFill>
                <a:latin typeface="AppleGothic"/>
                <a:ea typeface="AppleGothic"/>
                <a:cs typeface="AppleGothic"/>
              </a:defRPr>
            </a:pPr>
            <a:r>
              <a:rPr sz="2300" b="0">
                <a:solidFill>
                  <a:srgbClr val="FFFFFF"/>
                </a:solidFill>
                <a:latin typeface="AppleGothic"/>
                <a:ea typeface="AppleGothic"/>
                <a:cs typeface="AppleGothic"/>
              </a:rPr>
              <a:t>기획서에 들어갈 검증 계획</a:t>
            </a:r>
          </a:p>
        </p:txBody>
      </p:sp>
    </p:spTree>
    <p:extLst>
      <p:ext uri="{BB962C8B-B14F-4D97-AF65-F5344CB8AC3E}">
        <p14:creationId xmlns:p14="http://schemas.microsoft.com/office/powerpoint/2010/main" val="1868857480"/>
      </p:ext>
    </p:extLst>
  </p:cSld>
</p:sld>
</file>

<file path=ppt/slides/slide50.xml><?xml version="1.0" encoding="utf-8"?>
<p:sld xmlns:p="http://schemas.openxmlformats.org/presentationml/2006/main">
  <p:cSld>
    <p:bg>
      <p:bgPr>
        <a:solidFill xmlns:a="http://schemas.openxmlformats.org/drawingml/2006/main">
          <a:srgbClr val="F7F7F5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ABB7BD66-70C7-465D-B536-5E5AAA7B3F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47650"/>
            <a:ext cx="9525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1400" b="0">
                <a:solidFill>
                  <a:srgbClr val="52606B"/>
                </a:solidFill>
                <a:latin typeface="AppleGothic"/>
                <a:ea typeface="AppleGothic"/>
                <a:cs typeface="AppleGothic"/>
              </a:defRPr>
            </a:defPPr>
          </a:lstStyle>
          <a:p xmlns:a="http://schemas.openxmlformats.org/drawingml/2006/main">
            <a:pPr algn="l">
              <a:lnSpc>
                <a:spcPct val="116000"/>
              </a:lnSpc>
              <a:buNone/>
              <a:defRPr sz="1400" b="0">
                <a:solidFill>
                  <a:srgbClr val="52606B"/>
                </a:solidFill>
                <a:latin typeface="AppleGothic"/>
                <a:ea typeface="AppleGothic"/>
                <a:cs typeface="AppleGothic"/>
              </a:defRPr>
            </a:pPr>
            <a:r>
              <a:rPr sz="1400" b="0">
                <a:solidFill>
                  <a:srgbClr val="52606B"/>
                </a:solidFill>
                <a:latin typeface="AppleGothic"/>
                <a:ea typeface="AppleGothic"/>
                <a:cs typeface="AppleGothic"/>
              </a:rPr>
              <a:t>LLMOPS / W07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4D700FD2-E1F0-4F55-862E-5866E6CE83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8500" y="247650"/>
            <a:ext cx="7239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r">
              <a:defRPr sz="1400" b="0">
                <a:solidFill>
                  <a:srgbClr val="52606B"/>
                </a:solidFill>
                <a:latin typeface="Menlo"/>
                <a:ea typeface="Menlo"/>
                <a:cs typeface="Menlo"/>
              </a:defRPr>
            </a:defPPr>
          </a:lstStyle>
          <a:p xmlns:a="http://schemas.openxmlformats.org/drawingml/2006/main">
            <a:pPr algn="r">
              <a:lnSpc>
                <a:spcPct val="116000"/>
              </a:lnSpc>
              <a:buNone/>
              <a:defRPr sz="1400" b="0">
                <a:solidFill>
                  <a:srgbClr val="52606B"/>
                </a:solidFill>
                <a:latin typeface="Menlo"/>
                <a:ea typeface="Menlo"/>
                <a:cs typeface="Menlo"/>
              </a:defRPr>
            </a:pPr>
            <a:r>
              <a:rPr sz="1400" b="0">
                <a:solidFill>
                  <a:srgbClr val="52606B"/>
                </a:solidFill>
                <a:latin typeface="Menlo"/>
                <a:ea typeface="Menlo"/>
                <a:cs typeface="Menlo"/>
              </a:rPr>
              <a:t>50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03395A97-7DD8-49F3-92F4-EF3B9CFC18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23900"/>
            <a:ext cx="109728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3400" b="1">
                <a:solidFill>
                  <a:srgbClr val="17191B"/>
                </a:solidFill>
                <a:latin typeface="AppleGothic"/>
                <a:ea typeface="AppleGothic"/>
                <a:cs typeface="AppleGothic"/>
              </a:defRPr>
            </a:defPPr>
          </a:lstStyle>
          <a:p xmlns:a="http://schemas.openxmlformats.org/drawingml/2006/main">
            <a:pPr algn="l">
              <a:lnSpc>
                <a:spcPct val="116000"/>
              </a:lnSpc>
              <a:buNone/>
              <a:defRPr sz="3400" b="1">
                <a:solidFill>
                  <a:srgbClr val="17191B"/>
                </a:solidFill>
                <a:latin typeface="AppleGothic"/>
                <a:ea typeface="AppleGothic"/>
                <a:cs typeface="AppleGothic"/>
              </a:defRPr>
            </a:pPr>
            <a:r>
              <a:rPr sz="3400" b="1">
                <a:solidFill>
                  <a:srgbClr val="17191B"/>
                </a:solidFill>
                <a:latin typeface="AppleGothic"/>
                <a:ea typeface="AppleGothic"/>
                <a:cs typeface="AppleGothic"/>
              </a:rPr>
              <a:t>고정 입력의 비교표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4CD47B18-C92F-40CC-A16C-1796EC17E8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315075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FD5D3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6E7272E8-D4C7-421C-BA04-586F042040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77000"/>
            <a:ext cx="109728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1400" b="0">
                <a:solidFill>
                  <a:srgbClr val="52606B"/>
                </a:solidFill>
                <a:latin typeface="AppleGothic"/>
                <a:ea typeface="AppleGothic"/>
                <a:cs typeface="AppleGothic"/>
              </a:defRPr>
            </a:defPPr>
          </a:lstStyle>
          <a:p xmlns:a="http://schemas.openxmlformats.org/drawingml/2006/main">
            <a:pPr algn="l">
              <a:lnSpc>
                <a:spcPct val="116000"/>
              </a:lnSpc>
              <a:buNone/>
              <a:defRPr sz="1400" b="0">
                <a:solidFill>
                  <a:srgbClr val="52606B"/>
                </a:solidFill>
                <a:latin typeface="AppleGothic"/>
                <a:ea typeface="AppleGothic"/>
                <a:cs typeface="AppleGothic"/>
              </a:defRPr>
            </a:pPr>
            <a:r>
              <a:rPr sz="1400" b="0">
                <a:solidFill>
                  <a:srgbClr val="52606B"/>
                </a:solidFill>
                <a:latin typeface="AppleGothic"/>
                <a:ea typeface="AppleGothic"/>
                <a:cs typeface="AppleGothic"/>
              </a:rPr>
              <a:t>데이터 · 모델 적응 · 비교 평가 · 기획서 초안</a:t>
            </a:r>
          </a:p>
        </p:txBody>
      </p:sp>
      <p:graphicFrame>
        <p:nvGraphicFrame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4279F124-1723-4B8D-8E90-B0D9422E551E}"/>
              </a:ext>
            </a:extLst>
          </p:cNvPr>
          <p:cNvGraphicFramePr/>
          <p:nvPr/>
        </p:nvGraphicFramePr>
        <p:xfrm>
          <a:off xmlns:a="http://schemas.openxmlformats.org/drawingml/2006/main" x="609600" y="1809750"/>
          <a:ext xmlns:a="http://schemas.openxmlformats.org/drawingml/2006/main" cx="10972800" cy="3714750"/>
        </p:xfrm>
        <a:graphic xmlns:a="http://schemas.openxmlformats.org/drawingml/2006/main">
          <a:graphicData uri="http://schemas.openxmlformats.org/drawingml/2006/table">
            <a:tbl>
              <a:tblPr firstRow="0" bandRow="0"/>
              <a:tblGrid>
                <a:gridCol w="2857500"/>
                <a:gridCol w="4686300"/>
                <a:gridCol w="3429000"/>
              </a:tblGrid>
              <a:tr h="742950">
                <a:tc>
                  <a:txBody>
                    <a:bodyPr wrap="none" lIns="133350" tIns="114300" rIns="133350" bIns="114300">
                      <a:noAutofit/>
                    </a:bodyPr>
                    <a:lstStyle/>
                    <a:p>
                      <a:r>
                        <a:rPr sz="1900" b="1">
                          <a:solidFill>
                            <a:srgbClr val="17283B"/>
                          </a:solidFill>
                          <a:latin typeface="AppleGothic"/>
                          <a:ea typeface="AppleGothic"/>
                          <a:cs typeface="AppleGothic"/>
                        </a:rPr>
                        <a:t>항목</a:t>
                      </a:r>
                    </a:p>
                  </a:txBody>
                  <a:tcPr marL="91440" marR="91440" marT="45720" marB="4572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EDF1F6"/>
                    </a:solidFill>
                  </a:tcPr>
                </a:tc>
                <a:tc>
                  <a:txBody>
                    <a:bodyPr wrap="none" lIns="133350" tIns="114300" rIns="133350" bIns="114300">
                      <a:noAutofit/>
                    </a:bodyPr>
                    <a:lstStyle/>
                    <a:p>
                      <a:r>
                        <a:rPr sz="1900" b="1">
                          <a:solidFill>
                            <a:srgbClr val="17283B"/>
                          </a:solidFill>
                          <a:latin typeface="AppleGothic"/>
                          <a:ea typeface="AppleGothic"/>
                          <a:cs typeface="AppleGothic"/>
                        </a:rPr>
                        <a:t>동일 조건</a:t>
                      </a:r>
                    </a:p>
                  </a:txBody>
                  <a:tcPr marL="91440" marR="91440" marT="45720" marB="4572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EDF1F6"/>
                    </a:solidFill>
                  </a:tcPr>
                </a:tc>
                <a:tc>
                  <a:txBody>
                    <a:bodyPr wrap="none" lIns="133350" tIns="114300" rIns="133350" bIns="114300">
                      <a:noAutofit/>
                    </a:bodyPr>
                    <a:lstStyle/>
                    <a:p>
                      <a:r>
                        <a:rPr sz="1900" b="1">
                          <a:solidFill>
                            <a:srgbClr val="17283B"/>
                          </a:solidFill>
                          <a:latin typeface="AppleGothic"/>
                          <a:ea typeface="AppleGothic"/>
                          <a:cs typeface="AppleGothic"/>
                        </a:rPr>
                        <a:t>결과 기록</a:t>
                      </a:r>
                    </a:p>
                  </a:txBody>
                  <a:tcPr marL="91440" marR="91440" marT="45720" marB="4572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EDF1F6"/>
                    </a:solidFill>
                  </a:tcPr>
                </a:tc>
              </a:tr>
              <a:tr h="742950">
                <a:tc>
                  <a:txBody>
                    <a:bodyPr wrap="none" lIns="133350" tIns="114300" rIns="133350" bIns="114300">
                      <a:noAutofit/>
                    </a:bodyPr>
                    <a:lstStyle/>
                    <a:p>
                      <a:r>
                        <a:rPr sz="1900" b="1">
                          <a:solidFill>
                            <a:srgbClr val="17191B"/>
                          </a:solidFill>
                          <a:latin typeface="AppleGothic"/>
                          <a:ea typeface="AppleGothic"/>
                          <a:cs typeface="AppleGothic"/>
                        </a:rPr>
                        <a:t>입력</a:t>
                      </a:r>
                    </a:p>
                  </a:txBody>
                  <a:tcPr marL="91440" marR="91440" marT="45720" marB="4572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 lIns="133350" tIns="114300" rIns="133350" bIns="114300">
                      <a:noAutofit/>
                    </a:bodyPr>
                    <a:lstStyle/>
                    <a:p>
                      <a:r>
                        <a:rPr sz="1900" b="0">
                          <a:solidFill>
                            <a:srgbClr val="52606B"/>
                          </a:solidFill>
                          <a:latin typeface="AppleGothic"/>
                          <a:ea typeface="AppleGothic"/>
                          <a:cs typeface="AppleGothic"/>
                        </a:rPr>
                        <a:t>평가셋·템플릿</a:t>
                      </a:r>
                    </a:p>
                  </a:txBody>
                  <a:tcPr marL="91440" marR="91440" marT="45720" marB="4572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 lIns="133350" tIns="114300" rIns="133350" bIns="114300">
                      <a:noAutofit/>
                    </a:bodyPr>
                    <a:lstStyle/>
                    <a:p>
                      <a:r>
                        <a:rPr sz="1900" b="0">
                          <a:solidFill>
                            <a:srgbClr val="52606B"/>
                          </a:solidFill>
                          <a:latin typeface="AppleGothic"/>
                          <a:ea typeface="AppleGothic"/>
                          <a:cs typeface="AppleGothic"/>
                        </a:rPr>
                        <a:t>응답 원문</a:t>
                      </a:r>
                    </a:p>
                  </a:txBody>
                  <a:tcPr marL="91440" marR="91440" marT="45720" marB="4572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FFFFFF"/>
                    </a:solidFill>
                  </a:tcPr>
                </a:tc>
              </a:tr>
              <a:tr h="742950">
                <a:tc>
                  <a:txBody>
                    <a:bodyPr wrap="none" lIns="133350" tIns="114300" rIns="133350" bIns="114300">
                      <a:noAutofit/>
                    </a:bodyPr>
                    <a:lstStyle/>
                    <a:p>
                      <a:r>
                        <a:rPr sz="1900" b="1">
                          <a:solidFill>
                            <a:srgbClr val="17191B"/>
                          </a:solidFill>
                          <a:latin typeface="AppleGothic"/>
                          <a:ea typeface="AppleGothic"/>
                          <a:cs typeface="AppleGothic"/>
                        </a:rPr>
                        <a:t>품질</a:t>
                      </a:r>
                    </a:p>
                  </a:txBody>
                  <a:tcPr marL="91440" marR="91440" marT="45720" marB="4572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 lIns="133350" tIns="114300" rIns="133350" bIns="114300">
                      <a:noAutofit/>
                    </a:bodyPr>
                    <a:lstStyle/>
                    <a:p>
                      <a:r>
                        <a:rPr sz="1900" b="0">
                          <a:solidFill>
                            <a:srgbClr val="52606B"/>
                          </a:solidFill>
                          <a:latin typeface="AppleGothic"/>
                          <a:ea typeface="AppleGothic"/>
                          <a:cs typeface="AppleGothic"/>
                        </a:rPr>
                        <a:t>근거·형식·유용성</a:t>
                      </a:r>
                    </a:p>
                  </a:txBody>
                  <a:tcPr marL="91440" marR="91440" marT="45720" marB="4572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 lIns="133350" tIns="114300" rIns="133350" bIns="114300">
                      <a:noAutofit/>
                    </a:bodyPr>
                    <a:lstStyle/>
                    <a:p>
                      <a:r>
                        <a:rPr sz="1900" b="0">
                          <a:solidFill>
                            <a:srgbClr val="52606B"/>
                          </a:solidFill>
                          <a:latin typeface="AppleGothic"/>
                          <a:ea typeface="AppleGothic"/>
                          <a:cs typeface="AppleGothic"/>
                        </a:rPr>
                        <a:t>통과·실패 이유</a:t>
                      </a:r>
                    </a:p>
                  </a:txBody>
                  <a:tcPr marL="91440" marR="91440" marT="45720" marB="4572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FFFFFF"/>
                    </a:solidFill>
                  </a:tcPr>
                </a:tc>
              </a:tr>
              <a:tr h="742950">
                <a:tc>
                  <a:txBody>
                    <a:bodyPr wrap="none" lIns="133350" tIns="114300" rIns="133350" bIns="114300">
                      <a:noAutofit/>
                    </a:bodyPr>
                    <a:lstStyle/>
                    <a:p>
                      <a:r>
                        <a:rPr sz="1900" b="1">
                          <a:solidFill>
                            <a:srgbClr val="17191B"/>
                          </a:solidFill>
                          <a:latin typeface="AppleGothic"/>
                          <a:ea typeface="AppleGothic"/>
                          <a:cs typeface="AppleGothic"/>
                        </a:rPr>
                        <a:t>설정</a:t>
                      </a:r>
                    </a:p>
                  </a:txBody>
                  <a:tcPr marL="91440" marR="91440" marT="45720" marB="4572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 lIns="133350" tIns="114300" rIns="133350" bIns="114300">
                      <a:noAutofit/>
                    </a:bodyPr>
                    <a:lstStyle/>
                    <a:p>
                      <a:r>
                        <a:rPr sz="1900" b="0">
                          <a:solidFill>
                            <a:srgbClr val="52606B"/>
                          </a:solidFill>
                          <a:latin typeface="AppleGothic"/>
                          <a:ea typeface="AppleGothic"/>
                          <a:cs typeface="AppleGothic"/>
                        </a:rPr>
                        <a:t>모델·Adapter·생성</a:t>
                      </a:r>
                    </a:p>
                  </a:txBody>
                  <a:tcPr marL="91440" marR="91440" marT="45720" marB="4572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 lIns="133350" tIns="114300" rIns="133350" bIns="114300">
                      <a:noAutofit/>
                    </a:bodyPr>
                    <a:lstStyle/>
                    <a:p>
                      <a:r>
                        <a:rPr sz="1900" b="0">
                          <a:solidFill>
                            <a:srgbClr val="52606B"/>
                          </a:solidFill>
                          <a:latin typeface="AppleGothic"/>
                          <a:ea typeface="AppleGothic"/>
                          <a:cs typeface="AppleGothic"/>
                        </a:rPr>
                        <a:t>버전·seed</a:t>
                      </a:r>
                    </a:p>
                  </a:txBody>
                  <a:tcPr marL="91440" marR="91440" marT="45720" marB="4572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FFFFFF"/>
                    </a:solidFill>
                  </a:tcPr>
                </a:tc>
              </a:tr>
              <a:tr h="742950">
                <a:tc>
                  <a:txBody>
                    <a:bodyPr wrap="none" lIns="133350" tIns="114300" rIns="133350" bIns="114300">
                      <a:noAutofit/>
                    </a:bodyPr>
                    <a:lstStyle/>
                    <a:p>
                      <a:r>
                        <a:rPr sz="1900" b="1">
                          <a:solidFill>
                            <a:srgbClr val="17191B"/>
                          </a:solidFill>
                          <a:latin typeface="AppleGothic"/>
                          <a:ea typeface="AppleGothic"/>
                          <a:cs typeface="AppleGothic"/>
                        </a:rPr>
                        <a:t>운영</a:t>
                      </a:r>
                    </a:p>
                  </a:txBody>
                  <a:tcPr marL="91440" marR="91440" marT="45720" marB="4572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 lIns="133350" tIns="114300" rIns="133350" bIns="114300">
                      <a:noAutofit/>
                    </a:bodyPr>
                    <a:lstStyle/>
                    <a:p>
                      <a:r>
                        <a:rPr sz="1900" b="0">
                          <a:solidFill>
                            <a:srgbClr val="52606B"/>
                          </a:solidFill>
                          <a:latin typeface="AppleGothic"/>
                          <a:ea typeface="AppleGothic"/>
                          <a:cs typeface="AppleGothic"/>
                        </a:rPr>
                        <a:t>환경·반복 수</a:t>
                      </a:r>
                    </a:p>
                  </a:txBody>
                  <a:tcPr marL="91440" marR="91440" marT="45720" marB="4572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 lIns="133350" tIns="114300" rIns="133350" bIns="114300">
                      <a:noAutofit/>
                    </a:bodyPr>
                    <a:lstStyle/>
                    <a:p>
                      <a:r>
                        <a:rPr sz="1900" b="0">
                          <a:solidFill>
                            <a:srgbClr val="52606B"/>
                          </a:solidFill>
                          <a:latin typeface="AppleGothic"/>
                          <a:ea typeface="AppleGothic"/>
                          <a:cs typeface="AppleGothic"/>
                        </a:rPr>
                        <a:t>시간·비용·오류</a:t>
                      </a:r>
                    </a:p>
                  </a:txBody>
                  <a:tcPr marL="91440" marR="91440" marT="45720" marB="4572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99CAE691-EEE0-4D0D-B1BC-BC2F9917E4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80975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283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A8D3F8D5-3EF5-4F57-8CBB-10D034541C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5527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FD5D3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6EA71CE4-9044-4DA5-A4F5-306A88C201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29565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FD5D3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B4F8D021-8EED-4237-8094-AF0E36EBC6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0386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FD5D3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0DA4A7D9-57E4-4E1A-8480-047B905739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78155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FD5D3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75869D69-E4F0-4771-8370-2934CB0751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5245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283B"/>
          </a:solidFill>
          <a:ln xmlns:a="http://schemas.openxmlformats.org/drawingml/2006/main" w="0">
            <a:noFill/>
            <a:prstDash val="solid"/>
          </a:ln>
        </p:spPr>
      </p:sp>
    </p:spTree>
    <p:extLst>
      <p:ext uri="{BB962C8B-B14F-4D97-AF65-F5344CB8AC3E}">
        <p14:creationId xmlns:p14="http://schemas.microsoft.com/office/powerpoint/2010/main" val="1978810094"/>
      </p:ext>
    </p:extLst>
  </p:cSld>
</p:sld>
</file>

<file path=ppt/slides/slide51.xml><?xml version="1.0" encoding="utf-8"?>
<p:sld xmlns:p="http://schemas.openxmlformats.org/presentationml/2006/main">
  <p:cSld>
    <p:bg>
      <p:bgPr>
        <a:solidFill xmlns:a="http://schemas.openxmlformats.org/drawingml/2006/main">
          <a:srgbClr val="F7F7F5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1CC3F454-3637-4425-B384-793F1E345C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47650"/>
            <a:ext cx="9525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1400" b="0">
                <a:solidFill>
                  <a:srgbClr val="52606B"/>
                </a:solidFill>
                <a:latin typeface="AppleGothic"/>
                <a:ea typeface="AppleGothic"/>
                <a:cs typeface="AppleGothic"/>
              </a:defRPr>
            </a:defPPr>
          </a:lstStyle>
          <a:p xmlns:a="http://schemas.openxmlformats.org/drawingml/2006/main">
            <a:pPr algn="l">
              <a:lnSpc>
                <a:spcPct val="116000"/>
              </a:lnSpc>
              <a:buNone/>
              <a:defRPr sz="1400" b="0">
                <a:solidFill>
                  <a:srgbClr val="52606B"/>
                </a:solidFill>
                <a:latin typeface="AppleGothic"/>
                <a:ea typeface="AppleGothic"/>
                <a:cs typeface="AppleGothic"/>
              </a:defRPr>
            </a:pPr>
            <a:r>
              <a:rPr sz="1400" b="0">
                <a:solidFill>
                  <a:srgbClr val="52606B"/>
                </a:solidFill>
                <a:latin typeface="AppleGothic"/>
                <a:ea typeface="AppleGothic"/>
                <a:cs typeface="AppleGothic"/>
              </a:rPr>
              <a:t>LLMOPS / W07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EAEC1292-3934-4F4C-B4CA-641AB7F93E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8500" y="247650"/>
            <a:ext cx="7239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r">
              <a:defRPr sz="1400" b="0">
                <a:solidFill>
                  <a:srgbClr val="52606B"/>
                </a:solidFill>
                <a:latin typeface="Menlo"/>
                <a:ea typeface="Menlo"/>
                <a:cs typeface="Menlo"/>
              </a:defRPr>
            </a:defPPr>
          </a:lstStyle>
          <a:p xmlns:a="http://schemas.openxmlformats.org/drawingml/2006/main">
            <a:pPr algn="r">
              <a:lnSpc>
                <a:spcPct val="116000"/>
              </a:lnSpc>
              <a:buNone/>
              <a:defRPr sz="1400" b="0">
                <a:solidFill>
                  <a:srgbClr val="52606B"/>
                </a:solidFill>
                <a:latin typeface="Menlo"/>
                <a:ea typeface="Menlo"/>
                <a:cs typeface="Menlo"/>
              </a:defRPr>
            </a:pPr>
            <a:r>
              <a:rPr sz="1400" b="0">
                <a:solidFill>
                  <a:srgbClr val="52606B"/>
                </a:solidFill>
                <a:latin typeface="Menlo"/>
                <a:ea typeface="Menlo"/>
                <a:cs typeface="Menlo"/>
              </a:rPr>
              <a:t>51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BCFF9C0B-2E27-4CF8-8254-DB667D58A7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23900"/>
            <a:ext cx="109728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3400" b="1">
                <a:solidFill>
                  <a:srgbClr val="17191B"/>
                </a:solidFill>
                <a:latin typeface="AppleGothic"/>
                <a:ea typeface="AppleGothic"/>
                <a:cs typeface="AppleGothic"/>
              </a:defRPr>
            </a:defPPr>
          </a:lstStyle>
          <a:p xmlns:a="http://schemas.openxmlformats.org/drawingml/2006/main">
            <a:pPr algn="l">
              <a:lnSpc>
                <a:spcPct val="116000"/>
              </a:lnSpc>
              <a:buNone/>
              <a:defRPr sz="3400" b="1">
                <a:solidFill>
                  <a:srgbClr val="17191B"/>
                </a:solidFill>
                <a:latin typeface="AppleGothic"/>
                <a:ea typeface="AppleGothic"/>
                <a:cs typeface="AppleGothic"/>
              </a:defRPr>
            </a:pPr>
            <a:r>
              <a:rPr sz="3400" b="1">
                <a:solidFill>
                  <a:srgbClr val="17191B"/>
                </a:solidFill>
                <a:latin typeface="AppleGothic"/>
                <a:ea typeface="AppleGothic"/>
                <a:cs typeface="AppleGothic"/>
              </a:rPr>
              <a:t>비교의 공정성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7E27628B-3B97-4F75-A382-84945A5045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315075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FD5D3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87DC4432-CC49-42B7-8710-C34FA3D79B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77000"/>
            <a:ext cx="109728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1400" b="0">
                <a:solidFill>
                  <a:srgbClr val="52606B"/>
                </a:solidFill>
                <a:latin typeface="AppleGothic"/>
                <a:ea typeface="AppleGothic"/>
                <a:cs typeface="AppleGothic"/>
              </a:defRPr>
            </a:defPPr>
          </a:lstStyle>
          <a:p xmlns:a="http://schemas.openxmlformats.org/drawingml/2006/main">
            <a:pPr algn="l">
              <a:lnSpc>
                <a:spcPct val="116000"/>
              </a:lnSpc>
              <a:buNone/>
              <a:defRPr sz="1400" b="0">
                <a:solidFill>
                  <a:srgbClr val="52606B"/>
                </a:solidFill>
                <a:latin typeface="AppleGothic"/>
                <a:ea typeface="AppleGothic"/>
                <a:cs typeface="AppleGothic"/>
              </a:defRPr>
            </a:pPr>
            <a:r>
              <a:rPr sz="1400" b="0">
                <a:solidFill>
                  <a:srgbClr val="52606B"/>
                </a:solidFill>
                <a:latin typeface="AppleGothic"/>
                <a:ea typeface="AppleGothic"/>
                <a:cs typeface="AppleGothic"/>
              </a:rPr>
              <a:t>데이터 · 모델 적응 · 비교 평가 · 기획서 초안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8FCDD71D-7E25-4A98-96BD-9576164BB3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464689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FD5D3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01EC0723-358C-47E2-8BC8-28B72DC127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809750"/>
            <a:ext cx="10477500" cy="426339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2700" b="1">
                <a:solidFill>
                  <a:srgbClr val="17191B"/>
                </a:solidFill>
                <a:latin typeface="AppleGothic"/>
                <a:ea typeface="AppleGothic"/>
                <a:cs typeface="AppleGothic"/>
              </a:defRPr>
            </a:defPPr>
          </a:lstStyle>
          <a:p xmlns:a="http://schemas.openxmlformats.org/drawingml/2006/main">
            <a:pPr algn="l">
              <a:lnSpc>
                <a:spcPct val="116000"/>
              </a:lnSpc>
              <a:buNone/>
              <a:defRPr sz="2700" b="1">
                <a:solidFill>
                  <a:srgbClr val="17191B"/>
                </a:solidFill>
                <a:latin typeface="AppleGothic"/>
                <a:ea typeface="AppleGothic"/>
                <a:cs typeface="AppleGothic"/>
              </a:defRPr>
            </a:pPr>
            <a:r>
              <a:rPr sz="2700" b="1">
                <a:solidFill>
                  <a:srgbClr val="17191B"/>
                </a:solidFill>
                <a:latin typeface="AppleGothic"/>
                <a:ea typeface="AppleGothic"/>
                <a:cs typeface="AppleGothic"/>
              </a:rPr>
              <a:t>개발에 사용한 입력과 보류 입력의 분리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7F516CBE-6FB2-4421-9E46-24F3087790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883789"/>
            <a:ext cx="10477500" cy="337947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2100" b="0">
                <a:solidFill>
                  <a:srgbClr val="52606B"/>
                </a:solidFill>
                <a:latin typeface="AppleGothic"/>
                <a:ea typeface="AppleGothic"/>
                <a:cs typeface="AppleGothic"/>
              </a:defRPr>
            </a:defPPr>
          </a:lstStyle>
          <a:p xmlns:a="http://schemas.openxmlformats.org/drawingml/2006/main">
            <a:pPr algn="l">
              <a:lnSpc>
                <a:spcPct val="116000"/>
              </a:lnSpc>
              <a:buNone/>
              <a:defRPr sz="2100" b="0">
                <a:solidFill>
                  <a:srgbClr val="52606B"/>
                </a:solidFill>
                <a:latin typeface="AppleGothic"/>
                <a:ea typeface="AppleGothic"/>
                <a:cs typeface="AppleGothic"/>
              </a:defRPr>
            </a:pPr>
            <a:r>
              <a:rPr sz="2100" b="0">
                <a:solidFill>
                  <a:srgbClr val="52606B"/>
                </a:solidFill>
                <a:latin typeface="AppleGothic"/>
                <a:ea typeface="AppleGothic"/>
                <a:cs typeface="AppleGothic"/>
              </a:rPr>
              <a:t>답변 순서 가림과 동일 기준의 사람 검토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752C8C3B-8557-432C-A929-120F02B933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526536"/>
            <a:ext cx="10477500" cy="337947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2100" b="0">
                <a:solidFill>
                  <a:srgbClr val="52606B"/>
                </a:solidFill>
                <a:latin typeface="AppleGothic"/>
                <a:ea typeface="AppleGothic"/>
                <a:cs typeface="AppleGothic"/>
              </a:defRPr>
            </a:defPPr>
          </a:lstStyle>
          <a:p xmlns:a="http://schemas.openxmlformats.org/drawingml/2006/main">
            <a:pPr algn="l">
              <a:lnSpc>
                <a:spcPct val="116000"/>
              </a:lnSpc>
              <a:buNone/>
              <a:defRPr sz="2100" b="0">
                <a:solidFill>
                  <a:srgbClr val="52606B"/>
                </a:solidFill>
                <a:latin typeface="AppleGothic"/>
                <a:ea typeface="AppleGothic"/>
                <a:cs typeface="AppleGothic"/>
              </a:defRPr>
            </a:pPr>
            <a:r>
              <a:rPr sz="2100" b="0">
                <a:solidFill>
                  <a:srgbClr val="52606B"/>
                </a:solidFill>
                <a:latin typeface="AppleGothic"/>
                <a:ea typeface="AppleGothic"/>
                <a:cs typeface="AppleGothic"/>
              </a:rPr>
              <a:t>최고 사례만 고르지 않은 실패 기록</a:t>
            </a:r>
          </a:p>
        </p:txBody>
      </p:sp>
    </p:spTree>
    <p:extLst>
      <p:ext uri="{BB962C8B-B14F-4D97-AF65-F5344CB8AC3E}">
        <p14:creationId xmlns:p14="http://schemas.microsoft.com/office/powerpoint/2010/main" val="1984118744"/>
      </p:ext>
    </p:extLst>
  </p:cSld>
</p:sld>
</file>

<file path=ppt/slides/slide52.xml><?xml version="1.0" encoding="utf-8"?>
<p:sld xmlns:p="http://schemas.openxmlformats.org/presentationml/2006/main">
  <p:cSld>
    <p:bg>
      <p:bgPr>
        <a:solidFill xmlns:a="http://schemas.openxmlformats.org/drawingml/2006/main">
          <a:srgbClr val="F7F7F5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31DB6B52-4ABD-4282-9106-7F5C399CB5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47650"/>
            <a:ext cx="9525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1400" b="0">
                <a:solidFill>
                  <a:srgbClr val="52606B"/>
                </a:solidFill>
                <a:latin typeface="AppleGothic"/>
                <a:ea typeface="AppleGothic"/>
                <a:cs typeface="AppleGothic"/>
              </a:defRPr>
            </a:defPPr>
          </a:lstStyle>
          <a:p xmlns:a="http://schemas.openxmlformats.org/drawingml/2006/main">
            <a:pPr algn="l">
              <a:lnSpc>
                <a:spcPct val="116000"/>
              </a:lnSpc>
              <a:buNone/>
              <a:defRPr sz="1400" b="0">
                <a:solidFill>
                  <a:srgbClr val="52606B"/>
                </a:solidFill>
                <a:latin typeface="AppleGothic"/>
                <a:ea typeface="AppleGothic"/>
                <a:cs typeface="AppleGothic"/>
              </a:defRPr>
            </a:pPr>
            <a:r>
              <a:rPr sz="1400" b="0">
                <a:solidFill>
                  <a:srgbClr val="52606B"/>
                </a:solidFill>
                <a:latin typeface="AppleGothic"/>
                <a:ea typeface="AppleGothic"/>
                <a:cs typeface="AppleGothic"/>
              </a:rPr>
              <a:t>LLMOPS / W07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DC91A592-171F-417B-847B-C6732B3377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8500" y="247650"/>
            <a:ext cx="7239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r">
              <a:defRPr sz="1400" b="0">
                <a:solidFill>
                  <a:srgbClr val="52606B"/>
                </a:solidFill>
                <a:latin typeface="Menlo"/>
                <a:ea typeface="Menlo"/>
                <a:cs typeface="Menlo"/>
              </a:defRPr>
            </a:defPPr>
          </a:lstStyle>
          <a:p xmlns:a="http://schemas.openxmlformats.org/drawingml/2006/main">
            <a:pPr algn="r">
              <a:lnSpc>
                <a:spcPct val="116000"/>
              </a:lnSpc>
              <a:buNone/>
              <a:defRPr sz="1400" b="0">
                <a:solidFill>
                  <a:srgbClr val="52606B"/>
                </a:solidFill>
                <a:latin typeface="Menlo"/>
                <a:ea typeface="Menlo"/>
                <a:cs typeface="Menlo"/>
              </a:defRPr>
            </a:pPr>
            <a:r>
              <a:rPr sz="1400" b="0">
                <a:solidFill>
                  <a:srgbClr val="52606B"/>
                </a:solidFill>
                <a:latin typeface="Menlo"/>
                <a:ea typeface="Menlo"/>
                <a:cs typeface="Menlo"/>
              </a:rPr>
              <a:t>52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CB32E810-5FF0-4CA8-BA96-A43C8857C5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23900"/>
            <a:ext cx="109728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3400" b="1">
                <a:solidFill>
                  <a:srgbClr val="17191B"/>
                </a:solidFill>
                <a:latin typeface="AppleGothic"/>
                <a:ea typeface="AppleGothic"/>
                <a:cs typeface="AppleGothic"/>
              </a:defRPr>
            </a:defPPr>
          </a:lstStyle>
          <a:p xmlns:a="http://schemas.openxmlformats.org/drawingml/2006/main">
            <a:pPr algn="l">
              <a:lnSpc>
                <a:spcPct val="116000"/>
              </a:lnSpc>
              <a:buNone/>
              <a:defRPr sz="3400" b="1">
                <a:solidFill>
                  <a:srgbClr val="17191B"/>
                </a:solidFill>
                <a:latin typeface="AppleGothic"/>
                <a:ea typeface="AppleGothic"/>
                <a:cs typeface="AppleGothic"/>
              </a:defRPr>
            </a:pPr>
            <a:r>
              <a:rPr sz="3400" b="1">
                <a:solidFill>
                  <a:srgbClr val="17191B"/>
                </a:solidFill>
                <a:latin typeface="AppleGothic"/>
                <a:ea typeface="AppleGothic"/>
                <a:cs typeface="AppleGothic"/>
              </a:rPr>
              <a:t>평가 기준의 구체화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9FB6E63C-9367-464D-BCB4-415A926B9B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315075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FD5D3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DB67780C-D294-47D2-87C6-19F775D02A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77000"/>
            <a:ext cx="109728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1400" b="0">
                <a:solidFill>
                  <a:srgbClr val="52606B"/>
                </a:solidFill>
                <a:latin typeface="AppleGothic"/>
                <a:ea typeface="AppleGothic"/>
                <a:cs typeface="AppleGothic"/>
              </a:defRPr>
            </a:defPPr>
          </a:lstStyle>
          <a:p xmlns:a="http://schemas.openxmlformats.org/drawingml/2006/main">
            <a:pPr algn="l">
              <a:lnSpc>
                <a:spcPct val="116000"/>
              </a:lnSpc>
              <a:buNone/>
              <a:defRPr sz="1400" b="0">
                <a:solidFill>
                  <a:srgbClr val="52606B"/>
                </a:solidFill>
                <a:latin typeface="AppleGothic"/>
                <a:ea typeface="AppleGothic"/>
                <a:cs typeface="AppleGothic"/>
              </a:defRPr>
            </a:pPr>
            <a:r>
              <a:rPr sz="1400" b="0">
                <a:solidFill>
                  <a:srgbClr val="52606B"/>
                </a:solidFill>
                <a:latin typeface="AppleGothic"/>
                <a:ea typeface="AppleGothic"/>
                <a:cs typeface="AppleGothic"/>
              </a:rPr>
              <a:t>데이터 · 모델 적응 · 비교 평가 · 기획서 초안</a:t>
            </a:r>
          </a:p>
        </p:txBody>
      </p:sp>
      <p:graphicFrame>
        <p:nvGraphicFrame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02EAA46F-2FD2-481F-AF67-C01BC1ECD810}"/>
              </a:ext>
            </a:extLst>
          </p:cNvPr>
          <p:cNvGraphicFramePr/>
          <p:nvPr/>
        </p:nvGraphicFramePr>
        <p:xfrm>
          <a:off xmlns:a="http://schemas.openxmlformats.org/drawingml/2006/main" x="609600" y="1809750"/>
          <a:ext xmlns:a="http://schemas.openxmlformats.org/drawingml/2006/main" cx="10972800" cy="3714750"/>
        </p:xfrm>
        <a:graphic xmlns:a="http://schemas.openxmlformats.org/drawingml/2006/main">
          <a:graphicData uri="http://schemas.openxmlformats.org/drawingml/2006/table">
            <a:tbl>
              <a:tblPr firstRow="0" bandRow="0"/>
              <a:tblGrid>
                <a:gridCol w="3238500"/>
                <a:gridCol w="7734300"/>
              </a:tblGrid>
              <a:tr h="742950">
                <a:tc>
                  <a:txBody>
                    <a:bodyPr wrap="none" lIns="133350" tIns="114300" rIns="133350" bIns="114300">
                      <a:noAutofit/>
                    </a:bodyPr>
                    <a:lstStyle/>
                    <a:p>
                      <a:r>
                        <a:rPr sz="1900" b="1">
                          <a:solidFill>
                            <a:srgbClr val="17283B"/>
                          </a:solidFill>
                          <a:latin typeface="AppleGothic"/>
                          <a:ea typeface="AppleGothic"/>
                          <a:cs typeface="AppleGothic"/>
                        </a:rPr>
                        <a:t>차원</a:t>
                      </a:r>
                    </a:p>
                  </a:txBody>
                  <a:tcPr marL="91440" marR="91440" marT="45720" marB="4572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EDF1F6"/>
                    </a:solidFill>
                  </a:tcPr>
                </a:tc>
                <a:tc>
                  <a:txBody>
                    <a:bodyPr wrap="none" lIns="133350" tIns="114300" rIns="133350" bIns="114300">
                      <a:noAutofit/>
                    </a:bodyPr>
                    <a:lstStyle/>
                    <a:p>
                      <a:r>
                        <a:rPr sz="1900" b="1">
                          <a:solidFill>
                            <a:srgbClr val="17283B"/>
                          </a:solidFill>
                          <a:latin typeface="AppleGothic"/>
                          <a:ea typeface="AppleGothic"/>
                          <a:cs typeface="AppleGothic"/>
                        </a:rPr>
                        <a:t>확인 방법</a:t>
                      </a:r>
                    </a:p>
                  </a:txBody>
                  <a:tcPr marL="91440" marR="91440" marT="45720" marB="4572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EDF1F6"/>
                    </a:solidFill>
                  </a:tcPr>
                </a:tc>
              </a:tr>
              <a:tr h="742950">
                <a:tc>
                  <a:txBody>
                    <a:bodyPr wrap="none" lIns="133350" tIns="114300" rIns="133350" bIns="114300">
                      <a:noAutofit/>
                    </a:bodyPr>
                    <a:lstStyle/>
                    <a:p>
                      <a:r>
                        <a:rPr sz="1900" b="1">
                          <a:solidFill>
                            <a:srgbClr val="17191B"/>
                          </a:solidFill>
                          <a:latin typeface="AppleGothic"/>
                          <a:ea typeface="AppleGothic"/>
                          <a:cs typeface="AppleGothic"/>
                        </a:rPr>
                        <a:t>근거</a:t>
                      </a:r>
                    </a:p>
                  </a:txBody>
                  <a:tcPr marL="91440" marR="91440" marT="45720" marB="4572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 lIns="133350" tIns="114300" rIns="133350" bIns="114300">
                      <a:noAutofit/>
                    </a:bodyPr>
                    <a:lstStyle/>
                    <a:p>
                      <a:r>
                        <a:rPr sz="1900" b="0">
                          <a:solidFill>
                            <a:srgbClr val="52606B"/>
                          </a:solidFill>
                          <a:latin typeface="AppleGothic"/>
                          <a:ea typeface="AppleGothic"/>
                          <a:cs typeface="AppleGothic"/>
                        </a:rPr>
                        <a:t>인용한 문장이 주장과 일치하는가</a:t>
                      </a:r>
                    </a:p>
                  </a:txBody>
                  <a:tcPr marL="91440" marR="91440" marT="45720" marB="4572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FFFFFF"/>
                    </a:solidFill>
                  </a:tcPr>
                </a:tc>
              </a:tr>
              <a:tr h="742950">
                <a:tc>
                  <a:txBody>
                    <a:bodyPr wrap="none" lIns="133350" tIns="114300" rIns="133350" bIns="114300">
                      <a:noAutofit/>
                    </a:bodyPr>
                    <a:lstStyle/>
                    <a:p>
                      <a:r>
                        <a:rPr sz="1900" b="1">
                          <a:solidFill>
                            <a:srgbClr val="17191B"/>
                          </a:solidFill>
                          <a:latin typeface="AppleGothic"/>
                          <a:ea typeface="AppleGothic"/>
                          <a:cs typeface="AppleGothic"/>
                        </a:rPr>
                        <a:t>형식</a:t>
                      </a:r>
                    </a:p>
                  </a:txBody>
                  <a:tcPr marL="91440" marR="91440" marT="45720" marB="4572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 lIns="133350" tIns="114300" rIns="133350" bIns="114300">
                      <a:noAutofit/>
                    </a:bodyPr>
                    <a:lstStyle/>
                    <a:p>
                      <a:r>
                        <a:rPr sz="1900" b="0">
                          <a:solidFill>
                            <a:srgbClr val="52606B"/>
                          </a:solidFill>
                          <a:latin typeface="AppleGothic"/>
                          <a:ea typeface="AppleGothic"/>
                          <a:cs typeface="AppleGothic"/>
                        </a:rPr>
                        <a:t>출력 계약과 필수 필드를 충족하는가</a:t>
                      </a:r>
                    </a:p>
                  </a:txBody>
                  <a:tcPr marL="91440" marR="91440" marT="45720" marB="4572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FFFFFF"/>
                    </a:solidFill>
                  </a:tcPr>
                </a:tc>
              </a:tr>
              <a:tr h="742950">
                <a:tc>
                  <a:txBody>
                    <a:bodyPr wrap="none" lIns="133350" tIns="114300" rIns="133350" bIns="114300">
                      <a:noAutofit/>
                    </a:bodyPr>
                    <a:lstStyle/>
                    <a:p>
                      <a:r>
                        <a:rPr sz="1900" b="1">
                          <a:solidFill>
                            <a:srgbClr val="17191B"/>
                          </a:solidFill>
                          <a:latin typeface="AppleGothic"/>
                          <a:ea typeface="AppleGothic"/>
                          <a:cs typeface="AppleGothic"/>
                        </a:rPr>
                        <a:t>유용성</a:t>
                      </a:r>
                    </a:p>
                  </a:txBody>
                  <a:tcPr marL="91440" marR="91440" marT="45720" marB="4572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 lIns="133350" tIns="114300" rIns="133350" bIns="114300">
                      <a:noAutofit/>
                    </a:bodyPr>
                    <a:lstStyle/>
                    <a:p>
                      <a:r>
                        <a:rPr sz="1900" b="0">
                          <a:solidFill>
                            <a:srgbClr val="52606B"/>
                          </a:solidFill>
                          <a:latin typeface="AppleGothic"/>
                          <a:ea typeface="AppleGothic"/>
                          <a:cs typeface="AppleGothic"/>
                        </a:rPr>
                        <a:t>사용자의 다음 행동에 도움이 되는가</a:t>
                      </a:r>
                    </a:p>
                  </a:txBody>
                  <a:tcPr marL="91440" marR="91440" marT="45720" marB="4572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FFFFFF"/>
                    </a:solidFill>
                  </a:tcPr>
                </a:tc>
              </a:tr>
              <a:tr h="742950">
                <a:tc>
                  <a:txBody>
                    <a:bodyPr wrap="none" lIns="133350" tIns="114300" rIns="133350" bIns="114300">
                      <a:noAutofit/>
                    </a:bodyPr>
                    <a:lstStyle/>
                    <a:p>
                      <a:r>
                        <a:rPr sz="1900" b="1">
                          <a:solidFill>
                            <a:srgbClr val="17191B"/>
                          </a:solidFill>
                          <a:latin typeface="AppleGothic"/>
                          <a:ea typeface="AppleGothic"/>
                          <a:cs typeface="AppleGothic"/>
                        </a:rPr>
                        <a:t>안전·거절</a:t>
                      </a:r>
                    </a:p>
                  </a:txBody>
                  <a:tcPr marL="91440" marR="91440" marT="45720" marB="4572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 lIns="133350" tIns="114300" rIns="133350" bIns="114300">
                      <a:noAutofit/>
                    </a:bodyPr>
                    <a:lstStyle/>
                    <a:p>
                      <a:r>
                        <a:rPr sz="1900" b="0">
                          <a:solidFill>
                            <a:srgbClr val="52606B"/>
                          </a:solidFill>
                          <a:latin typeface="AppleGothic"/>
                          <a:ea typeface="AppleGothic"/>
                          <a:cs typeface="AppleGothic"/>
                        </a:rPr>
                        <a:t>위험한 단정·과도한 거절이 있는가</a:t>
                      </a:r>
                    </a:p>
                  </a:txBody>
                  <a:tcPr marL="91440" marR="91440" marT="45720" marB="4572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0C0D8AAE-2BAE-4AE8-BCE4-EA2E7AAD95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80975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283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3486FCCA-B8E9-42C4-BAE3-6A6FF96F35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5527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FD5D3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0A20A374-E2ED-4961-8701-F0197D9E82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29565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FD5D3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4B09C948-3606-45F9-9755-5C11823178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0386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FD5D3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936CA710-C40E-4883-9043-E42A2EFE03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78155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FD5D3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28A101A3-05F1-40AF-B32A-CAB8C65B06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5245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283B"/>
          </a:solidFill>
          <a:ln xmlns:a="http://schemas.openxmlformats.org/drawingml/2006/main" w="0">
            <a:noFill/>
            <a:prstDash val="solid"/>
          </a:ln>
        </p:spPr>
      </p:sp>
    </p:spTree>
    <p:extLst>
      <p:ext uri="{BB962C8B-B14F-4D97-AF65-F5344CB8AC3E}">
        <p14:creationId xmlns:p14="http://schemas.microsoft.com/office/powerpoint/2010/main" val="1511134386"/>
      </p:ext>
    </p:extLst>
  </p:cSld>
</p:sld>
</file>

<file path=ppt/slides/slide53.xml><?xml version="1.0" encoding="utf-8"?>
<p:sld xmlns:p="http://schemas.openxmlformats.org/presentationml/2006/main">
  <p:cSld>
    <p:bg>
      <p:bgPr>
        <a:solidFill xmlns:a="http://schemas.openxmlformats.org/drawingml/2006/main">
          <a:srgbClr val="F7F7F5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619C5050-999F-4DC8-A0F2-D1B40908BE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47650"/>
            <a:ext cx="9525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1400" b="0">
                <a:solidFill>
                  <a:srgbClr val="52606B"/>
                </a:solidFill>
                <a:latin typeface="AppleGothic"/>
                <a:ea typeface="AppleGothic"/>
                <a:cs typeface="AppleGothic"/>
              </a:defRPr>
            </a:defPPr>
          </a:lstStyle>
          <a:p xmlns:a="http://schemas.openxmlformats.org/drawingml/2006/main">
            <a:pPr algn="l">
              <a:lnSpc>
                <a:spcPct val="116000"/>
              </a:lnSpc>
              <a:buNone/>
              <a:defRPr sz="1400" b="0">
                <a:solidFill>
                  <a:srgbClr val="52606B"/>
                </a:solidFill>
                <a:latin typeface="AppleGothic"/>
                <a:ea typeface="AppleGothic"/>
                <a:cs typeface="AppleGothic"/>
              </a:defRPr>
            </a:pPr>
            <a:r>
              <a:rPr sz="1400" b="0">
                <a:solidFill>
                  <a:srgbClr val="52606B"/>
                </a:solidFill>
                <a:latin typeface="AppleGothic"/>
                <a:ea typeface="AppleGothic"/>
                <a:cs typeface="AppleGothic"/>
              </a:rPr>
              <a:t>LLMOPS / W07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504106A9-4C72-4DA9-8513-7B872242E0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8500" y="247650"/>
            <a:ext cx="7239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r">
              <a:defRPr sz="1400" b="0">
                <a:solidFill>
                  <a:srgbClr val="52606B"/>
                </a:solidFill>
                <a:latin typeface="Menlo"/>
                <a:ea typeface="Menlo"/>
                <a:cs typeface="Menlo"/>
              </a:defRPr>
            </a:defPPr>
          </a:lstStyle>
          <a:p xmlns:a="http://schemas.openxmlformats.org/drawingml/2006/main">
            <a:pPr algn="r">
              <a:lnSpc>
                <a:spcPct val="116000"/>
              </a:lnSpc>
              <a:buNone/>
              <a:defRPr sz="1400" b="0">
                <a:solidFill>
                  <a:srgbClr val="52606B"/>
                </a:solidFill>
                <a:latin typeface="Menlo"/>
                <a:ea typeface="Menlo"/>
                <a:cs typeface="Menlo"/>
              </a:defRPr>
            </a:pPr>
            <a:r>
              <a:rPr sz="1400" b="0">
                <a:solidFill>
                  <a:srgbClr val="52606B"/>
                </a:solidFill>
                <a:latin typeface="Menlo"/>
                <a:ea typeface="Menlo"/>
                <a:cs typeface="Menlo"/>
              </a:rPr>
              <a:t>53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4F56F83D-3D82-496D-90E4-B6090067FE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23900"/>
            <a:ext cx="109728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3400" b="1">
                <a:solidFill>
                  <a:srgbClr val="17191B"/>
                </a:solidFill>
                <a:latin typeface="AppleGothic"/>
                <a:ea typeface="AppleGothic"/>
                <a:cs typeface="AppleGothic"/>
              </a:defRPr>
            </a:defPPr>
          </a:lstStyle>
          <a:p xmlns:a="http://schemas.openxmlformats.org/drawingml/2006/main">
            <a:pPr algn="l">
              <a:lnSpc>
                <a:spcPct val="116000"/>
              </a:lnSpc>
              <a:buNone/>
              <a:defRPr sz="3400" b="1">
                <a:solidFill>
                  <a:srgbClr val="17191B"/>
                </a:solidFill>
                <a:latin typeface="AppleGothic"/>
                <a:ea typeface="AppleGothic"/>
                <a:cs typeface="AppleGothic"/>
              </a:defRPr>
            </a:pPr>
            <a:r>
              <a:rPr sz="3400" b="1">
                <a:solidFill>
                  <a:srgbClr val="17191B"/>
                </a:solidFill>
                <a:latin typeface="AppleGothic"/>
                <a:ea typeface="AppleGothic"/>
                <a:cs typeface="AppleGothic"/>
              </a:rPr>
              <a:t>실험 결과와 의사결정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800E96DD-118F-4D5D-8881-D248CA79B5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315075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FD5D3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A0E5E49E-B065-4AF8-AF06-5139E59D62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77000"/>
            <a:ext cx="109728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1400" b="0">
                <a:solidFill>
                  <a:srgbClr val="52606B"/>
                </a:solidFill>
                <a:latin typeface="AppleGothic"/>
                <a:ea typeface="AppleGothic"/>
                <a:cs typeface="AppleGothic"/>
              </a:defRPr>
            </a:defPPr>
          </a:lstStyle>
          <a:p xmlns:a="http://schemas.openxmlformats.org/drawingml/2006/main">
            <a:pPr algn="l">
              <a:lnSpc>
                <a:spcPct val="116000"/>
              </a:lnSpc>
              <a:buNone/>
              <a:defRPr sz="1400" b="0">
                <a:solidFill>
                  <a:srgbClr val="52606B"/>
                </a:solidFill>
                <a:latin typeface="AppleGothic"/>
                <a:ea typeface="AppleGothic"/>
                <a:cs typeface="AppleGothic"/>
              </a:defRPr>
            </a:pPr>
            <a:r>
              <a:rPr sz="1400" b="0">
                <a:solidFill>
                  <a:srgbClr val="52606B"/>
                </a:solidFill>
                <a:latin typeface="AppleGothic"/>
                <a:ea typeface="AppleGothic"/>
                <a:cs typeface="AppleGothic"/>
              </a:rPr>
              <a:t>데이터 · 모델 적응 · 비교 평가 · 기획서 초안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3CD9EA87-DEB1-4D7B-BB2D-5090A03E10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057400"/>
            <a:ext cx="5295900" cy="800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2900" b="1">
                <a:solidFill>
                  <a:srgbClr val="17191B"/>
                </a:solidFill>
                <a:latin typeface="AppleGothic"/>
                <a:ea typeface="AppleGothic"/>
                <a:cs typeface="AppleGothic"/>
              </a:defRPr>
            </a:defPPr>
          </a:lstStyle>
          <a:p xmlns:a="http://schemas.openxmlformats.org/drawingml/2006/main">
            <a:pPr algn="l">
              <a:lnSpc>
                <a:spcPct val="116000"/>
              </a:lnSpc>
              <a:buNone/>
              <a:defRPr sz="2900" b="1">
                <a:solidFill>
                  <a:srgbClr val="17191B"/>
                </a:solidFill>
                <a:latin typeface="AppleGothic"/>
                <a:ea typeface="AppleGothic"/>
                <a:cs typeface="AppleGothic"/>
              </a:defRPr>
            </a:pPr>
            <a:r>
              <a:rPr sz="2900" b="1">
                <a:solidFill>
                  <a:srgbClr val="17191B"/>
                </a:solidFill>
                <a:latin typeface="AppleGothic"/>
                <a:ea typeface="AppleGothic"/>
                <a:cs typeface="AppleGothic"/>
              </a:rPr>
              <a:t>결과 기록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90A6055F-28DF-4792-B495-D9DE882FFD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000375"/>
            <a:ext cx="52959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84B7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F424AB36-35D9-4E4E-801B-C161D81DEF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371850"/>
            <a:ext cx="5238750" cy="36741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2300" b="0">
                <a:solidFill>
                  <a:srgbClr val="52606B"/>
                </a:solidFill>
                <a:latin typeface="AppleGothic"/>
                <a:ea typeface="AppleGothic"/>
                <a:cs typeface="AppleGothic"/>
              </a:defRPr>
            </a:defPPr>
          </a:lstStyle>
          <a:p xmlns:a="http://schemas.openxmlformats.org/drawingml/2006/main">
            <a:pPr algn="l">
              <a:lnSpc>
                <a:spcPct val="116000"/>
              </a:lnSpc>
              <a:buNone/>
              <a:defRPr sz="2300" b="0">
                <a:solidFill>
                  <a:srgbClr val="52606B"/>
                </a:solidFill>
                <a:latin typeface="AppleGothic"/>
                <a:ea typeface="AppleGothic"/>
                <a:cs typeface="AppleGothic"/>
              </a:defRPr>
            </a:pPr>
            <a:r>
              <a:rPr sz="2300" b="0">
                <a:solidFill>
                  <a:srgbClr val="52606B"/>
                </a:solidFill>
                <a:latin typeface="AppleGothic"/>
                <a:ea typeface="AppleGothic"/>
                <a:cs typeface="AppleGothic"/>
              </a:rPr>
              <a:t>어떤 입력에서 무엇이 바뀌었는가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8C02BD67-BD4A-42B0-B093-1F786FBC8E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139311"/>
            <a:ext cx="5238750" cy="36741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2300" b="0">
                <a:solidFill>
                  <a:srgbClr val="52606B"/>
                </a:solidFill>
                <a:latin typeface="AppleGothic"/>
                <a:ea typeface="AppleGothic"/>
                <a:cs typeface="AppleGothic"/>
              </a:defRPr>
            </a:defPPr>
          </a:lstStyle>
          <a:p xmlns:a="http://schemas.openxmlformats.org/drawingml/2006/main">
            <a:pPr algn="l">
              <a:lnSpc>
                <a:spcPct val="116000"/>
              </a:lnSpc>
              <a:buNone/>
              <a:defRPr sz="2300" b="0">
                <a:solidFill>
                  <a:srgbClr val="52606B"/>
                </a:solidFill>
                <a:latin typeface="AppleGothic"/>
                <a:ea typeface="AppleGothic"/>
                <a:cs typeface="AppleGothic"/>
              </a:defRPr>
            </a:pPr>
            <a:r>
              <a:rPr sz="2300" b="0">
                <a:solidFill>
                  <a:srgbClr val="52606B"/>
                </a:solidFill>
                <a:latin typeface="AppleGothic"/>
                <a:ea typeface="AppleGothic"/>
                <a:cs typeface="AppleGothic"/>
              </a:rPr>
              <a:t>조건·수치·원문 보존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20DC3572-3753-4486-A544-DFA0EE7653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0" y="2057400"/>
            <a:ext cx="5295900" cy="800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2900" b="1">
                <a:solidFill>
                  <a:srgbClr val="17191B"/>
                </a:solidFill>
                <a:latin typeface="AppleGothic"/>
                <a:ea typeface="AppleGothic"/>
                <a:cs typeface="AppleGothic"/>
              </a:defRPr>
            </a:defPPr>
          </a:lstStyle>
          <a:p xmlns:a="http://schemas.openxmlformats.org/drawingml/2006/main">
            <a:pPr algn="l">
              <a:lnSpc>
                <a:spcPct val="116000"/>
              </a:lnSpc>
              <a:buNone/>
              <a:defRPr sz="2900" b="1">
                <a:solidFill>
                  <a:srgbClr val="17191B"/>
                </a:solidFill>
                <a:latin typeface="AppleGothic"/>
                <a:ea typeface="AppleGothic"/>
                <a:cs typeface="AppleGothic"/>
              </a:defRPr>
            </a:pPr>
            <a:r>
              <a:rPr sz="2900" b="1">
                <a:solidFill>
                  <a:srgbClr val="17191B"/>
                </a:solidFill>
                <a:latin typeface="AppleGothic"/>
                <a:ea typeface="AppleGothic"/>
                <a:cs typeface="AppleGothic"/>
              </a:rPr>
              <a:t>선택 이유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8F85CBB0-68BD-4FEC-B99C-4650645B38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0" y="3000375"/>
            <a:ext cx="52959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52606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0BA323CB-8CFF-4617-935E-F53AC3C8F8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0" y="3371850"/>
            <a:ext cx="5238750" cy="36741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2300" b="0">
                <a:solidFill>
                  <a:srgbClr val="52606B"/>
                </a:solidFill>
                <a:latin typeface="AppleGothic"/>
                <a:ea typeface="AppleGothic"/>
                <a:cs typeface="AppleGothic"/>
              </a:defRPr>
            </a:defPPr>
          </a:lstStyle>
          <a:p xmlns:a="http://schemas.openxmlformats.org/drawingml/2006/main">
            <a:pPr algn="l">
              <a:lnSpc>
                <a:spcPct val="116000"/>
              </a:lnSpc>
              <a:buNone/>
              <a:defRPr sz="2300" b="0">
                <a:solidFill>
                  <a:srgbClr val="52606B"/>
                </a:solidFill>
                <a:latin typeface="AppleGothic"/>
                <a:ea typeface="AppleGothic"/>
                <a:cs typeface="AppleGothic"/>
              </a:defRPr>
            </a:pPr>
            <a:r>
              <a:rPr sz="2300" b="0">
                <a:solidFill>
                  <a:srgbClr val="52606B"/>
                </a:solidFill>
                <a:latin typeface="AppleGothic"/>
                <a:ea typeface="AppleGothic"/>
                <a:cs typeface="AppleGothic"/>
              </a:rPr>
              <a:t>지금 어떤 대안을 채택할 것인가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94227482-E97E-4368-8023-561EC0F1BF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0" y="4139311"/>
            <a:ext cx="5238750" cy="36741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2300" b="0">
                <a:solidFill>
                  <a:srgbClr val="52606B"/>
                </a:solidFill>
                <a:latin typeface="AppleGothic"/>
                <a:ea typeface="AppleGothic"/>
                <a:cs typeface="AppleGothic"/>
              </a:defRPr>
            </a:defPPr>
          </a:lstStyle>
          <a:p xmlns:a="http://schemas.openxmlformats.org/drawingml/2006/main">
            <a:pPr algn="l">
              <a:lnSpc>
                <a:spcPct val="116000"/>
              </a:lnSpc>
              <a:buNone/>
              <a:defRPr sz="2300" b="0">
                <a:solidFill>
                  <a:srgbClr val="52606B"/>
                </a:solidFill>
                <a:latin typeface="AppleGothic"/>
                <a:ea typeface="AppleGothic"/>
                <a:cs typeface="AppleGothic"/>
              </a:defRPr>
            </a:pPr>
            <a:r>
              <a:rPr sz="2300" b="0">
                <a:solidFill>
                  <a:srgbClr val="52606B"/>
                </a:solidFill>
                <a:latin typeface="AppleGothic"/>
                <a:ea typeface="AppleGothic"/>
                <a:cs typeface="AppleGothic"/>
              </a:rPr>
              <a:t>비용·위험·다음 검증 포함</a:t>
            </a:r>
          </a:p>
        </p:txBody>
      </p:sp>
    </p:spTree>
    <p:extLst>
      <p:ext uri="{BB962C8B-B14F-4D97-AF65-F5344CB8AC3E}">
        <p14:creationId xmlns:p14="http://schemas.microsoft.com/office/powerpoint/2010/main" val="125358678"/>
      </p:ext>
    </p:extLst>
  </p:cSld>
</p:sld>
</file>

<file path=ppt/slides/slide54.xml><?xml version="1.0" encoding="utf-8"?>
<p:sld xmlns:p="http://schemas.openxmlformats.org/presentationml/2006/main">
  <p:cSld>
    <p:bg>
      <p:bgPr>
        <a:solidFill xmlns:a="http://schemas.openxmlformats.org/drawingml/2006/main">
          <a:srgbClr val="F7F7F5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73590E7B-B211-47CE-8DE2-8E1FDF7E03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47650"/>
            <a:ext cx="9525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1400" b="0">
                <a:solidFill>
                  <a:srgbClr val="52606B"/>
                </a:solidFill>
                <a:latin typeface="AppleGothic"/>
                <a:ea typeface="AppleGothic"/>
                <a:cs typeface="AppleGothic"/>
              </a:defRPr>
            </a:defPPr>
          </a:lstStyle>
          <a:p xmlns:a="http://schemas.openxmlformats.org/drawingml/2006/main">
            <a:pPr algn="l">
              <a:lnSpc>
                <a:spcPct val="116000"/>
              </a:lnSpc>
              <a:buNone/>
              <a:defRPr sz="1400" b="0">
                <a:solidFill>
                  <a:srgbClr val="52606B"/>
                </a:solidFill>
                <a:latin typeface="AppleGothic"/>
                <a:ea typeface="AppleGothic"/>
                <a:cs typeface="AppleGothic"/>
              </a:defRPr>
            </a:pPr>
            <a:r>
              <a:rPr sz="1400" b="0">
                <a:solidFill>
                  <a:srgbClr val="52606B"/>
                </a:solidFill>
                <a:latin typeface="AppleGothic"/>
                <a:ea typeface="AppleGothic"/>
                <a:cs typeface="AppleGothic"/>
              </a:rPr>
              <a:t>LLMOPS / W07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FFC3CA43-155C-4591-9AE8-5DB61ABAA0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8500" y="247650"/>
            <a:ext cx="7239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r">
              <a:defRPr sz="1400" b="0">
                <a:solidFill>
                  <a:srgbClr val="52606B"/>
                </a:solidFill>
                <a:latin typeface="Menlo"/>
                <a:ea typeface="Menlo"/>
                <a:cs typeface="Menlo"/>
              </a:defRPr>
            </a:defPPr>
          </a:lstStyle>
          <a:p xmlns:a="http://schemas.openxmlformats.org/drawingml/2006/main">
            <a:pPr algn="r">
              <a:lnSpc>
                <a:spcPct val="116000"/>
              </a:lnSpc>
              <a:buNone/>
              <a:defRPr sz="1400" b="0">
                <a:solidFill>
                  <a:srgbClr val="52606B"/>
                </a:solidFill>
                <a:latin typeface="Menlo"/>
                <a:ea typeface="Menlo"/>
                <a:cs typeface="Menlo"/>
              </a:defRPr>
            </a:pPr>
            <a:r>
              <a:rPr sz="1400" b="0">
                <a:solidFill>
                  <a:srgbClr val="52606B"/>
                </a:solidFill>
                <a:latin typeface="Menlo"/>
                <a:ea typeface="Menlo"/>
                <a:cs typeface="Menlo"/>
              </a:rPr>
              <a:t>54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4F83C400-27E9-4D77-8BEE-C6AA3259D5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23900"/>
            <a:ext cx="109728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3400" b="1">
                <a:solidFill>
                  <a:srgbClr val="17191B"/>
                </a:solidFill>
                <a:latin typeface="AppleGothic"/>
                <a:ea typeface="AppleGothic"/>
                <a:cs typeface="AppleGothic"/>
              </a:defRPr>
            </a:defPPr>
          </a:lstStyle>
          <a:p xmlns:a="http://schemas.openxmlformats.org/drawingml/2006/main">
            <a:pPr algn="l">
              <a:lnSpc>
                <a:spcPct val="116000"/>
              </a:lnSpc>
              <a:buNone/>
              <a:defRPr sz="3400" b="1">
                <a:solidFill>
                  <a:srgbClr val="17191B"/>
                </a:solidFill>
                <a:latin typeface="AppleGothic"/>
                <a:ea typeface="AppleGothic"/>
                <a:cs typeface="AppleGothic"/>
              </a:defRPr>
            </a:pPr>
            <a:r>
              <a:rPr sz="3400" b="1">
                <a:solidFill>
                  <a:srgbClr val="17191B"/>
                </a:solidFill>
                <a:latin typeface="AppleGothic"/>
                <a:ea typeface="AppleGothic"/>
                <a:cs typeface="AppleGothic"/>
              </a:rPr>
              <a:t>모델 승격 전 검토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CFA94DA0-BDAA-44B0-929C-97155A8D90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315075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FD5D3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8F718F69-AC6A-4F62-A939-C2821EA2DB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77000"/>
            <a:ext cx="109728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1400" b="0">
                <a:solidFill>
                  <a:srgbClr val="52606B"/>
                </a:solidFill>
                <a:latin typeface="AppleGothic"/>
                <a:ea typeface="AppleGothic"/>
                <a:cs typeface="AppleGothic"/>
              </a:defRPr>
            </a:defPPr>
          </a:lstStyle>
          <a:p xmlns:a="http://schemas.openxmlformats.org/drawingml/2006/main">
            <a:pPr algn="l">
              <a:lnSpc>
                <a:spcPct val="116000"/>
              </a:lnSpc>
              <a:buNone/>
              <a:defRPr sz="1400" b="0">
                <a:solidFill>
                  <a:srgbClr val="52606B"/>
                </a:solidFill>
                <a:latin typeface="AppleGothic"/>
                <a:ea typeface="AppleGothic"/>
                <a:cs typeface="AppleGothic"/>
              </a:defRPr>
            </a:pPr>
            <a:r>
              <a:rPr sz="1400" b="0">
                <a:solidFill>
                  <a:srgbClr val="52606B"/>
                </a:solidFill>
                <a:latin typeface="AppleGothic"/>
                <a:ea typeface="AppleGothic"/>
                <a:cs typeface="AppleGothic"/>
              </a:rPr>
              <a:t>데이터 · 모델 적응 · 비교 평가 · 기획서 초안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BB93D1C9-269E-48F7-965D-74CEA898FE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847850"/>
            <a:ext cx="5715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1800" b="0">
                <a:solidFill>
                  <a:srgbClr val="284B72"/>
                </a:solidFill>
                <a:latin typeface="Menlo"/>
                <a:ea typeface="Menlo"/>
                <a:cs typeface="Menlo"/>
              </a:defRPr>
            </a:defPPr>
          </a:lstStyle>
          <a:p xmlns:a="http://schemas.openxmlformats.org/drawingml/2006/main">
            <a:pPr algn="l">
              <a:lnSpc>
                <a:spcPct val="116000"/>
              </a:lnSpc>
              <a:buNone/>
              <a:defRPr sz="1800" b="0">
                <a:solidFill>
                  <a:srgbClr val="284B72"/>
                </a:solidFill>
                <a:latin typeface="Menlo"/>
                <a:ea typeface="Menlo"/>
                <a:cs typeface="Menlo"/>
              </a:defRPr>
            </a:pPr>
            <a:r>
              <a:rPr sz="1800" b="0">
                <a:solidFill>
                  <a:srgbClr val="284B72"/>
                </a:solidFill>
                <a:latin typeface="Menlo"/>
                <a:ea typeface="Menlo"/>
                <a:cs typeface="Menlo"/>
              </a:rPr>
              <a:t>01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C6EA3AD5-7B7C-4202-9CA1-269A3175F2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90650" y="1828800"/>
            <a:ext cx="3000375" cy="36741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2300" b="1">
                <a:solidFill>
                  <a:srgbClr val="17191B"/>
                </a:solidFill>
                <a:latin typeface="AppleGothic"/>
                <a:ea typeface="AppleGothic"/>
                <a:cs typeface="AppleGothic"/>
              </a:defRPr>
            </a:defPPr>
          </a:lstStyle>
          <a:p xmlns:a="http://schemas.openxmlformats.org/drawingml/2006/main">
            <a:pPr algn="l">
              <a:lnSpc>
                <a:spcPct val="116000"/>
              </a:lnSpc>
              <a:buNone/>
              <a:defRPr sz="2300" b="1">
                <a:solidFill>
                  <a:srgbClr val="17191B"/>
                </a:solidFill>
                <a:latin typeface="AppleGothic"/>
                <a:ea typeface="AppleGothic"/>
                <a:cs typeface="AppleGothic"/>
              </a:defRPr>
            </a:pPr>
            <a:r>
              <a:rPr sz="2300" b="1">
                <a:solidFill>
                  <a:srgbClr val="17191B"/>
                </a:solidFill>
                <a:latin typeface="AppleGothic"/>
                <a:ea typeface="AppleGothic"/>
                <a:cs typeface="AppleGothic"/>
              </a:rPr>
              <a:t>기준선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529B0A1E-5075-4786-9676-F8B36571A2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81550" y="1828800"/>
            <a:ext cx="6781800" cy="36741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2100" b="0">
                <a:solidFill>
                  <a:srgbClr val="52606B"/>
                </a:solidFill>
                <a:latin typeface="AppleGothic"/>
                <a:ea typeface="AppleGothic"/>
                <a:cs typeface="AppleGothic"/>
              </a:defRPr>
            </a:defPPr>
          </a:lstStyle>
          <a:p xmlns:a="http://schemas.openxmlformats.org/drawingml/2006/main">
            <a:pPr algn="l">
              <a:lnSpc>
                <a:spcPct val="116000"/>
              </a:lnSpc>
              <a:buNone/>
              <a:defRPr sz="2100" b="0">
                <a:solidFill>
                  <a:srgbClr val="52606B"/>
                </a:solidFill>
                <a:latin typeface="AppleGothic"/>
                <a:ea typeface="AppleGothic"/>
                <a:cs typeface="AppleGothic"/>
              </a:defRPr>
            </a:pPr>
            <a:r>
              <a:rPr sz="2100" b="0">
                <a:solidFill>
                  <a:srgbClr val="52606B"/>
                </a:solidFill>
                <a:latin typeface="AppleGothic"/>
                <a:ea typeface="AppleGothic"/>
                <a:cs typeface="AppleGothic"/>
              </a:rPr>
              <a:t>이전 버전과 같은 입력 비교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B9F45491-82E1-4AA4-A873-D878398C92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90650" y="2329561"/>
            <a:ext cx="1019175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FD5D3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22A52E80-82E5-4845-B710-1EDE3FC1BA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086100"/>
            <a:ext cx="5715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1800" b="0">
                <a:solidFill>
                  <a:srgbClr val="284B72"/>
                </a:solidFill>
                <a:latin typeface="Menlo"/>
                <a:ea typeface="Menlo"/>
                <a:cs typeface="Menlo"/>
              </a:defRPr>
            </a:defPPr>
          </a:lstStyle>
          <a:p xmlns:a="http://schemas.openxmlformats.org/drawingml/2006/main">
            <a:pPr algn="l">
              <a:lnSpc>
                <a:spcPct val="116000"/>
              </a:lnSpc>
              <a:buNone/>
              <a:defRPr sz="1800" b="0">
                <a:solidFill>
                  <a:srgbClr val="284B72"/>
                </a:solidFill>
                <a:latin typeface="Menlo"/>
                <a:ea typeface="Menlo"/>
                <a:cs typeface="Menlo"/>
              </a:defRPr>
            </a:pPr>
            <a:r>
              <a:rPr sz="1800" b="0">
                <a:solidFill>
                  <a:srgbClr val="284B72"/>
                </a:solidFill>
                <a:latin typeface="Menlo"/>
                <a:ea typeface="Menlo"/>
                <a:cs typeface="Menlo"/>
              </a:rPr>
              <a:t>02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593FE8A8-469B-4829-8598-1400612DFB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90650" y="3067050"/>
            <a:ext cx="3000375" cy="36741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2300" b="1">
                <a:solidFill>
                  <a:srgbClr val="17191B"/>
                </a:solidFill>
                <a:latin typeface="AppleGothic"/>
                <a:ea typeface="AppleGothic"/>
                <a:cs typeface="AppleGothic"/>
              </a:defRPr>
            </a:defPPr>
          </a:lstStyle>
          <a:p xmlns:a="http://schemas.openxmlformats.org/drawingml/2006/main">
            <a:pPr algn="l">
              <a:lnSpc>
                <a:spcPct val="116000"/>
              </a:lnSpc>
              <a:buNone/>
              <a:defRPr sz="2300" b="1">
                <a:solidFill>
                  <a:srgbClr val="17191B"/>
                </a:solidFill>
                <a:latin typeface="AppleGothic"/>
                <a:ea typeface="AppleGothic"/>
                <a:cs typeface="AppleGothic"/>
              </a:defRPr>
            </a:pPr>
            <a:r>
              <a:rPr sz="2300" b="1">
                <a:solidFill>
                  <a:srgbClr val="17191B"/>
                </a:solidFill>
                <a:latin typeface="AppleGothic"/>
                <a:ea typeface="AppleGothic"/>
                <a:cs typeface="AppleGothic"/>
              </a:rPr>
              <a:t>승격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42CB3677-BAD6-4DDD-AFFC-00D4EE72B5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81550" y="3067050"/>
            <a:ext cx="6781800" cy="36741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2100" b="0">
                <a:solidFill>
                  <a:srgbClr val="52606B"/>
                </a:solidFill>
                <a:latin typeface="AppleGothic"/>
                <a:ea typeface="AppleGothic"/>
                <a:cs typeface="AppleGothic"/>
              </a:defRPr>
            </a:defPPr>
          </a:lstStyle>
          <a:p xmlns:a="http://schemas.openxmlformats.org/drawingml/2006/main">
            <a:pPr algn="l">
              <a:lnSpc>
                <a:spcPct val="116000"/>
              </a:lnSpc>
              <a:buNone/>
              <a:defRPr sz="2100" b="0">
                <a:solidFill>
                  <a:srgbClr val="52606B"/>
                </a:solidFill>
                <a:latin typeface="AppleGothic"/>
                <a:ea typeface="AppleGothic"/>
                <a:cs typeface="AppleGothic"/>
              </a:defRPr>
            </a:pPr>
            <a:r>
              <a:rPr sz="2100" b="0">
                <a:solidFill>
                  <a:srgbClr val="52606B"/>
                </a:solidFill>
                <a:latin typeface="AppleGothic"/>
                <a:ea typeface="AppleGothic"/>
                <a:cs typeface="AppleGothic"/>
              </a:rPr>
              <a:t>사전 합의한 품질·비용 조건 확인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C9338957-4C7B-4719-806C-28ACA683BC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90650" y="3567811"/>
            <a:ext cx="1019175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FD5D3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27DD5F9F-97F2-479B-8412-568FD8FC26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324350"/>
            <a:ext cx="5715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1800" b="0">
                <a:solidFill>
                  <a:srgbClr val="284B72"/>
                </a:solidFill>
                <a:latin typeface="Menlo"/>
                <a:ea typeface="Menlo"/>
                <a:cs typeface="Menlo"/>
              </a:defRPr>
            </a:defPPr>
          </a:lstStyle>
          <a:p xmlns:a="http://schemas.openxmlformats.org/drawingml/2006/main">
            <a:pPr algn="l">
              <a:lnSpc>
                <a:spcPct val="116000"/>
              </a:lnSpc>
              <a:buNone/>
              <a:defRPr sz="1800" b="0">
                <a:solidFill>
                  <a:srgbClr val="284B72"/>
                </a:solidFill>
                <a:latin typeface="Menlo"/>
                <a:ea typeface="Menlo"/>
                <a:cs typeface="Menlo"/>
              </a:defRPr>
            </a:pPr>
            <a:r>
              <a:rPr sz="1800" b="0">
                <a:solidFill>
                  <a:srgbClr val="284B72"/>
                </a:solidFill>
                <a:latin typeface="Menlo"/>
                <a:ea typeface="Menlo"/>
                <a:cs typeface="Menlo"/>
              </a:rPr>
              <a:t>03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AF6D0104-9B89-4A03-942A-95CF8C8513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90650" y="4305300"/>
            <a:ext cx="3000375" cy="36741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2300" b="1">
                <a:solidFill>
                  <a:srgbClr val="17191B"/>
                </a:solidFill>
                <a:latin typeface="AppleGothic"/>
                <a:ea typeface="AppleGothic"/>
                <a:cs typeface="AppleGothic"/>
              </a:defRPr>
            </a:defPPr>
          </a:lstStyle>
          <a:p xmlns:a="http://schemas.openxmlformats.org/drawingml/2006/main">
            <a:pPr algn="l">
              <a:lnSpc>
                <a:spcPct val="116000"/>
              </a:lnSpc>
              <a:buNone/>
              <a:defRPr sz="2300" b="1">
                <a:solidFill>
                  <a:srgbClr val="17191B"/>
                </a:solidFill>
                <a:latin typeface="AppleGothic"/>
                <a:ea typeface="AppleGothic"/>
                <a:cs typeface="AppleGothic"/>
              </a:defRPr>
            </a:pPr>
            <a:r>
              <a:rPr sz="2300" b="1">
                <a:solidFill>
                  <a:srgbClr val="17191B"/>
                </a:solidFill>
                <a:latin typeface="AppleGothic"/>
                <a:ea typeface="AppleGothic"/>
                <a:cs typeface="AppleGothic"/>
              </a:rPr>
              <a:t>복구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1B72AD2D-AD20-4D99-8A73-989354769D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81550" y="4305300"/>
            <a:ext cx="6781800" cy="36741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2100" b="0">
                <a:solidFill>
                  <a:srgbClr val="52606B"/>
                </a:solidFill>
                <a:latin typeface="AppleGothic"/>
                <a:ea typeface="AppleGothic"/>
                <a:cs typeface="AppleGothic"/>
              </a:defRPr>
            </a:defPPr>
          </a:lstStyle>
          <a:p xmlns:a="http://schemas.openxmlformats.org/drawingml/2006/main">
            <a:pPr algn="l">
              <a:lnSpc>
                <a:spcPct val="116000"/>
              </a:lnSpc>
              <a:buNone/>
              <a:defRPr sz="2100" b="0">
                <a:solidFill>
                  <a:srgbClr val="52606B"/>
                </a:solidFill>
                <a:latin typeface="AppleGothic"/>
                <a:ea typeface="AppleGothic"/>
                <a:cs typeface="AppleGothic"/>
              </a:defRPr>
            </a:pPr>
            <a:r>
              <a:rPr sz="2100" b="0">
                <a:solidFill>
                  <a:srgbClr val="52606B"/>
                </a:solidFill>
                <a:latin typeface="AppleGothic"/>
                <a:ea typeface="AppleGothic"/>
                <a:cs typeface="AppleGothic"/>
              </a:rPr>
              <a:t>Base·Adapter·설정의 되돌리기 경로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19789AB5-6A3F-4F12-8B17-B8EAA4D9ED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90650" y="4806061"/>
            <a:ext cx="1019175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FD5D3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31496E84-38E4-41C8-B62B-7B9E0D0CFE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791200"/>
            <a:ext cx="109728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1600" b="0">
                <a:solidFill>
                  <a:srgbClr val="52606B"/>
                </a:solidFill>
                <a:latin typeface="AppleGothic"/>
                <a:ea typeface="AppleGothic"/>
                <a:cs typeface="AppleGothic"/>
              </a:defRPr>
            </a:defPPr>
          </a:lstStyle>
          <a:p xmlns:a="http://schemas.openxmlformats.org/drawingml/2006/main">
            <a:pPr algn="l">
              <a:lnSpc>
                <a:spcPct val="116000"/>
              </a:lnSpc>
              <a:buNone/>
              <a:defRPr sz="1600" b="0">
                <a:solidFill>
                  <a:srgbClr val="52606B"/>
                </a:solidFill>
                <a:latin typeface="AppleGothic"/>
                <a:ea typeface="AppleGothic"/>
                <a:cs typeface="AppleGothic"/>
              </a:defRPr>
            </a:pPr>
            <a:r>
              <a:rPr sz="1600" b="0">
                <a:solidFill>
                  <a:srgbClr val="52606B"/>
                </a:solidFill>
                <a:latin typeface="AppleGothic"/>
                <a:ea typeface="AppleGothic"/>
                <a:cs typeface="AppleGothic"/>
              </a:rPr>
              <a:t>승격 조건을 결과 확인 후 유리하게 변경하지 않음</a:t>
            </a:r>
          </a:p>
        </p:txBody>
      </p:sp>
    </p:spTree>
    <p:extLst>
      <p:ext uri="{BB962C8B-B14F-4D97-AF65-F5344CB8AC3E}">
        <p14:creationId xmlns:p14="http://schemas.microsoft.com/office/powerpoint/2010/main" val="1181441333"/>
      </p:ext>
    </p:extLst>
  </p:cSld>
</p:sld>
</file>

<file path=ppt/slides/slide55.xml><?xml version="1.0" encoding="utf-8"?>
<p:sld xmlns:p="http://schemas.openxmlformats.org/presentationml/2006/main">
  <p:cSld>
    <p:bg>
      <p:bgPr>
        <a:solidFill xmlns:a="http://schemas.openxmlformats.org/drawingml/2006/main">
          <a:srgbClr val="17283B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873CB3DA-D53F-452D-8447-B513138F3E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00050"/>
            <a:ext cx="10477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1400" b="0">
                <a:solidFill>
                  <a:srgbClr val="BDC7C4"/>
                </a:solidFill>
                <a:latin typeface="AppleGothic"/>
                <a:ea typeface="AppleGothic"/>
                <a:cs typeface="AppleGothic"/>
              </a:defRPr>
            </a:defPPr>
          </a:lstStyle>
          <a:p xmlns:a="http://schemas.openxmlformats.org/drawingml/2006/main">
            <a:pPr algn="l">
              <a:lnSpc>
                <a:spcPct val="116000"/>
              </a:lnSpc>
              <a:buNone/>
              <a:defRPr sz="1400" b="0">
                <a:solidFill>
                  <a:srgbClr val="BDC7C4"/>
                </a:solidFill>
                <a:latin typeface="AppleGothic"/>
                <a:ea typeface="AppleGothic"/>
                <a:cs typeface="AppleGothic"/>
              </a:defRPr>
            </a:pPr>
            <a:r>
              <a:rPr sz="1400" b="0">
                <a:solidFill>
                  <a:srgbClr val="BDC7C4"/>
                </a:solidFill>
                <a:latin typeface="AppleGothic"/>
                <a:ea typeface="AppleGothic"/>
                <a:cs typeface="AppleGothic"/>
              </a:rPr>
              <a:t>W07 / 55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A284B381-EFFF-4869-B970-B9B67A6548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76400"/>
            <a:ext cx="10972800" cy="1524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4400" b="1">
                <a:solidFill>
                  <a:srgbClr val="FFFFFF"/>
                </a:solidFill>
                <a:latin typeface="AppleGothic"/>
                <a:ea typeface="AppleGothic"/>
                <a:cs typeface="AppleGothic"/>
              </a:defRPr>
            </a:defPPr>
          </a:lstStyle>
          <a:p xmlns:a="http://schemas.openxmlformats.org/drawingml/2006/main">
            <a:pPr algn="l">
              <a:lnSpc>
                <a:spcPct val="116000"/>
              </a:lnSpc>
              <a:buNone/>
              <a:defRPr sz="4400" b="1">
                <a:solidFill>
                  <a:srgbClr val="FFFFFF"/>
                </a:solidFill>
                <a:latin typeface="AppleGothic"/>
                <a:ea typeface="AppleGothic"/>
                <a:cs typeface="AppleGothic"/>
              </a:defRPr>
            </a:pPr>
            <a:r>
              <a:rPr sz="4400" b="1">
                <a:solidFill>
                  <a:srgbClr val="FFFFFF"/>
                </a:solidFill>
                <a:latin typeface="AppleGothic"/>
                <a:ea typeface="AppleGothic"/>
                <a:cs typeface="AppleGothic"/>
              </a:rPr>
              <a:t>단계별 Notebook 실습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B8468811-B1E4-4D90-B949-980F053A19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7338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52606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0CCA3757-EDE1-4BD6-A1E4-BC571789AC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191000"/>
            <a:ext cx="10972800" cy="36741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2300" b="0">
                <a:solidFill>
                  <a:srgbClr val="FFFFFF"/>
                </a:solidFill>
                <a:latin typeface="AppleGothic"/>
                <a:ea typeface="AppleGothic"/>
                <a:cs typeface="AppleGothic"/>
              </a:defRPr>
            </a:defPPr>
          </a:lstStyle>
          <a:p xmlns:a="http://schemas.openxmlformats.org/drawingml/2006/main">
            <a:pPr algn="l">
              <a:lnSpc>
                <a:spcPct val="116000"/>
              </a:lnSpc>
              <a:buNone/>
              <a:defRPr sz="2300" b="0">
                <a:solidFill>
                  <a:srgbClr val="FFFFFF"/>
                </a:solidFill>
                <a:latin typeface="AppleGothic"/>
                <a:ea typeface="AppleGothic"/>
                <a:cs typeface="AppleGothic"/>
              </a:defRPr>
            </a:pPr>
            <a:r>
              <a:rPr sz="2300" b="0">
                <a:solidFill>
                  <a:srgbClr val="FFFFFF"/>
                </a:solidFill>
                <a:latin typeface="AppleGothic"/>
                <a:ea typeface="AppleGothic"/>
                <a:cs typeface="AppleGothic"/>
              </a:rPr>
              <a:t>Python 3.11 · 기존 .venv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D3EDD33A-AC36-44F2-A5BB-D0EE420099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729861"/>
            <a:ext cx="10972800" cy="36741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2300" b="0">
                <a:solidFill>
                  <a:srgbClr val="FFFFFF"/>
                </a:solidFill>
                <a:latin typeface="AppleGothic"/>
                <a:ea typeface="AppleGothic"/>
                <a:cs typeface="AppleGothic"/>
              </a:defRPr>
            </a:defPPr>
          </a:lstStyle>
          <a:p xmlns:a="http://schemas.openxmlformats.org/drawingml/2006/main">
            <a:pPr algn="l">
              <a:lnSpc>
                <a:spcPct val="116000"/>
              </a:lnSpc>
              <a:buNone/>
              <a:defRPr sz="2300" b="0">
                <a:solidFill>
                  <a:srgbClr val="FFFFFF"/>
                </a:solidFill>
                <a:latin typeface="AppleGothic"/>
                <a:ea typeface="AppleGothic"/>
                <a:cs typeface="AppleGothic"/>
              </a:defRPr>
            </a:pPr>
            <a:r>
              <a:rPr sz="2300" b="0">
                <a:solidFill>
                  <a:srgbClr val="FFFFFF"/>
                </a:solidFill>
                <a:latin typeface="AppleGothic"/>
                <a:ea typeface="AppleGothic"/>
                <a:cs typeface="AppleGothic"/>
              </a:rPr>
              <a:t>기본 실행은 API 키·Ollama·GPU 불필요</a:t>
            </a:r>
          </a:p>
        </p:txBody>
      </p:sp>
    </p:spTree>
    <p:extLst>
      <p:ext uri="{BB962C8B-B14F-4D97-AF65-F5344CB8AC3E}">
        <p14:creationId xmlns:p14="http://schemas.microsoft.com/office/powerpoint/2010/main" val="1598193723"/>
      </p:ext>
    </p:extLst>
  </p:cSld>
</p:sld>
</file>

<file path=ppt/slides/slide56.xml><?xml version="1.0" encoding="utf-8"?>
<p:sld xmlns:p="http://schemas.openxmlformats.org/presentationml/2006/main">
  <p:cSld>
    <p:bg>
      <p:bgPr>
        <a:solidFill xmlns:a="http://schemas.openxmlformats.org/drawingml/2006/main">
          <a:srgbClr val="F7F7F5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E3CCA2C4-FB99-45A4-851C-3F94F9B85E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47650"/>
            <a:ext cx="9525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1400" b="0">
                <a:solidFill>
                  <a:srgbClr val="52606B"/>
                </a:solidFill>
                <a:latin typeface="AppleGothic"/>
                <a:ea typeface="AppleGothic"/>
                <a:cs typeface="AppleGothic"/>
              </a:defRPr>
            </a:defPPr>
          </a:lstStyle>
          <a:p xmlns:a="http://schemas.openxmlformats.org/drawingml/2006/main">
            <a:pPr algn="l">
              <a:lnSpc>
                <a:spcPct val="116000"/>
              </a:lnSpc>
              <a:buNone/>
              <a:defRPr sz="1400" b="0">
                <a:solidFill>
                  <a:srgbClr val="52606B"/>
                </a:solidFill>
                <a:latin typeface="AppleGothic"/>
                <a:ea typeface="AppleGothic"/>
                <a:cs typeface="AppleGothic"/>
              </a:defRPr>
            </a:pPr>
            <a:r>
              <a:rPr sz="1400" b="0">
                <a:solidFill>
                  <a:srgbClr val="52606B"/>
                </a:solidFill>
                <a:latin typeface="AppleGothic"/>
                <a:ea typeface="AppleGothic"/>
                <a:cs typeface="AppleGothic"/>
              </a:rPr>
              <a:t>LLMOPS / W07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68B45E79-7D40-43FB-A055-EBFA3C95E0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8500" y="247650"/>
            <a:ext cx="7239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r">
              <a:defRPr sz="1400" b="0">
                <a:solidFill>
                  <a:srgbClr val="52606B"/>
                </a:solidFill>
                <a:latin typeface="Menlo"/>
                <a:ea typeface="Menlo"/>
                <a:cs typeface="Menlo"/>
              </a:defRPr>
            </a:defPPr>
          </a:lstStyle>
          <a:p xmlns:a="http://schemas.openxmlformats.org/drawingml/2006/main">
            <a:pPr algn="r">
              <a:lnSpc>
                <a:spcPct val="116000"/>
              </a:lnSpc>
              <a:buNone/>
              <a:defRPr sz="1400" b="0">
                <a:solidFill>
                  <a:srgbClr val="52606B"/>
                </a:solidFill>
                <a:latin typeface="Menlo"/>
                <a:ea typeface="Menlo"/>
                <a:cs typeface="Menlo"/>
              </a:defRPr>
            </a:pPr>
            <a:r>
              <a:rPr sz="1400" b="0">
                <a:solidFill>
                  <a:srgbClr val="52606B"/>
                </a:solidFill>
                <a:latin typeface="Menlo"/>
                <a:ea typeface="Menlo"/>
                <a:cs typeface="Menlo"/>
              </a:rPr>
              <a:t>56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6D5C46CF-5F8A-4DFE-A3DC-86E38B85E7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23900"/>
            <a:ext cx="109728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3400" b="1">
                <a:solidFill>
                  <a:srgbClr val="17191B"/>
                </a:solidFill>
                <a:latin typeface="AppleGothic"/>
                <a:ea typeface="AppleGothic"/>
                <a:cs typeface="AppleGothic"/>
              </a:defRPr>
            </a:defPPr>
          </a:lstStyle>
          <a:p xmlns:a="http://schemas.openxmlformats.org/drawingml/2006/main">
            <a:pPr algn="l">
              <a:lnSpc>
                <a:spcPct val="116000"/>
              </a:lnSpc>
              <a:buNone/>
              <a:defRPr sz="3400" b="1">
                <a:solidFill>
                  <a:srgbClr val="17191B"/>
                </a:solidFill>
                <a:latin typeface="AppleGothic"/>
                <a:ea typeface="AppleGothic"/>
                <a:cs typeface="AppleGothic"/>
              </a:defRPr>
            </a:pPr>
            <a:r>
              <a:rPr sz="3400" b="1">
                <a:solidFill>
                  <a:srgbClr val="17191B"/>
                </a:solidFill>
                <a:latin typeface="AppleGothic"/>
                <a:ea typeface="AppleGothic"/>
                <a:cs typeface="AppleGothic"/>
              </a:rPr>
              <a:t>Notebook과 산출물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0FC97B26-039F-41EC-8CB0-A4C65ED7B4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315075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FD5D3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6FAA635F-19B6-4616-B3BA-5A74D088AB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77000"/>
            <a:ext cx="109728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1400" b="0">
                <a:solidFill>
                  <a:srgbClr val="52606B"/>
                </a:solidFill>
                <a:latin typeface="AppleGothic"/>
                <a:ea typeface="AppleGothic"/>
                <a:cs typeface="AppleGothic"/>
              </a:defRPr>
            </a:defPPr>
          </a:lstStyle>
          <a:p xmlns:a="http://schemas.openxmlformats.org/drawingml/2006/main">
            <a:pPr algn="l">
              <a:lnSpc>
                <a:spcPct val="116000"/>
              </a:lnSpc>
              <a:buNone/>
              <a:defRPr sz="1400" b="0">
                <a:solidFill>
                  <a:srgbClr val="52606B"/>
                </a:solidFill>
                <a:latin typeface="AppleGothic"/>
                <a:ea typeface="AppleGothic"/>
                <a:cs typeface="AppleGothic"/>
              </a:defRPr>
            </a:pPr>
            <a:r>
              <a:rPr sz="1400" b="0">
                <a:solidFill>
                  <a:srgbClr val="52606B"/>
                </a:solidFill>
                <a:latin typeface="AppleGothic"/>
                <a:ea typeface="AppleGothic"/>
                <a:cs typeface="AppleGothic"/>
              </a:rPr>
              <a:t>데이터 · 모델 적응 · 비교 평가 · 기획서 초안</a:t>
            </a:r>
          </a:p>
        </p:txBody>
      </p:sp>
      <p:graphicFrame>
        <p:nvGraphicFrame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C801196E-F28E-4C00-A5D1-C78C6F37AA43}"/>
              </a:ext>
            </a:extLst>
          </p:cNvPr>
          <p:cNvGraphicFramePr/>
          <p:nvPr/>
        </p:nvGraphicFramePr>
        <p:xfrm>
          <a:off xmlns:a="http://schemas.openxmlformats.org/drawingml/2006/main" x="609600" y="1809750"/>
          <a:ext xmlns:a="http://schemas.openxmlformats.org/drawingml/2006/main" cx="10972800" cy="3851148"/>
        </p:xfrm>
        <a:graphic xmlns:a="http://schemas.openxmlformats.org/drawingml/2006/main">
          <a:graphicData uri="http://schemas.openxmlformats.org/drawingml/2006/table">
            <a:tbl>
              <a:tblPr firstRow="0" bandRow="0"/>
              <a:tblGrid>
                <a:gridCol w="2857500"/>
                <a:gridCol w="4686300"/>
                <a:gridCol w="3429000"/>
              </a:tblGrid>
              <a:tr h="742950">
                <a:tc>
                  <a:txBody>
                    <a:bodyPr wrap="none" lIns="133350" tIns="114300" rIns="133350" bIns="114300">
                      <a:noAutofit/>
                    </a:bodyPr>
                    <a:lstStyle/>
                    <a:p>
                      <a:r>
                        <a:rPr sz="1900" b="1">
                          <a:solidFill>
                            <a:srgbClr val="17283B"/>
                          </a:solidFill>
                          <a:latin typeface="AppleGothic"/>
                          <a:ea typeface="AppleGothic"/>
                          <a:cs typeface="AppleGothic"/>
                        </a:rPr>
                        <a:t>파일</a:t>
                      </a:r>
                    </a:p>
                  </a:txBody>
                  <a:tcPr marL="91440" marR="91440" marT="45720" marB="4572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EDF1F6"/>
                    </a:solidFill>
                  </a:tcPr>
                </a:tc>
                <a:tc>
                  <a:txBody>
                    <a:bodyPr wrap="none" lIns="133350" tIns="114300" rIns="133350" bIns="114300">
                      <a:noAutofit/>
                    </a:bodyPr>
                    <a:lstStyle/>
                    <a:p>
                      <a:r>
                        <a:rPr sz="1900" b="1">
                          <a:solidFill>
                            <a:srgbClr val="17283B"/>
                          </a:solidFill>
                          <a:latin typeface="AppleGothic"/>
                          <a:ea typeface="AppleGothic"/>
                          <a:cs typeface="AppleGothic"/>
                        </a:rPr>
                        <a:t>실험</a:t>
                      </a:r>
                    </a:p>
                  </a:txBody>
                  <a:tcPr marL="91440" marR="91440" marT="45720" marB="4572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EDF1F6"/>
                    </a:solidFill>
                  </a:tcPr>
                </a:tc>
                <a:tc>
                  <a:txBody>
                    <a:bodyPr wrap="none" lIns="133350" tIns="114300" rIns="133350" bIns="114300">
                      <a:noAutofit/>
                    </a:bodyPr>
                    <a:lstStyle/>
                    <a:p>
                      <a:r>
                        <a:rPr sz="1900" b="1">
                          <a:solidFill>
                            <a:srgbClr val="17283B"/>
                          </a:solidFill>
                          <a:latin typeface="AppleGothic"/>
                          <a:ea typeface="AppleGothic"/>
                          <a:cs typeface="AppleGothic"/>
                        </a:rPr>
                        <a:t>기록</a:t>
                      </a:r>
                    </a:p>
                  </a:txBody>
                  <a:tcPr marL="91440" marR="91440" marT="45720" marB="4572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EDF1F6"/>
                    </a:solidFill>
                  </a:tcPr>
                </a:tc>
              </a:tr>
              <a:tr h="788416">
                <a:tc>
                  <a:txBody>
                    <a:bodyPr wrap="none" lIns="133350" tIns="114300" rIns="133350" bIns="114300">
                      <a:noAutofit/>
                    </a:bodyPr>
                    <a:lstStyle/>
                    <a:p>
                      <a:r>
                        <a:rPr sz="1900" b="1">
                          <a:solidFill>
                            <a:srgbClr val="17191B"/>
                          </a:solidFill>
                          <a:latin typeface="AppleGothic"/>
                          <a:ea typeface="AppleGothic"/>
                          <a:cs typeface="AppleGothic"/>
                        </a:rPr>
                        <a:t>01 ·</a:t>
                      </a:r>
                    </a:p>
                    <a:p>
                      <a:r>
                        <a:rPr sz="1900" b="1">
                          <a:solidFill>
                            <a:srgbClr val="17191B"/>
                          </a:solidFill>
                          <a:latin typeface="AppleGothic"/>
                          <a:ea typeface="AppleGothic"/>
                          <a:cs typeface="AppleGothic"/>
                        </a:rPr>
                        <a:t>data_quality_split</a:t>
                      </a:r>
                    </a:p>
                  </a:txBody>
                  <a:tcPr marL="91440" marR="91440" marT="45720" marB="4572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 lIns="133350" tIns="114300" rIns="133350" bIns="114300">
                      <a:noAutofit/>
                    </a:bodyPr>
                    <a:lstStyle/>
                    <a:p>
                      <a:r>
                        <a:rPr sz="1900" b="0">
                          <a:solidFill>
                            <a:srgbClr val="52606B"/>
                          </a:solidFill>
                          <a:latin typeface="AppleGothic"/>
                          <a:ea typeface="AppleGothic"/>
                          <a:cs typeface="AppleGothic"/>
                        </a:rPr>
                        <a:t>오염·누출·분할</a:t>
                      </a:r>
                    </a:p>
                  </a:txBody>
                  <a:tcPr marL="91440" marR="91440" marT="45720" marB="4572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 lIns="133350" tIns="114300" rIns="133350" bIns="114300">
                      <a:noAutofit/>
                    </a:bodyPr>
                    <a:lstStyle/>
                    <a:p>
                      <a:r>
                        <a:rPr sz="1900" b="0">
                          <a:solidFill>
                            <a:srgbClr val="52606B"/>
                          </a:solidFill>
                          <a:latin typeface="AppleGothic"/>
                          <a:ea typeface="AppleGothic"/>
                          <a:cs typeface="AppleGothic"/>
                        </a:rPr>
                        <a:t>Dataset Card</a:t>
                      </a:r>
                    </a:p>
                  </a:txBody>
                  <a:tcPr marL="91440" marR="91440" marT="45720" marB="4572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FFFFFF"/>
                    </a:solidFill>
                  </a:tcPr>
                </a:tc>
              </a:tr>
              <a:tr h="788416">
                <a:tc>
                  <a:txBody>
                    <a:bodyPr wrap="none" lIns="133350" tIns="114300" rIns="133350" bIns="114300">
                      <a:noAutofit/>
                    </a:bodyPr>
                    <a:lstStyle/>
                    <a:p>
                      <a:r>
                        <a:rPr sz="1900" b="1">
                          <a:solidFill>
                            <a:srgbClr val="17191B"/>
                          </a:solidFill>
                          <a:latin typeface="AppleGothic"/>
                          <a:ea typeface="AppleGothic"/>
                          <a:cs typeface="AppleGothic"/>
                        </a:rPr>
                        <a:t>02 ·</a:t>
                      </a:r>
                    </a:p>
                    <a:p>
                      <a:r>
                        <a:rPr sz="1900" b="1">
                          <a:solidFill>
                            <a:srgbClr val="17191B"/>
                          </a:solidFill>
                          <a:latin typeface="AppleGothic"/>
                          <a:ea typeface="AppleGothic"/>
                          <a:cs typeface="AppleGothic"/>
                        </a:rPr>
                        <a:t>low_rank_adaptation</a:t>
                      </a:r>
                    </a:p>
                  </a:txBody>
                  <a:tcPr marL="91440" marR="91440" marT="45720" marB="4572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 lIns="133350" tIns="114300" rIns="133350" bIns="114300">
                      <a:noAutofit/>
                    </a:bodyPr>
                    <a:lstStyle/>
                    <a:p>
                      <a:r>
                        <a:rPr sz="1900" b="0">
                          <a:solidFill>
                            <a:srgbClr val="52606B"/>
                          </a:solidFill>
                          <a:latin typeface="AppleGothic"/>
                          <a:ea typeface="AppleGothic"/>
                          <a:cs typeface="AppleGothic"/>
                        </a:rPr>
                        <a:t>rank·오차·비용</a:t>
                      </a:r>
                    </a:p>
                  </a:txBody>
                  <a:tcPr marL="91440" marR="91440" marT="45720" marB="4572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 lIns="133350" tIns="114300" rIns="133350" bIns="114300">
                      <a:noAutofit/>
                    </a:bodyPr>
                    <a:lstStyle/>
                    <a:p>
                      <a:r>
                        <a:rPr sz="1900" b="0">
                          <a:solidFill>
                            <a:srgbClr val="52606B"/>
                          </a:solidFill>
                          <a:latin typeface="AppleGothic"/>
                          <a:ea typeface="AppleGothic"/>
                          <a:cs typeface="AppleGothic"/>
                        </a:rPr>
                        <a:t>행렬 실험표</a:t>
                      </a:r>
                    </a:p>
                  </a:txBody>
                  <a:tcPr marL="91440" marR="91440" marT="45720" marB="4572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FFFFFF"/>
                    </a:solidFill>
                  </a:tcPr>
                </a:tc>
              </a:tr>
              <a:tr h="742950">
                <a:tc>
                  <a:txBody>
                    <a:bodyPr wrap="none" lIns="133350" tIns="114300" rIns="133350" bIns="114300">
                      <a:noAutofit/>
                    </a:bodyPr>
                    <a:lstStyle/>
                    <a:p>
                      <a:r>
                        <a:rPr sz="1900" b="1">
                          <a:solidFill>
                            <a:srgbClr val="17191B"/>
                          </a:solidFill>
                          <a:latin typeface="AppleGothic"/>
                          <a:ea typeface="AppleGothic"/>
                          <a:cs typeface="AppleGothic"/>
                        </a:rPr>
                        <a:t>03 · preference_dpo</a:t>
                      </a:r>
                    </a:p>
                  </a:txBody>
                  <a:tcPr marL="91440" marR="91440" marT="45720" marB="4572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 lIns="133350" tIns="114300" rIns="133350" bIns="114300">
                      <a:noAutofit/>
                    </a:bodyPr>
                    <a:lstStyle/>
                    <a:p>
                      <a:r>
                        <a:rPr sz="1900" b="0">
                          <a:solidFill>
                            <a:srgbClr val="52606B"/>
                          </a:solidFill>
                          <a:latin typeface="AppleGothic"/>
                          <a:ea typeface="AppleGothic"/>
                          <a:cs typeface="AppleGothic"/>
                        </a:rPr>
                        <a:t>선호쌍·손실·정책</a:t>
                      </a:r>
                    </a:p>
                  </a:txBody>
                  <a:tcPr marL="91440" marR="91440" marT="45720" marB="4572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 lIns="133350" tIns="114300" rIns="133350" bIns="114300">
                      <a:noAutofit/>
                    </a:bodyPr>
                    <a:lstStyle/>
                    <a:p>
                      <a:r>
                        <a:rPr sz="1900" b="0">
                          <a:solidFill>
                            <a:srgbClr val="52606B"/>
                          </a:solidFill>
                          <a:latin typeface="AppleGothic"/>
                          <a:ea typeface="AppleGothic"/>
                          <a:cs typeface="AppleGothic"/>
                        </a:rPr>
                        <a:t>한계 포함 비교표</a:t>
                      </a:r>
                    </a:p>
                  </a:txBody>
                  <a:tcPr marL="91440" marR="91440" marT="45720" marB="4572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FFFFFF"/>
                    </a:solidFill>
                  </a:tcPr>
                </a:tc>
              </a:tr>
              <a:tr h="788416">
                <a:tc>
                  <a:txBody>
                    <a:bodyPr wrap="none" lIns="133350" tIns="114300" rIns="133350" bIns="114300">
                      <a:noAutofit/>
                    </a:bodyPr>
                    <a:lstStyle/>
                    <a:p>
                      <a:r>
                        <a:rPr sz="1900" b="1">
                          <a:solidFill>
                            <a:srgbClr val="17191B"/>
                          </a:solidFill>
                          <a:latin typeface="AppleGothic"/>
                          <a:ea typeface="AppleGothic"/>
                          <a:cs typeface="AppleGothic"/>
                        </a:rPr>
                        <a:t>04 ·</a:t>
                      </a:r>
                    </a:p>
                    <a:p>
                      <a:r>
                        <a:rPr sz="1900" b="1">
                          <a:solidFill>
                            <a:srgbClr val="17191B"/>
                          </a:solidFill>
                          <a:latin typeface="AppleGothic"/>
                          <a:ea typeface="AppleGothic"/>
                          <a:cs typeface="AppleGothic"/>
                        </a:rPr>
                        <a:t>project_proposal</a:t>
                      </a:r>
                    </a:p>
                  </a:txBody>
                  <a:tcPr marL="91440" marR="91440" marT="45720" marB="4572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 lIns="133350" tIns="114300" rIns="133350" bIns="114300">
                      <a:noAutofit/>
                    </a:bodyPr>
                    <a:lstStyle/>
                    <a:p>
                      <a:r>
                        <a:rPr sz="1900" b="0">
                          <a:solidFill>
                            <a:srgbClr val="52606B"/>
                          </a:solidFill>
                          <a:latin typeface="AppleGothic"/>
                          <a:ea typeface="AppleGothic"/>
                          <a:cs typeface="AppleGothic"/>
                        </a:rPr>
                        <a:t>요구사항·위험·시안</a:t>
                      </a:r>
                    </a:p>
                  </a:txBody>
                  <a:tcPr marL="91440" marR="91440" marT="45720" marB="4572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 lIns="133350" tIns="114300" rIns="133350" bIns="114300">
                      <a:noAutofit/>
                    </a:bodyPr>
                    <a:lstStyle/>
                    <a:p>
                      <a:r>
                        <a:rPr sz="1900" b="0">
                          <a:solidFill>
                            <a:srgbClr val="52606B"/>
                          </a:solidFill>
                          <a:latin typeface="AppleGothic"/>
                          <a:ea typeface="AppleGothic"/>
                          <a:cs typeface="AppleGothic"/>
                        </a:rPr>
                        <a:t>초안 HTML·JSON</a:t>
                      </a:r>
                    </a:p>
                  </a:txBody>
                  <a:tcPr marL="91440" marR="91440" marT="45720" marB="4572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0D91EE09-7389-4C34-8664-6293534D9D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80975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283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0D02D9A5-0CB2-4031-A22A-DBB9AD3EB5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5527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FD5D3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C5953EC7-8569-445B-AF45-ACB45DC01E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341116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FD5D3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4E328448-1259-4BDE-A5E0-4B51EF0129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129532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FD5D3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AE7F2B48-4C7B-4DD9-80ED-689BBC2534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872482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FD5D3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D0EBAAD4-567A-471B-938D-CD88F0881E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660898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283B"/>
          </a:solidFill>
          <a:ln xmlns:a="http://schemas.openxmlformats.org/drawingml/2006/main" w="0">
            <a:noFill/>
            <a:prstDash val="solid"/>
          </a:ln>
        </p:spPr>
      </p:sp>
    </p:spTree>
    <p:extLst>
      <p:ext uri="{BB962C8B-B14F-4D97-AF65-F5344CB8AC3E}">
        <p14:creationId xmlns:p14="http://schemas.microsoft.com/office/powerpoint/2010/main" val="1015339338"/>
      </p:ext>
    </p:extLst>
  </p:cSld>
</p:sld>
</file>

<file path=ppt/slides/slide57.xml><?xml version="1.0" encoding="utf-8"?>
<p:sld xmlns:p="http://schemas.openxmlformats.org/presentationml/2006/main">
  <p:cSld>
    <p:bg>
      <p:bgPr>
        <a:solidFill xmlns:a="http://schemas.openxmlformats.org/drawingml/2006/main">
          <a:srgbClr val="F7F7F5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659EFC1C-6651-4C66-96B7-DF86350975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47650"/>
            <a:ext cx="9525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1400" b="0">
                <a:solidFill>
                  <a:srgbClr val="52606B"/>
                </a:solidFill>
                <a:latin typeface="AppleGothic"/>
                <a:ea typeface="AppleGothic"/>
                <a:cs typeface="AppleGothic"/>
              </a:defRPr>
            </a:defPPr>
          </a:lstStyle>
          <a:p xmlns:a="http://schemas.openxmlformats.org/drawingml/2006/main">
            <a:pPr algn="l">
              <a:lnSpc>
                <a:spcPct val="116000"/>
              </a:lnSpc>
              <a:buNone/>
              <a:defRPr sz="1400" b="0">
                <a:solidFill>
                  <a:srgbClr val="52606B"/>
                </a:solidFill>
                <a:latin typeface="AppleGothic"/>
                <a:ea typeface="AppleGothic"/>
                <a:cs typeface="AppleGothic"/>
              </a:defRPr>
            </a:pPr>
            <a:r>
              <a:rPr sz="1400" b="0">
                <a:solidFill>
                  <a:srgbClr val="52606B"/>
                </a:solidFill>
                <a:latin typeface="AppleGothic"/>
                <a:ea typeface="AppleGothic"/>
                <a:cs typeface="AppleGothic"/>
              </a:rPr>
              <a:t>LLMOPS / W07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0214AA9E-03E8-43C0-AB98-9614F11182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8500" y="247650"/>
            <a:ext cx="7239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r">
              <a:defRPr sz="1400" b="0">
                <a:solidFill>
                  <a:srgbClr val="52606B"/>
                </a:solidFill>
                <a:latin typeface="Menlo"/>
                <a:ea typeface="Menlo"/>
                <a:cs typeface="Menlo"/>
              </a:defRPr>
            </a:defPPr>
          </a:lstStyle>
          <a:p xmlns:a="http://schemas.openxmlformats.org/drawingml/2006/main">
            <a:pPr algn="r">
              <a:lnSpc>
                <a:spcPct val="116000"/>
              </a:lnSpc>
              <a:buNone/>
              <a:defRPr sz="1400" b="0">
                <a:solidFill>
                  <a:srgbClr val="52606B"/>
                </a:solidFill>
                <a:latin typeface="Menlo"/>
                <a:ea typeface="Menlo"/>
                <a:cs typeface="Menlo"/>
              </a:defRPr>
            </a:pPr>
            <a:r>
              <a:rPr sz="1400" b="0">
                <a:solidFill>
                  <a:srgbClr val="52606B"/>
                </a:solidFill>
                <a:latin typeface="Menlo"/>
                <a:ea typeface="Menlo"/>
                <a:cs typeface="Menlo"/>
              </a:rPr>
              <a:t>57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E5180CFC-B142-4667-BA94-BDB3ED0C63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23900"/>
            <a:ext cx="109728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3400" b="1">
                <a:solidFill>
                  <a:srgbClr val="17191B"/>
                </a:solidFill>
                <a:latin typeface="AppleGothic"/>
                <a:ea typeface="AppleGothic"/>
                <a:cs typeface="AppleGothic"/>
              </a:defRPr>
            </a:defPPr>
          </a:lstStyle>
          <a:p xmlns:a="http://schemas.openxmlformats.org/drawingml/2006/main">
            <a:pPr algn="l">
              <a:lnSpc>
                <a:spcPct val="116000"/>
              </a:lnSpc>
              <a:buNone/>
              <a:defRPr sz="3400" b="1">
                <a:solidFill>
                  <a:srgbClr val="17191B"/>
                </a:solidFill>
                <a:latin typeface="AppleGothic"/>
                <a:ea typeface="AppleGothic"/>
                <a:cs typeface="AppleGothic"/>
              </a:defRPr>
            </a:pPr>
            <a:r>
              <a:rPr sz="3400" b="1">
                <a:solidFill>
                  <a:srgbClr val="17191B"/>
                </a:solidFill>
                <a:latin typeface="AppleGothic"/>
                <a:ea typeface="AppleGothic"/>
                <a:cs typeface="AppleGothic"/>
              </a:rPr>
              <a:t>VS Code 환경 준비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446092E8-AAE1-44C2-B23B-19425083FE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315075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FD5D3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7778AB87-3A47-4A26-AE1F-4C0A1BAF5C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77000"/>
            <a:ext cx="109728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1400" b="0">
                <a:solidFill>
                  <a:srgbClr val="52606B"/>
                </a:solidFill>
                <a:latin typeface="AppleGothic"/>
                <a:ea typeface="AppleGothic"/>
                <a:cs typeface="AppleGothic"/>
              </a:defRPr>
            </a:defPPr>
          </a:lstStyle>
          <a:p xmlns:a="http://schemas.openxmlformats.org/drawingml/2006/main">
            <a:pPr algn="l">
              <a:lnSpc>
                <a:spcPct val="116000"/>
              </a:lnSpc>
              <a:buNone/>
              <a:defRPr sz="1400" b="0">
                <a:solidFill>
                  <a:srgbClr val="52606B"/>
                </a:solidFill>
                <a:latin typeface="AppleGothic"/>
                <a:ea typeface="AppleGothic"/>
                <a:cs typeface="AppleGothic"/>
              </a:defRPr>
            </a:pPr>
            <a:r>
              <a:rPr sz="1400" b="0">
                <a:solidFill>
                  <a:srgbClr val="52606B"/>
                </a:solidFill>
                <a:latin typeface="AppleGothic"/>
                <a:ea typeface="AppleGothic"/>
                <a:cs typeface="AppleGothic"/>
              </a:rPr>
              <a:t>데이터 · 모델 적응 · 비교 평가 · 기획서 초안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C025049B-D248-49A7-9216-71DC4B95A8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981200"/>
            <a:ext cx="10972800" cy="178231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283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8BA95DE2-E973-4E41-8057-EE7871574E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2286000"/>
            <a:ext cx="10477500" cy="121081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1800" b="0">
                <a:solidFill>
                  <a:srgbClr val="FFFFFF"/>
                </a:solidFill>
                <a:latin typeface="Menlo"/>
                <a:ea typeface="Menlo"/>
                <a:cs typeface="Menlo"/>
              </a:defRPr>
            </a:defPPr>
          </a:lstStyle>
          <a:p xmlns:a="http://schemas.openxmlformats.org/drawingml/2006/main">
            <a:pPr algn="l">
              <a:lnSpc>
                <a:spcPct val="116000"/>
              </a:lnSpc>
              <a:buNone/>
              <a:defRPr sz="1800" b="0">
                <a:solidFill>
                  <a:srgbClr val="FFFFFF"/>
                </a:solidFill>
                <a:latin typeface="Menlo"/>
                <a:ea typeface="Menlo"/>
                <a:cs typeface="Menlo"/>
              </a:defRPr>
            </a:pPr>
            <a:r>
              <a:rPr sz="1800" b="0">
                <a:solidFill>
                  <a:srgbClr val="FFFFFF"/>
                </a:solidFill>
                <a:latin typeface="Menlo"/>
                <a:ea typeface="Menlo"/>
                <a:cs typeface="Menlo"/>
              </a:rPr>
              <a:t>python3.11 -m venv .venv</a:t>
            </a:r>
          </a:p>
          <a:p xmlns:a="http://schemas.openxmlformats.org/drawingml/2006/main">
            <a:pPr algn="l">
              <a:lnSpc>
                <a:spcPct val="116000"/>
              </a:lnSpc>
              <a:buNone/>
              <a:defRPr sz="1800" b="0">
                <a:solidFill>
                  <a:srgbClr val="FFFFFF"/>
                </a:solidFill>
                <a:latin typeface="Menlo"/>
                <a:ea typeface="Menlo"/>
                <a:cs typeface="Menlo"/>
              </a:defRPr>
            </a:pPr>
            <a:r>
              <a:rPr sz="1800" b="0">
                <a:solidFill>
                  <a:srgbClr val="FFFFFF"/>
                </a:solidFill>
                <a:latin typeface="Menlo"/>
                <a:ea typeface="Menlo"/>
                <a:cs typeface="Menlo"/>
              </a:rPr>
              <a:t>source .venv/bin/activate</a:t>
            </a:r>
          </a:p>
          <a:p xmlns:a="http://schemas.openxmlformats.org/drawingml/2006/main">
            <a:pPr algn="l">
              <a:lnSpc>
                <a:spcPct val="116000"/>
              </a:lnSpc>
              <a:buNone/>
              <a:defRPr sz="1800" b="0">
                <a:solidFill>
                  <a:srgbClr val="FFFFFF"/>
                </a:solidFill>
                <a:latin typeface="Menlo"/>
                <a:ea typeface="Menlo"/>
                <a:cs typeface="Menlo"/>
              </a:defRPr>
            </a:pPr>
            <a:r>
              <a:rPr sz="1800" b="0">
                <a:solidFill>
                  <a:srgbClr val="FFFFFF"/>
                </a:solidFill>
                <a:latin typeface="Menlo"/>
                <a:ea typeface="Menlo"/>
                <a:cs typeface="Menlo"/>
              </a:rPr>
              <a:t>python -m pip install -r requirements.txt</a:t>
            </a:r>
          </a:p>
          <a:p xmlns:a="http://schemas.openxmlformats.org/drawingml/2006/main">
            <a:pPr algn="l">
              <a:lnSpc>
                <a:spcPct val="116000"/>
              </a:lnSpc>
              <a:buNone/>
              <a:defRPr sz="1800" b="0">
                <a:solidFill>
                  <a:srgbClr val="FFFFFF"/>
                </a:solidFill>
                <a:latin typeface="Menlo"/>
                <a:ea typeface="Menlo"/>
                <a:cs typeface="Menlo"/>
              </a:defRPr>
            </a:pPr>
            <a:r>
              <a:rPr sz="1800" b="0">
                <a:solidFill>
                  <a:srgbClr val="FFFFFF"/>
                </a:solidFill>
                <a:latin typeface="Menlo"/>
                <a:ea typeface="Menlo"/>
                <a:cs typeface="Menlo"/>
              </a:rPr>
              <a:t>code .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D9BCA86B-9BD1-4358-87FA-90B682B51A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791200"/>
            <a:ext cx="109728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1600" b="0">
                <a:solidFill>
                  <a:srgbClr val="52606B"/>
                </a:solidFill>
                <a:latin typeface="AppleGothic"/>
                <a:ea typeface="AppleGothic"/>
                <a:cs typeface="AppleGothic"/>
              </a:defRPr>
            </a:defPPr>
          </a:lstStyle>
          <a:p xmlns:a="http://schemas.openxmlformats.org/drawingml/2006/main">
            <a:pPr algn="l">
              <a:lnSpc>
                <a:spcPct val="116000"/>
              </a:lnSpc>
              <a:buNone/>
              <a:defRPr sz="1600" b="0">
                <a:solidFill>
                  <a:srgbClr val="52606B"/>
                </a:solidFill>
                <a:latin typeface="AppleGothic"/>
                <a:ea typeface="AppleGothic"/>
                <a:cs typeface="AppleGothic"/>
              </a:defRPr>
            </a:pPr>
            <a:r>
              <a:rPr sz="1600" b="0">
                <a:solidFill>
                  <a:srgbClr val="52606B"/>
                </a:solidFill>
                <a:latin typeface="AppleGothic"/>
                <a:ea typeface="AppleGothic"/>
                <a:cs typeface="AppleGothic"/>
              </a:rPr>
              <a:t>기존 .venv가 있으면 재생성 불필요 · Windows는 .venv\Scripts\activate</a:t>
            </a:r>
          </a:p>
        </p:txBody>
      </p:sp>
    </p:spTree>
    <p:extLst>
      <p:ext uri="{BB962C8B-B14F-4D97-AF65-F5344CB8AC3E}">
        <p14:creationId xmlns:p14="http://schemas.microsoft.com/office/powerpoint/2010/main" val="1142796879"/>
      </p:ext>
    </p:extLst>
  </p:cSld>
</p:sld>
</file>

<file path=ppt/slides/slide58.xml><?xml version="1.0" encoding="utf-8"?>
<p:sld xmlns:p="http://schemas.openxmlformats.org/presentationml/2006/main">
  <p:cSld>
    <p:bg>
      <p:bgPr>
        <a:solidFill xmlns:a="http://schemas.openxmlformats.org/drawingml/2006/main">
          <a:srgbClr val="F7F7F5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1D866267-EE13-4595-805E-5CDAA30773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47650"/>
            <a:ext cx="9525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1400" b="0">
                <a:solidFill>
                  <a:srgbClr val="52606B"/>
                </a:solidFill>
                <a:latin typeface="AppleGothic"/>
                <a:ea typeface="AppleGothic"/>
                <a:cs typeface="AppleGothic"/>
              </a:defRPr>
            </a:defPPr>
          </a:lstStyle>
          <a:p xmlns:a="http://schemas.openxmlformats.org/drawingml/2006/main">
            <a:pPr algn="l">
              <a:lnSpc>
                <a:spcPct val="116000"/>
              </a:lnSpc>
              <a:buNone/>
              <a:defRPr sz="1400" b="0">
                <a:solidFill>
                  <a:srgbClr val="52606B"/>
                </a:solidFill>
                <a:latin typeface="AppleGothic"/>
                <a:ea typeface="AppleGothic"/>
                <a:cs typeface="AppleGothic"/>
              </a:defRPr>
            </a:pPr>
            <a:r>
              <a:rPr sz="1400" b="0">
                <a:solidFill>
                  <a:srgbClr val="52606B"/>
                </a:solidFill>
                <a:latin typeface="AppleGothic"/>
                <a:ea typeface="AppleGothic"/>
                <a:cs typeface="AppleGothic"/>
              </a:rPr>
              <a:t>LLMOPS / W07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4EB680FB-9FE3-461F-8553-6E6CCCC292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8500" y="247650"/>
            <a:ext cx="7239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r">
              <a:defRPr sz="1400" b="0">
                <a:solidFill>
                  <a:srgbClr val="52606B"/>
                </a:solidFill>
                <a:latin typeface="Menlo"/>
                <a:ea typeface="Menlo"/>
                <a:cs typeface="Menlo"/>
              </a:defRPr>
            </a:defPPr>
          </a:lstStyle>
          <a:p xmlns:a="http://schemas.openxmlformats.org/drawingml/2006/main">
            <a:pPr algn="r">
              <a:lnSpc>
                <a:spcPct val="116000"/>
              </a:lnSpc>
              <a:buNone/>
              <a:defRPr sz="1400" b="0">
                <a:solidFill>
                  <a:srgbClr val="52606B"/>
                </a:solidFill>
                <a:latin typeface="Menlo"/>
                <a:ea typeface="Menlo"/>
                <a:cs typeface="Menlo"/>
              </a:defRPr>
            </a:pPr>
            <a:r>
              <a:rPr sz="1400" b="0">
                <a:solidFill>
                  <a:srgbClr val="52606B"/>
                </a:solidFill>
                <a:latin typeface="Menlo"/>
                <a:ea typeface="Menlo"/>
                <a:cs typeface="Menlo"/>
              </a:rPr>
              <a:t>58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14D451CC-C54F-46DA-AD8C-28AE5999B0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23900"/>
            <a:ext cx="109728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3400" b="1">
                <a:solidFill>
                  <a:srgbClr val="17191B"/>
                </a:solidFill>
                <a:latin typeface="AppleGothic"/>
                <a:ea typeface="AppleGothic"/>
                <a:cs typeface="AppleGothic"/>
              </a:defRPr>
            </a:defPPr>
          </a:lstStyle>
          <a:p xmlns:a="http://schemas.openxmlformats.org/drawingml/2006/main">
            <a:pPr algn="l">
              <a:lnSpc>
                <a:spcPct val="116000"/>
              </a:lnSpc>
              <a:buNone/>
              <a:defRPr sz="3400" b="1">
                <a:solidFill>
                  <a:srgbClr val="17191B"/>
                </a:solidFill>
                <a:latin typeface="AppleGothic"/>
                <a:ea typeface="AppleGothic"/>
                <a:cs typeface="AppleGothic"/>
              </a:defRPr>
            </a:pPr>
            <a:r>
              <a:rPr sz="3400" b="1">
                <a:solidFill>
                  <a:srgbClr val="17191B"/>
                </a:solidFill>
                <a:latin typeface="AppleGothic"/>
                <a:ea typeface="AppleGothic"/>
                <a:cs typeface="AppleGothic"/>
              </a:rPr>
              <a:t>VS Code 실행 경로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9F563E43-30A3-4266-91F8-240D8BAD64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315075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FD5D3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1F201637-6E88-407D-B74E-768679B171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77000"/>
            <a:ext cx="109728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1400" b="0">
                <a:solidFill>
                  <a:srgbClr val="52606B"/>
                </a:solidFill>
                <a:latin typeface="AppleGothic"/>
                <a:ea typeface="AppleGothic"/>
                <a:cs typeface="AppleGothic"/>
              </a:defRPr>
            </a:defPPr>
          </a:lstStyle>
          <a:p xmlns:a="http://schemas.openxmlformats.org/drawingml/2006/main">
            <a:pPr algn="l">
              <a:lnSpc>
                <a:spcPct val="116000"/>
              </a:lnSpc>
              <a:buNone/>
              <a:defRPr sz="1400" b="0">
                <a:solidFill>
                  <a:srgbClr val="52606B"/>
                </a:solidFill>
                <a:latin typeface="AppleGothic"/>
                <a:ea typeface="AppleGothic"/>
                <a:cs typeface="AppleGothic"/>
              </a:defRPr>
            </a:pPr>
            <a:r>
              <a:rPr sz="1400" b="0">
                <a:solidFill>
                  <a:srgbClr val="52606B"/>
                </a:solidFill>
                <a:latin typeface="AppleGothic"/>
                <a:ea typeface="AppleGothic"/>
                <a:cs typeface="AppleGothic"/>
              </a:rPr>
              <a:t>데이터 · 모델 적응 · 비교 평가 · 기획서 초안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9C4CFE83-A708-4F88-929C-3AB0C72B85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847850"/>
            <a:ext cx="5715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1800" b="0">
                <a:solidFill>
                  <a:srgbClr val="284B72"/>
                </a:solidFill>
                <a:latin typeface="Menlo"/>
                <a:ea typeface="Menlo"/>
                <a:cs typeface="Menlo"/>
              </a:defRPr>
            </a:defPPr>
          </a:lstStyle>
          <a:p xmlns:a="http://schemas.openxmlformats.org/drawingml/2006/main">
            <a:pPr algn="l">
              <a:lnSpc>
                <a:spcPct val="116000"/>
              </a:lnSpc>
              <a:buNone/>
              <a:defRPr sz="1800" b="0">
                <a:solidFill>
                  <a:srgbClr val="284B72"/>
                </a:solidFill>
                <a:latin typeface="Menlo"/>
                <a:ea typeface="Menlo"/>
                <a:cs typeface="Menlo"/>
              </a:defRPr>
            </a:pPr>
            <a:r>
              <a:rPr sz="1800" b="0">
                <a:solidFill>
                  <a:srgbClr val="284B72"/>
                </a:solidFill>
                <a:latin typeface="Menlo"/>
                <a:ea typeface="Menlo"/>
                <a:cs typeface="Menlo"/>
              </a:rPr>
              <a:t>01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6DE1C703-079B-418A-BDE2-E69F02EB62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90650" y="1828800"/>
            <a:ext cx="3000375" cy="36741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2300" b="1">
                <a:solidFill>
                  <a:srgbClr val="17191B"/>
                </a:solidFill>
                <a:latin typeface="AppleGothic"/>
                <a:ea typeface="AppleGothic"/>
                <a:cs typeface="AppleGothic"/>
              </a:defRPr>
            </a:defPPr>
          </a:lstStyle>
          <a:p xmlns:a="http://schemas.openxmlformats.org/drawingml/2006/main">
            <a:pPr algn="l">
              <a:lnSpc>
                <a:spcPct val="116000"/>
              </a:lnSpc>
              <a:buNone/>
              <a:defRPr sz="2300" b="1">
                <a:solidFill>
                  <a:srgbClr val="17191B"/>
                </a:solidFill>
                <a:latin typeface="AppleGothic"/>
                <a:ea typeface="AppleGothic"/>
                <a:cs typeface="AppleGothic"/>
              </a:defRPr>
            </a:pPr>
            <a:r>
              <a:rPr sz="2300" b="1">
                <a:solidFill>
                  <a:srgbClr val="17191B"/>
                </a:solidFill>
                <a:latin typeface="AppleGothic"/>
                <a:ea typeface="AppleGothic"/>
                <a:cs typeface="AppleGothic"/>
              </a:rPr>
              <a:t>루트 폴더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A9F204AF-C437-473E-BFAF-E365B53BBE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81550" y="1828800"/>
            <a:ext cx="6781800" cy="36741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2100" b="0">
                <a:solidFill>
                  <a:srgbClr val="52606B"/>
                </a:solidFill>
                <a:latin typeface="AppleGothic"/>
                <a:ea typeface="AppleGothic"/>
                <a:cs typeface="AppleGothic"/>
              </a:defRPr>
            </a:defPPr>
          </a:lstStyle>
          <a:p xmlns:a="http://schemas.openxmlformats.org/drawingml/2006/main">
            <a:pPr algn="l">
              <a:lnSpc>
                <a:spcPct val="116000"/>
              </a:lnSpc>
              <a:buNone/>
              <a:defRPr sz="2100" b="0">
                <a:solidFill>
                  <a:srgbClr val="52606B"/>
                </a:solidFill>
                <a:latin typeface="AppleGothic"/>
                <a:ea typeface="AppleGothic"/>
                <a:cs typeface="AppleGothic"/>
              </a:defRPr>
            </a:pPr>
            <a:r>
              <a:rPr sz="2100" b="0">
                <a:solidFill>
                  <a:srgbClr val="52606B"/>
                </a:solidFill>
                <a:latin typeface="AppleGothic"/>
                <a:ea typeface="AppleGothic"/>
                <a:cs typeface="AppleGothic"/>
              </a:rPr>
              <a:t>llmops-16week 전체 열기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E1BD6275-DFE9-4DEE-8F52-98FB0D54A6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90650" y="2329561"/>
            <a:ext cx="1019175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FD5D3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62F0583F-64B8-458D-8324-D89A9E02C6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086100"/>
            <a:ext cx="5715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1800" b="0">
                <a:solidFill>
                  <a:srgbClr val="284B72"/>
                </a:solidFill>
                <a:latin typeface="Menlo"/>
                <a:ea typeface="Menlo"/>
                <a:cs typeface="Menlo"/>
              </a:defRPr>
            </a:defPPr>
          </a:lstStyle>
          <a:p xmlns:a="http://schemas.openxmlformats.org/drawingml/2006/main">
            <a:pPr algn="l">
              <a:lnSpc>
                <a:spcPct val="116000"/>
              </a:lnSpc>
              <a:buNone/>
              <a:defRPr sz="1800" b="0">
                <a:solidFill>
                  <a:srgbClr val="284B72"/>
                </a:solidFill>
                <a:latin typeface="Menlo"/>
                <a:ea typeface="Menlo"/>
                <a:cs typeface="Menlo"/>
              </a:defRPr>
            </a:pPr>
            <a:r>
              <a:rPr sz="1800" b="0">
                <a:solidFill>
                  <a:srgbClr val="284B72"/>
                </a:solidFill>
                <a:latin typeface="Menlo"/>
                <a:ea typeface="Menlo"/>
                <a:cs typeface="Menlo"/>
              </a:rPr>
              <a:t>02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2D0D0533-F35C-4C6D-B94B-EDC9C8230B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90650" y="3067050"/>
            <a:ext cx="3000375" cy="36741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2300" b="1">
                <a:solidFill>
                  <a:srgbClr val="17191B"/>
                </a:solidFill>
                <a:latin typeface="AppleGothic"/>
                <a:ea typeface="AppleGothic"/>
                <a:cs typeface="AppleGothic"/>
              </a:defRPr>
            </a:defPPr>
          </a:lstStyle>
          <a:p xmlns:a="http://schemas.openxmlformats.org/drawingml/2006/main">
            <a:pPr algn="l">
              <a:lnSpc>
                <a:spcPct val="116000"/>
              </a:lnSpc>
              <a:buNone/>
              <a:defRPr sz="2300" b="1">
                <a:solidFill>
                  <a:srgbClr val="17191B"/>
                </a:solidFill>
                <a:latin typeface="AppleGothic"/>
                <a:ea typeface="AppleGothic"/>
                <a:cs typeface="AppleGothic"/>
              </a:defRPr>
            </a:pPr>
            <a:r>
              <a:rPr sz="2300" b="1">
                <a:solidFill>
                  <a:srgbClr val="17191B"/>
                </a:solidFill>
                <a:latin typeface="AppleGothic"/>
                <a:ea typeface="AppleGothic"/>
                <a:cs typeface="AppleGothic"/>
              </a:rPr>
              <a:t>Notebook 커널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CC8A5125-0215-4F62-A5F7-A94A8E9F0C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81550" y="3067050"/>
            <a:ext cx="6781800" cy="36741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2100" b="0">
                <a:solidFill>
                  <a:srgbClr val="52606B"/>
                </a:solidFill>
                <a:latin typeface="AppleGothic"/>
                <a:ea typeface="AppleGothic"/>
                <a:cs typeface="AppleGothic"/>
              </a:defRPr>
            </a:defPPr>
          </a:lstStyle>
          <a:p xmlns:a="http://schemas.openxmlformats.org/drawingml/2006/main">
            <a:pPr algn="l">
              <a:lnSpc>
                <a:spcPct val="116000"/>
              </a:lnSpc>
              <a:buNone/>
              <a:defRPr sz="2100" b="0">
                <a:solidFill>
                  <a:srgbClr val="52606B"/>
                </a:solidFill>
                <a:latin typeface="AppleGothic"/>
                <a:ea typeface="AppleGothic"/>
                <a:cs typeface="AppleGothic"/>
              </a:defRPr>
            </a:pPr>
            <a:r>
              <a:rPr sz="2100" b="0">
                <a:solidFill>
                  <a:srgbClr val="52606B"/>
                </a:solidFill>
                <a:latin typeface="AppleGothic"/>
                <a:ea typeface="AppleGothic"/>
                <a:cs typeface="AppleGothic"/>
              </a:rPr>
              <a:t>Python 3.11 · .venv 선택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9814F1A7-238B-460E-8774-A53ABB2EA1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90650" y="3567811"/>
            <a:ext cx="1019175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FD5D3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4A5C889F-F4B1-4DBD-9A27-9FC6CE3B0C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324350"/>
            <a:ext cx="5715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1800" b="0">
                <a:solidFill>
                  <a:srgbClr val="284B72"/>
                </a:solidFill>
                <a:latin typeface="Menlo"/>
                <a:ea typeface="Menlo"/>
                <a:cs typeface="Menlo"/>
              </a:defRPr>
            </a:defPPr>
          </a:lstStyle>
          <a:p xmlns:a="http://schemas.openxmlformats.org/drawingml/2006/main">
            <a:pPr algn="l">
              <a:lnSpc>
                <a:spcPct val="116000"/>
              </a:lnSpc>
              <a:buNone/>
              <a:defRPr sz="1800" b="0">
                <a:solidFill>
                  <a:srgbClr val="284B72"/>
                </a:solidFill>
                <a:latin typeface="Menlo"/>
                <a:ea typeface="Menlo"/>
                <a:cs typeface="Menlo"/>
              </a:defRPr>
            </a:pPr>
            <a:r>
              <a:rPr sz="1800" b="0">
                <a:solidFill>
                  <a:srgbClr val="284B72"/>
                </a:solidFill>
                <a:latin typeface="Menlo"/>
                <a:ea typeface="Menlo"/>
                <a:cs typeface="Menlo"/>
              </a:rPr>
              <a:t>03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152DD55A-E46D-4936-8DD3-41B69F8740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90650" y="4305300"/>
            <a:ext cx="3000375" cy="36741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2300" b="1">
                <a:solidFill>
                  <a:srgbClr val="17191B"/>
                </a:solidFill>
                <a:latin typeface="AppleGothic"/>
                <a:ea typeface="AppleGothic"/>
                <a:cs typeface="AppleGothic"/>
              </a:defRPr>
            </a:defPPr>
          </a:lstStyle>
          <a:p xmlns:a="http://schemas.openxmlformats.org/drawingml/2006/main">
            <a:pPr algn="l">
              <a:lnSpc>
                <a:spcPct val="116000"/>
              </a:lnSpc>
              <a:buNone/>
              <a:defRPr sz="2300" b="1">
                <a:solidFill>
                  <a:srgbClr val="17191B"/>
                </a:solidFill>
                <a:latin typeface="AppleGothic"/>
                <a:ea typeface="AppleGothic"/>
                <a:cs typeface="AppleGothic"/>
              </a:defRPr>
            </a:pPr>
            <a:r>
              <a:rPr sz="2300" b="1">
                <a:solidFill>
                  <a:srgbClr val="17191B"/>
                </a:solidFill>
                <a:latin typeface="AppleGothic"/>
                <a:ea typeface="AppleGothic"/>
                <a:cs typeface="AppleGothic"/>
              </a:rPr>
              <a:t>셀 실행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19EA6093-5804-490C-B33E-F00068CB5B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81550" y="4305300"/>
            <a:ext cx="6781800" cy="36741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2100" b="0">
                <a:solidFill>
                  <a:srgbClr val="52606B"/>
                </a:solidFill>
                <a:latin typeface="AppleGothic"/>
                <a:ea typeface="AppleGothic"/>
                <a:cs typeface="AppleGothic"/>
              </a:defRPr>
            </a:defPPr>
          </a:lstStyle>
          <a:p xmlns:a="http://schemas.openxmlformats.org/drawingml/2006/main">
            <a:pPr algn="l">
              <a:lnSpc>
                <a:spcPct val="116000"/>
              </a:lnSpc>
              <a:buNone/>
              <a:defRPr sz="2100" b="0">
                <a:solidFill>
                  <a:srgbClr val="52606B"/>
                </a:solidFill>
                <a:latin typeface="AppleGothic"/>
                <a:ea typeface="AppleGothic"/>
                <a:cs typeface="AppleGothic"/>
              </a:defRPr>
            </a:pPr>
            <a:r>
              <a:rPr sz="2100" b="0">
                <a:solidFill>
                  <a:srgbClr val="52606B"/>
                </a:solidFill>
                <a:latin typeface="AppleGothic"/>
                <a:ea typeface="AppleGothic"/>
                <a:cs typeface="AppleGothic"/>
              </a:rPr>
              <a:t>위에서 아래로 · 한 변수 변경·기록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BB768DB4-952E-4A6D-8BEF-46405D6154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90650" y="4806061"/>
            <a:ext cx="1019175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FD5D3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14034446-CF96-40A1-8297-473FDC7275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791200"/>
            <a:ext cx="109728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1600" b="0">
                <a:solidFill>
                  <a:srgbClr val="52606B"/>
                </a:solidFill>
                <a:latin typeface="AppleGothic"/>
                <a:ea typeface="AppleGothic"/>
                <a:cs typeface="AppleGothic"/>
              </a:defRPr>
            </a:defPPr>
          </a:lstStyle>
          <a:p xmlns:a="http://schemas.openxmlformats.org/drawingml/2006/main">
            <a:pPr algn="l">
              <a:lnSpc>
                <a:spcPct val="116000"/>
              </a:lnSpc>
              <a:buNone/>
              <a:defRPr sz="1600" b="0">
                <a:solidFill>
                  <a:srgbClr val="52606B"/>
                </a:solidFill>
                <a:latin typeface="AppleGothic"/>
                <a:ea typeface="AppleGothic"/>
                <a:cs typeface="AppleGothic"/>
              </a:defRPr>
            </a:pPr>
            <a:r>
              <a:rPr sz="1600" b="0">
                <a:solidFill>
                  <a:srgbClr val="52606B"/>
                </a:solidFill>
                <a:latin typeface="AppleGothic"/>
                <a:ea typeface="AppleGothic"/>
                <a:cs typeface="AppleGothic"/>
              </a:rPr>
              <a:t>실행 위치: week07/lab/notebooks · 제출물은 공개 GitHub에 업로드 금지</a:t>
            </a:r>
          </a:p>
        </p:txBody>
      </p:sp>
    </p:spTree>
    <p:extLst>
      <p:ext uri="{BB962C8B-B14F-4D97-AF65-F5344CB8AC3E}">
        <p14:creationId xmlns:p14="http://schemas.microsoft.com/office/powerpoint/2010/main" val="1403184469"/>
      </p:ext>
    </p:extLst>
  </p:cSld>
</p:sld>
</file>

<file path=ppt/slides/slide59.xml><?xml version="1.0" encoding="utf-8"?>
<p:sld xmlns:p="http://schemas.openxmlformats.org/presentationml/2006/main">
  <p:cSld>
    <p:bg>
      <p:bgPr>
        <a:solidFill xmlns:a="http://schemas.openxmlformats.org/drawingml/2006/main">
          <a:srgbClr val="F7F7F5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9396C021-C302-464E-8E7A-AC61D4335B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47650"/>
            <a:ext cx="9525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1400" b="0">
                <a:solidFill>
                  <a:srgbClr val="52606B"/>
                </a:solidFill>
                <a:latin typeface="AppleGothic"/>
                <a:ea typeface="AppleGothic"/>
                <a:cs typeface="AppleGothic"/>
              </a:defRPr>
            </a:defPPr>
          </a:lstStyle>
          <a:p xmlns:a="http://schemas.openxmlformats.org/drawingml/2006/main">
            <a:pPr algn="l">
              <a:lnSpc>
                <a:spcPct val="116000"/>
              </a:lnSpc>
              <a:buNone/>
              <a:defRPr sz="1400" b="0">
                <a:solidFill>
                  <a:srgbClr val="52606B"/>
                </a:solidFill>
                <a:latin typeface="AppleGothic"/>
                <a:ea typeface="AppleGothic"/>
                <a:cs typeface="AppleGothic"/>
              </a:defRPr>
            </a:pPr>
            <a:r>
              <a:rPr sz="1400" b="0">
                <a:solidFill>
                  <a:srgbClr val="52606B"/>
                </a:solidFill>
                <a:latin typeface="AppleGothic"/>
                <a:ea typeface="AppleGothic"/>
                <a:cs typeface="AppleGothic"/>
              </a:rPr>
              <a:t>LLMOPS / W07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648F439C-92C1-4414-885E-743E250850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8500" y="247650"/>
            <a:ext cx="7239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r">
              <a:defRPr sz="1400" b="0">
                <a:solidFill>
                  <a:srgbClr val="52606B"/>
                </a:solidFill>
                <a:latin typeface="Menlo"/>
                <a:ea typeface="Menlo"/>
                <a:cs typeface="Menlo"/>
              </a:defRPr>
            </a:defPPr>
          </a:lstStyle>
          <a:p xmlns:a="http://schemas.openxmlformats.org/drawingml/2006/main">
            <a:pPr algn="r">
              <a:lnSpc>
                <a:spcPct val="116000"/>
              </a:lnSpc>
              <a:buNone/>
              <a:defRPr sz="1400" b="0">
                <a:solidFill>
                  <a:srgbClr val="52606B"/>
                </a:solidFill>
                <a:latin typeface="Menlo"/>
                <a:ea typeface="Menlo"/>
                <a:cs typeface="Menlo"/>
              </a:defRPr>
            </a:pPr>
            <a:r>
              <a:rPr sz="1400" b="0">
                <a:solidFill>
                  <a:srgbClr val="52606B"/>
                </a:solidFill>
                <a:latin typeface="Menlo"/>
                <a:ea typeface="Menlo"/>
                <a:cs typeface="Menlo"/>
              </a:rPr>
              <a:t>59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5C641CD2-1911-4D85-997F-3F83587957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23900"/>
            <a:ext cx="109728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3400" b="1">
                <a:solidFill>
                  <a:srgbClr val="17191B"/>
                </a:solidFill>
                <a:latin typeface="AppleGothic"/>
                <a:ea typeface="AppleGothic"/>
                <a:cs typeface="AppleGothic"/>
              </a:defRPr>
            </a:defPPr>
          </a:lstStyle>
          <a:p xmlns:a="http://schemas.openxmlformats.org/drawingml/2006/main">
            <a:pPr algn="l">
              <a:lnSpc>
                <a:spcPct val="116000"/>
              </a:lnSpc>
              <a:buNone/>
              <a:defRPr sz="3400" b="1">
                <a:solidFill>
                  <a:srgbClr val="17191B"/>
                </a:solidFill>
                <a:latin typeface="AppleGothic"/>
                <a:ea typeface="AppleGothic"/>
                <a:cs typeface="AppleGothic"/>
              </a:defRPr>
            </a:pPr>
            <a:r>
              <a:rPr sz="3400" b="1">
                <a:solidFill>
                  <a:srgbClr val="17191B"/>
                </a:solidFill>
                <a:latin typeface="AppleGothic"/>
                <a:ea typeface="AppleGothic"/>
                <a:cs typeface="AppleGothic"/>
              </a:rPr>
              <a:t>실습 01 · 누출 탐지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EEB2199C-B944-4B1A-B6A2-6A5A6E9443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315075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FD5D3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4AFA850A-7164-43D4-8F16-0D3E98BEA5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77000"/>
            <a:ext cx="109728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1400" b="0">
                <a:solidFill>
                  <a:srgbClr val="52606B"/>
                </a:solidFill>
                <a:latin typeface="AppleGothic"/>
                <a:ea typeface="AppleGothic"/>
                <a:cs typeface="AppleGothic"/>
              </a:defRPr>
            </a:defPPr>
          </a:lstStyle>
          <a:p xmlns:a="http://schemas.openxmlformats.org/drawingml/2006/main">
            <a:pPr algn="l">
              <a:lnSpc>
                <a:spcPct val="116000"/>
              </a:lnSpc>
              <a:buNone/>
              <a:defRPr sz="1400" b="0">
                <a:solidFill>
                  <a:srgbClr val="52606B"/>
                </a:solidFill>
                <a:latin typeface="AppleGothic"/>
                <a:ea typeface="AppleGothic"/>
                <a:cs typeface="AppleGothic"/>
              </a:defRPr>
            </a:pPr>
            <a:r>
              <a:rPr sz="1400" b="0">
                <a:solidFill>
                  <a:srgbClr val="52606B"/>
                </a:solidFill>
                <a:latin typeface="AppleGothic"/>
                <a:ea typeface="AppleGothic"/>
                <a:cs typeface="AppleGothic"/>
              </a:rPr>
              <a:t>데이터 · 모델 적응 · 비교 평가 · 기획서 초안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250A2616-FB49-4D16-8858-EF2422126B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464689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FD5D3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A3881B15-80B9-4A97-890E-BA5317F97B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809750"/>
            <a:ext cx="10477500" cy="426339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2700" b="1">
                <a:solidFill>
                  <a:srgbClr val="17191B"/>
                </a:solidFill>
                <a:latin typeface="AppleGothic"/>
                <a:ea typeface="AppleGothic"/>
                <a:cs typeface="AppleGothic"/>
              </a:defRPr>
            </a:defPPr>
          </a:lstStyle>
          <a:p xmlns:a="http://schemas.openxmlformats.org/drawingml/2006/main">
            <a:pPr algn="l">
              <a:lnSpc>
                <a:spcPct val="116000"/>
              </a:lnSpc>
              <a:buNone/>
              <a:defRPr sz="2700" b="1">
                <a:solidFill>
                  <a:srgbClr val="17191B"/>
                </a:solidFill>
                <a:latin typeface="AppleGothic"/>
                <a:ea typeface="AppleGothic"/>
                <a:cs typeface="AppleGothic"/>
              </a:defRPr>
            </a:pPr>
            <a:r>
              <a:rPr sz="2700" b="1">
                <a:solidFill>
                  <a:srgbClr val="17191B"/>
                </a:solidFill>
                <a:latin typeface="AppleGothic"/>
                <a:ea typeface="AppleGothic"/>
                <a:cs typeface="AppleGothic"/>
              </a:rPr>
              <a:t>정상 48건 → 중복·깨진 JSON 주입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42D82ADF-5262-4FB4-87CD-B6D93AE7FE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883789"/>
            <a:ext cx="10477500" cy="337947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2100" b="0">
                <a:solidFill>
                  <a:srgbClr val="52606B"/>
                </a:solidFill>
                <a:latin typeface="AppleGothic"/>
                <a:ea typeface="AppleGothic"/>
                <a:cs typeface="AppleGothic"/>
              </a:defRPr>
            </a:defPPr>
          </a:lstStyle>
          <a:p xmlns:a="http://schemas.openxmlformats.org/drawingml/2006/main">
            <a:pPr algn="l">
              <a:lnSpc>
                <a:spcPct val="116000"/>
              </a:lnSpc>
              <a:buNone/>
              <a:defRPr sz="2100" b="0">
                <a:solidFill>
                  <a:srgbClr val="52606B"/>
                </a:solidFill>
                <a:latin typeface="AppleGothic"/>
                <a:ea typeface="AppleGothic"/>
                <a:cs typeface="AppleGothic"/>
              </a:defRPr>
            </a:pPr>
            <a:r>
              <a:rPr sz="2100" b="0">
                <a:solidFill>
                  <a:srgbClr val="52606B"/>
                </a:solidFill>
                <a:latin typeface="AppleGothic"/>
                <a:ea typeface="AppleGothic"/>
                <a:cs typeface="AppleGothic"/>
              </a:rPr>
              <a:t>문장 단위 분할: 24사건 모두 교차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C8518A1F-EEC2-430F-978B-BA2F6FB81E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526536"/>
            <a:ext cx="10477500" cy="337947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2100" b="0">
                <a:solidFill>
                  <a:srgbClr val="52606B"/>
                </a:solidFill>
                <a:latin typeface="AppleGothic"/>
                <a:ea typeface="AppleGothic"/>
                <a:cs typeface="AppleGothic"/>
              </a:defRPr>
            </a:defPPr>
          </a:lstStyle>
          <a:p xmlns:a="http://schemas.openxmlformats.org/drawingml/2006/main">
            <a:pPr algn="l">
              <a:lnSpc>
                <a:spcPct val="116000"/>
              </a:lnSpc>
              <a:buNone/>
              <a:defRPr sz="2100" b="0">
                <a:solidFill>
                  <a:srgbClr val="52606B"/>
                </a:solidFill>
                <a:latin typeface="AppleGothic"/>
                <a:ea typeface="AppleGothic"/>
                <a:cs typeface="AppleGothic"/>
              </a:defRPr>
            </a:pPr>
            <a:r>
              <a:rPr sz="2100" b="0">
                <a:solidFill>
                  <a:srgbClr val="52606B"/>
                </a:solidFill>
                <a:latin typeface="AppleGothic"/>
                <a:ea typeface="AppleGothic"/>
                <a:cs typeface="AppleGothic"/>
              </a:rPr>
              <a:t>사건 단위 분할: 교차 사건 없음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311D5AC4-A124-4C1F-9DDC-BFAFC136F0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791200"/>
            <a:ext cx="109728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1600" b="0">
                <a:solidFill>
                  <a:srgbClr val="52606B"/>
                </a:solidFill>
                <a:latin typeface="AppleGothic"/>
                <a:ea typeface="AppleGothic"/>
                <a:cs typeface="AppleGothic"/>
              </a:defRPr>
            </a:defPPr>
          </a:lstStyle>
          <a:p xmlns:a="http://schemas.openxmlformats.org/drawingml/2006/main">
            <a:pPr algn="l">
              <a:lnSpc>
                <a:spcPct val="116000"/>
              </a:lnSpc>
              <a:buNone/>
              <a:defRPr sz="1600" b="0">
                <a:solidFill>
                  <a:srgbClr val="52606B"/>
                </a:solidFill>
                <a:latin typeface="AppleGothic"/>
                <a:ea typeface="AppleGothic"/>
                <a:cs typeface="AppleGothic"/>
              </a:defRPr>
            </a:pPr>
            <a:r>
              <a:rPr sz="1600" b="0">
                <a:solidFill>
                  <a:srgbClr val="52606B"/>
                </a:solidFill>
                <a:latin typeface="AppleGothic"/>
                <a:ea typeface="AppleGothic"/>
                <a:cs typeface="AppleGothic"/>
              </a:rPr>
              <a:t>핵심 셀: 문장 분할의 위험 → 사례 단위 분할 → 누출 탐지</a:t>
            </a:r>
          </a:p>
        </p:txBody>
      </p:sp>
    </p:spTree>
    <p:extLst>
      <p:ext uri="{BB962C8B-B14F-4D97-AF65-F5344CB8AC3E}">
        <p14:creationId xmlns:p14="http://schemas.microsoft.com/office/powerpoint/2010/main" val="384654338"/>
      </p:ext>
    </p:extLst>
  </p:cSld>
</p:sld>
</file>

<file path=ppt/slides/slide60.xml><?xml version="1.0" encoding="utf-8"?>
<p:sld xmlns:p="http://schemas.openxmlformats.org/presentationml/2006/main">
  <p:cSld>
    <p:bg>
      <p:bgPr>
        <a:solidFill xmlns:a="http://schemas.openxmlformats.org/drawingml/2006/main">
          <a:srgbClr val="F7F7F5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4BD2706E-1F01-4D0A-B3F8-3194F7F643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47650"/>
            <a:ext cx="9525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1400" b="0">
                <a:solidFill>
                  <a:srgbClr val="52606B"/>
                </a:solidFill>
                <a:latin typeface="AppleGothic"/>
                <a:ea typeface="AppleGothic"/>
                <a:cs typeface="AppleGothic"/>
              </a:defRPr>
            </a:defPPr>
          </a:lstStyle>
          <a:p xmlns:a="http://schemas.openxmlformats.org/drawingml/2006/main">
            <a:pPr algn="l">
              <a:lnSpc>
                <a:spcPct val="116000"/>
              </a:lnSpc>
              <a:buNone/>
              <a:defRPr sz="1400" b="0">
                <a:solidFill>
                  <a:srgbClr val="52606B"/>
                </a:solidFill>
                <a:latin typeface="AppleGothic"/>
                <a:ea typeface="AppleGothic"/>
                <a:cs typeface="AppleGothic"/>
              </a:defRPr>
            </a:pPr>
            <a:r>
              <a:rPr sz="1400" b="0">
                <a:solidFill>
                  <a:srgbClr val="52606B"/>
                </a:solidFill>
                <a:latin typeface="AppleGothic"/>
                <a:ea typeface="AppleGothic"/>
                <a:cs typeface="AppleGothic"/>
              </a:rPr>
              <a:t>LLMOPS / W07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03579AB3-C736-4652-A946-F87F739F01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8500" y="247650"/>
            <a:ext cx="7239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r">
              <a:defRPr sz="1400" b="0">
                <a:solidFill>
                  <a:srgbClr val="52606B"/>
                </a:solidFill>
                <a:latin typeface="Menlo"/>
                <a:ea typeface="Menlo"/>
                <a:cs typeface="Menlo"/>
              </a:defRPr>
            </a:defPPr>
          </a:lstStyle>
          <a:p xmlns:a="http://schemas.openxmlformats.org/drawingml/2006/main">
            <a:pPr algn="r">
              <a:lnSpc>
                <a:spcPct val="116000"/>
              </a:lnSpc>
              <a:buNone/>
              <a:defRPr sz="1400" b="0">
                <a:solidFill>
                  <a:srgbClr val="52606B"/>
                </a:solidFill>
                <a:latin typeface="Menlo"/>
                <a:ea typeface="Menlo"/>
                <a:cs typeface="Menlo"/>
              </a:defRPr>
            </a:pPr>
            <a:r>
              <a:rPr sz="1400" b="0">
                <a:solidFill>
                  <a:srgbClr val="52606B"/>
                </a:solidFill>
                <a:latin typeface="Menlo"/>
                <a:ea typeface="Menlo"/>
                <a:cs typeface="Menlo"/>
              </a:rPr>
              <a:t>60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1F1D1C69-2E48-4B75-A4E2-5F4FD0EEC2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23900"/>
            <a:ext cx="109728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3400" b="1">
                <a:solidFill>
                  <a:srgbClr val="17191B"/>
                </a:solidFill>
                <a:latin typeface="AppleGothic"/>
                <a:ea typeface="AppleGothic"/>
                <a:cs typeface="AppleGothic"/>
              </a:defRPr>
            </a:defPPr>
          </a:lstStyle>
          <a:p xmlns:a="http://schemas.openxmlformats.org/drawingml/2006/main">
            <a:pPr algn="l">
              <a:lnSpc>
                <a:spcPct val="116000"/>
              </a:lnSpc>
              <a:buNone/>
              <a:defRPr sz="3400" b="1">
                <a:solidFill>
                  <a:srgbClr val="17191B"/>
                </a:solidFill>
                <a:latin typeface="AppleGothic"/>
                <a:ea typeface="AppleGothic"/>
                <a:cs typeface="AppleGothic"/>
              </a:defRPr>
            </a:pPr>
            <a:r>
              <a:rPr sz="3400" b="1">
                <a:solidFill>
                  <a:srgbClr val="17191B"/>
                </a:solidFill>
                <a:latin typeface="AppleGothic"/>
                <a:ea typeface="AppleGothic"/>
                <a:cs typeface="AppleGothic"/>
              </a:rPr>
              <a:t>실습 01 · 검증 코드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3F984C6A-6A99-4A57-8E6B-BD75A47D77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315075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FD5D3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08E1A35B-00EE-423D-BE0A-EBACD4F3ED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77000"/>
            <a:ext cx="109728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1400" b="0">
                <a:solidFill>
                  <a:srgbClr val="52606B"/>
                </a:solidFill>
                <a:latin typeface="AppleGothic"/>
                <a:ea typeface="AppleGothic"/>
                <a:cs typeface="AppleGothic"/>
              </a:defRPr>
            </a:defPPr>
          </a:lstStyle>
          <a:p xmlns:a="http://schemas.openxmlformats.org/drawingml/2006/main">
            <a:pPr algn="l">
              <a:lnSpc>
                <a:spcPct val="116000"/>
              </a:lnSpc>
              <a:buNone/>
              <a:defRPr sz="1400" b="0">
                <a:solidFill>
                  <a:srgbClr val="52606B"/>
                </a:solidFill>
                <a:latin typeface="AppleGothic"/>
                <a:ea typeface="AppleGothic"/>
                <a:cs typeface="AppleGothic"/>
              </a:defRPr>
            </a:pPr>
            <a:r>
              <a:rPr sz="1400" b="0">
                <a:solidFill>
                  <a:srgbClr val="52606B"/>
                </a:solidFill>
                <a:latin typeface="AppleGothic"/>
                <a:ea typeface="AppleGothic"/>
                <a:cs typeface="AppleGothic"/>
              </a:rPr>
              <a:t>데이터 · 모델 적응 · 비교 평가 · 기획서 초안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D9AB3232-06C7-42F8-972F-EF22071E24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981200"/>
            <a:ext cx="10972800" cy="178231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283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093E63B6-940F-462F-A248-1169886CE3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2286000"/>
            <a:ext cx="10477500" cy="121081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1800" b="0">
                <a:solidFill>
                  <a:srgbClr val="FFFFFF"/>
                </a:solidFill>
                <a:latin typeface="Menlo"/>
                <a:ea typeface="Menlo"/>
                <a:cs typeface="Menlo"/>
              </a:defRPr>
            </a:defPPr>
          </a:lstStyle>
          <a:p xmlns:a="http://schemas.openxmlformats.org/drawingml/2006/main">
            <a:pPr algn="l">
              <a:lnSpc>
                <a:spcPct val="116000"/>
              </a:lnSpc>
              <a:buNone/>
              <a:defRPr sz="1800" b="0">
                <a:solidFill>
                  <a:srgbClr val="FFFFFF"/>
                </a:solidFill>
                <a:latin typeface="Menlo"/>
                <a:ea typeface="Menlo"/>
                <a:cs typeface="Menlo"/>
              </a:defRPr>
            </a:pPr>
            <a:r>
              <a:rPr sz="1800" b="0">
                <a:solidFill>
                  <a:srgbClr val="FFFFFF"/>
                </a:solidFill>
                <a:latin typeface="Menlo"/>
                <a:ea typeface="Menlo"/>
                <a:cs typeface="Menlo"/>
              </a:rPr>
              <a:t>data = examples()</a:t>
            </a:r>
          </a:p>
          <a:p xmlns:a="http://schemas.openxmlformats.org/drawingml/2006/main">
            <a:pPr algn="l">
              <a:lnSpc>
                <a:spcPct val="116000"/>
              </a:lnSpc>
              <a:buNone/>
              <a:defRPr sz="1800" b="0">
                <a:solidFill>
                  <a:srgbClr val="FFFFFF"/>
                </a:solidFill>
                <a:latin typeface="Menlo"/>
                <a:ea typeface="Menlo"/>
                <a:cs typeface="Menlo"/>
              </a:defRPr>
            </a:pPr>
            <a:r>
              <a:rPr sz="1800" b="0">
                <a:solidFill>
                  <a:srgbClr val="FFFFFF"/>
                </a:solidFill>
                <a:latin typeface="Menlo"/>
                <a:ea typeface="Menlo"/>
                <a:cs typeface="Menlo"/>
              </a:rPr>
              <a:t>splits = split_groups(data, seed=42)</a:t>
            </a:r>
          </a:p>
          <a:p xmlns:a="http://schemas.openxmlformats.org/drawingml/2006/main">
            <a:pPr algn="l">
              <a:lnSpc>
                <a:spcPct val="116000"/>
              </a:lnSpc>
              <a:buNone/>
              <a:defRPr sz="1800" b="0">
                <a:solidFill>
                  <a:srgbClr val="FFFFFF"/>
                </a:solidFill>
                <a:latin typeface="Menlo"/>
                <a:ea typeface="Menlo"/>
                <a:cs typeface="Menlo"/>
              </a:defRPr>
            </a:pPr>
            <a:r>
              <a:rPr sz="1800" b="0">
                <a:solidFill>
                  <a:srgbClr val="FFFFFF"/>
                </a:solidFill>
                <a:latin typeface="Menlo"/>
                <a:ea typeface="Menlo"/>
                <a:cs typeface="Menlo"/>
              </a:rPr>
              <a:t>assert not leakage(splits)</a:t>
            </a:r>
          </a:p>
          <a:p xmlns:a="http://schemas.openxmlformats.org/drawingml/2006/main">
            <a:pPr algn="l">
              <a:lnSpc>
                <a:spcPct val="116000"/>
              </a:lnSpc>
              <a:buNone/>
              <a:defRPr sz="1800" b="0">
                <a:solidFill>
                  <a:srgbClr val="FFFFFF"/>
                </a:solidFill>
                <a:latin typeface="Menlo"/>
                <a:ea typeface="Menlo"/>
                <a:cs typeface="Menlo"/>
              </a:defRPr>
            </a:pPr>
            <a:r>
              <a:rPr sz="1800" b="0">
                <a:solidFill>
                  <a:srgbClr val="FFFFFF"/>
                </a:solidFill>
                <a:latin typeface="Menlo"/>
                <a:ea typeface="Menlo"/>
                <a:cs typeface="Menlo"/>
              </a:rPr>
              <a:t>print({k: len(v) for k, v in splits.items()})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08E1462B-B4D7-4C4D-B438-83EB041453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791200"/>
            <a:ext cx="109728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1600" b="0">
                <a:solidFill>
                  <a:srgbClr val="52606B"/>
                </a:solidFill>
                <a:latin typeface="AppleGothic"/>
                <a:ea typeface="AppleGothic"/>
                <a:cs typeface="AppleGothic"/>
              </a:defRPr>
            </a:defPPr>
          </a:lstStyle>
          <a:p xmlns:a="http://schemas.openxmlformats.org/drawingml/2006/main">
            <a:pPr algn="l">
              <a:lnSpc>
                <a:spcPct val="116000"/>
              </a:lnSpc>
              <a:buNone/>
              <a:defRPr sz="1600" b="0">
                <a:solidFill>
                  <a:srgbClr val="52606B"/>
                </a:solidFill>
                <a:latin typeface="AppleGothic"/>
                <a:ea typeface="AppleGothic"/>
                <a:cs typeface="AppleGothic"/>
              </a:defRPr>
            </a:pPr>
            <a:r>
              <a:rPr sz="1600" b="0">
                <a:solidFill>
                  <a:srgbClr val="52606B"/>
                </a:solidFill>
                <a:latin typeface="AppleGothic"/>
                <a:ea typeface="AppleGothic"/>
                <a:cs typeface="AppleGothic"/>
              </a:rPr>
              <a:t>예상 문장 수: train32 · dev8 · test8</a:t>
            </a:r>
          </a:p>
        </p:txBody>
      </p:sp>
    </p:spTree>
    <p:extLst>
      <p:ext uri="{BB962C8B-B14F-4D97-AF65-F5344CB8AC3E}">
        <p14:creationId xmlns:p14="http://schemas.microsoft.com/office/powerpoint/2010/main" val="1157897984"/>
      </p:ext>
    </p:extLst>
  </p:cSld>
</p:sld>
</file>

<file path=ppt/slides/slide61.xml><?xml version="1.0" encoding="utf-8"?>
<p:sld xmlns:p="http://schemas.openxmlformats.org/presentationml/2006/main">
  <p:cSld>
    <p:bg>
      <p:bgPr>
        <a:solidFill xmlns:a="http://schemas.openxmlformats.org/drawingml/2006/main">
          <a:srgbClr val="F7F7F5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AAD7ECD9-59A3-4CCB-96BC-35840650A1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47650"/>
            <a:ext cx="9525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1400" b="0">
                <a:solidFill>
                  <a:srgbClr val="52606B"/>
                </a:solidFill>
                <a:latin typeface="AppleGothic"/>
                <a:ea typeface="AppleGothic"/>
                <a:cs typeface="AppleGothic"/>
              </a:defRPr>
            </a:defPPr>
          </a:lstStyle>
          <a:p xmlns:a="http://schemas.openxmlformats.org/drawingml/2006/main">
            <a:pPr algn="l">
              <a:lnSpc>
                <a:spcPct val="116000"/>
              </a:lnSpc>
              <a:buNone/>
              <a:defRPr sz="1400" b="0">
                <a:solidFill>
                  <a:srgbClr val="52606B"/>
                </a:solidFill>
                <a:latin typeface="AppleGothic"/>
                <a:ea typeface="AppleGothic"/>
                <a:cs typeface="AppleGothic"/>
              </a:defRPr>
            </a:pPr>
            <a:r>
              <a:rPr sz="1400" b="0">
                <a:solidFill>
                  <a:srgbClr val="52606B"/>
                </a:solidFill>
                <a:latin typeface="AppleGothic"/>
                <a:ea typeface="AppleGothic"/>
                <a:cs typeface="AppleGothic"/>
              </a:rPr>
              <a:t>LLMOPS / W07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7770B72B-4525-411C-973C-12599FB9B2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8500" y="247650"/>
            <a:ext cx="7239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r">
              <a:defRPr sz="1400" b="0">
                <a:solidFill>
                  <a:srgbClr val="52606B"/>
                </a:solidFill>
                <a:latin typeface="Menlo"/>
                <a:ea typeface="Menlo"/>
                <a:cs typeface="Menlo"/>
              </a:defRPr>
            </a:defPPr>
          </a:lstStyle>
          <a:p xmlns:a="http://schemas.openxmlformats.org/drawingml/2006/main">
            <a:pPr algn="r">
              <a:lnSpc>
                <a:spcPct val="116000"/>
              </a:lnSpc>
              <a:buNone/>
              <a:defRPr sz="1400" b="0">
                <a:solidFill>
                  <a:srgbClr val="52606B"/>
                </a:solidFill>
                <a:latin typeface="Menlo"/>
                <a:ea typeface="Menlo"/>
                <a:cs typeface="Menlo"/>
              </a:defRPr>
            </a:pPr>
            <a:r>
              <a:rPr sz="1400" b="0">
                <a:solidFill>
                  <a:srgbClr val="52606B"/>
                </a:solidFill>
                <a:latin typeface="Menlo"/>
                <a:ea typeface="Menlo"/>
                <a:cs typeface="Menlo"/>
              </a:rPr>
              <a:t>61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3CBFD1CB-4FED-4432-8A24-A1C6A4AD3E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23900"/>
            <a:ext cx="109728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3400" b="1">
                <a:solidFill>
                  <a:srgbClr val="17191B"/>
                </a:solidFill>
                <a:latin typeface="AppleGothic"/>
                <a:ea typeface="AppleGothic"/>
                <a:cs typeface="AppleGothic"/>
              </a:defRPr>
            </a:defPPr>
          </a:lstStyle>
          <a:p xmlns:a="http://schemas.openxmlformats.org/drawingml/2006/main">
            <a:pPr algn="l">
              <a:lnSpc>
                <a:spcPct val="116000"/>
              </a:lnSpc>
              <a:buNone/>
              <a:defRPr sz="3400" b="1">
                <a:solidFill>
                  <a:srgbClr val="17191B"/>
                </a:solidFill>
                <a:latin typeface="AppleGothic"/>
                <a:ea typeface="AppleGothic"/>
                <a:cs typeface="AppleGothic"/>
              </a:defRPr>
            </a:pPr>
            <a:r>
              <a:rPr sz="3400" b="1">
                <a:solidFill>
                  <a:srgbClr val="17191B"/>
                </a:solidFill>
                <a:latin typeface="AppleGothic"/>
                <a:ea typeface="AppleGothic"/>
                <a:cs typeface="AppleGothic"/>
              </a:rPr>
              <a:t>실습 02 · rank의 비교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D9819BE6-C1FA-4424-A430-460C9BEC04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315075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FD5D3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4E30F7AC-4FF9-4105-A867-1E37D9F437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77000"/>
            <a:ext cx="109728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1400" b="0">
                <a:solidFill>
                  <a:srgbClr val="52606B"/>
                </a:solidFill>
                <a:latin typeface="AppleGothic"/>
                <a:ea typeface="AppleGothic"/>
                <a:cs typeface="AppleGothic"/>
              </a:defRPr>
            </a:defPPr>
          </a:lstStyle>
          <a:p xmlns:a="http://schemas.openxmlformats.org/drawingml/2006/main">
            <a:pPr algn="l">
              <a:lnSpc>
                <a:spcPct val="116000"/>
              </a:lnSpc>
              <a:buNone/>
              <a:defRPr sz="1400" b="0">
                <a:solidFill>
                  <a:srgbClr val="52606B"/>
                </a:solidFill>
                <a:latin typeface="AppleGothic"/>
                <a:ea typeface="AppleGothic"/>
                <a:cs typeface="AppleGothic"/>
              </a:defRPr>
            </a:pPr>
            <a:r>
              <a:rPr sz="1400" b="0">
                <a:solidFill>
                  <a:srgbClr val="52606B"/>
                </a:solidFill>
                <a:latin typeface="AppleGothic"/>
                <a:ea typeface="AppleGothic"/>
                <a:cs typeface="AppleGothic"/>
              </a:rPr>
              <a:t>데이터 · 모델 적응 · 비교 평가 · 기획서 초안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B753A786-F066-4656-AB3C-FD4FEB7697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464689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FD5D3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16328759-50DE-40AE-B544-3D658878FD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809750"/>
            <a:ext cx="10477500" cy="426339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2700" b="1">
                <a:solidFill>
                  <a:srgbClr val="17191B"/>
                </a:solidFill>
                <a:latin typeface="AppleGothic"/>
                <a:ea typeface="AppleGothic"/>
                <a:cs typeface="AppleGothic"/>
              </a:defRPr>
            </a:defPPr>
          </a:lstStyle>
          <a:p xmlns:a="http://schemas.openxmlformats.org/drawingml/2006/main">
            <a:pPr algn="l">
              <a:lnSpc>
                <a:spcPct val="116000"/>
              </a:lnSpc>
              <a:buNone/>
              <a:defRPr sz="2700" b="1">
                <a:solidFill>
                  <a:srgbClr val="17191B"/>
                </a:solidFill>
                <a:latin typeface="AppleGothic"/>
                <a:ea typeface="AppleGothic"/>
                <a:cs typeface="AppleGothic"/>
              </a:defRPr>
            </a:pPr>
            <a:r>
              <a:rPr sz="2700" b="1">
                <a:solidFill>
                  <a:srgbClr val="17191B"/>
                </a:solidFill>
                <a:latin typeface="AppleGothic"/>
                <a:ea typeface="AppleGothic"/>
                <a:cs typeface="AppleGothic"/>
              </a:rPr>
              <a:t>rank 1·2·4·8의 근사 오차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2697B641-DD58-4489-8C23-239392A5A7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883789"/>
            <a:ext cx="10477500" cy="337947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2100" b="0">
                <a:solidFill>
                  <a:srgbClr val="52606B"/>
                </a:solidFill>
                <a:latin typeface="AppleGothic"/>
                <a:ea typeface="AppleGothic"/>
                <a:cs typeface="AppleGothic"/>
              </a:defRPr>
            </a:defPPr>
          </a:lstStyle>
          <a:p xmlns:a="http://schemas.openxmlformats.org/drawingml/2006/main">
            <a:pPr algn="l">
              <a:lnSpc>
                <a:spcPct val="116000"/>
              </a:lnSpc>
              <a:buNone/>
              <a:defRPr sz="2100" b="0">
                <a:solidFill>
                  <a:srgbClr val="52606B"/>
                </a:solidFill>
                <a:latin typeface="AppleGothic"/>
                <a:ea typeface="AppleGothic"/>
                <a:cs typeface="AppleGothic"/>
              </a:defRPr>
            </a:pPr>
            <a:r>
              <a:rPr sz="2100" b="0">
                <a:solidFill>
                  <a:srgbClr val="52606B"/>
                </a:solidFill>
                <a:latin typeface="AppleGothic"/>
                <a:ea typeface="AppleGothic"/>
                <a:cs typeface="AppleGothic"/>
              </a:rPr>
              <a:t>전체 96개와 두 행렬 파라미터 수 비교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2E85D1A2-94D6-4E18-979C-7F9DA44A57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526536"/>
            <a:ext cx="10477500" cy="337947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2100" b="0">
                <a:solidFill>
                  <a:srgbClr val="52606B"/>
                </a:solidFill>
                <a:latin typeface="AppleGothic"/>
                <a:ea typeface="AppleGothic"/>
                <a:cs typeface="AppleGothic"/>
              </a:defRPr>
            </a:defPPr>
          </a:lstStyle>
          <a:p xmlns:a="http://schemas.openxmlformats.org/drawingml/2006/main">
            <a:pPr algn="l">
              <a:lnSpc>
                <a:spcPct val="116000"/>
              </a:lnSpc>
              <a:buNone/>
              <a:defRPr sz="2100" b="0">
                <a:solidFill>
                  <a:srgbClr val="52606B"/>
                </a:solidFill>
                <a:latin typeface="AppleGothic"/>
                <a:ea typeface="AppleGothic"/>
                <a:cs typeface="AppleGothic"/>
              </a:defRPr>
            </a:pPr>
            <a:r>
              <a:rPr sz="2100" b="0">
                <a:solidFill>
                  <a:srgbClr val="52606B"/>
                </a:solidFill>
                <a:latin typeface="AppleGothic"/>
                <a:ea typeface="AppleGothic"/>
                <a:cs typeface="AppleGothic"/>
              </a:rPr>
              <a:t>원본 가중치 고정 여부를 assert로 확인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413024B9-0092-42D8-AF6C-2A5E0FC18B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791200"/>
            <a:ext cx="109728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1600" b="0">
                <a:solidFill>
                  <a:srgbClr val="52606B"/>
                </a:solidFill>
                <a:latin typeface="AppleGothic"/>
                <a:ea typeface="AppleGothic"/>
                <a:cs typeface="AppleGothic"/>
              </a:defRPr>
            </a:defPPr>
          </a:lstStyle>
          <a:p xmlns:a="http://schemas.openxmlformats.org/drawingml/2006/main">
            <a:pPr algn="l">
              <a:lnSpc>
                <a:spcPct val="116000"/>
              </a:lnSpc>
              <a:buNone/>
              <a:defRPr sz="1600" b="0">
                <a:solidFill>
                  <a:srgbClr val="52606B"/>
                </a:solidFill>
                <a:latin typeface="AppleGothic"/>
                <a:ea typeface="AppleGothic"/>
                <a:cs typeface="AppleGothic"/>
              </a:defRPr>
            </a:pPr>
            <a:r>
              <a:rPr sz="1600" b="0">
                <a:solidFill>
                  <a:srgbClr val="52606B"/>
                </a:solidFill>
                <a:latin typeface="AppleGothic"/>
                <a:ea typeface="AppleGothic"/>
                <a:cs typeface="AppleGothic"/>
              </a:rPr>
              <a:t>핵심 셀: rank 2 → 근사 오차 → rank 시각화 → 비용 계산</a:t>
            </a:r>
          </a:p>
        </p:txBody>
      </p:sp>
    </p:spTree>
    <p:extLst>
      <p:ext uri="{BB962C8B-B14F-4D97-AF65-F5344CB8AC3E}">
        <p14:creationId xmlns:p14="http://schemas.microsoft.com/office/powerpoint/2010/main" val="1004819663"/>
      </p:ext>
    </p:extLst>
  </p:cSld>
</p:sld>
</file>

<file path=ppt/slides/slide62.xml><?xml version="1.0" encoding="utf-8"?>
<p:sld xmlns:p="http://schemas.openxmlformats.org/presentationml/2006/main">
  <p:cSld>
    <p:bg>
      <p:bgPr>
        <a:solidFill xmlns:a="http://schemas.openxmlformats.org/drawingml/2006/main">
          <a:srgbClr val="F7F7F5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39376141-F679-450F-9862-142EE58BB9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47650"/>
            <a:ext cx="9525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1400" b="0">
                <a:solidFill>
                  <a:srgbClr val="52606B"/>
                </a:solidFill>
                <a:latin typeface="AppleGothic"/>
                <a:ea typeface="AppleGothic"/>
                <a:cs typeface="AppleGothic"/>
              </a:defRPr>
            </a:defPPr>
          </a:lstStyle>
          <a:p xmlns:a="http://schemas.openxmlformats.org/drawingml/2006/main">
            <a:pPr algn="l">
              <a:lnSpc>
                <a:spcPct val="116000"/>
              </a:lnSpc>
              <a:buNone/>
              <a:defRPr sz="1400" b="0">
                <a:solidFill>
                  <a:srgbClr val="52606B"/>
                </a:solidFill>
                <a:latin typeface="AppleGothic"/>
                <a:ea typeface="AppleGothic"/>
                <a:cs typeface="AppleGothic"/>
              </a:defRPr>
            </a:pPr>
            <a:r>
              <a:rPr sz="1400" b="0">
                <a:solidFill>
                  <a:srgbClr val="52606B"/>
                </a:solidFill>
                <a:latin typeface="AppleGothic"/>
                <a:ea typeface="AppleGothic"/>
                <a:cs typeface="AppleGothic"/>
              </a:rPr>
              <a:t>LLMOPS / W07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E6848A41-8DAA-4D54-80A2-C38246337A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8500" y="247650"/>
            <a:ext cx="7239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r">
              <a:defRPr sz="1400" b="0">
                <a:solidFill>
                  <a:srgbClr val="52606B"/>
                </a:solidFill>
                <a:latin typeface="Menlo"/>
                <a:ea typeface="Menlo"/>
                <a:cs typeface="Menlo"/>
              </a:defRPr>
            </a:defPPr>
          </a:lstStyle>
          <a:p xmlns:a="http://schemas.openxmlformats.org/drawingml/2006/main">
            <a:pPr algn="r">
              <a:lnSpc>
                <a:spcPct val="116000"/>
              </a:lnSpc>
              <a:buNone/>
              <a:defRPr sz="1400" b="0">
                <a:solidFill>
                  <a:srgbClr val="52606B"/>
                </a:solidFill>
                <a:latin typeface="Menlo"/>
                <a:ea typeface="Menlo"/>
                <a:cs typeface="Menlo"/>
              </a:defRPr>
            </a:pPr>
            <a:r>
              <a:rPr sz="1400" b="0">
                <a:solidFill>
                  <a:srgbClr val="52606B"/>
                </a:solidFill>
                <a:latin typeface="Menlo"/>
                <a:ea typeface="Menlo"/>
                <a:cs typeface="Menlo"/>
              </a:rPr>
              <a:t>62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189DBB5D-3B22-4845-8F44-1F8182E2FE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23900"/>
            <a:ext cx="109728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3400" b="1">
                <a:solidFill>
                  <a:srgbClr val="17191B"/>
                </a:solidFill>
                <a:latin typeface="AppleGothic"/>
                <a:ea typeface="AppleGothic"/>
                <a:cs typeface="AppleGothic"/>
              </a:defRPr>
            </a:defPPr>
          </a:lstStyle>
          <a:p xmlns:a="http://schemas.openxmlformats.org/drawingml/2006/main">
            <a:pPr algn="l">
              <a:lnSpc>
                <a:spcPct val="116000"/>
              </a:lnSpc>
              <a:buNone/>
              <a:defRPr sz="3400" b="1">
                <a:solidFill>
                  <a:srgbClr val="17191B"/>
                </a:solidFill>
                <a:latin typeface="AppleGothic"/>
                <a:ea typeface="AppleGothic"/>
                <a:cs typeface="AppleGothic"/>
              </a:defRPr>
            </a:pPr>
            <a:r>
              <a:rPr sz="3400" b="1">
                <a:solidFill>
                  <a:srgbClr val="17191B"/>
                </a:solidFill>
                <a:latin typeface="AppleGothic"/>
                <a:ea typeface="AppleGothic"/>
                <a:cs typeface="AppleGothic"/>
              </a:rPr>
              <a:t>실습 03 · 선호 손실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3669E659-0924-4D67-939D-99058CB63C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315075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FD5D3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C516BCFF-9421-4001-A91B-6872A12129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77000"/>
            <a:ext cx="109728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1400" b="0">
                <a:solidFill>
                  <a:srgbClr val="52606B"/>
                </a:solidFill>
                <a:latin typeface="AppleGothic"/>
                <a:ea typeface="AppleGothic"/>
                <a:cs typeface="AppleGothic"/>
              </a:defRPr>
            </a:defPPr>
          </a:lstStyle>
          <a:p xmlns:a="http://schemas.openxmlformats.org/drawingml/2006/main">
            <a:pPr algn="l">
              <a:lnSpc>
                <a:spcPct val="116000"/>
              </a:lnSpc>
              <a:buNone/>
              <a:defRPr sz="1400" b="0">
                <a:solidFill>
                  <a:srgbClr val="52606B"/>
                </a:solidFill>
                <a:latin typeface="AppleGothic"/>
                <a:ea typeface="AppleGothic"/>
                <a:cs typeface="AppleGothic"/>
              </a:defRPr>
            </a:pPr>
            <a:r>
              <a:rPr sz="1400" b="0">
                <a:solidFill>
                  <a:srgbClr val="52606B"/>
                </a:solidFill>
                <a:latin typeface="AppleGothic"/>
                <a:ea typeface="AppleGothic"/>
                <a:cs typeface="AppleGothic"/>
              </a:rPr>
              <a:t>데이터 · 모델 적응 · 비교 평가 · 기획서 초안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15591712-3A50-4AC8-BC57-92AAC8551A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464689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FD5D3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576D541A-0201-4AE0-ACEA-8020334232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809750"/>
            <a:ext cx="10477500" cy="426339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2700" b="1">
                <a:solidFill>
                  <a:srgbClr val="17191B"/>
                </a:solidFill>
                <a:latin typeface="AppleGothic"/>
                <a:ea typeface="AppleGothic"/>
                <a:cs typeface="AppleGothic"/>
              </a:defRPr>
            </a:defPPr>
          </a:lstStyle>
          <a:p xmlns:a="http://schemas.openxmlformats.org/drawingml/2006/main">
            <a:pPr algn="l">
              <a:lnSpc>
                <a:spcPct val="116000"/>
              </a:lnSpc>
              <a:buNone/>
              <a:defRPr sz="2700" b="1">
                <a:solidFill>
                  <a:srgbClr val="17191B"/>
                </a:solidFill>
                <a:latin typeface="AppleGothic"/>
                <a:ea typeface="AppleGothic"/>
                <a:cs typeface="AppleGothic"/>
              </a:defRPr>
            </a:pPr>
            <a:r>
              <a:rPr sz="2700" b="1">
                <a:solidFill>
                  <a:srgbClr val="17191B"/>
                </a:solidFill>
                <a:latin typeface="AppleGothic"/>
                <a:ea typeface="AppleGothic"/>
                <a:cs typeface="AppleGothic"/>
              </a:rPr>
              <a:t>기준선·선호·반대 방향의 손실 비교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0AA559DB-CA4C-4708-BD13-B971FDAD28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883789"/>
            <a:ext cx="10477500" cy="337947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2100" b="0">
                <a:solidFill>
                  <a:srgbClr val="52606B"/>
                </a:solidFill>
                <a:latin typeface="AppleGothic"/>
                <a:ea typeface="AppleGothic"/>
                <a:cs typeface="AppleGothic"/>
              </a:defRPr>
            </a:defPPr>
          </a:lstStyle>
          <a:p xmlns:a="http://schemas.openxmlformats.org/drawingml/2006/main">
            <a:pPr algn="l">
              <a:lnSpc>
                <a:spcPct val="116000"/>
              </a:lnSpc>
              <a:buNone/>
              <a:defRPr sz="2100" b="0">
                <a:solidFill>
                  <a:srgbClr val="52606B"/>
                </a:solidFill>
                <a:latin typeface="AppleGothic"/>
                <a:ea typeface="AppleGothic"/>
                <a:cs typeface="AppleGothic"/>
              </a:defRPr>
            </a:pPr>
            <a:r>
              <a:rPr sz="2100" b="0">
                <a:solidFill>
                  <a:srgbClr val="52606B"/>
                </a:solidFill>
                <a:latin typeface="AppleGothic"/>
                <a:ea typeface="AppleGothic"/>
                <a:cs typeface="AppleGothic"/>
              </a:rPr>
              <a:t>β만 변경한 민감도 실험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BFA6B97D-2FB3-4C6B-8052-D77F6246E6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526536"/>
            <a:ext cx="10477500" cy="337947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2100" b="0">
                <a:solidFill>
                  <a:srgbClr val="52606B"/>
                </a:solidFill>
                <a:latin typeface="AppleGothic"/>
                <a:ea typeface="AppleGothic"/>
                <a:cs typeface="AppleGothic"/>
              </a:defRPr>
            </a:defPPr>
          </a:lstStyle>
          <a:p xmlns:a="http://schemas.openxmlformats.org/drawingml/2006/main">
            <a:pPr algn="l">
              <a:lnSpc>
                <a:spcPct val="116000"/>
              </a:lnSpc>
              <a:buNone/>
              <a:defRPr sz="2100" b="0">
                <a:solidFill>
                  <a:srgbClr val="52606B"/>
                </a:solidFill>
                <a:latin typeface="AppleGothic"/>
                <a:ea typeface="AppleGothic"/>
                <a:cs typeface="AppleGothic"/>
              </a:defRPr>
            </a:pPr>
            <a:r>
              <a:rPr sz="2100" b="0">
                <a:solidFill>
                  <a:srgbClr val="52606B"/>
                </a:solidFill>
                <a:latin typeface="AppleGothic"/>
                <a:ea typeface="AppleGothic"/>
                <a:cs typeface="AppleGothic"/>
              </a:rPr>
              <a:t>한 질문 정책의 학습과 한계 기록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1F9C459B-06C6-4D37-83A2-446342A434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791200"/>
            <a:ext cx="109728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1600" b="0">
                <a:solidFill>
                  <a:srgbClr val="52606B"/>
                </a:solidFill>
                <a:latin typeface="AppleGothic"/>
                <a:ea typeface="AppleGothic"/>
                <a:cs typeface="AppleGothic"/>
              </a:defRPr>
            </a:defPPr>
          </a:lstStyle>
          <a:p xmlns:a="http://schemas.openxmlformats.org/drawingml/2006/main">
            <a:pPr algn="l">
              <a:lnSpc>
                <a:spcPct val="116000"/>
              </a:lnSpc>
              <a:buNone/>
              <a:defRPr sz="1600" b="0">
                <a:solidFill>
                  <a:srgbClr val="52606B"/>
                </a:solidFill>
                <a:latin typeface="AppleGothic"/>
                <a:ea typeface="AppleGothic"/>
                <a:cs typeface="AppleGothic"/>
              </a:defRPr>
            </a:pPr>
            <a:r>
              <a:rPr sz="1600" b="0">
                <a:solidFill>
                  <a:srgbClr val="52606B"/>
                </a:solidFill>
                <a:latin typeface="AppleGothic"/>
                <a:ea typeface="AppleGothic"/>
                <a:cs typeface="AppleGothic"/>
              </a:rPr>
              <a:t>핵심 셀: 기준선 → 선호 방향 → beta → 장난감 정책</a:t>
            </a:r>
          </a:p>
        </p:txBody>
      </p:sp>
    </p:spTree>
    <p:extLst>
      <p:ext uri="{BB962C8B-B14F-4D97-AF65-F5344CB8AC3E}">
        <p14:creationId xmlns:p14="http://schemas.microsoft.com/office/powerpoint/2010/main" val="1308086117"/>
      </p:ext>
    </p:extLst>
  </p:cSld>
</p:sld>
</file>

<file path=ppt/slides/slide63.xml><?xml version="1.0" encoding="utf-8"?>
<p:sld xmlns:p="http://schemas.openxmlformats.org/presentationml/2006/main">
  <p:cSld>
    <p:bg>
      <p:bgPr>
        <a:solidFill xmlns:a="http://schemas.openxmlformats.org/drawingml/2006/main">
          <a:srgbClr val="F7F7F5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245ECAFC-0F5A-4F9D-BFCD-A4767CFE64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47650"/>
            <a:ext cx="9525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1400" b="0">
                <a:solidFill>
                  <a:srgbClr val="52606B"/>
                </a:solidFill>
                <a:latin typeface="AppleGothic"/>
                <a:ea typeface="AppleGothic"/>
                <a:cs typeface="AppleGothic"/>
              </a:defRPr>
            </a:defPPr>
          </a:lstStyle>
          <a:p xmlns:a="http://schemas.openxmlformats.org/drawingml/2006/main">
            <a:pPr algn="l">
              <a:lnSpc>
                <a:spcPct val="116000"/>
              </a:lnSpc>
              <a:buNone/>
              <a:defRPr sz="1400" b="0">
                <a:solidFill>
                  <a:srgbClr val="52606B"/>
                </a:solidFill>
                <a:latin typeface="AppleGothic"/>
                <a:ea typeface="AppleGothic"/>
                <a:cs typeface="AppleGothic"/>
              </a:defRPr>
            </a:pPr>
            <a:r>
              <a:rPr sz="1400" b="0">
                <a:solidFill>
                  <a:srgbClr val="52606B"/>
                </a:solidFill>
                <a:latin typeface="AppleGothic"/>
                <a:ea typeface="AppleGothic"/>
                <a:cs typeface="AppleGothic"/>
              </a:rPr>
              <a:t>LLMOPS / W07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80C9F0CA-DABC-4230-B678-CC09F88387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8500" y="247650"/>
            <a:ext cx="7239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r">
              <a:defRPr sz="1400" b="0">
                <a:solidFill>
                  <a:srgbClr val="52606B"/>
                </a:solidFill>
                <a:latin typeface="Menlo"/>
                <a:ea typeface="Menlo"/>
                <a:cs typeface="Menlo"/>
              </a:defRPr>
            </a:defPPr>
          </a:lstStyle>
          <a:p xmlns:a="http://schemas.openxmlformats.org/drawingml/2006/main">
            <a:pPr algn="r">
              <a:lnSpc>
                <a:spcPct val="116000"/>
              </a:lnSpc>
              <a:buNone/>
              <a:defRPr sz="1400" b="0">
                <a:solidFill>
                  <a:srgbClr val="52606B"/>
                </a:solidFill>
                <a:latin typeface="Menlo"/>
                <a:ea typeface="Menlo"/>
                <a:cs typeface="Menlo"/>
              </a:defRPr>
            </a:pPr>
            <a:r>
              <a:rPr sz="1400" b="0">
                <a:solidFill>
                  <a:srgbClr val="52606B"/>
                </a:solidFill>
                <a:latin typeface="Menlo"/>
                <a:ea typeface="Menlo"/>
                <a:cs typeface="Menlo"/>
              </a:rPr>
              <a:t>63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517EE83A-C307-4E93-B71C-957D1E6CFF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23900"/>
            <a:ext cx="109728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3400" b="1">
                <a:solidFill>
                  <a:srgbClr val="17191B"/>
                </a:solidFill>
                <a:latin typeface="AppleGothic"/>
                <a:ea typeface="AppleGothic"/>
                <a:cs typeface="AppleGothic"/>
              </a:defRPr>
            </a:defPPr>
          </a:lstStyle>
          <a:p xmlns:a="http://schemas.openxmlformats.org/drawingml/2006/main">
            <a:pPr algn="l">
              <a:lnSpc>
                <a:spcPct val="116000"/>
              </a:lnSpc>
              <a:buNone/>
              <a:defRPr sz="3400" b="1">
                <a:solidFill>
                  <a:srgbClr val="17191B"/>
                </a:solidFill>
                <a:latin typeface="AppleGothic"/>
                <a:ea typeface="AppleGothic"/>
                <a:cs typeface="AppleGothic"/>
              </a:defRPr>
            </a:pPr>
            <a:r>
              <a:rPr sz="3400" b="1">
                <a:solidFill>
                  <a:srgbClr val="17191B"/>
                </a:solidFill>
                <a:latin typeface="AppleGothic"/>
                <a:ea typeface="AppleGothic"/>
                <a:cs typeface="AppleGothic"/>
              </a:rPr>
              <a:t>실습 03 · 반복 실험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7B87F5C9-1561-45E1-B2D0-5C828D1EC6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315075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FD5D3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4CF4E6A2-CCA1-4996-B3D8-4F3FA3163B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77000"/>
            <a:ext cx="109728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1400" b="0">
                <a:solidFill>
                  <a:srgbClr val="52606B"/>
                </a:solidFill>
                <a:latin typeface="AppleGothic"/>
                <a:ea typeface="AppleGothic"/>
                <a:cs typeface="AppleGothic"/>
              </a:defRPr>
            </a:defPPr>
          </a:lstStyle>
          <a:p xmlns:a="http://schemas.openxmlformats.org/drawingml/2006/main">
            <a:pPr algn="l">
              <a:lnSpc>
                <a:spcPct val="116000"/>
              </a:lnSpc>
              <a:buNone/>
              <a:defRPr sz="1400" b="0">
                <a:solidFill>
                  <a:srgbClr val="52606B"/>
                </a:solidFill>
                <a:latin typeface="AppleGothic"/>
                <a:ea typeface="AppleGothic"/>
                <a:cs typeface="AppleGothic"/>
              </a:defRPr>
            </a:pPr>
            <a:r>
              <a:rPr sz="1400" b="0">
                <a:solidFill>
                  <a:srgbClr val="52606B"/>
                </a:solidFill>
                <a:latin typeface="AppleGothic"/>
                <a:ea typeface="AppleGothic"/>
                <a:cs typeface="AppleGothic"/>
              </a:rPr>
              <a:t>데이터 · 모델 적응 · 비교 평가 · 기획서 초안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66E8754E-BEA7-4507-9680-4629CEE74A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981200"/>
            <a:ext cx="10972800" cy="150342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283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D2FBE20D-E719-4247-A52B-032A952D21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2286000"/>
            <a:ext cx="10477500" cy="93192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1800" b="0">
                <a:solidFill>
                  <a:srgbClr val="FFFFFF"/>
                </a:solidFill>
                <a:latin typeface="Menlo"/>
                <a:ea typeface="Menlo"/>
                <a:cs typeface="Menlo"/>
              </a:defRPr>
            </a:defPPr>
          </a:lstStyle>
          <a:p xmlns:a="http://schemas.openxmlformats.org/drawingml/2006/main">
            <a:pPr algn="l">
              <a:lnSpc>
                <a:spcPct val="116000"/>
              </a:lnSpc>
              <a:buNone/>
              <a:defRPr sz="1800" b="0">
                <a:solidFill>
                  <a:srgbClr val="FFFFFF"/>
                </a:solidFill>
                <a:latin typeface="Menlo"/>
                <a:ea typeface="Menlo"/>
                <a:cs typeface="Menlo"/>
              </a:defRPr>
            </a:pPr>
            <a:r>
              <a:rPr sz="1800" b="0">
                <a:solidFill>
                  <a:srgbClr val="FFFFFF"/>
                </a:solidFill>
                <a:latin typeface="Menlo"/>
                <a:ea typeface="Menlo"/>
                <a:cs typeface="Menlo"/>
              </a:rPr>
              <a:t>for beta in [.1, .5, 1.]:</a:t>
            </a:r>
          </a:p>
          <a:p xmlns:a="http://schemas.openxmlformats.org/drawingml/2006/main">
            <a:pPr algn="l">
              <a:lnSpc>
                <a:spcPct val="116000"/>
              </a:lnSpc>
              <a:buNone/>
              <a:defRPr sz="1800" b="0">
                <a:solidFill>
                  <a:srgbClr val="FFFFFF"/>
                </a:solidFill>
                <a:latin typeface="Menlo"/>
                <a:ea typeface="Menlo"/>
                <a:cs typeface="Menlo"/>
              </a:defRPr>
            </a:pPr>
            <a:r>
              <a:rPr sz="1800" b="0">
                <a:solidFill>
                  <a:srgbClr val="FFFFFF"/>
                </a:solidFill>
                <a:latin typeface="Menlo"/>
                <a:ea typeface="Menlo"/>
                <a:cs typeface="Menlo"/>
              </a:rPr>
              <a:t>    history = toy_preference_training(beta=beta)</a:t>
            </a:r>
          </a:p>
          <a:p xmlns:a="http://schemas.openxmlformats.org/drawingml/2006/main">
            <a:pPr algn="l">
              <a:lnSpc>
                <a:spcPct val="116000"/>
              </a:lnSpc>
              <a:buNone/>
              <a:defRPr sz="1800" b="0">
                <a:solidFill>
                  <a:srgbClr val="FFFFFF"/>
                </a:solidFill>
                <a:latin typeface="Menlo"/>
                <a:ea typeface="Menlo"/>
                <a:cs typeface="Menlo"/>
              </a:defRPr>
            </a:pPr>
            <a:r>
              <a:rPr sz="1800" b="0">
                <a:solidFill>
                  <a:srgbClr val="FFFFFF"/>
                </a:solidFill>
                <a:latin typeface="Menlo"/>
                <a:ea typeface="Menlo"/>
                <a:cs typeface="Menlo"/>
              </a:rPr>
              <a:t>    print(beta, history[-1])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6E91B57B-569A-4606-BFDB-EA6738B023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791200"/>
            <a:ext cx="109728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1600" b="0">
                <a:solidFill>
                  <a:srgbClr val="52606B"/>
                </a:solidFill>
                <a:latin typeface="AppleGothic"/>
                <a:ea typeface="AppleGothic"/>
                <a:cs typeface="AppleGothic"/>
              </a:defRPr>
            </a:defPPr>
          </a:lstStyle>
          <a:p xmlns:a="http://schemas.openxmlformats.org/drawingml/2006/main">
            <a:pPr algn="l">
              <a:lnSpc>
                <a:spcPct val="116000"/>
              </a:lnSpc>
              <a:buNone/>
              <a:defRPr sz="1600" b="0">
                <a:solidFill>
                  <a:srgbClr val="52606B"/>
                </a:solidFill>
                <a:latin typeface="AppleGothic"/>
                <a:ea typeface="AppleGothic"/>
                <a:cs typeface="AppleGothic"/>
              </a:defRPr>
            </a:pPr>
            <a:r>
              <a:rPr sz="1600" b="0">
                <a:solidFill>
                  <a:srgbClr val="52606B"/>
                </a:solidFill>
                <a:latin typeface="AppleGothic"/>
                <a:ea typeface="AppleGothic"/>
                <a:cs typeface="AppleGothic"/>
              </a:rPr>
              <a:t>같은 학습률·80step · 실제 LLM 품질 비교가 아닌 장난감 정책</a:t>
            </a:r>
          </a:p>
        </p:txBody>
      </p:sp>
    </p:spTree>
    <p:extLst>
      <p:ext uri="{BB962C8B-B14F-4D97-AF65-F5344CB8AC3E}">
        <p14:creationId xmlns:p14="http://schemas.microsoft.com/office/powerpoint/2010/main" val="989263769"/>
      </p:ext>
    </p:extLst>
  </p:cSld>
</p:sld>
</file>

<file path=ppt/slides/slide64.xml><?xml version="1.0" encoding="utf-8"?>
<p:sld xmlns:p="http://schemas.openxmlformats.org/presentationml/2006/main">
  <p:cSld>
    <p:bg>
      <p:bgPr>
        <a:solidFill xmlns:a="http://schemas.openxmlformats.org/drawingml/2006/main">
          <a:srgbClr val="F7F7F5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B4E1F6EC-DA1B-4180-A7F5-B484EE1524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47650"/>
            <a:ext cx="9525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1400" b="0">
                <a:solidFill>
                  <a:srgbClr val="52606B"/>
                </a:solidFill>
                <a:latin typeface="AppleGothic"/>
                <a:ea typeface="AppleGothic"/>
                <a:cs typeface="AppleGothic"/>
              </a:defRPr>
            </a:defPPr>
          </a:lstStyle>
          <a:p xmlns:a="http://schemas.openxmlformats.org/drawingml/2006/main">
            <a:pPr algn="l">
              <a:lnSpc>
                <a:spcPct val="116000"/>
              </a:lnSpc>
              <a:buNone/>
              <a:defRPr sz="1400" b="0">
                <a:solidFill>
                  <a:srgbClr val="52606B"/>
                </a:solidFill>
                <a:latin typeface="AppleGothic"/>
                <a:ea typeface="AppleGothic"/>
                <a:cs typeface="AppleGothic"/>
              </a:defRPr>
            </a:pPr>
            <a:r>
              <a:rPr sz="1400" b="0">
                <a:solidFill>
                  <a:srgbClr val="52606B"/>
                </a:solidFill>
                <a:latin typeface="AppleGothic"/>
                <a:ea typeface="AppleGothic"/>
                <a:cs typeface="AppleGothic"/>
              </a:rPr>
              <a:t>LLMOPS / W07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D7905533-56E4-44BE-AE0F-C6C29D54F0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8500" y="247650"/>
            <a:ext cx="7239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r">
              <a:defRPr sz="1400" b="0">
                <a:solidFill>
                  <a:srgbClr val="52606B"/>
                </a:solidFill>
                <a:latin typeface="Menlo"/>
                <a:ea typeface="Menlo"/>
                <a:cs typeface="Menlo"/>
              </a:defRPr>
            </a:defPPr>
          </a:lstStyle>
          <a:p xmlns:a="http://schemas.openxmlformats.org/drawingml/2006/main">
            <a:pPr algn="r">
              <a:lnSpc>
                <a:spcPct val="116000"/>
              </a:lnSpc>
              <a:buNone/>
              <a:defRPr sz="1400" b="0">
                <a:solidFill>
                  <a:srgbClr val="52606B"/>
                </a:solidFill>
                <a:latin typeface="Menlo"/>
                <a:ea typeface="Menlo"/>
                <a:cs typeface="Menlo"/>
              </a:defRPr>
            </a:pPr>
            <a:r>
              <a:rPr sz="1400" b="0">
                <a:solidFill>
                  <a:srgbClr val="52606B"/>
                </a:solidFill>
                <a:latin typeface="Menlo"/>
                <a:ea typeface="Menlo"/>
                <a:cs typeface="Menlo"/>
              </a:rPr>
              <a:t>64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9C7FC63C-0F1C-46F5-BC96-3E22266009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23900"/>
            <a:ext cx="109728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3400" b="1">
                <a:solidFill>
                  <a:srgbClr val="17191B"/>
                </a:solidFill>
                <a:latin typeface="AppleGothic"/>
                <a:ea typeface="AppleGothic"/>
                <a:cs typeface="AppleGothic"/>
              </a:defRPr>
            </a:defPPr>
          </a:lstStyle>
          <a:p xmlns:a="http://schemas.openxmlformats.org/drawingml/2006/main">
            <a:pPr algn="l">
              <a:lnSpc>
                <a:spcPct val="116000"/>
              </a:lnSpc>
              <a:buNone/>
              <a:defRPr sz="3400" b="1">
                <a:solidFill>
                  <a:srgbClr val="17191B"/>
                </a:solidFill>
                <a:latin typeface="AppleGothic"/>
                <a:ea typeface="AppleGothic"/>
                <a:cs typeface="AppleGothic"/>
              </a:defRPr>
            </a:pPr>
            <a:r>
              <a:rPr sz="3400" b="1">
                <a:solidFill>
                  <a:srgbClr val="17191B"/>
                </a:solidFill>
                <a:latin typeface="AppleGothic"/>
                <a:ea typeface="AppleGothic"/>
                <a:cs typeface="AppleGothic"/>
              </a:rPr>
              <a:t>실습 04 · 기획서 생성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941A25FD-BC80-4376-8A21-69955FFE67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315075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FD5D3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9B924F49-9ABF-49C8-ADD3-EED9CD649B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77000"/>
            <a:ext cx="109728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1400" b="0">
                <a:solidFill>
                  <a:srgbClr val="52606B"/>
                </a:solidFill>
                <a:latin typeface="AppleGothic"/>
                <a:ea typeface="AppleGothic"/>
                <a:cs typeface="AppleGothic"/>
              </a:defRPr>
            </a:defPPr>
          </a:lstStyle>
          <a:p xmlns:a="http://schemas.openxmlformats.org/drawingml/2006/main">
            <a:pPr algn="l">
              <a:lnSpc>
                <a:spcPct val="116000"/>
              </a:lnSpc>
              <a:buNone/>
              <a:defRPr sz="1400" b="0">
                <a:solidFill>
                  <a:srgbClr val="52606B"/>
                </a:solidFill>
                <a:latin typeface="AppleGothic"/>
                <a:ea typeface="AppleGothic"/>
                <a:cs typeface="AppleGothic"/>
              </a:defRPr>
            </a:pPr>
            <a:r>
              <a:rPr sz="1400" b="0">
                <a:solidFill>
                  <a:srgbClr val="52606B"/>
                </a:solidFill>
                <a:latin typeface="AppleGothic"/>
                <a:ea typeface="AppleGothic"/>
                <a:cs typeface="AppleGothic"/>
              </a:rPr>
              <a:t>데이터 · 모델 적응 · 비교 평가 · 기획서 초안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2997B549-DA34-43E1-AC03-8237FAD0CA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464689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FD5D3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FB895D59-114C-47D7-A706-793F768ACD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809750"/>
            <a:ext cx="10477500" cy="426339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2700" b="1">
                <a:solidFill>
                  <a:srgbClr val="17191B"/>
                </a:solidFill>
                <a:latin typeface="AppleGothic"/>
                <a:ea typeface="AppleGothic"/>
                <a:cs typeface="AppleGothic"/>
              </a:defRPr>
            </a:defPPr>
          </a:lstStyle>
          <a:p xmlns:a="http://schemas.openxmlformats.org/drawingml/2006/main">
            <a:pPr algn="l">
              <a:lnSpc>
                <a:spcPct val="116000"/>
              </a:lnSpc>
              <a:buNone/>
              <a:defRPr sz="2700" b="1">
                <a:solidFill>
                  <a:srgbClr val="17191B"/>
                </a:solidFill>
                <a:latin typeface="AppleGothic"/>
                <a:ea typeface="AppleGothic"/>
                <a:cs typeface="AppleGothic"/>
              </a:defRPr>
            </a:pPr>
            <a:r>
              <a:rPr sz="2700" b="1">
                <a:solidFill>
                  <a:srgbClr val="17191B"/>
                </a:solidFill>
                <a:latin typeface="AppleGothic"/>
                <a:ea typeface="AppleGothic"/>
                <a:cs typeface="AppleGothic"/>
              </a:rPr>
              <a:t>문제·대안·범위·평가·복구의 문서화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02BE97EA-C806-4D98-A27D-CFE47A584F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883789"/>
            <a:ext cx="10477500" cy="337947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2100" b="0">
                <a:solidFill>
                  <a:srgbClr val="52606B"/>
                </a:solidFill>
                <a:latin typeface="AppleGothic"/>
                <a:ea typeface="AppleGothic"/>
                <a:cs typeface="AppleGothic"/>
              </a:defRPr>
            </a:defPPr>
          </a:lstStyle>
          <a:p xmlns:a="http://schemas.openxmlformats.org/drawingml/2006/main">
            <a:pPr algn="l">
              <a:lnSpc>
                <a:spcPct val="116000"/>
              </a:lnSpc>
              <a:buNone/>
              <a:defRPr sz="2100" b="0">
                <a:solidFill>
                  <a:srgbClr val="52606B"/>
                </a:solidFill>
                <a:latin typeface="AppleGothic"/>
                <a:ea typeface="AppleGothic"/>
                <a:cs typeface="AppleGothic"/>
              </a:defRPr>
            </a:pPr>
            <a:r>
              <a:rPr sz="2100" b="0">
                <a:solidFill>
                  <a:srgbClr val="52606B"/>
                </a:solidFill>
                <a:latin typeface="AppleGothic"/>
                <a:ea typeface="AppleGothic"/>
                <a:cs typeface="AppleGothic"/>
              </a:rPr>
              <a:t>항목 누락 검사와 내용 검토의 분리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015CFAE2-259C-4BC6-A816-8620657952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526536"/>
            <a:ext cx="10477500" cy="337947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2100" b="0">
                <a:solidFill>
                  <a:srgbClr val="52606B"/>
                </a:solidFill>
                <a:latin typeface="AppleGothic"/>
                <a:ea typeface="AppleGothic"/>
                <a:cs typeface="AppleGothic"/>
              </a:defRPr>
            </a:defPPr>
          </a:lstStyle>
          <a:p xmlns:a="http://schemas.openxmlformats.org/drawingml/2006/main">
            <a:pPr algn="l">
              <a:lnSpc>
                <a:spcPct val="116000"/>
              </a:lnSpc>
              <a:buNone/>
              <a:defRPr sz="2100" b="0">
                <a:solidFill>
                  <a:srgbClr val="52606B"/>
                </a:solidFill>
                <a:latin typeface="AppleGothic"/>
                <a:ea typeface="AppleGothic"/>
                <a:cs typeface="AppleGothic"/>
              </a:defRPr>
            </a:pPr>
            <a:r>
              <a:rPr sz="2100" b="0">
                <a:solidFill>
                  <a:srgbClr val="52606B"/>
                </a:solidFill>
                <a:latin typeface="AppleGothic"/>
                <a:ea typeface="AppleGothic"/>
                <a:cs typeface="AppleGothic"/>
              </a:rPr>
              <a:t>HTML 시안 검토와 교수에게 확인할 질문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C2345A52-904F-42C1-A669-27255BCD05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791200"/>
            <a:ext cx="109728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1600" b="0">
                <a:solidFill>
                  <a:srgbClr val="52606B"/>
                </a:solidFill>
                <a:latin typeface="AppleGothic"/>
                <a:ea typeface="AppleGothic"/>
                <a:cs typeface="AppleGothic"/>
              </a:defRPr>
            </a:defPPr>
          </a:lstStyle>
          <a:p xmlns:a="http://schemas.openxmlformats.org/drawingml/2006/main">
            <a:pPr algn="l">
              <a:lnSpc>
                <a:spcPct val="116000"/>
              </a:lnSpc>
              <a:buNone/>
              <a:defRPr sz="1600" b="0">
                <a:solidFill>
                  <a:srgbClr val="52606B"/>
                </a:solidFill>
                <a:latin typeface="AppleGothic"/>
                <a:ea typeface="AppleGothic"/>
                <a:cs typeface="AppleGothic"/>
              </a:defRPr>
            </a:pPr>
            <a:r>
              <a:rPr sz="1600" b="0">
                <a:solidFill>
                  <a:srgbClr val="52606B"/>
                </a:solidFill>
                <a:latin typeface="AppleGothic"/>
                <a:ea typeface="AppleGothic"/>
                <a:cs typeface="AppleGothic"/>
              </a:rPr>
              <a:t>output/validation/adaptation-labs/proposal-draft.html · 로컬 출력</a:t>
            </a:r>
          </a:p>
        </p:txBody>
      </p:sp>
    </p:spTree>
    <p:extLst>
      <p:ext uri="{BB962C8B-B14F-4D97-AF65-F5344CB8AC3E}">
        <p14:creationId xmlns:p14="http://schemas.microsoft.com/office/powerpoint/2010/main" val="1943235848"/>
      </p:ext>
    </p:extLst>
  </p:cSld>
</p:sld>
</file>

<file path=ppt/slides/slide65.xml><?xml version="1.0" encoding="utf-8"?>
<p:sld xmlns:p="http://schemas.openxmlformats.org/presentationml/2006/main">
  <p:cSld>
    <p:bg>
      <p:bgPr>
        <a:solidFill xmlns:a="http://schemas.openxmlformats.org/drawingml/2006/main">
          <a:srgbClr val="F7F7F5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285326D6-7292-4EAE-A4CB-9A90E1B698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47650"/>
            <a:ext cx="9525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1400" b="0">
                <a:solidFill>
                  <a:srgbClr val="52606B"/>
                </a:solidFill>
                <a:latin typeface="AppleGothic"/>
                <a:ea typeface="AppleGothic"/>
                <a:cs typeface="AppleGothic"/>
              </a:defRPr>
            </a:defPPr>
          </a:lstStyle>
          <a:p xmlns:a="http://schemas.openxmlformats.org/drawingml/2006/main">
            <a:pPr algn="l">
              <a:lnSpc>
                <a:spcPct val="116000"/>
              </a:lnSpc>
              <a:buNone/>
              <a:defRPr sz="1400" b="0">
                <a:solidFill>
                  <a:srgbClr val="52606B"/>
                </a:solidFill>
                <a:latin typeface="AppleGothic"/>
                <a:ea typeface="AppleGothic"/>
                <a:cs typeface="AppleGothic"/>
              </a:defRPr>
            </a:pPr>
            <a:r>
              <a:rPr sz="1400" b="0">
                <a:solidFill>
                  <a:srgbClr val="52606B"/>
                </a:solidFill>
                <a:latin typeface="AppleGothic"/>
                <a:ea typeface="AppleGothic"/>
                <a:cs typeface="AppleGothic"/>
              </a:rPr>
              <a:t>LLMOPS / W07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CFE27B6F-4A58-493F-B257-F692F641BB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8500" y="247650"/>
            <a:ext cx="7239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r">
              <a:defRPr sz="1400" b="0">
                <a:solidFill>
                  <a:srgbClr val="52606B"/>
                </a:solidFill>
                <a:latin typeface="Menlo"/>
                <a:ea typeface="Menlo"/>
                <a:cs typeface="Menlo"/>
              </a:defRPr>
            </a:defPPr>
          </a:lstStyle>
          <a:p xmlns:a="http://schemas.openxmlformats.org/drawingml/2006/main">
            <a:pPr algn="r">
              <a:lnSpc>
                <a:spcPct val="116000"/>
              </a:lnSpc>
              <a:buNone/>
              <a:defRPr sz="1400" b="0">
                <a:solidFill>
                  <a:srgbClr val="52606B"/>
                </a:solidFill>
                <a:latin typeface="Menlo"/>
                <a:ea typeface="Menlo"/>
                <a:cs typeface="Menlo"/>
              </a:defRPr>
            </a:pPr>
            <a:r>
              <a:rPr sz="1400" b="0">
                <a:solidFill>
                  <a:srgbClr val="52606B"/>
                </a:solidFill>
                <a:latin typeface="Menlo"/>
                <a:ea typeface="Menlo"/>
                <a:cs typeface="Menlo"/>
              </a:rPr>
              <a:t>65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473D706C-3072-43C2-B6F1-41EAB66592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23900"/>
            <a:ext cx="109728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3400" b="1">
                <a:solidFill>
                  <a:srgbClr val="17191B"/>
                </a:solidFill>
                <a:latin typeface="AppleGothic"/>
                <a:ea typeface="AppleGothic"/>
                <a:cs typeface="AppleGothic"/>
              </a:defRPr>
            </a:defPPr>
          </a:lstStyle>
          <a:p xmlns:a="http://schemas.openxmlformats.org/drawingml/2006/main">
            <a:pPr algn="l">
              <a:lnSpc>
                <a:spcPct val="116000"/>
              </a:lnSpc>
              <a:buNone/>
              <a:defRPr sz="3400" b="1">
                <a:solidFill>
                  <a:srgbClr val="17191B"/>
                </a:solidFill>
                <a:latin typeface="AppleGothic"/>
                <a:ea typeface="AppleGothic"/>
                <a:cs typeface="AppleGothic"/>
              </a:defRPr>
            </a:pPr>
            <a:r>
              <a:rPr sz="3400" b="1">
                <a:solidFill>
                  <a:srgbClr val="17191B"/>
                </a:solidFill>
                <a:latin typeface="AppleGothic"/>
                <a:ea typeface="AppleGothic"/>
                <a:cs typeface="AppleGothic"/>
              </a:rPr>
              <a:t>실습의 완료와 확장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BF60F467-530C-401A-85CD-0DF97CAB77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315075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FD5D3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7AB5A1BD-6206-48FA-AFB5-C80D7BEE66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77000"/>
            <a:ext cx="109728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1400" b="0">
                <a:solidFill>
                  <a:srgbClr val="52606B"/>
                </a:solidFill>
                <a:latin typeface="AppleGothic"/>
                <a:ea typeface="AppleGothic"/>
                <a:cs typeface="AppleGothic"/>
              </a:defRPr>
            </a:defPPr>
          </a:lstStyle>
          <a:p xmlns:a="http://schemas.openxmlformats.org/drawingml/2006/main">
            <a:pPr algn="l">
              <a:lnSpc>
                <a:spcPct val="116000"/>
              </a:lnSpc>
              <a:buNone/>
              <a:defRPr sz="1400" b="0">
                <a:solidFill>
                  <a:srgbClr val="52606B"/>
                </a:solidFill>
                <a:latin typeface="AppleGothic"/>
                <a:ea typeface="AppleGothic"/>
                <a:cs typeface="AppleGothic"/>
              </a:defRPr>
            </a:pPr>
            <a:r>
              <a:rPr sz="1400" b="0">
                <a:solidFill>
                  <a:srgbClr val="52606B"/>
                </a:solidFill>
                <a:latin typeface="AppleGothic"/>
                <a:ea typeface="AppleGothic"/>
                <a:cs typeface="AppleGothic"/>
              </a:rPr>
              <a:t>데이터 · 모델 적응 · 비교 평가 · 기획서 초안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B0377D03-E1CF-4994-AABD-994AE5743E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057400"/>
            <a:ext cx="5295900" cy="800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2900" b="1">
                <a:solidFill>
                  <a:srgbClr val="17191B"/>
                </a:solidFill>
                <a:latin typeface="AppleGothic"/>
                <a:ea typeface="AppleGothic"/>
                <a:cs typeface="AppleGothic"/>
              </a:defRPr>
            </a:defPPr>
          </a:lstStyle>
          <a:p xmlns:a="http://schemas.openxmlformats.org/drawingml/2006/main">
            <a:pPr algn="l">
              <a:lnSpc>
                <a:spcPct val="116000"/>
              </a:lnSpc>
              <a:buNone/>
              <a:defRPr sz="2900" b="1">
                <a:solidFill>
                  <a:srgbClr val="17191B"/>
                </a:solidFill>
                <a:latin typeface="AppleGothic"/>
                <a:ea typeface="AppleGothic"/>
                <a:cs typeface="AppleGothic"/>
              </a:defRPr>
            </a:pPr>
            <a:r>
              <a:rPr sz="2900" b="1">
                <a:solidFill>
                  <a:srgbClr val="17191B"/>
                </a:solidFill>
                <a:latin typeface="AppleGothic"/>
                <a:ea typeface="AppleGothic"/>
                <a:cs typeface="AppleGothic"/>
              </a:rPr>
              <a:t>오늘의 기본 완료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1742F089-948C-43C1-B07E-D2A3DF5436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000375"/>
            <a:ext cx="52959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84B7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B7A87BEB-1FAF-4ECF-A682-36B543436B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371850"/>
            <a:ext cx="5238750" cy="36741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2300" b="0">
                <a:solidFill>
                  <a:srgbClr val="52606B"/>
                </a:solidFill>
                <a:latin typeface="AppleGothic"/>
                <a:ea typeface="AppleGothic"/>
                <a:cs typeface="AppleGothic"/>
              </a:defRPr>
            </a:defPPr>
          </a:lstStyle>
          <a:p xmlns:a="http://schemas.openxmlformats.org/drawingml/2006/main">
            <a:pPr algn="l">
              <a:lnSpc>
                <a:spcPct val="116000"/>
              </a:lnSpc>
              <a:buNone/>
              <a:defRPr sz="2300" b="0">
                <a:solidFill>
                  <a:srgbClr val="52606B"/>
                </a:solidFill>
                <a:latin typeface="AppleGothic"/>
                <a:ea typeface="AppleGothic"/>
                <a:cs typeface="AppleGothic"/>
              </a:defRPr>
            </a:pPr>
            <a:r>
              <a:rPr sz="2300" b="0">
                <a:solidFill>
                  <a:srgbClr val="52606B"/>
                </a:solidFill>
                <a:latin typeface="AppleGothic"/>
                <a:ea typeface="AppleGothic"/>
                <a:cs typeface="AppleGothic"/>
              </a:rPr>
              <a:t>필수 셀 실행·가정과 한계 기록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7102F7FF-6BDE-49CC-B3BF-42B6D7E135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139311"/>
            <a:ext cx="5238750" cy="36741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2300" b="0">
                <a:solidFill>
                  <a:srgbClr val="52606B"/>
                </a:solidFill>
                <a:latin typeface="AppleGothic"/>
                <a:ea typeface="AppleGothic"/>
                <a:cs typeface="AppleGothic"/>
              </a:defRPr>
            </a:defPPr>
          </a:lstStyle>
          <a:p xmlns:a="http://schemas.openxmlformats.org/drawingml/2006/main">
            <a:pPr algn="l">
              <a:lnSpc>
                <a:spcPct val="116000"/>
              </a:lnSpc>
              <a:buNone/>
              <a:defRPr sz="2300" b="0">
                <a:solidFill>
                  <a:srgbClr val="52606B"/>
                </a:solidFill>
                <a:latin typeface="AppleGothic"/>
                <a:ea typeface="AppleGothic"/>
                <a:cs typeface="AppleGothic"/>
              </a:defRPr>
            </a:pPr>
            <a:r>
              <a:rPr sz="2300" b="0">
                <a:solidFill>
                  <a:srgbClr val="52606B"/>
                </a:solidFill>
                <a:latin typeface="AppleGothic"/>
                <a:ea typeface="AppleGothic"/>
                <a:cs typeface="AppleGothic"/>
              </a:rPr>
              <a:t>GPU 없는 공통 경로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19EA68AB-BDE4-4DB4-8522-EB70F7A341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0" y="2057400"/>
            <a:ext cx="5295900" cy="800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2900" b="1">
                <a:solidFill>
                  <a:srgbClr val="17191B"/>
                </a:solidFill>
                <a:latin typeface="AppleGothic"/>
                <a:ea typeface="AppleGothic"/>
                <a:cs typeface="AppleGothic"/>
              </a:defRPr>
            </a:defPPr>
          </a:lstStyle>
          <a:p xmlns:a="http://schemas.openxmlformats.org/drawingml/2006/main">
            <a:pPr algn="l">
              <a:lnSpc>
                <a:spcPct val="116000"/>
              </a:lnSpc>
              <a:buNone/>
              <a:defRPr sz="2900" b="1">
                <a:solidFill>
                  <a:srgbClr val="17191B"/>
                </a:solidFill>
                <a:latin typeface="AppleGothic"/>
                <a:ea typeface="AppleGothic"/>
                <a:cs typeface="AppleGothic"/>
              </a:defRPr>
            </a:pPr>
            <a:r>
              <a:rPr sz="2900" b="1">
                <a:solidFill>
                  <a:srgbClr val="17191B"/>
                </a:solidFill>
                <a:latin typeface="AppleGothic"/>
                <a:ea typeface="AppleGothic"/>
                <a:cs typeface="AppleGothic"/>
              </a:rPr>
              <a:t>선택 확장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FB5EA4F8-6521-437A-8ABA-E9AC2DA596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0" y="3000375"/>
            <a:ext cx="52959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52606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014CB0C5-B3A9-4676-AEB2-7D4EEEC744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0" y="3371850"/>
            <a:ext cx="5238750" cy="36741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2300" b="0">
                <a:solidFill>
                  <a:srgbClr val="52606B"/>
                </a:solidFill>
                <a:latin typeface="AppleGothic"/>
                <a:ea typeface="AppleGothic"/>
                <a:cs typeface="AppleGothic"/>
              </a:defRPr>
            </a:defPPr>
          </a:lstStyle>
          <a:p xmlns:a="http://schemas.openxmlformats.org/drawingml/2006/main">
            <a:pPr algn="l">
              <a:lnSpc>
                <a:spcPct val="116000"/>
              </a:lnSpc>
              <a:buNone/>
              <a:defRPr sz="2300" b="0">
                <a:solidFill>
                  <a:srgbClr val="52606B"/>
                </a:solidFill>
                <a:latin typeface="AppleGothic"/>
                <a:ea typeface="AppleGothic"/>
                <a:cs typeface="AppleGothic"/>
              </a:defRPr>
            </a:pPr>
            <a:r>
              <a:rPr sz="2300" b="0">
                <a:solidFill>
                  <a:srgbClr val="52606B"/>
                </a:solidFill>
                <a:latin typeface="AppleGothic"/>
                <a:ea typeface="AppleGothic"/>
                <a:cs typeface="AppleGothic"/>
              </a:rPr>
              <a:t>기존 SFT/DPO 보존 실습 검토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9D4806D7-8435-4C08-A473-2D38426B96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0" y="4139311"/>
            <a:ext cx="5238750" cy="36741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2300" b="0">
                <a:solidFill>
                  <a:srgbClr val="52606B"/>
                </a:solidFill>
                <a:latin typeface="AppleGothic"/>
                <a:ea typeface="AppleGothic"/>
                <a:cs typeface="AppleGothic"/>
              </a:defRPr>
            </a:defPPr>
          </a:lstStyle>
          <a:p xmlns:a="http://schemas.openxmlformats.org/drawingml/2006/main">
            <a:pPr algn="l">
              <a:lnSpc>
                <a:spcPct val="116000"/>
              </a:lnSpc>
              <a:buNone/>
              <a:defRPr sz="2300" b="0">
                <a:solidFill>
                  <a:srgbClr val="52606B"/>
                </a:solidFill>
                <a:latin typeface="AppleGothic"/>
                <a:ea typeface="AppleGothic"/>
                <a:cs typeface="AppleGothic"/>
              </a:defRPr>
            </a:pPr>
            <a:r>
              <a:rPr sz="2300" b="0">
                <a:solidFill>
                  <a:srgbClr val="52606B"/>
                </a:solidFill>
                <a:latin typeface="AppleGothic"/>
                <a:ea typeface="AppleGothic"/>
                <a:cs typeface="AppleGothic"/>
              </a:rPr>
              <a:t>별도 GPU 환경·의존성 검증 필요</a:t>
            </a:r>
          </a:p>
        </p:txBody>
      </p:sp>
    </p:spTree>
    <p:extLst>
      <p:ext uri="{BB962C8B-B14F-4D97-AF65-F5344CB8AC3E}">
        <p14:creationId xmlns:p14="http://schemas.microsoft.com/office/powerpoint/2010/main" val="2025745762"/>
      </p:ext>
    </p:extLst>
  </p:cSld>
</p:sld>
</file>

<file path=ppt/slides/slide66.xml><?xml version="1.0" encoding="utf-8"?>
<p:sld xmlns:p="http://schemas.openxmlformats.org/presentationml/2006/main">
  <p:cSld>
    <p:bg>
      <p:bgPr>
        <a:solidFill xmlns:a="http://schemas.openxmlformats.org/drawingml/2006/main">
          <a:srgbClr val="17283B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D698E90F-C76A-4090-BEAE-DAF6CE8994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00050"/>
            <a:ext cx="10477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1400" b="0">
                <a:solidFill>
                  <a:srgbClr val="BDC7C4"/>
                </a:solidFill>
                <a:latin typeface="AppleGothic"/>
                <a:ea typeface="AppleGothic"/>
                <a:cs typeface="AppleGothic"/>
              </a:defRPr>
            </a:defPPr>
          </a:lstStyle>
          <a:p xmlns:a="http://schemas.openxmlformats.org/drawingml/2006/main">
            <a:pPr algn="l">
              <a:lnSpc>
                <a:spcPct val="116000"/>
              </a:lnSpc>
              <a:buNone/>
              <a:defRPr sz="1400" b="0">
                <a:solidFill>
                  <a:srgbClr val="BDC7C4"/>
                </a:solidFill>
                <a:latin typeface="AppleGothic"/>
                <a:ea typeface="AppleGothic"/>
                <a:cs typeface="AppleGothic"/>
              </a:defRPr>
            </a:pPr>
            <a:r>
              <a:rPr sz="1400" b="0">
                <a:solidFill>
                  <a:srgbClr val="BDC7C4"/>
                </a:solidFill>
                <a:latin typeface="AppleGothic"/>
                <a:ea typeface="AppleGothic"/>
                <a:cs typeface="AppleGothic"/>
              </a:rPr>
              <a:t>W07 / 66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1896A4DC-E7B4-4365-8457-8AE45B15D0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76400"/>
            <a:ext cx="10972800" cy="1524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4400" b="1">
                <a:solidFill>
                  <a:srgbClr val="FFFFFF"/>
                </a:solidFill>
                <a:latin typeface="AppleGothic"/>
                <a:ea typeface="AppleGothic"/>
                <a:cs typeface="AppleGothic"/>
              </a:defRPr>
            </a:defPPr>
          </a:lstStyle>
          <a:p xmlns:a="http://schemas.openxmlformats.org/drawingml/2006/main">
            <a:pPr algn="l">
              <a:lnSpc>
                <a:spcPct val="116000"/>
              </a:lnSpc>
              <a:buNone/>
              <a:defRPr sz="4400" b="1">
                <a:solidFill>
                  <a:srgbClr val="FFFFFF"/>
                </a:solidFill>
                <a:latin typeface="AppleGothic"/>
                <a:ea typeface="AppleGothic"/>
                <a:cs typeface="AppleGothic"/>
              </a:defRPr>
            </a:pPr>
            <a:r>
              <a:rPr sz="4400" b="1">
                <a:solidFill>
                  <a:srgbClr val="FFFFFF"/>
                </a:solidFill>
                <a:latin typeface="AppleGothic"/>
                <a:ea typeface="AppleGothic"/>
                <a:cs typeface="AppleGothic"/>
              </a:rPr>
              <a:t>프로젝트 초안과 설계 리뷰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50BA14CB-CC9C-4299-BD7E-3D17738A64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7338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52606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53414C8C-E57A-412C-ABB9-409CB976B0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191000"/>
            <a:ext cx="10972800" cy="36741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2300" b="0">
                <a:solidFill>
                  <a:srgbClr val="FFFFFF"/>
                </a:solidFill>
                <a:latin typeface="AppleGothic"/>
                <a:ea typeface="AppleGothic"/>
                <a:cs typeface="AppleGothic"/>
              </a:defRPr>
            </a:defPPr>
          </a:lstStyle>
          <a:p xmlns:a="http://schemas.openxmlformats.org/drawingml/2006/main">
            <a:pPr algn="l">
              <a:lnSpc>
                <a:spcPct val="116000"/>
              </a:lnSpc>
              <a:buNone/>
              <a:defRPr sz="2300" b="0">
                <a:solidFill>
                  <a:srgbClr val="FFFFFF"/>
                </a:solidFill>
                <a:latin typeface="AppleGothic"/>
                <a:ea typeface="AppleGothic"/>
                <a:cs typeface="AppleGothic"/>
              </a:defRPr>
            </a:pPr>
            <a:r>
              <a:rPr sz="2300" b="0">
                <a:solidFill>
                  <a:srgbClr val="FFFFFF"/>
                </a:solidFill>
                <a:latin typeface="AppleGothic"/>
                <a:ea typeface="AppleGothic"/>
                <a:cs typeface="AppleGothic"/>
              </a:rPr>
              <a:t>7주차 초안 0.1 → 교수 피드백 → 8주차 수정본 0.2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EAF8E65D-76FA-4A70-B95B-9622541FA3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729861"/>
            <a:ext cx="10972800" cy="36741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2300" b="0">
                <a:solidFill>
                  <a:srgbClr val="FFFFFF"/>
                </a:solidFill>
                <a:latin typeface="AppleGothic"/>
                <a:ea typeface="AppleGothic"/>
                <a:cs typeface="AppleGothic"/>
              </a:defRPr>
            </a:defPPr>
          </a:lstStyle>
          <a:p xmlns:a="http://schemas.openxmlformats.org/drawingml/2006/main">
            <a:pPr algn="l">
              <a:lnSpc>
                <a:spcPct val="116000"/>
              </a:lnSpc>
              <a:buNone/>
              <a:defRPr sz="2300" b="0">
                <a:solidFill>
                  <a:srgbClr val="FFFFFF"/>
                </a:solidFill>
                <a:latin typeface="AppleGothic"/>
                <a:ea typeface="AppleGothic"/>
                <a:cs typeface="AppleGothic"/>
              </a:defRPr>
            </a:pPr>
            <a:r>
              <a:rPr sz="2300" b="0">
                <a:solidFill>
                  <a:srgbClr val="FFFFFF"/>
                </a:solidFill>
                <a:latin typeface="AppleGothic"/>
                <a:ea typeface="AppleGothic"/>
                <a:cs typeface="AppleGothic"/>
              </a:rPr>
              <a:t>시험 없이 제출물 평가</a:t>
            </a:r>
          </a:p>
        </p:txBody>
      </p:sp>
    </p:spTree>
    <p:extLst>
      <p:ext uri="{BB962C8B-B14F-4D97-AF65-F5344CB8AC3E}">
        <p14:creationId xmlns:p14="http://schemas.microsoft.com/office/powerpoint/2010/main" val="2030495203"/>
      </p:ext>
    </p:extLst>
  </p:cSld>
</p:sld>
</file>

<file path=ppt/slides/slide67.xml><?xml version="1.0" encoding="utf-8"?>
<p:sld xmlns:p="http://schemas.openxmlformats.org/presentationml/2006/main">
  <p:cSld>
    <p:bg>
      <p:bgPr>
        <a:solidFill xmlns:a="http://schemas.openxmlformats.org/drawingml/2006/main">
          <a:srgbClr val="F7F7F5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159BB30C-86CB-4DD7-9BD2-0AABFFE739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47650"/>
            <a:ext cx="9525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1400" b="0">
                <a:solidFill>
                  <a:srgbClr val="52606B"/>
                </a:solidFill>
                <a:latin typeface="AppleGothic"/>
                <a:ea typeface="AppleGothic"/>
                <a:cs typeface="AppleGothic"/>
              </a:defRPr>
            </a:defPPr>
          </a:lstStyle>
          <a:p xmlns:a="http://schemas.openxmlformats.org/drawingml/2006/main">
            <a:pPr algn="l">
              <a:lnSpc>
                <a:spcPct val="116000"/>
              </a:lnSpc>
              <a:buNone/>
              <a:defRPr sz="1400" b="0">
                <a:solidFill>
                  <a:srgbClr val="52606B"/>
                </a:solidFill>
                <a:latin typeface="AppleGothic"/>
                <a:ea typeface="AppleGothic"/>
                <a:cs typeface="AppleGothic"/>
              </a:defRPr>
            </a:pPr>
            <a:r>
              <a:rPr sz="1400" b="0">
                <a:solidFill>
                  <a:srgbClr val="52606B"/>
                </a:solidFill>
                <a:latin typeface="AppleGothic"/>
                <a:ea typeface="AppleGothic"/>
                <a:cs typeface="AppleGothic"/>
              </a:rPr>
              <a:t>LLMOPS / W07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8901EE86-E0BE-438B-B52C-74F9676ED4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8500" y="247650"/>
            <a:ext cx="7239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r">
              <a:defRPr sz="1400" b="0">
                <a:solidFill>
                  <a:srgbClr val="52606B"/>
                </a:solidFill>
                <a:latin typeface="Menlo"/>
                <a:ea typeface="Menlo"/>
                <a:cs typeface="Menlo"/>
              </a:defRPr>
            </a:defPPr>
          </a:lstStyle>
          <a:p xmlns:a="http://schemas.openxmlformats.org/drawingml/2006/main">
            <a:pPr algn="r">
              <a:lnSpc>
                <a:spcPct val="116000"/>
              </a:lnSpc>
              <a:buNone/>
              <a:defRPr sz="1400" b="0">
                <a:solidFill>
                  <a:srgbClr val="52606B"/>
                </a:solidFill>
                <a:latin typeface="Menlo"/>
                <a:ea typeface="Menlo"/>
                <a:cs typeface="Menlo"/>
              </a:defRPr>
            </a:pPr>
            <a:r>
              <a:rPr sz="1400" b="0">
                <a:solidFill>
                  <a:srgbClr val="52606B"/>
                </a:solidFill>
                <a:latin typeface="Menlo"/>
                <a:ea typeface="Menlo"/>
                <a:cs typeface="Menlo"/>
              </a:rPr>
              <a:t>67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A952889B-5FA2-4B14-A76C-EF8AEB1136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23900"/>
            <a:ext cx="109728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3400" b="1">
                <a:solidFill>
                  <a:srgbClr val="17191B"/>
                </a:solidFill>
                <a:latin typeface="AppleGothic"/>
                <a:ea typeface="AppleGothic"/>
                <a:cs typeface="AppleGothic"/>
              </a:defRPr>
            </a:defPPr>
          </a:lstStyle>
          <a:p xmlns:a="http://schemas.openxmlformats.org/drawingml/2006/main">
            <a:pPr algn="l">
              <a:lnSpc>
                <a:spcPct val="116000"/>
              </a:lnSpc>
              <a:buNone/>
              <a:defRPr sz="3400" b="1">
                <a:solidFill>
                  <a:srgbClr val="17191B"/>
                </a:solidFill>
                <a:latin typeface="AppleGothic"/>
                <a:ea typeface="AppleGothic"/>
                <a:cs typeface="AppleGothic"/>
              </a:defRPr>
            </a:pPr>
            <a:r>
              <a:rPr sz="3400" b="1">
                <a:solidFill>
                  <a:srgbClr val="17191B"/>
                </a:solidFill>
                <a:latin typeface="AppleGothic"/>
                <a:ea typeface="AppleGothic"/>
                <a:cs typeface="AppleGothic"/>
              </a:rPr>
              <a:t>프로젝트 운영과 제출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A97973FC-C83F-4980-9277-F6D9F9C32E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315075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FD5D3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0D39E87F-514C-4F1E-9C4D-6C9644F29D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77000"/>
            <a:ext cx="109728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1400" b="0">
                <a:solidFill>
                  <a:srgbClr val="52606B"/>
                </a:solidFill>
                <a:latin typeface="AppleGothic"/>
                <a:ea typeface="AppleGothic"/>
                <a:cs typeface="AppleGothic"/>
              </a:defRPr>
            </a:defPPr>
          </a:lstStyle>
          <a:p xmlns:a="http://schemas.openxmlformats.org/drawingml/2006/main">
            <a:pPr algn="l">
              <a:lnSpc>
                <a:spcPct val="116000"/>
              </a:lnSpc>
              <a:buNone/>
              <a:defRPr sz="1400" b="0">
                <a:solidFill>
                  <a:srgbClr val="52606B"/>
                </a:solidFill>
                <a:latin typeface="AppleGothic"/>
                <a:ea typeface="AppleGothic"/>
                <a:cs typeface="AppleGothic"/>
              </a:defRPr>
            </a:pPr>
            <a:r>
              <a:rPr sz="1400" b="0">
                <a:solidFill>
                  <a:srgbClr val="52606B"/>
                </a:solidFill>
                <a:latin typeface="AppleGothic"/>
                <a:ea typeface="AppleGothic"/>
                <a:cs typeface="AppleGothic"/>
              </a:rPr>
              <a:t>데이터 · 모델 적응 · 비교 평가 · 기획서 초안</a:t>
            </a:r>
          </a:p>
        </p:txBody>
      </p:sp>
      <p:graphicFrame>
        <p:nvGraphicFrame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1F668F5F-D7FB-47E5-9E8F-A5A2FA10BB3C}"/>
              </a:ext>
            </a:extLst>
          </p:cNvPr>
          <p:cNvGraphicFramePr/>
          <p:nvPr/>
        </p:nvGraphicFramePr>
        <p:xfrm>
          <a:off xmlns:a="http://schemas.openxmlformats.org/drawingml/2006/main" x="609600" y="1809750"/>
          <a:ext xmlns:a="http://schemas.openxmlformats.org/drawingml/2006/main" cx="10972800" cy="3905250"/>
        </p:xfrm>
        <a:graphic xmlns:a="http://schemas.openxmlformats.org/drawingml/2006/main">
          <a:graphicData uri="http://schemas.openxmlformats.org/drawingml/2006/table">
            <a:tbl>
              <a:tblPr firstRow="0" bandRow="0"/>
              <a:tblGrid>
                <a:gridCol w="3238500"/>
                <a:gridCol w="7734300"/>
              </a:tblGrid>
              <a:tr h="650875">
                <a:tc>
                  <a:txBody>
                    <a:bodyPr wrap="none" lIns="133350" tIns="114300" rIns="133350" bIns="114300">
                      <a:noAutofit/>
                    </a:bodyPr>
                    <a:lstStyle/>
                    <a:p>
                      <a:r>
                        <a:rPr sz="1700" b="1">
                          <a:solidFill>
                            <a:srgbClr val="17283B"/>
                          </a:solidFill>
                          <a:latin typeface="AppleGothic"/>
                          <a:ea typeface="AppleGothic"/>
                          <a:cs typeface="AppleGothic"/>
                        </a:rPr>
                        <a:t>구분</a:t>
                      </a:r>
                    </a:p>
                  </a:txBody>
                  <a:tcPr marL="91440" marR="91440" marT="45720" marB="4572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EDF1F6"/>
                    </a:solidFill>
                  </a:tcPr>
                </a:tc>
                <a:tc>
                  <a:txBody>
                    <a:bodyPr wrap="none" lIns="133350" tIns="114300" rIns="133350" bIns="114300">
                      <a:noAutofit/>
                    </a:bodyPr>
                    <a:lstStyle/>
                    <a:p>
                      <a:r>
                        <a:rPr sz="1700" b="1">
                          <a:solidFill>
                            <a:srgbClr val="17283B"/>
                          </a:solidFill>
                          <a:latin typeface="AppleGothic"/>
                          <a:ea typeface="AppleGothic"/>
                          <a:cs typeface="AppleGothic"/>
                        </a:rPr>
                        <a:t>기준</a:t>
                      </a:r>
                    </a:p>
                  </a:txBody>
                  <a:tcPr marL="91440" marR="91440" marT="45720" marB="4572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EDF1F6"/>
                    </a:solidFill>
                  </a:tcPr>
                </a:tc>
              </a:tr>
              <a:tr h="650875">
                <a:tc>
                  <a:txBody>
                    <a:bodyPr wrap="none" lIns="133350" tIns="114300" rIns="133350" bIns="114300">
                      <a:noAutofit/>
                    </a:bodyPr>
                    <a:lstStyle/>
                    <a:p>
                      <a:r>
                        <a:rPr sz="1700" b="1">
                          <a:solidFill>
                            <a:srgbClr val="17191B"/>
                          </a:solidFill>
                          <a:latin typeface="AppleGothic"/>
                          <a:ea typeface="AppleGothic"/>
                          <a:cs typeface="AppleGothic"/>
                        </a:rPr>
                        <a:t>아주대AI대학원</a:t>
                      </a:r>
                    </a:p>
                  </a:txBody>
                  <a:tcPr marL="91440" marR="91440" marT="45720" marB="4572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 lIns="133350" tIns="114300" rIns="133350" bIns="114300">
                      <a:noAutofit/>
                    </a:bodyPr>
                    <a:lstStyle/>
                    <a:p>
                      <a:r>
                        <a:rPr sz="1700" b="0">
                          <a:solidFill>
                            <a:srgbClr val="52606B"/>
                          </a:solidFill>
                          <a:latin typeface="AppleGothic"/>
                          <a:ea typeface="AppleGothic"/>
                          <a:cs typeface="AppleGothic"/>
                        </a:rPr>
                        <a:t>2–4인 자율 팀 · LMS 제출</a:t>
                      </a:r>
                    </a:p>
                  </a:txBody>
                  <a:tcPr marL="91440" marR="91440" marT="45720" marB="4572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FFFFFF"/>
                    </a:solidFill>
                  </a:tcPr>
                </a:tc>
              </a:tr>
              <a:tr h="650875">
                <a:tc>
                  <a:txBody>
                    <a:bodyPr wrap="none" lIns="133350" tIns="114300" rIns="133350" bIns="114300">
                      <a:noAutofit/>
                    </a:bodyPr>
                    <a:lstStyle/>
                    <a:p>
                      <a:r>
                        <a:rPr sz="1700" b="1">
                          <a:solidFill>
                            <a:srgbClr val="17191B"/>
                          </a:solidFill>
                          <a:latin typeface="AppleGothic"/>
                          <a:ea typeface="AppleGothic"/>
                          <a:cs typeface="AppleGothic"/>
                        </a:rPr>
                        <a:t>군산대·국립창원대 등</a:t>
                      </a:r>
                    </a:p>
                  </a:txBody>
                  <a:tcPr marL="91440" marR="91440" marT="45720" marB="4572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 lIns="133350" tIns="114300" rIns="133350" bIns="114300">
                      <a:noAutofit/>
                    </a:bodyPr>
                    <a:lstStyle/>
                    <a:p>
                      <a:r>
                        <a:rPr sz="1700" b="0">
                          <a:solidFill>
                            <a:srgbClr val="52606B"/>
                          </a:solidFill>
                          <a:latin typeface="AppleGothic"/>
                          <a:ea typeface="AppleGothic"/>
                          <a:cs typeface="AppleGothic"/>
                        </a:rPr>
                        <a:t>개인 진행 가능 · 공지 교수 이메일</a:t>
                      </a:r>
                    </a:p>
                  </a:txBody>
                  <a:tcPr marL="91440" marR="91440" marT="45720" marB="4572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FFFFFF"/>
                    </a:solidFill>
                  </a:tcPr>
                </a:tc>
              </a:tr>
              <a:tr h="650875">
                <a:tc>
                  <a:txBody>
                    <a:bodyPr wrap="none" lIns="133350" tIns="114300" rIns="133350" bIns="114300">
                      <a:noAutofit/>
                    </a:bodyPr>
                    <a:lstStyle/>
                    <a:p>
                      <a:r>
                        <a:rPr sz="1700" b="1">
                          <a:solidFill>
                            <a:srgbClr val="17191B"/>
                          </a:solidFill>
                          <a:latin typeface="AppleGothic"/>
                          <a:ea typeface="AppleGothic"/>
                          <a:cs typeface="AppleGothic"/>
                        </a:rPr>
                        <a:t>개별 예외</a:t>
                      </a:r>
                    </a:p>
                  </a:txBody>
                  <a:tcPr marL="91440" marR="91440" marT="45720" marB="4572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 lIns="133350" tIns="114300" rIns="133350" bIns="114300">
                      <a:noAutofit/>
                    </a:bodyPr>
                    <a:lstStyle/>
                    <a:p>
                      <a:r>
                        <a:rPr sz="1700" b="0">
                          <a:solidFill>
                            <a:srgbClr val="52606B"/>
                          </a:solidFill>
                          <a:latin typeface="AppleGothic"/>
                          <a:ea typeface="AppleGothic"/>
                          <a:cs typeface="AppleGothic"/>
                        </a:rPr>
                        <a:t>교수 승인 여부 별도 확인</a:t>
                      </a:r>
                    </a:p>
                  </a:txBody>
                  <a:tcPr marL="91440" marR="91440" marT="45720" marB="4572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FFFFFF"/>
                    </a:solidFill>
                  </a:tcPr>
                </a:tc>
              </a:tr>
              <a:tr h="650875">
                <a:tc>
                  <a:txBody>
                    <a:bodyPr wrap="none" lIns="133350" tIns="114300" rIns="133350" bIns="114300">
                      <a:noAutofit/>
                    </a:bodyPr>
                    <a:lstStyle/>
                    <a:p>
                      <a:r>
                        <a:rPr sz="1700" b="1">
                          <a:solidFill>
                            <a:srgbClr val="17191B"/>
                          </a:solidFill>
                          <a:latin typeface="AppleGothic"/>
                          <a:ea typeface="AppleGothic"/>
                          <a:cs typeface="AppleGothic"/>
                        </a:rPr>
                        <a:t>10.16 · 7주차</a:t>
                      </a:r>
                    </a:p>
                  </a:txBody>
                  <a:tcPr marL="91440" marR="91440" marT="45720" marB="4572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 lIns="133350" tIns="114300" rIns="133350" bIns="114300">
                      <a:noAutofit/>
                    </a:bodyPr>
                    <a:lstStyle/>
                    <a:p>
                      <a:r>
                        <a:rPr sz="1700" b="0">
                          <a:solidFill>
                            <a:srgbClr val="52606B"/>
                          </a:solidFill>
                          <a:latin typeface="AppleGothic"/>
                          <a:ea typeface="AppleGothic"/>
                          <a:cs typeface="AppleGothic"/>
                        </a:rPr>
                        <a:t>초안 0.1·피드백 준비</a:t>
                      </a:r>
                    </a:p>
                  </a:txBody>
                  <a:tcPr marL="91440" marR="91440" marT="45720" marB="4572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FFFFFF"/>
                    </a:solidFill>
                  </a:tcPr>
                </a:tc>
              </a:tr>
              <a:tr h="650875">
                <a:tc>
                  <a:txBody>
                    <a:bodyPr wrap="none" lIns="133350" tIns="114300" rIns="133350" bIns="114300">
                      <a:noAutofit/>
                    </a:bodyPr>
                    <a:lstStyle/>
                    <a:p>
                      <a:r>
                        <a:rPr sz="1700" b="1">
                          <a:solidFill>
                            <a:srgbClr val="17191B"/>
                          </a:solidFill>
                          <a:latin typeface="AppleGothic"/>
                          <a:ea typeface="AppleGothic"/>
                          <a:cs typeface="AppleGothic"/>
                        </a:rPr>
                        <a:t>10.22 · 목요일</a:t>
                      </a:r>
                    </a:p>
                  </a:txBody>
                  <a:tcPr marL="91440" marR="91440" marT="45720" marB="4572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 lIns="133350" tIns="114300" rIns="133350" bIns="114300">
                      <a:noAutofit/>
                    </a:bodyPr>
                    <a:lstStyle/>
                    <a:p>
                      <a:r>
                        <a:rPr sz="1700" b="0">
                          <a:solidFill>
                            <a:srgbClr val="52606B"/>
                          </a:solidFill>
                          <a:latin typeface="AppleGothic"/>
                          <a:ea typeface="AppleGothic"/>
                          <a:cs typeface="AppleGothic"/>
                        </a:rPr>
                        <a:t>수정본 0.2 · 23:59 한국시간 마감</a:t>
                      </a:r>
                    </a:p>
                  </a:txBody>
                  <a:tcPr marL="91440" marR="91440" marT="45720" marB="4572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841E824C-557A-4FF9-A602-E2BDDB107C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80975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283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1B6D5BD5-5CDA-4171-8193-36BEAACE65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460625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FD5D3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AC65FDDC-F402-4D1B-B7F9-096BF14816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1115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FD5D3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17BE9B44-D6B1-4E3C-B718-B715D93D29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762375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FD5D3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F58DF47B-C4B5-485B-99B6-00906C973C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41325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FD5D3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B2CDF011-0B9B-4062-91DE-3F64AC2F73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064125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FD5D3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B755DFF6-2856-4F4F-9B42-35F1243E6C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7150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283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AB3A646C-EE60-4F0E-8E59-7AACC1BD84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791200"/>
            <a:ext cx="109728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1600" b="0">
                <a:solidFill>
                  <a:srgbClr val="52606B"/>
                </a:solidFill>
                <a:latin typeface="AppleGothic"/>
                <a:ea typeface="AppleGothic"/>
                <a:cs typeface="AppleGothic"/>
              </a:defRPr>
            </a:defPPr>
          </a:lstStyle>
          <a:p xmlns:a="http://schemas.openxmlformats.org/drawingml/2006/main">
            <a:pPr algn="l">
              <a:lnSpc>
                <a:spcPct val="116000"/>
              </a:lnSpc>
              <a:buNone/>
              <a:defRPr sz="1600" b="0">
                <a:solidFill>
                  <a:srgbClr val="52606B"/>
                </a:solidFill>
                <a:latin typeface="AppleGothic"/>
                <a:ea typeface="AppleGothic"/>
                <a:cs typeface="AppleGothic"/>
              </a:defRPr>
            </a:pPr>
            <a:r>
              <a:rPr sz="1600" b="0">
                <a:solidFill>
                  <a:srgbClr val="52606B"/>
                </a:solidFill>
                <a:latin typeface="AppleGothic"/>
                <a:ea typeface="AppleGothic"/>
                <a:cs typeface="AppleGothic"/>
              </a:rPr>
              <a:t>10.23(금)은 시험·실시간 강의 없이 제출물 평가 · 팀 신청 폼과 제출함은 별개</a:t>
            </a:r>
          </a:p>
        </p:txBody>
      </p:sp>
    </p:spTree>
    <p:extLst>
      <p:ext uri="{BB962C8B-B14F-4D97-AF65-F5344CB8AC3E}">
        <p14:creationId xmlns:p14="http://schemas.microsoft.com/office/powerpoint/2010/main" val="1819629274"/>
      </p:ext>
    </p:extLst>
  </p:cSld>
</p:sld>
</file>

<file path=ppt/slides/slide68.xml><?xml version="1.0" encoding="utf-8"?>
<p:sld xmlns:p="http://schemas.openxmlformats.org/presentationml/2006/main">
  <p:cSld>
    <p:bg>
      <p:bgPr>
        <a:solidFill xmlns:a="http://schemas.openxmlformats.org/drawingml/2006/main">
          <a:srgbClr val="F7F7F5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F561AE04-21C5-4669-A5EE-2D3D1E2270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47650"/>
            <a:ext cx="9525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1400" b="0">
                <a:solidFill>
                  <a:srgbClr val="52606B"/>
                </a:solidFill>
                <a:latin typeface="AppleGothic"/>
                <a:ea typeface="AppleGothic"/>
                <a:cs typeface="AppleGothic"/>
              </a:defRPr>
            </a:defPPr>
          </a:lstStyle>
          <a:p xmlns:a="http://schemas.openxmlformats.org/drawingml/2006/main">
            <a:pPr algn="l">
              <a:lnSpc>
                <a:spcPct val="116000"/>
              </a:lnSpc>
              <a:buNone/>
              <a:defRPr sz="1400" b="0">
                <a:solidFill>
                  <a:srgbClr val="52606B"/>
                </a:solidFill>
                <a:latin typeface="AppleGothic"/>
                <a:ea typeface="AppleGothic"/>
                <a:cs typeface="AppleGothic"/>
              </a:defRPr>
            </a:pPr>
            <a:r>
              <a:rPr sz="1400" b="0">
                <a:solidFill>
                  <a:srgbClr val="52606B"/>
                </a:solidFill>
                <a:latin typeface="AppleGothic"/>
                <a:ea typeface="AppleGothic"/>
                <a:cs typeface="AppleGothic"/>
              </a:rPr>
              <a:t>LLMOPS / W07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521BDD1D-96FA-455F-A09B-EEE8644020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8500" y="247650"/>
            <a:ext cx="7239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r">
              <a:defRPr sz="1400" b="0">
                <a:solidFill>
                  <a:srgbClr val="52606B"/>
                </a:solidFill>
                <a:latin typeface="Menlo"/>
                <a:ea typeface="Menlo"/>
                <a:cs typeface="Menlo"/>
              </a:defRPr>
            </a:defPPr>
          </a:lstStyle>
          <a:p xmlns:a="http://schemas.openxmlformats.org/drawingml/2006/main">
            <a:pPr algn="r">
              <a:lnSpc>
                <a:spcPct val="116000"/>
              </a:lnSpc>
              <a:buNone/>
              <a:defRPr sz="1400" b="0">
                <a:solidFill>
                  <a:srgbClr val="52606B"/>
                </a:solidFill>
                <a:latin typeface="Menlo"/>
                <a:ea typeface="Menlo"/>
                <a:cs typeface="Menlo"/>
              </a:defRPr>
            </a:pPr>
            <a:r>
              <a:rPr sz="1400" b="0">
                <a:solidFill>
                  <a:srgbClr val="52606B"/>
                </a:solidFill>
                <a:latin typeface="Menlo"/>
                <a:ea typeface="Menlo"/>
                <a:cs typeface="Menlo"/>
              </a:rPr>
              <a:t>68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27697A51-CEF6-4CC9-BFCA-A879EB3B2D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23900"/>
            <a:ext cx="109728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3400" b="1">
                <a:solidFill>
                  <a:srgbClr val="17191B"/>
                </a:solidFill>
                <a:latin typeface="AppleGothic"/>
                <a:ea typeface="AppleGothic"/>
                <a:cs typeface="AppleGothic"/>
              </a:defRPr>
            </a:defPPr>
          </a:lstStyle>
          <a:p xmlns:a="http://schemas.openxmlformats.org/drawingml/2006/main">
            <a:pPr algn="l">
              <a:lnSpc>
                <a:spcPct val="116000"/>
              </a:lnSpc>
              <a:buNone/>
              <a:defRPr sz="3400" b="1">
                <a:solidFill>
                  <a:srgbClr val="17191B"/>
                </a:solidFill>
                <a:latin typeface="AppleGothic"/>
                <a:ea typeface="AppleGothic"/>
                <a:cs typeface="AppleGothic"/>
              </a:defRPr>
            </a:pPr>
            <a:r>
              <a:rPr sz="3400" b="1">
                <a:solidFill>
                  <a:srgbClr val="17191B"/>
                </a:solidFill>
                <a:latin typeface="AppleGothic"/>
                <a:ea typeface="AppleGothic"/>
                <a:cs typeface="AppleGothic"/>
              </a:rPr>
              <a:t>기획서의 구성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FC5EEDCF-509C-4966-B493-B182A8D096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315075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FD5D3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EE2B56D0-0BB8-4F21-805C-16331743E9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77000"/>
            <a:ext cx="109728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1400" b="0">
                <a:solidFill>
                  <a:srgbClr val="52606B"/>
                </a:solidFill>
                <a:latin typeface="AppleGothic"/>
                <a:ea typeface="AppleGothic"/>
                <a:cs typeface="AppleGothic"/>
              </a:defRPr>
            </a:defPPr>
          </a:lstStyle>
          <a:p xmlns:a="http://schemas.openxmlformats.org/drawingml/2006/main">
            <a:pPr algn="l">
              <a:lnSpc>
                <a:spcPct val="116000"/>
              </a:lnSpc>
              <a:buNone/>
              <a:defRPr sz="1400" b="0">
                <a:solidFill>
                  <a:srgbClr val="52606B"/>
                </a:solidFill>
                <a:latin typeface="AppleGothic"/>
                <a:ea typeface="AppleGothic"/>
                <a:cs typeface="AppleGothic"/>
              </a:defRPr>
            </a:pPr>
            <a:r>
              <a:rPr sz="1400" b="0">
                <a:solidFill>
                  <a:srgbClr val="52606B"/>
                </a:solidFill>
                <a:latin typeface="AppleGothic"/>
                <a:ea typeface="AppleGothic"/>
                <a:cs typeface="AppleGothic"/>
              </a:rPr>
              <a:t>데이터 · 모델 적응 · 비교 평가 · 기획서 초안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9994E935-F40E-4521-B49B-31C8761EB2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714625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FD5D3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422358BB-91BF-4592-B203-71653DA724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57475"/>
            <a:ext cx="152400" cy="1238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84B7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88A6DB3E-ED70-497E-BA34-8894AE56C7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095500"/>
            <a:ext cx="25527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1800" b="0">
                <a:solidFill>
                  <a:srgbClr val="284B72"/>
                </a:solidFill>
                <a:latin typeface="Menlo"/>
                <a:ea typeface="Menlo"/>
                <a:cs typeface="Menlo"/>
              </a:defRPr>
            </a:defPPr>
          </a:lstStyle>
          <a:p xmlns:a="http://schemas.openxmlformats.org/drawingml/2006/main">
            <a:pPr algn="l">
              <a:lnSpc>
                <a:spcPct val="116000"/>
              </a:lnSpc>
              <a:buNone/>
              <a:defRPr sz="1800" b="0">
                <a:solidFill>
                  <a:srgbClr val="284B72"/>
                </a:solidFill>
                <a:latin typeface="Menlo"/>
                <a:ea typeface="Menlo"/>
                <a:cs typeface="Menlo"/>
              </a:defRPr>
            </a:pPr>
            <a:r>
              <a:rPr sz="1800" b="0">
                <a:solidFill>
                  <a:srgbClr val="284B72"/>
                </a:solidFill>
                <a:latin typeface="Menlo"/>
                <a:ea typeface="Menlo"/>
                <a:cs typeface="Menlo"/>
              </a:rPr>
              <a:t>01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DC1FBD46-8AF5-474E-8A12-E6598AB83C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067050"/>
            <a:ext cx="249555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2500" b="1">
                <a:solidFill>
                  <a:srgbClr val="17191B"/>
                </a:solidFill>
                <a:latin typeface="AppleGothic"/>
                <a:ea typeface="AppleGothic"/>
                <a:cs typeface="AppleGothic"/>
              </a:defRPr>
            </a:defPPr>
          </a:lstStyle>
          <a:p xmlns:a="http://schemas.openxmlformats.org/drawingml/2006/main">
            <a:pPr algn="l">
              <a:lnSpc>
                <a:spcPct val="116000"/>
              </a:lnSpc>
              <a:buNone/>
              <a:defRPr sz="2500" b="1">
                <a:solidFill>
                  <a:srgbClr val="17191B"/>
                </a:solidFill>
                <a:latin typeface="AppleGothic"/>
                <a:ea typeface="AppleGothic"/>
                <a:cs typeface="AppleGothic"/>
              </a:defRPr>
            </a:pPr>
            <a:r>
              <a:rPr sz="2500" b="1">
                <a:solidFill>
                  <a:srgbClr val="17191B"/>
                </a:solidFill>
                <a:latin typeface="AppleGothic"/>
                <a:ea typeface="AppleGothic"/>
                <a:cs typeface="AppleGothic"/>
              </a:rPr>
              <a:t>2Pager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295FCB89-36DE-4F8F-A799-E521B03021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029075"/>
            <a:ext cx="2495550" cy="914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1800" b="0">
                <a:solidFill>
                  <a:srgbClr val="52606B"/>
                </a:solidFill>
                <a:latin typeface="AppleGothic"/>
                <a:ea typeface="AppleGothic"/>
                <a:cs typeface="AppleGothic"/>
              </a:defRPr>
            </a:defPPr>
          </a:lstStyle>
          <a:p xmlns:a="http://schemas.openxmlformats.org/drawingml/2006/main">
            <a:pPr algn="l">
              <a:lnSpc>
                <a:spcPct val="116000"/>
              </a:lnSpc>
              <a:buNone/>
              <a:defRPr sz="1800" b="0">
                <a:solidFill>
                  <a:srgbClr val="52606B"/>
                </a:solidFill>
                <a:latin typeface="AppleGothic"/>
                <a:ea typeface="AppleGothic"/>
                <a:cs typeface="AppleGothic"/>
              </a:defRPr>
            </a:pPr>
            <a:r>
              <a:rPr sz="1800" b="0">
                <a:solidFill>
                  <a:srgbClr val="52606B"/>
                </a:solidFill>
                <a:latin typeface="AppleGothic"/>
                <a:ea typeface="AppleGothic"/>
                <a:cs typeface="AppleGothic"/>
              </a:rPr>
              <a:t>문제·제안·근거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F5D64E49-B23E-485C-B90A-1AAE4B87DF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52800" y="2657475"/>
            <a:ext cx="152400" cy="1238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84B7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0F9EEBEC-CCB1-405C-9491-27B3F63CE1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52800" y="2095500"/>
            <a:ext cx="25527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1800" b="0">
                <a:solidFill>
                  <a:srgbClr val="284B72"/>
                </a:solidFill>
                <a:latin typeface="Menlo"/>
                <a:ea typeface="Menlo"/>
                <a:cs typeface="Menlo"/>
              </a:defRPr>
            </a:defPPr>
          </a:lstStyle>
          <a:p xmlns:a="http://schemas.openxmlformats.org/drawingml/2006/main">
            <a:pPr algn="l">
              <a:lnSpc>
                <a:spcPct val="116000"/>
              </a:lnSpc>
              <a:buNone/>
              <a:defRPr sz="1800" b="0">
                <a:solidFill>
                  <a:srgbClr val="284B72"/>
                </a:solidFill>
                <a:latin typeface="Menlo"/>
                <a:ea typeface="Menlo"/>
                <a:cs typeface="Menlo"/>
              </a:defRPr>
            </a:pPr>
            <a:r>
              <a:rPr sz="1800" b="0">
                <a:solidFill>
                  <a:srgbClr val="284B72"/>
                </a:solidFill>
                <a:latin typeface="Menlo"/>
                <a:ea typeface="Menlo"/>
                <a:cs typeface="Menlo"/>
              </a:rPr>
              <a:t>02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6AAB6B89-9FD0-4900-B0E1-3363EA0519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52800" y="3067050"/>
            <a:ext cx="249555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2500" b="1">
                <a:solidFill>
                  <a:srgbClr val="17191B"/>
                </a:solidFill>
                <a:latin typeface="AppleGothic"/>
                <a:ea typeface="AppleGothic"/>
                <a:cs typeface="AppleGothic"/>
              </a:defRPr>
            </a:defPPr>
          </a:lstStyle>
          <a:p xmlns:a="http://schemas.openxmlformats.org/drawingml/2006/main">
            <a:pPr algn="l">
              <a:lnSpc>
                <a:spcPct val="116000"/>
              </a:lnSpc>
              <a:buNone/>
              <a:defRPr sz="2500" b="1">
                <a:solidFill>
                  <a:srgbClr val="17191B"/>
                </a:solidFill>
                <a:latin typeface="AppleGothic"/>
                <a:ea typeface="AppleGothic"/>
                <a:cs typeface="AppleGothic"/>
              </a:defRPr>
            </a:pPr>
            <a:r>
              <a:rPr sz="2500" b="1">
                <a:solidFill>
                  <a:srgbClr val="17191B"/>
                </a:solidFill>
                <a:latin typeface="AppleGothic"/>
                <a:ea typeface="AppleGothic"/>
                <a:cs typeface="AppleGothic"/>
              </a:rPr>
              <a:t>PRD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E3A7C88C-3955-448C-A7A2-B6DAE8DFAC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52800" y="4029075"/>
            <a:ext cx="2495550" cy="914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1800" b="0">
                <a:solidFill>
                  <a:srgbClr val="52606B"/>
                </a:solidFill>
                <a:latin typeface="AppleGothic"/>
                <a:ea typeface="AppleGothic"/>
                <a:cs typeface="AppleGothic"/>
              </a:defRPr>
            </a:defPPr>
          </a:lstStyle>
          <a:p xmlns:a="http://schemas.openxmlformats.org/drawingml/2006/main">
            <a:pPr algn="l">
              <a:lnSpc>
                <a:spcPct val="116000"/>
              </a:lnSpc>
              <a:buNone/>
              <a:defRPr sz="1800" b="0">
                <a:solidFill>
                  <a:srgbClr val="52606B"/>
                </a:solidFill>
                <a:latin typeface="AppleGothic"/>
                <a:ea typeface="AppleGothic"/>
                <a:cs typeface="AppleGothic"/>
              </a:defRPr>
            </a:pPr>
            <a:r>
              <a:rPr sz="1800" b="0">
                <a:solidFill>
                  <a:srgbClr val="52606B"/>
                </a:solidFill>
                <a:latin typeface="AppleGothic"/>
                <a:ea typeface="AppleGothic"/>
                <a:cs typeface="AppleGothic"/>
              </a:rPr>
              <a:t>요구사항·검증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1C574B3A-B2FC-4A74-9CF4-792CEC0BE9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0" y="2657475"/>
            <a:ext cx="152400" cy="1238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84B7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CD91A18B-CFEB-45A5-A2AE-D46C87C5D8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0" y="2095500"/>
            <a:ext cx="25527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1800" b="0">
                <a:solidFill>
                  <a:srgbClr val="284B72"/>
                </a:solidFill>
                <a:latin typeface="Menlo"/>
                <a:ea typeface="Menlo"/>
                <a:cs typeface="Menlo"/>
              </a:defRPr>
            </a:defPPr>
          </a:lstStyle>
          <a:p xmlns:a="http://schemas.openxmlformats.org/drawingml/2006/main">
            <a:pPr algn="l">
              <a:lnSpc>
                <a:spcPct val="116000"/>
              </a:lnSpc>
              <a:buNone/>
              <a:defRPr sz="1800" b="0">
                <a:solidFill>
                  <a:srgbClr val="284B72"/>
                </a:solidFill>
                <a:latin typeface="Menlo"/>
                <a:ea typeface="Menlo"/>
                <a:cs typeface="Menlo"/>
              </a:defRPr>
            </a:pPr>
            <a:r>
              <a:rPr sz="1800" b="0">
                <a:solidFill>
                  <a:srgbClr val="284B72"/>
                </a:solidFill>
                <a:latin typeface="Menlo"/>
                <a:ea typeface="Menlo"/>
                <a:cs typeface="Menlo"/>
              </a:rPr>
              <a:t>03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45AC7AB1-403C-4C75-B1EC-6B9250436A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0" y="3067050"/>
            <a:ext cx="249555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2500" b="1">
                <a:solidFill>
                  <a:srgbClr val="17191B"/>
                </a:solidFill>
                <a:latin typeface="AppleGothic"/>
                <a:ea typeface="AppleGothic"/>
                <a:cs typeface="AppleGothic"/>
              </a:defRPr>
            </a:defPPr>
          </a:lstStyle>
          <a:p xmlns:a="http://schemas.openxmlformats.org/drawingml/2006/main">
            <a:pPr algn="l">
              <a:lnSpc>
                <a:spcPct val="116000"/>
              </a:lnSpc>
              <a:buNone/>
              <a:defRPr sz="2500" b="1">
                <a:solidFill>
                  <a:srgbClr val="17191B"/>
                </a:solidFill>
                <a:latin typeface="AppleGothic"/>
                <a:ea typeface="AppleGothic"/>
                <a:cs typeface="AppleGothic"/>
              </a:defRPr>
            </a:pPr>
            <a:r>
              <a:rPr sz="2500" b="1">
                <a:solidFill>
                  <a:srgbClr val="17191B"/>
                </a:solidFill>
                <a:latin typeface="AppleGothic"/>
                <a:ea typeface="AppleGothic"/>
                <a:cs typeface="AppleGothic"/>
              </a:rPr>
              <a:t>로드맵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19EE7114-EA68-4009-A9B8-7907583F46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0" y="4029075"/>
            <a:ext cx="2495550" cy="914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1800" b="0">
                <a:solidFill>
                  <a:srgbClr val="52606B"/>
                </a:solidFill>
                <a:latin typeface="AppleGothic"/>
                <a:ea typeface="AppleGothic"/>
                <a:cs typeface="AppleGothic"/>
              </a:defRPr>
            </a:defPPr>
          </a:lstStyle>
          <a:p xmlns:a="http://schemas.openxmlformats.org/drawingml/2006/main">
            <a:pPr algn="l">
              <a:lnSpc>
                <a:spcPct val="116000"/>
              </a:lnSpc>
              <a:buNone/>
              <a:defRPr sz="1800" b="0">
                <a:solidFill>
                  <a:srgbClr val="52606B"/>
                </a:solidFill>
                <a:latin typeface="AppleGothic"/>
                <a:ea typeface="AppleGothic"/>
                <a:cs typeface="AppleGothic"/>
              </a:defRPr>
            </a:pPr>
            <a:r>
              <a:rPr sz="1800" b="0">
                <a:solidFill>
                  <a:srgbClr val="52606B"/>
                </a:solidFill>
                <a:latin typeface="AppleGothic"/>
                <a:ea typeface="AppleGothic"/>
                <a:cs typeface="AppleGothic"/>
              </a:rPr>
              <a:t>범위·일정·담당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1D26777F-BD76-40FC-A4EE-21A65C1075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39200" y="2657475"/>
            <a:ext cx="152400" cy="1238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84B7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C87E2AA7-AD3D-4424-BFF6-6BC073A7E0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39200" y="2095500"/>
            <a:ext cx="25527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1800" b="0">
                <a:solidFill>
                  <a:srgbClr val="284B72"/>
                </a:solidFill>
                <a:latin typeface="Menlo"/>
                <a:ea typeface="Menlo"/>
                <a:cs typeface="Menlo"/>
              </a:defRPr>
            </a:defPPr>
          </a:lstStyle>
          <a:p xmlns:a="http://schemas.openxmlformats.org/drawingml/2006/main">
            <a:pPr algn="l">
              <a:lnSpc>
                <a:spcPct val="116000"/>
              </a:lnSpc>
              <a:buNone/>
              <a:defRPr sz="1800" b="0">
                <a:solidFill>
                  <a:srgbClr val="284B72"/>
                </a:solidFill>
                <a:latin typeface="Menlo"/>
                <a:ea typeface="Menlo"/>
                <a:cs typeface="Menlo"/>
              </a:defRPr>
            </a:pPr>
            <a:r>
              <a:rPr sz="1800" b="0">
                <a:solidFill>
                  <a:srgbClr val="284B72"/>
                </a:solidFill>
                <a:latin typeface="Menlo"/>
                <a:ea typeface="Menlo"/>
                <a:cs typeface="Menlo"/>
              </a:rPr>
              <a:t>04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C042E7DA-9165-4254-9D21-DDC45EA662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39200" y="3067050"/>
            <a:ext cx="249555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2500" b="1">
                <a:solidFill>
                  <a:srgbClr val="17191B"/>
                </a:solidFill>
                <a:latin typeface="AppleGothic"/>
                <a:ea typeface="AppleGothic"/>
                <a:cs typeface="AppleGothic"/>
              </a:defRPr>
            </a:defPPr>
          </a:lstStyle>
          <a:p xmlns:a="http://schemas.openxmlformats.org/drawingml/2006/main">
            <a:pPr algn="l">
              <a:lnSpc>
                <a:spcPct val="116000"/>
              </a:lnSpc>
              <a:buNone/>
              <a:defRPr sz="2500" b="1">
                <a:solidFill>
                  <a:srgbClr val="17191B"/>
                </a:solidFill>
                <a:latin typeface="AppleGothic"/>
                <a:ea typeface="AppleGothic"/>
                <a:cs typeface="AppleGothic"/>
              </a:defRPr>
            </a:pPr>
            <a:r>
              <a:rPr sz="2500" b="1">
                <a:solidFill>
                  <a:srgbClr val="17191B"/>
                </a:solidFill>
                <a:latin typeface="AppleGothic"/>
                <a:ea typeface="AppleGothic"/>
                <a:cs typeface="AppleGothic"/>
              </a:rPr>
              <a:t>선택 자료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900CDE96-9A4D-4D96-A315-5DF2B517D2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39200" y="4029075"/>
            <a:ext cx="2495550" cy="914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1800" b="0">
                <a:solidFill>
                  <a:srgbClr val="52606B"/>
                </a:solidFill>
                <a:latin typeface="AppleGothic"/>
                <a:ea typeface="AppleGothic"/>
                <a:cs typeface="AppleGothic"/>
              </a:defRPr>
            </a:defPPr>
          </a:lstStyle>
          <a:p xmlns:a="http://schemas.openxmlformats.org/drawingml/2006/main">
            <a:pPr algn="l">
              <a:lnSpc>
                <a:spcPct val="116000"/>
              </a:lnSpc>
              <a:buNone/>
              <a:defRPr sz="1800" b="0">
                <a:solidFill>
                  <a:srgbClr val="52606B"/>
                </a:solidFill>
                <a:latin typeface="AppleGothic"/>
                <a:ea typeface="AppleGothic"/>
                <a:cs typeface="AppleGothic"/>
              </a:defRPr>
            </a:pPr>
            <a:r>
              <a:rPr sz="1800" b="0">
                <a:solidFill>
                  <a:srgbClr val="52606B"/>
                </a:solidFill>
                <a:latin typeface="AppleGothic"/>
                <a:ea typeface="AppleGothic"/>
                <a:cs typeface="AppleGothic"/>
              </a:rPr>
              <a:t>시안·짧은 데모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9A4C3E98-93D9-4065-A9CD-5718C4200C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791200"/>
            <a:ext cx="109728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1600" b="0">
                <a:solidFill>
                  <a:srgbClr val="52606B"/>
                </a:solidFill>
                <a:latin typeface="AppleGothic"/>
                <a:ea typeface="AppleGothic"/>
                <a:cs typeface="AppleGothic"/>
              </a:defRPr>
            </a:defPPr>
          </a:lstStyle>
          <a:p xmlns:a="http://schemas.openxmlformats.org/drawingml/2006/main">
            <a:pPr algn="l">
              <a:lnSpc>
                <a:spcPct val="116000"/>
              </a:lnSpc>
              <a:buNone/>
              <a:defRPr sz="1600" b="0">
                <a:solidFill>
                  <a:srgbClr val="52606B"/>
                </a:solidFill>
                <a:latin typeface="AppleGothic"/>
                <a:ea typeface="AppleGothic"/>
                <a:cs typeface="AppleGothic"/>
              </a:defRPr>
            </a:pPr>
            <a:r>
              <a:rPr sz="1600" b="0">
                <a:solidFill>
                  <a:srgbClr val="52606B"/>
                </a:solidFill>
                <a:latin typeface="AppleGothic"/>
                <a:ea typeface="AppleGothic"/>
                <a:cs typeface="AppleGothic"/>
              </a:rPr>
              <a:t>형식 자유 · 동일 내용의 중복 문서 제출 불필요</a:t>
            </a:r>
          </a:p>
        </p:txBody>
      </p:sp>
    </p:spTree>
    <p:extLst>
      <p:ext uri="{BB962C8B-B14F-4D97-AF65-F5344CB8AC3E}">
        <p14:creationId xmlns:p14="http://schemas.microsoft.com/office/powerpoint/2010/main" val="1543236252"/>
      </p:ext>
    </p:extLst>
  </p:cSld>
</p:sld>
</file>

<file path=ppt/slides/slide69.xml><?xml version="1.0" encoding="utf-8"?>
<p:sld xmlns:p="http://schemas.openxmlformats.org/presentationml/2006/main">
  <p:cSld>
    <p:bg>
      <p:bgPr>
        <a:solidFill xmlns:a="http://schemas.openxmlformats.org/drawingml/2006/main">
          <a:srgbClr val="F7F7F5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C4DCFC55-9EF7-40A7-A725-1D7AD60472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47650"/>
            <a:ext cx="9525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1400" b="0">
                <a:solidFill>
                  <a:srgbClr val="52606B"/>
                </a:solidFill>
                <a:latin typeface="AppleGothic"/>
                <a:ea typeface="AppleGothic"/>
                <a:cs typeface="AppleGothic"/>
              </a:defRPr>
            </a:defPPr>
          </a:lstStyle>
          <a:p xmlns:a="http://schemas.openxmlformats.org/drawingml/2006/main">
            <a:pPr algn="l">
              <a:lnSpc>
                <a:spcPct val="116000"/>
              </a:lnSpc>
              <a:buNone/>
              <a:defRPr sz="1400" b="0">
                <a:solidFill>
                  <a:srgbClr val="52606B"/>
                </a:solidFill>
                <a:latin typeface="AppleGothic"/>
                <a:ea typeface="AppleGothic"/>
                <a:cs typeface="AppleGothic"/>
              </a:defRPr>
            </a:pPr>
            <a:r>
              <a:rPr sz="1400" b="0">
                <a:solidFill>
                  <a:srgbClr val="52606B"/>
                </a:solidFill>
                <a:latin typeface="AppleGothic"/>
                <a:ea typeface="AppleGothic"/>
                <a:cs typeface="AppleGothic"/>
              </a:rPr>
              <a:t>LLMOPS / W07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6E4D0CCB-F432-4336-A10A-D89DB63EE3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8500" y="247650"/>
            <a:ext cx="7239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r">
              <a:defRPr sz="1400" b="0">
                <a:solidFill>
                  <a:srgbClr val="52606B"/>
                </a:solidFill>
                <a:latin typeface="Menlo"/>
                <a:ea typeface="Menlo"/>
                <a:cs typeface="Menlo"/>
              </a:defRPr>
            </a:defPPr>
          </a:lstStyle>
          <a:p xmlns:a="http://schemas.openxmlformats.org/drawingml/2006/main">
            <a:pPr algn="r">
              <a:lnSpc>
                <a:spcPct val="116000"/>
              </a:lnSpc>
              <a:buNone/>
              <a:defRPr sz="1400" b="0">
                <a:solidFill>
                  <a:srgbClr val="52606B"/>
                </a:solidFill>
                <a:latin typeface="Menlo"/>
                <a:ea typeface="Menlo"/>
                <a:cs typeface="Menlo"/>
              </a:defRPr>
            </a:pPr>
            <a:r>
              <a:rPr sz="1400" b="0">
                <a:solidFill>
                  <a:srgbClr val="52606B"/>
                </a:solidFill>
                <a:latin typeface="Menlo"/>
                <a:ea typeface="Menlo"/>
                <a:cs typeface="Menlo"/>
              </a:rPr>
              <a:t>69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4E99A958-7E58-42F7-A1E1-BD777CB2DD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23900"/>
            <a:ext cx="109728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3400" b="1">
                <a:solidFill>
                  <a:srgbClr val="17191B"/>
                </a:solidFill>
                <a:latin typeface="AppleGothic"/>
                <a:ea typeface="AppleGothic"/>
                <a:cs typeface="AppleGothic"/>
              </a:defRPr>
            </a:defPPr>
          </a:lstStyle>
          <a:p xmlns:a="http://schemas.openxmlformats.org/drawingml/2006/main">
            <a:pPr algn="l">
              <a:lnSpc>
                <a:spcPct val="116000"/>
              </a:lnSpc>
              <a:buNone/>
              <a:defRPr sz="3400" b="1">
                <a:solidFill>
                  <a:srgbClr val="17191B"/>
                </a:solidFill>
                <a:latin typeface="AppleGothic"/>
                <a:ea typeface="AppleGothic"/>
                <a:cs typeface="AppleGothic"/>
              </a:defRPr>
            </a:pPr>
            <a:r>
              <a:rPr sz="3400" b="1">
                <a:solidFill>
                  <a:srgbClr val="17191B"/>
                </a:solidFill>
                <a:latin typeface="AppleGothic"/>
                <a:ea typeface="AppleGothic"/>
                <a:cs typeface="AppleGothic"/>
              </a:rPr>
              <a:t>두괄식 2Pager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73608DDA-98E3-4851-BA2C-9B8AC947F3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315075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FD5D3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1A70D5CB-EBD2-4C64-826E-CC8D9C381E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77000"/>
            <a:ext cx="109728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1400" b="0">
                <a:solidFill>
                  <a:srgbClr val="52606B"/>
                </a:solidFill>
                <a:latin typeface="AppleGothic"/>
                <a:ea typeface="AppleGothic"/>
                <a:cs typeface="AppleGothic"/>
              </a:defRPr>
            </a:defPPr>
          </a:lstStyle>
          <a:p xmlns:a="http://schemas.openxmlformats.org/drawingml/2006/main">
            <a:pPr algn="l">
              <a:lnSpc>
                <a:spcPct val="116000"/>
              </a:lnSpc>
              <a:buNone/>
              <a:defRPr sz="1400" b="0">
                <a:solidFill>
                  <a:srgbClr val="52606B"/>
                </a:solidFill>
                <a:latin typeface="AppleGothic"/>
                <a:ea typeface="AppleGothic"/>
                <a:cs typeface="AppleGothic"/>
              </a:defRPr>
            </a:pPr>
            <a:r>
              <a:rPr sz="1400" b="0">
                <a:solidFill>
                  <a:srgbClr val="52606B"/>
                </a:solidFill>
                <a:latin typeface="AppleGothic"/>
                <a:ea typeface="AppleGothic"/>
                <a:cs typeface="AppleGothic"/>
              </a:rPr>
              <a:t>데이터 · 모델 적응 · 비교 평가 · 기획서 초안</a:t>
            </a:r>
          </a:p>
        </p:txBody>
      </p:sp>
      <p:graphicFrame>
        <p:nvGraphicFrame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AFFE5147-74D3-427D-A18C-1A73AE2D84A7}"/>
              </a:ext>
            </a:extLst>
          </p:cNvPr>
          <p:cNvGraphicFramePr/>
          <p:nvPr/>
        </p:nvGraphicFramePr>
        <p:xfrm>
          <a:off xmlns:a="http://schemas.openxmlformats.org/drawingml/2006/main" x="609600" y="1809750"/>
          <a:ext xmlns:a="http://schemas.openxmlformats.org/drawingml/2006/main" cx="10972800" cy="3714750"/>
        </p:xfrm>
        <a:graphic xmlns:a="http://schemas.openxmlformats.org/drawingml/2006/main">
          <a:graphicData uri="http://schemas.openxmlformats.org/drawingml/2006/table">
            <a:tbl>
              <a:tblPr firstRow="0" bandRow="0"/>
              <a:tblGrid>
                <a:gridCol w="3238500"/>
                <a:gridCol w="7734300"/>
              </a:tblGrid>
              <a:tr h="742950">
                <a:tc>
                  <a:txBody>
                    <a:bodyPr wrap="none" lIns="133350" tIns="114300" rIns="133350" bIns="114300">
                      <a:noAutofit/>
                    </a:bodyPr>
                    <a:lstStyle/>
                    <a:p>
                      <a:r>
                        <a:rPr sz="1900" b="1">
                          <a:solidFill>
                            <a:srgbClr val="17283B"/>
                          </a:solidFill>
                          <a:latin typeface="AppleGothic"/>
                          <a:ea typeface="AppleGothic"/>
                          <a:cs typeface="AppleGothic"/>
                        </a:rPr>
                        <a:t>구간</a:t>
                      </a:r>
                    </a:p>
                  </a:txBody>
                  <a:tcPr marL="91440" marR="91440" marT="45720" marB="4572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EDF1F6"/>
                    </a:solidFill>
                  </a:tcPr>
                </a:tc>
                <a:tc>
                  <a:txBody>
                    <a:bodyPr wrap="none" lIns="133350" tIns="114300" rIns="133350" bIns="114300">
                      <a:noAutofit/>
                    </a:bodyPr>
                    <a:lstStyle/>
                    <a:p>
                      <a:r>
                        <a:rPr sz="1900" b="1">
                          <a:solidFill>
                            <a:srgbClr val="17283B"/>
                          </a:solidFill>
                          <a:latin typeface="AppleGothic"/>
                          <a:ea typeface="AppleGothic"/>
                          <a:cs typeface="AppleGothic"/>
                        </a:rPr>
                        <a:t>핵심 정보</a:t>
                      </a:r>
                    </a:p>
                  </a:txBody>
                  <a:tcPr marL="91440" marR="91440" marT="45720" marB="4572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EDF1F6"/>
                    </a:solidFill>
                  </a:tcPr>
                </a:tc>
              </a:tr>
              <a:tr h="742950">
                <a:tc>
                  <a:txBody>
                    <a:bodyPr wrap="none" lIns="133350" tIns="114300" rIns="133350" bIns="114300">
                      <a:noAutofit/>
                    </a:bodyPr>
                    <a:lstStyle/>
                    <a:p>
                      <a:r>
                        <a:rPr sz="1900" b="1">
                          <a:solidFill>
                            <a:srgbClr val="17191B"/>
                          </a:solidFill>
                          <a:latin typeface="AppleGothic"/>
                          <a:ea typeface="AppleGothic"/>
                          <a:cs typeface="AppleGothic"/>
                        </a:rPr>
                        <a:t>첫 문단</a:t>
                      </a:r>
                    </a:p>
                  </a:txBody>
                  <a:tcPr marL="91440" marR="91440" marT="45720" marB="4572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 lIns="133350" tIns="114300" rIns="133350" bIns="114300">
                      <a:noAutofit/>
                    </a:bodyPr>
                    <a:lstStyle/>
                    <a:p>
                      <a:r>
                        <a:rPr sz="1900" b="0">
                          <a:solidFill>
                            <a:srgbClr val="52606B"/>
                          </a:solidFill>
                          <a:latin typeface="AppleGothic"/>
                          <a:ea typeface="AppleGothic"/>
                          <a:cs typeface="AppleGothic"/>
                        </a:rPr>
                        <a:t>누구에게 무엇을 제안하는가</a:t>
                      </a:r>
                    </a:p>
                  </a:txBody>
                  <a:tcPr marL="91440" marR="91440" marT="45720" marB="4572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FFFFFF"/>
                    </a:solidFill>
                  </a:tcPr>
                </a:tc>
              </a:tr>
              <a:tr h="742950">
                <a:tc>
                  <a:txBody>
                    <a:bodyPr wrap="none" lIns="133350" tIns="114300" rIns="133350" bIns="114300">
                      <a:noAutofit/>
                    </a:bodyPr>
                    <a:lstStyle/>
                    <a:p>
                      <a:r>
                        <a:rPr sz="1900" b="1">
                          <a:solidFill>
                            <a:srgbClr val="17191B"/>
                          </a:solidFill>
                          <a:latin typeface="AppleGothic"/>
                          <a:ea typeface="AppleGothic"/>
                          <a:cs typeface="AppleGothic"/>
                        </a:rPr>
                        <a:t>문제·근거</a:t>
                      </a:r>
                    </a:p>
                  </a:txBody>
                  <a:tcPr marL="91440" marR="91440" marT="45720" marB="4572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 lIns="133350" tIns="114300" rIns="133350" bIns="114300">
                      <a:noAutofit/>
                    </a:bodyPr>
                    <a:lstStyle/>
                    <a:p>
                      <a:r>
                        <a:rPr sz="1900" b="0">
                          <a:solidFill>
                            <a:srgbClr val="52606B"/>
                          </a:solidFill>
                          <a:latin typeface="AppleGothic"/>
                          <a:ea typeface="AppleGothic"/>
                          <a:cs typeface="AppleGothic"/>
                        </a:rPr>
                        <a:t>현재 대안의 한계와 관찰 증거</a:t>
                      </a:r>
                    </a:p>
                  </a:txBody>
                  <a:tcPr marL="91440" marR="91440" marT="45720" marB="4572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FFFFFF"/>
                    </a:solidFill>
                  </a:tcPr>
                </a:tc>
              </a:tr>
              <a:tr h="742950">
                <a:tc>
                  <a:txBody>
                    <a:bodyPr wrap="none" lIns="133350" tIns="114300" rIns="133350" bIns="114300">
                      <a:noAutofit/>
                    </a:bodyPr>
                    <a:lstStyle/>
                    <a:p>
                      <a:r>
                        <a:rPr sz="1900" b="1">
                          <a:solidFill>
                            <a:srgbClr val="17191B"/>
                          </a:solidFill>
                          <a:latin typeface="AppleGothic"/>
                          <a:ea typeface="AppleGothic"/>
                          <a:cs typeface="AppleGothic"/>
                        </a:rPr>
                        <a:t>해결·범위</a:t>
                      </a:r>
                    </a:p>
                  </a:txBody>
                  <a:tcPr marL="91440" marR="91440" marT="45720" marB="4572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 lIns="133350" tIns="114300" rIns="133350" bIns="114300">
                      <a:noAutofit/>
                    </a:bodyPr>
                    <a:lstStyle/>
                    <a:p>
                      <a:r>
                        <a:rPr sz="1900" b="0">
                          <a:solidFill>
                            <a:srgbClr val="52606B"/>
                          </a:solidFill>
                          <a:latin typeface="AppleGothic"/>
                          <a:ea typeface="AppleGothic"/>
                          <a:cs typeface="AppleGothic"/>
                        </a:rPr>
                        <a:t>최소 기능과 이번에 하지 않을 일</a:t>
                      </a:r>
                    </a:p>
                  </a:txBody>
                  <a:tcPr marL="91440" marR="91440" marT="45720" marB="4572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FFFFFF"/>
                    </a:solidFill>
                  </a:tcPr>
                </a:tc>
              </a:tr>
              <a:tr h="742950">
                <a:tc>
                  <a:txBody>
                    <a:bodyPr wrap="none" lIns="133350" tIns="114300" rIns="133350" bIns="114300">
                      <a:noAutofit/>
                    </a:bodyPr>
                    <a:lstStyle/>
                    <a:p>
                      <a:r>
                        <a:rPr sz="1900" b="1">
                          <a:solidFill>
                            <a:srgbClr val="17191B"/>
                          </a:solidFill>
                          <a:latin typeface="AppleGothic"/>
                          <a:ea typeface="AppleGothic"/>
                          <a:cs typeface="AppleGothic"/>
                        </a:rPr>
                        <a:t>검증·요청</a:t>
                      </a:r>
                    </a:p>
                  </a:txBody>
                  <a:tcPr marL="91440" marR="91440" marT="45720" marB="4572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 lIns="133350" tIns="114300" rIns="133350" bIns="114300">
                      <a:noAutofit/>
                    </a:bodyPr>
                    <a:lstStyle/>
                    <a:p>
                      <a:r>
                        <a:rPr sz="1900" b="0">
                          <a:solidFill>
                            <a:srgbClr val="52606B"/>
                          </a:solidFill>
                          <a:latin typeface="AppleGothic"/>
                          <a:ea typeface="AppleGothic"/>
                          <a:cs typeface="AppleGothic"/>
                        </a:rPr>
                        <a:t>성공 조건·주요 위험·확인할 질문</a:t>
                      </a:r>
                    </a:p>
                  </a:txBody>
                  <a:tcPr marL="91440" marR="91440" marT="45720" marB="4572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971A1CAC-E76D-4C51-B3BA-8601546C12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80975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283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3E9915DE-D92E-4468-AC79-7FAA9E1AC1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5527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FD5D3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2E3CE953-D589-437A-B948-B8C62C24AD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29565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FD5D3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C29431D5-2A40-43BE-AC23-E5CCEEAAFC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0386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FD5D3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11622AF7-9A8A-43D6-AAD6-6825878F9E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78155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FD5D3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2166C3DF-9A6D-4178-8E9B-4654FD4261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5245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283B"/>
          </a:solidFill>
          <a:ln xmlns:a="http://schemas.openxmlformats.org/drawingml/2006/main" w="0">
            <a:noFill/>
            <a:prstDash val="solid"/>
          </a:ln>
        </p:spPr>
      </p:sp>
    </p:spTree>
    <p:extLst>
      <p:ext uri="{BB962C8B-B14F-4D97-AF65-F5344CB8AC3E}">
        <p14:creationId xmlns:p14="http://schemas.microsoft.com/office/powerpoint/2010/main" val="2121822866"/>
      </p:ext>
    </p:extLst>
  </p:cSld>
</p:sld>
</file>

<file path=ppt/slides/slide70.xml><?xml version="1.0" encoding="utf-8"?>
<p:sld xmlns:p="http://schemas.openxmlformats.org/presentationml/2006/main">
  <p:cSld>
    <p:bg>
      <p:bgPr>
        <a:solidFill xmlns:a="http://schemas.openxmlformats.org/drawingml/2006/main">
          <a:srgbClr val="F7F7F5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21E8B614-7A27-4FCF-8274-3CB186A556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47650"/>
            <a:ext cx="9525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1400" b="0">
                <a:solidFill>
                  <a:srgbClr val="52606B"/>
                </a:solidFill>
                <a:latin typeface="AppleGothic"/>
                <a:ea typeface="AppleGothic"/>
                <a:cs typeface="AppleGothic"/>
              </a:defRPr>
            </a:defPPr>
          </a:lstStyle>
          <a:p xmlns:a="http://schemas.openxmlformats.org/drawingml/2006/main">
            <a:pPr algn="l">
              <a:lnSpc>
                <a:spcPct val="116000"/>
              </a:lnSpc>
              <a:buNone/>
              <a:defRPr sz="1400" b="0">
                <a:solidFill>
                  <a:srgbClr val="52606B"/>
                </a:solidFill>
                <a:latin typeface="AppleGothic"/>
                <a:ea typeface="AppleGothic"/>
                <a:cs typeface="AppleGothic"/>
              </a:defRPr>
            </a:pPr>
            <a:r>
              <a:rPr sz="1400" b="0">
                <a:solidFill>
                  <a:srgbClr val="52606B"/>
                </a:solidFill>
                <a:latin typeface="AppleGothic"/>
                <a:ea typeface="AppleGothic"/>
                <a:cs typeface="AppleGothic"/>
              </a:rPr>
              <a:t>LLMOPS / W07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349B709A-7B5D-4619-8E28-D5ACD13D9E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8500" y="247650"/>
            <a:ext cx="7239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r">
              <a:defRPr sz="1400" b="0">
                <a:solidFill>
                  <a:srgbClr val="52606B"/>
                </a:solidFill>
                <a:latin typeface="Menlo"/>
                <a:ea typeface="Menlo"/>
                <a:cs typeface="Menlo"/>
              </a:defRPr>
            </a:defPPr>
          </a:lstStyle>
          <a:p xmlns:a="http://schemas.openxmlformats.org/drawingml/2006/main">
            <a:pPr algn="r">
              <a:lnSpc>
                <a:spcPct val="116000"/>
              </a:lnSpc>
              <a:buNone/>
              <a:defRPr sz="1400" b="0">
                <a:solidFill>
                  <a:srgbClr val="52606B"/>
                </a:solidFill>
                <a:latin typeface="Menlo"/>
                <a:ea typeface="Menlo"/>
                <a:cs typeface="Menlo"/>
              </a:defRPr>
            </a:pPr>
            <a:r>
              <a:rPr sz="1400" b="0">
                <a:solidFill>
                  <a:srgbClr val="52606B"/>
                </a:solidFill>
                <a:latin typeface="Menlo"/>
                <a:ea typeface="Menlo"/>
                <a:cs typeface="Menlo"/>
              </a:rPr>
              <a:t>70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B2355A74-D836-463D-AC88-0B09C5683D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23900"/>
            <a:ext cx="109728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3400" b="1">
                <a:solidFill>
                  <a:srgbClr val="17191B"/>
                </a:solidFill>
                <a:latin typeface="AppleGothic"/>
                <a:ea typeface="AppleGothic"/>
                <a:cs typeface="AppleGothic"/>
              </a:defRPr>
            </a:defPPr>
          </a:lstStyle>
          <a:p xmlns:a="http://schemas.openxmlformats.org/drawingml/2006/main">
            <a:pPr algn="l">
              <a:lnSpc>
                <a:spcPct val="116000"/>
              </a:lnSpc>
              <a:buNone/>
              <a:defRPr sz="3400" b="1">
                <a:solidFill>
                  <a:srgbClr val="17191B"/>
                </a:solidFill>
                <a:latin typeface="AppleGothic"/>
                <a:ea typeface="AppleGothic"/>
                <a:cs typeface="AppleGothic"/>
              </a:defRPr>
            </a:pPr>
            <a:r>
              <a:rPr sz="3400" b="1">
                <a:solidFill>
                  <a:srgbClr val="17191B"/>
                </a:solidFill>
                <a:latin typeface="AppleGothic"/>
                <a:ea typeface="AppleGothic"/>
                <a:cs typeface="AppleGothic"/>
              </a:rPr>
              <a:t>제품 요구사항 문서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426F2B22-EB53-48E3-A64B-A81BD108DF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315075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FD5D3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2AA8E81A-3AFB-4827-A1F0-741A168743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77000"/>
            <a:ext cx="109728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1400" b="0">
                <a:solidFill>
                  <a:srgbClr val="52606B"/>
                </a:solidFill>
                <a:latin typeface="AppleGothic"/>
                <a:ea typeface="AppleGothic"/>
                <a:cs typeface="AppleGothic"/>
              </a:defRPr>
            </a:defPPr>
          </a:lstStyle>
          <a:p xmlns:a="http://schemas.openxmlformats.org/drawingml/2006/main">
            <a:pPr algn="l">
              <a:lnSpc>
                <a:spcPct val="116000"/>
              </a:lnSpc>
              <a:buNone/>
              <a:defRPr sz="1400" b="0">
                <a:solidFill>
                  <a:srgbClr val="52606B"/>
                </a:solidFill>
                <a:latin typeface="AppleGothic"/>
                <a:ea typeface="AppleGothic"/>
                <a:cs typeface="AppleGothic"/>
              </a:defRPr>
            </a:pPr>
            <a:r>
              <a:rPr sz="1400" b="0">
                <a:solidFill>
                  <a:srgbClr val="52606B"/>
                </a:solidFill>
                <a:latin typeface="AppleGothic"/>
                <a:ea typeface="AppleGothic"/>
                <a:cs typeface="AppleGothic"/>
              </a:rPr>
              <a:t>데이터 · 모델 적응 · 비교 평가 · 기획서 초안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4AEBDF75-F52A-44B2-B06F-C365B1FE2C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847850"/>
            <a:ext cx="5715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1800" b="0">
                <a:solidFill>
                  <a:srgbClr val="284B72"/>
                </a:solidFill>
                <a:latin typeface="Menlo"/>
                <a:ea typeface="Menlo"/>
                <a:cs typeface="Menlo"/>
              </a:defRPr>
            </a:defPPr>
          </a:lstStyle>
          <a:p xmlns:a="http://schemas.openxmlformats.org/drawingml/2006/main">
            <a:pPr algn="l">
              <a:lnSpc>
                <a:spcPct val="116000"/>
              </a:lnSpc>
              <a:buNone/>
              <a:defRPr sz="1800" b="0">
                <a:solidFill>
                  <a:srgbClr val="284B72"/>
                </a:solidFill>
                <a:latin typeface="Menlo"/>
                <a:ea typeface="Menlo"/>
                <a:cs typeface="Menlo"/>
              </a:defRPr>
            </a:pPr>
            <a:r>
              <a:rPr sz="1800" b="0">
                <a:solidFill>
                  <a:srgbClr val="284B72"/>
                </a:solidFill>
                <a:latin typeface="Menlo"/>
                <a:ea typeface="Menlo"/>
                <a:cs typeface="Menlo"/>
              </a:rPr>
              <a:t>01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59A8F62E-1E7E-40C8-9EAE-9F4DF6011F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90650" y="1828800"/>
            <a:ext cx="3000375" cy="36741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2300" b="1">
                <a:solidFill>
                  <a:srgbClr val="17191B"/>
                </a:solidFill>
                <a:latin typeface="AppleGothic"/>
                <a:ea typeface="AppleGothic"/>
                <a:cs typeface="AppleGothic"/>
              </a:defRPr>
            </a:defPPr>
          </a:lstStyle>
          <a:p xmlns:a="http://schemas.openxmlformats.org/drawingml/2006/main">
            <a:pPr algn="l">
              <a:lnSpc>
                <a:spcPct val="116000"/>
              </a:lnSpc>
              <a:buNone/>
              <a:defRPr sz="2300" b="1">
                <a:solidFill>
                  <a:srgbClr val="17191B"/>
                </a:solidFill>
                <a:latin typeface="AppleGothic"/>
                <a:ea typeface="AppleGothic"/>
                <a:cs typeface="AppleGothic"/>
              </a:defRPr>
            </a:pPr>
            <a:r>
              <a:rPr sz="2300" b="1">
                <a:solidFill>
                  <a:srgbClr val="17191B"/>
                </a:solidFill>
                <a:latin typeface="AppleGothic"/>
                <a:ea typeface="AppleGothic"/>
                <a:cs typeface="AppleGothic"/>
              </a:rPr>
              <a:t>사용 흐름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F4D2D973-AF18-49FF-82C2-288E95A6AF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81550" y="1828800"/>
            <a:ext cx="6781800" cy="36741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2100" b="0">
                <a:solidFill>
                  <a:srgbClr val="52606B"/>
                </a:solidFill>
                <a:latin typeface="AppleGothic"/>
                <a:ea typeface="AppleGothic"/>
                <a:cs typeface="AppleGothic"/>
              </a:defRPr>
            </a:defPPr>
          </a:lstStyle>
          <a:p xmlns:a="http://schemas.openxmlformats.org/drawingml/2006/main">
            <a:pPr algn="l">
              <a:lnSpc>
                <a:spcPct val="116000"/>
              </a:lnSpc>
              <a:buNone/>
              <a:defRPr sz="2100" b="0">
                <a:solidFill>
                  <a:srgbClr val="52606B"/>
                </a:solidFill>
                <a:latin typeface="AppleGothic"/>
                <a:ea typeface="AppleGothic"/>
                <a:cs typeface="AppleGothic"/>
              </a:defRPr>
            </a:pPr>
            <a:r>
              <a:rPr sz="2100" b="0">
                <a:solidFill>
                  <a:srgbClr val="52606B"/>
                </a:solidFill>
                <a:latin typeface="AppleGothic"/>
                <a:ea typeface="AppleGothic"/>
                <a:cs typeface="AppleGothic"/>
              </a:rPr>
              <a:t>입력·처리·출력·수정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44598545-0F5C-4571-B64A-0403AAF610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90650" y="2329561"/>
            <a:ext cx="1019175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FD5D3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3C0AB9D7-1451-463F-B7E4-F52CFFBDB6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086100"/>
            <a:ext cx="5715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1800" b="0">
                <a:solidFill>
                  <a:srgbClr val="284B72"/>
                </a:solidFill>
                <a:latin typeface="Menlo"/>
                <a:ea typeface="Menlo"/>
                <a:cs typeface="Menlo"/>
              </a:defRPr>
            </a:defPPr>
          </a:lstStyle>
          <a:p xmlns:a="http://schemas.openxmlformats.org/drawingml/2006/main">
            <a:pPr algn="l">
              <a:lnSpc>
                <a:spcPct val="116000"/>
              </a:lnSpc>
              <a:buNone/>
              <a:defRPr sz="1800" b="0">
                <a:solidFill>
                  <a:srgbClr val="284B72"/>
                </a:solidFill>
                <a:latin typeface="Menlo"/>
                <a:ea typeface="Menlo"/>
                <a:cs typeface="Menlo"/>
              </a:defRPr>
            </a:pPr>
            <a:r>
              <a:rPr sz="1800" b="0">
                <a:solidFill>
                  <a:srgbClr val="284B72"/>
                </a:solidFill>
                <a:latin typeface="Menlo"/>
                <a:ea typeface="Menlo"/>
                <a:cs typeface="Menlo"/>
              </a:rPr>
              <a:t>02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9EC84E6A-C259-4EC0-A17A-02F95F5632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90650" y="3067050"/>
            <a:ext cx="3000375" cy="36741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2300" b="1">
                <a:solidFill>
                  <a:srgbClr val="17191B"/>
                </a:solidFill>
                <a:latin typeface="AppleGothic"/>
                <a:ea typeface="AppleGothic"/>
                <a:cs typeface="AppleGothic"/>
              </a:defRPr>
            </a:defPPr>
          </a:lstStyle>
          <a:p xmlns:a="http://schemas.openxmlformats.org/drawingml/2006/main">
            <a:pPr algn="l">
              <a:lnSpc>
                <a:spcPct val="116000"/>
              </a:lnSpc>
              <a:buNone/>
              <a:defRPr sz="2300" b="1">
                <a:solidFill>
                  <a:srgbClr val="17191B"/>
                </a:solidFill>
                <a:latin typeface="AppleGothic"/>
                <a:ea typeface="AppleGothic"/>
                <a:cs typeface="AppleGothic"/>
              </a:defRPr>
            </a:pPr>
            <a:r>
              <a:rPr sz="2300" b="1">
                <a:solidFill>
                  <a:srgbClr val="17191B"/>
                </a:solidFill>
                <a:latin typeface="AppleGothic"/>
                <a:ea typeface="AppleGothic"/>
                <a:cs typeface="AppleGothic"/>
              </a:rPr>
              <a:t>요구사항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00E52590-D6F6-46C7-A533-B369F7EC18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81550" y="3067050"/>
            <a:ext cx="6781800" cy="36741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2100" b="0">
                <a:solidFill>
                  <a:srgbClr val="52606B"/>
                </a:solidFill>
                <a:latin typeface="AppleGothic"/>
                <a:ea typeface="AppleGothic"/>
                <a:cs typeface="AppleGothic"/>
              </a:defRPr>
            </a:defPPr>
          </a:lstStyle>
          <a:p xmlns:a="http://schemas.openxmlformats.org/drawingml/2006/main">
            <a:pPr algn="l">
              <a:lnSpc>
                <a:spcPct val="116000"/>
              </a:lnSpc>
              <a:buNone/>
              <a:defRPr sz="2100" b="0">
                <a:solidFill>
                  <a:srgbClr val="52606B"/>
                </a:solidFill>
                <a:latin typeface="AppleGothic"/>
                <a:ea typeface="AppleGothic"/>
                <a:cs typeface="AppleGothic"/>
              </a:defRPr>
            </a:pPr>
            <a:r>
              <a:rPr sz="2100" b="0">
                <a:solidFill>
                  <a:srgbClr val="52606B"/>
                </a:solidFill>
                <a:latin typeface="AppleGothic"/>
                <a:ea typeface="AppleGothic"/>
                <a:cs typeface="AppleGothic"/>
              </a:rPr>
              <a:t>기능과 완료 조건의 연결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8734421A-13BE-43FA-B76A-A9D26B404A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90650" y="3567811"/>
            <a:ext cx="1019175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FD5D3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BD97D14B-807A-4169-B3E8-A5FE1FB051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324350"/>
            <a:ext cx="5715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1800" b="0">
                <a:solidFill>
                  <a:srgbClr val="284B72"/>
                </a:solidFill>
                <a:latin typeface="Menlo"/>
                <a:ea typeface="Menlo"/>
                <a:cs typeface="Menlo"/>
              </a:defRPr>
            </a:defPPr>
          </a:lstStyle>
          <a:p xmlns:a="http://schemas.openxmlformats.org/drawingml/2006/main">
            <a:pPr algn="l">
              <a:lnSpc>
                <a:spcPct val="116000"/>
              </a:lnSpc>
              <a:buNone/>
              <a:defRPr sz="1800" b="0">
                <a:solidFill>
                  <a:srgbClr val="284B72"/>
                </a:solidFill>
                <a:latin typeface="Menlo"/>
                <a:ea typeface="Menlo"/>
                <a:cs typeface="Menlo"/>
              </a:defRPr>
            </a:pPr>
            <a:r>
              <a:rPr sz="1800" b="0">
                <a:solidFill>
                  <a:srgbClr val="284B72"/>
                </a:solidFill>
                <a:latin typeface="Menlo"/>
                <a:ea typeface="Menlo"/>
                <a:cs typeface="Menlo"/>
              </a:rPr>
              <a:t>03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45B9C8E3-DF03-4655-BE2F-2FABFC23DA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90650" y="4305300"/>
            <a:ext cx="3000375" cy="36741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2300" b="1">
                <a:solidFill>
                  <a:srgbClr val="17191B"/>
                </a:solidFill>
                <a:latin typeface="AppleGothic"/>
                <a:ea typeface="AppleGothic"/>
                <a:cs typeface="AppleGothic"/>
              </a:defRPr>
            </a:defPPr>
          </a:lstStyle>
          <a:p xmlns:a="http://schemas.openxmlformats.org/drawingml/2006/main">
            <a:pPr algn="l">
              <a:lnSpc>
                <a:spcPct val="116000"/>
              </a:lnSpc>
              <a:buNone/>
              <a:defRPr sz="2300" b="1">
                <a:solidFill>
                  <a:srgbClr val="17191B"/>
                </a:solidFill>
                <a:latin typeface="AppleGothic"/>
                <a:ea typeface="AppleGothic"/>
                <a:cs typeface="AppleGothic"/>
              </a:defRPr>
            </a:pPr>
            <a:r>
              <a:rPr sz="2300" b="1">
                <a:solidFill>
                  <a:srgbClr val="17191B"/>
                </a:solidFill>
                <a:latin typeface="AppleGothic"/>
                <a:ea typeface="AppleGothic"/>
                <a:cs typeface="AppleGothic"/>
              </a:rPr>
              <a:t>운영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4F9D2D1E-7D01-4CB6-91C0-8BFEA60D56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81550" y="4305300"/>
            <a:ext cx="6781800" cy="36741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2100" b="0">
                <a:solidFill>
                  <a:srgbClr val="52606B"/>
                </a:solidFill>
                <a:latin typeface="AppleGothic"/>
                <a:ea typeface="AppleGothic"/>
                <a:cs typeface="AppleGothic"/>
              </a:defRPr>
            </a:defPPr>
          </a:lstStyle>
          <a:p xmlns:a="http://schemas.openxmlformats.org/drawingml/2006/main">
            <a:pPr algn="l">
              <a:lnSpc>
                <a:spcPct val="116000"/>
              </a:lnSpc>
              <a:buNone/>
              <a:defRPr sz="2100" b="0">
                <a:solidFill>
                  <a:srgbClr val="52606B"/>
                </a:solidFill>
                <a:latin typeface="AppleGothic"/>
                <a:ea typeface="AppleGothic"/>
                <a:cs typeface="AppleGothic"/>
              </a:defRPr>
            </a:pPr>
            <a:r>
              <a:rPr sz="2100" b="0">
                <a:solidFill>
                  <a:srgbClr val="52606B"/>
                </a:solidFill>
                <a:latin typeface="AppleGothic"/>
                <a:ea typeface="AppleGothic"/>
                <a:cs typeface="AppleGothic"/>
              </a:rPr>
              <a:t>권한·비용·실패·복구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B1C20511-B4B7-47E5-BF2B-FB5252C057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90650" y="4806061"/>
            <a:ext cx="1019175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FD5D3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38655FC3-CE4F-4B1C-B3BF-1A4619B99B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791200"/>
            <a:ext cx="109728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1600" b="0">
                <a:solidFill>
                  <a:srgbClr val="52606B"/>
                </a:solidFill>
                <a:latin typeface="AppleGothic"/>
                <a:ea typeface="AppleGothic"/>
                <a:cs typeface="AppleGothic"/>
              </a:defRPr>
            </a:defPPr>
          </a:lstStyle>
          <a:p xmlns:a="http://schemas.openxmlformats.org/drawingml/2006/main">
            <a:pPr algn="l">
              <a:lnSpc>
                <a:spcPct val="116000"/>
              </a:lnSpc>
              <a:buNone/>
              <a:defRPr sz="1600" b="0">
                <a:solidFill>
                  <a:srgbClr val="52606B"/>
                </a:solidFill>
                <a:latin typeface="AppleGothic"/>
                <a:ea typeface="AppleGothic"/>
                <a:cs typeface="AppleGothic"/>
              </a:defRPr>
            </a:pPr>
            <a:r>
              <a:rPr sz="1600" b="0">
                <a:solidFill>
                  <a:srgbClr val="52606B"/>
                </a:solidFill>
                <a:latin typeface="AppleGothic"/>
                <a:ea typeface="AppleGothic"/>
                <a:cs typeface="AppleGothic"/>
              </a:rPr>
              <a:t>PRD · Product Requirements Document · 제품 요구사항 문서</a:t>
            </a:r>
          </a:p>
        </p:txBody>
      </p:sp>
    </p:spTree>
    <p:extLst>
      <p:ext uri="{BB962C8B-B14F-4D97-AF65-F5344CB8AC3E}">
        <p14:creationId xmlns:p14="http://schemas.microsoft.com/office/powerpoint/2010/main" val="1913263790"/>
      </p:ext>
    </p:extLst>
  </p:cSld>
</p:sld>
</file>

<file path=ppt/slides/slide71.xml><?xml version="1.0" encoding="utf-8"?>
<p:sld xmlns:p="http://schemas.openxmlformats.org/presentationml/2006/main">
  <p:cSld>
    <p:bg>
      <p:bgPr>
        <a:solidFill xmlns:a="http://schemas.openxmlformats.org/drawingml/2006/main">
          <a:srgbClr val="F7F7F5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7A3A7FF2-A60C-456A-9960-685E28FEBA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47650"/>
            <a:ext cx="9525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1400" b="0">
                <a:solidFill>
                  <a:srgbClr val="52606B"/>
                </a:solidFill>
                <a:latin typeface="AppleGothic"/>
                <a:ea typeface="AppleGothic"/>
                <a:cs typeface="AppleGothic"/>
              </a:defRPr>
            </a:defPPr>
          </a:lstStyle>
          <a:p xmlns:a="http://schemas.openxmlformats.org/drawingml/2006/main">
            <a:pPr algn="l">
              <a:lnSpc>
                <a:spcPct val="116000"/>
              </a:lnSpc>
              <a:buNone/>
              <a:defRPr sz="1400" b="0">
                <a:solidFill>
                  <a:srgbClr val="52606B"/>
                </a:solidFill>
                <a:latin typeface="AppleGothic"/>
                <a:ea typeface="AppleGothic"/>
                <a:cs typeface="AppleGothic"/>
              </a:defRPr>
            </a:pPr>
            <a:r>
              <a:rPr sz="1400" b="0">
                <a:solidFill>
                  <a:srgbClr val="52606B"/>
                </a:solidFill>
                <a:latin typeface="AppleGothic"/>
                <a:ea typeface="AppleGothic"/>
                <a:cs typeface="AppleGothic"/>
              </a:rPr>
              <a:t>LLMOPS / W07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C0E8F49E-B271-42AD-98D2-F23016B679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8500" y="247650"/>
            <a:ext cx="7239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r">
              <a:defRPr sz="1400" b="0">
                <a:solidFill>
                  <a:srgbClr val="52606B"/>
                </a:solidFill>
                <a:latin typeface="Menlo"/>
                <a:ea typeface="Menlo"/>
                <a:cs typeface="Menlo"/>
              </a:defRPr>
            </a:defPPr>
          </a:lstStyle>
          <a:p xmlns:a="http://schemas.openxmlformats.org/drawingml/2006/main">
            <a:pPr algn="r">
              <a:lnSpc>
                <a:spcPct val="116000"/>
              </a:lnSpc>
              <a:buNone/>
              <a:defRPr sz="1400" b="0">
                <a:solidFill>
                  <a:srgbClr val="52606B"/>
                </a:solidFill>
                <a:latin typeface="Menlo"/>
                <a:ea typeface="Menlo"/>
                <a:cs typeface="Menlo"/>
              </a:defRPr>
            </a:pPr>
            <a:r>
              <a:rPr sz="1400" b="0">
                <a:solidFill>
                  <a:srgbClr val="52606B"/>
                </a:solidFill>
                <a:latin typeface="Menlo"/>
                <a:ea typeface="Menlo"/>
                <a:cs typeface="Menlo"/>
              </a:rPr>
              <a:t>71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805824BC-FA14-43B9-8C9C-9D648EB4C3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23900"/>
            <a:ext cx="109728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3400" b="1">
                <a:solidFill>
                  <a:srgbClr val="17191B"/>
                </a:solidFill>
                <a:latin typeface="AppleGothic"/>
                <a:ea typeface="AppleGothic"/>
                <a:cs typeface="AppleGothic"/>
              </a:defRPr>
            </a:defPPr>
          </a:lstStyle>
          <a:p xmlns:a="http://schemas.openxmlformats.org/drawingml/2006/main">
            <a:pPr algn="l">
              <a:lnSpc>
                <a:spcPct val="116000"/>
              </a:lnSpc>
              <a:buNone/>
              <a:defRPr sz="3400" b="1">
                <a:solidFill>
                  <a:srgbClr val="17191B"/>
                </a:solidFill>
                <a:latin typeface="AppleGothic"/>
                <a:ea typeface="AppleGothic"/>
                <a:cs typeface="AppleGothic"/>
              </a:defRPr>
            </a:pPr>
            <a:r>
              <a:rPr sz="3400" b="1">
                <a:solidFill>
                  <a:srgbClr val="17191B"/>
                </a:solidFill>
                <a:latin typeface="AppleGothic"/>
                <a:ea typeface="AppleGothic"/>
                <a:cs typeface="AppleGothic"/>
              </a:rPr>
              <a:t>글쓰기 개선 서비스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7E0850B8-B495-4A4D-9672-9CB850EECA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315075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FD5D3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529864CC-ABEE-4D1D-8E14-AE078747CC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77000"/>
            <a:ext cx="109728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1400" b="0">
                <a:solidFill>
                  <a:srgbClr val="52606B"/>
                </a:solidFill>
                <a:latin typeface="AppleGothic"/>
                <a:ea typeface="AppleGothic"/>
                <a:cs typeface="AppleGothic"/>
              </a:defRPr>
            </a:defPPr>
          </a:lstStyle>
          <a:p xmlns:a="http://schemas.openxmlformats.org/drawingml/2006/main">
            <a:pPr algn="l">
              <a:lnSpc>
                <a:spcPct val="116000"/>
              </a:lnSpc>
              <a:buNone/>
              <a:defRPr sz="1400" b="0">
                <a:solidFill>
                  <a:srgbClr val="52606B"/>
                </a:solidFill>
                <a:latin typeface="AppleGothic"/>
                <a:ea typeface="AppleGothic"/>
                <a:cs typeface="AppleGothic"/>
              </a:defRPr>
            </a:pPr>
            <a:r>
              <a:rPr sz="1400" b="0">
                <a:solidFill>
                  <a:srgbClr val="52606B"/>
                </a:solidFill>
                <a:latin typeface="AppleGothic"/>
                <a:ea typeface="AppleGothic"/>
                <a:cs typeface="AppleGothic"/>
              </a:rPr>
              <a:t>데이터 · 모델 적응 · 비교 평가 · 기획서 초안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B069020E-C2F4-4CBC-BA63-919D9A2BBC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714625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FD5D3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2DF5D177-51CA-4464-BE4E-89B96B6365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57475"/>
            <a:ext cx="152400" cy="1238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84B7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624CFC46-CDE4-45AF-AB25-9C7F332DAD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095500"/>
            <a:ext cx="25527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1800" b="0">
                <a:solidFill>
                  <a:srgbClr val="284B72"/>
                </a:solidFill>
                <a:latin typeface="Menlo"/>
                <a:ea typeface="Menlo"/>
                <a:cs typeface="Menlo"/>
              </a:defRPr>
            </a:defPPr>
          </a:lstStyle>
          <a:p xmlns:a="http://schemas.openxmlformats.org/drawingml/2006/main">
            <a:pPr algn="l">
              <a:lnSpc>
                <a:spcPct val="116000"/>
              </a:lnSpc>
              <a:buNone/>
              <a:defRPr sz="1800" b="0">
                <a:solidFill>
                  <a:srgbClr val="284B72"/>
                </a:solidFill>
                <a:latin typeface="Menlo"/>
                <a:ea typeface="Menlo"/>
                <a:cs typeface="Menlo"/>
              </a:defRPr>
            </a:pPr>
            <a:r>
              <a:rPr sz="1800" b="0">
                <a:solidFill>
                  <a:srgbClr val="284B72"/>
                </a:solidFill>
                <a:latin typeface="Menlo"/>
                <a:ea typeface="Menlo"/>
                <a:cs typeface="Menlo"/>
              </a:rPr>
              <a:t>01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9B9CDA07-52A8-40FA-A374-A657357537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067050"/>
            <a:ext cx="249555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2500" b="1">
                <a:solidFill>
                  <a:srgbClr val="17191B"/>
                </a:solidFill>
                <a:latin typeface="AppleGothic"/>
                <a:ea typeface="AppleGothic"/>
                <a:cs typeface="AppleGothic"/>
              </a:defRPr>
            </a:defPPr>
          </a:lstStyle>
          <a:p xmlns:a="http://schemas.openxmlformats.org/drawingml/2006/main">
            <a:pPr algn="l">
              <a:lnSpc>
                <a:spcPct val="116000"/>
              </a:lnSpc>
              <a:buNone/>
              <a:defRPr sz="2500" b="1">
                <a:solidFill>
                  <a:srgbClr val="17191B"/>
                </a:solidFill>
                <a:latin typeface="AppleGothic"/>
                <a:ea typeface="AppleGothic"/>
                <a:cs typeface="AppleGothic"/>
              </a:defRPr>
            </a:pPr>
            <a:r>
              <a:rPr sz="2500" b="1">
                <a:solidFill>
                  <a:srgbClr val="17191B"/>
                </a:solidFill>
                <a:latin typeface="AppleGothic"/>
                <a:ea typeface="AppleGothic"/>
                <a:cs typeface="AppleGothic"/>
              </a:rPr>
              <a:t>원문 구조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5B564551-D590-4F73-A312-7C685D20D1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029075"/>
            <a:ext cx="2495550" cy="914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1800" b="0">
                <a:solidFill>
                  <a:srgbClr val="52606B"/>
                </a:solidFill>
                <a:latin typeface="AppleGothic"/>
                <a:ea typeface="AppleGothic"/>
                <a:cs typeface="AppleGothic"/>
              </a:defRPr>
            </a:defPPr>
          </a:lstStyle>
          <a:p xmlns:a="http://schemas.openxmlformats.org/drawingml/2006/main">
            <a:pPr algn="l">
              <a:lnSpc>
                <a:spcPct val="116000"/>
              </a:lnSpc>
              <a:buNone/>
              <a:defRPr sz="1800" b="0">
                <a:solidFill>
                  <a:srgbClr val="52606B"/>
                </a:solidFill>
                <a:latin typeface="AppleGothic"/>
                <a:ea typeface="AppleGothic"/>
                <a:cs typeface="AppleGothic"/>
              </a:defRPr>
            </a:pPr>
            <a:r>
              <a:rPr sz="1800" b="0">
                <a:solidFill>
                  <a:srgbClr val="52606B"/>
                </a:solidFill>
                <a:latin typeface="AppleGothic"/>
                <a:ea typeface="AppleGothic"/>
                <a:cs typeface="AppleGothic"/>
              </a:rPr>
              <a:t>서론·본론·결론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CE9A3C7D-A0D7-4319-BF8A-224B143C3D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52800" y="2657475"/>
            <a:ext cx="152400" cy="1238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84B7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B3F9C2E0-1706-4CE1-89B5-0700874FE2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52800" y="2095500"/>
            <a:ext cx="25527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1800" b="0">
                <a:solidFill>
                  <a:srgbClr val="284B72"/>
                </a:solidFill>
                <a:latin typeface="Menlo"/>
                <a:ea typeface="Menlo"/>
                <a:cs typeface="Menlo"/>
              </a:defRPr>
            </a:defPPr>
          </a:lstStyle>
          <a:p xmlns:a="http://schemas.openxmlformats.org/drawingml/2006/main">
            <a:pPr algn="l">
              <a:lnSpc>
                <a:spcPct val="116000"/>
              </a:lnSpc>
              <a:buNone/>
              <a:defRPr sz="1800" b="0">
                <a:solidFill>
                  <a:srgbClr val="284B72"/>
                </a:solidFill>
                <a:latin typeface="Menlo"/>
                <a:ea typeface="Menlo"/>
                <a:cs typeface="Menlo"/>
              </a:defRPr>
            </a:pPr>
            <a:r>
              <a:rPr sz="1800" b="0">
                <a:solidFill>
                  <a:srgbClr val="284B72"/>
                </a:solidFill>
                <a:latin typeface="Menlo"/>
                <a:ea typeface="Menlo"/>
                <a:cs typeface="Menlo"/>
              </a:rPr>
              <a:t>02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F7F7CCC0-3BE9-49F7-820D-AAC29F6406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52800" y="3067050"/>
            <a:ext cx="249555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2500" b="1">
                <a:solidFill>
                  <a:srgbClr val="17191B"/>
                </a:solidFill>
                <a:latin typeface="AppleGothic"/>
                <a:ea typeface="AppleGothic"/>
                <a:cs typeface="AppleGothic"/>
              </a:defRPr>
            </a:defPPr>
          </a:lstStyle>
          <a:p xmlns:a="http://schemas.openxmlformats.org/drawingml/2006/main">
            <a:pPr algn="l">
              <a:lnSpc>
                <a:spcPct val="116000"/>
              </a:lnSpc>
              <a:buNone/>
              <a:defRPr sz="2500" b="1">
                <a:solidFill>
                  <a:srgbClr val="17191B"/>
                </a:solidFill>
                <a:latin typeface="AppleGothic"/>
                <a:ea typeface="AppleGothic"/>
                <a:cs typeface="AppleGothic"/>
              </a:defRPr>
            </a:pPr>
            <a:r>
              <a:rPr sz="2500" b="1">
                <a:solidFill>
                  <a:srgbClr val="17191B"/>
                </a:solidFill>
                <a:latin typeface="AppleGothic"/>
                <a:ea typeface="AppleGothic"/>
                <a:cs typeface="AppleGothic"/>
              </a:rPr>
              <a:t>기준별 판단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7972C5FC-BDCD-4763-AAF4-739D863FEF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52800" y="4029075"/>
            <a:ext cx="2495550" cy="914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1800" b="0">
                <a:solidFill>
                  <a:srgbClr val="52606B"/>
                </a:solidFill>
                <a:latin typeface="AppleGothic"/>
                <a:ea typeface="AppleGothic"/>
                <a:cs typeface="AppleGothic"/>
              </a:defRPr>
            </a:defPPr>
          </a:lstStyle>
          <a:p xmlns:a="http://schemas.openxmlformats.org/drawingml/2006/main">
            <a:pPr algn="l">
              <a:lnSpc>
                <a:spcPct val="116000"/>
              </a:lnSpc>
              <a:buNone/>
              <a:defRPr sz="1800" b="0">
                <a:solidFill>
                  <a:srgbClr val="52606B"/>
                </a:solidFill>
                <a:latin typeface="AppleGothic"/>
                <a:ea typeface="AppleGothic"/>
                <a:cs typeface="AppleGothic"/>
              </a:defRPr>
            </a:pPr>
            <a:r>
              <a:rPr sz="1800" b="0">
                <a:solidFill>
                  <a:srgbClr val="52606B"/>
                </a:solidFill>
                <a:latin typeface="AppleGothic"/>
                <a:ea typeface="AppleGothic"/>
                <a:cs typeface="AppleGothic"/>
              </a:rPr>
              <a:t>주장·근거 연결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B425F7BA-E683-4F7D-B51C-33AF66BD29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0" y="2657475"/>
            <a:ext cx="152400" cy="1238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84B7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7980C2C4-74AA-4957-9327-2A0C021151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0" y="2095500"/>
            <a:ext cx="25527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1800" b="0">
                <a:solidFill>
                  <a:srgbClr val="284B72"/>
                </a:solidFill>
                <a:latin typeface="Menlo"/>
                <a:ea typeface="Menlo"/>
                <a:cs typeface="Menlo"/>
              </a:defRPr>
            </a:defPPr>
          </a:lstStyle>
          <a:p xmlns:a="http://schemas.openxmlformats.org/drawingml/2006/main">
            <a:pPr algn="l">
              <a:lnSpc>
                <a:spcPct val="116000"/>
              </a:lnSpc>
              <a:buNone/>
              <a:defRPr sz="1800" b="0">
                <a:solidFill>
                  <a:srgbClr val="284B72"/>
                </a:solidFill>
                <a:latin typeface="Menlo"/>
                <a:ea typeface="Menlo"/>
                <a:cs typeface="Menlo"/>
              </a:defRPr>
            </a:pPr>
            <a:r>
              <a:rPr sz="1800" b="0">
                <a:solidFill>
                  <a:srgbClr val="284B72"/>
                </a:solidFill>
                <a:latin typeface="Menlo"/>
                <a:ea typeface="Menlo"/>
                <a:cs typeface="Menlo"/>
              </a:rPr>
              <a:t>03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128DA389-42C1-4588-AC82-13787264AC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0" y="3067050"/>
            <a:ext cx="249555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2500" b="1">
                <a:solidFill>
                  <a:srgbClr val="17191B"/>
                </a:solidFill>
                <a:latin typeface="AppleGothic"/>
                <a:ea typeface="AppleGothic"/>
                <a:cs typeface="AppleGothic"/>
              </a:defRPr>
            </a:defPPr>
          </a:lstStyle>
          <a:p xmlns:a="http://schemas.openxmlformats.org/drawingml/2006/main">
            <a:pPr algn="l">
              <a:lnSpc>
                <a:spcPct val="116000"/>
              </a:lnSpc>
              <a:buNone/>
              <a:defRPr sz="2500" b="1">
                <a:solidFill>
                  <a:srgbClr val="17191B"/>
                </a:solidFill>
                <a:latin typeface="AppleGothic"/>
                <a:ea typeface="AppleGothic"/>
                <a:cs typeface="AppleGothic"/>
              </a:defRPr>
            </a:pPr>
            <a:r>
              <a:rPr sz="2500" b="1">
                <a:solidFill>
                  <a:srgbClr val="17191B"/>
                </a:solidFill>
                <a:latin typeface="AppleGothic"/>
                <a:ea typeface="AppleGothic"/>
                <a:cs typeface="AppleGothic"/>
              </a:rPr>
              <a:t>근거 피드백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A63DBFD9-5A71-426C-87D9-1C2F62A038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0" y="4029075"/>
            <a:ext cx="2495550" cy="914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1800" b="0">
                <a:solidFill>
                  <a:srgbClr val="52606B"/>
                </a:solidFill>
                <a:latin typeface="AppleGothic"/>
                <a:ea typeface="AppleGothic"/>
                <a:cs typeface="AppleGothic"/>
              </a:defRPr>
            </a:defPPr>
          </a:lstStyle>
          <a:p xmlns:a="http://schemas.openxmlformats.org/drawingml/2006/main">
            <a:pPr algn="l">
              <a:lnSpc>
                <a:spcPct val="116000"/>
              </a:lnSpc>
              <a:buNone/>
              <a:defRPr sz="1800" b="0">
                <a:solidFill>
                  <a:srgbClr val="52606B"/>
                </a:solidFill>
                <a:latin typeface="AppleGothic"/>
                <a:ea typeface="AppleGothic"/>
                <a:cs typeface="AppleGothic"/>
              </a:defRPr>
            </a:pPr>
            <a:r>
              <a:rPr sz="1800" b="0">
                <a:solidFill>
                  <a:srgbClr val="52606B"/>
                </a:solidFill>
                <a:latin typeface="AppleGothic"/>
                <a:ea typeface="AppleGothic"/>
                <a:cs typeface="AppleGothic"/>
              </a:rPr>
              <a:t>원문 위치 제시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BDEEF980-B784-491A-B453-7BC303BFDD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39200" y="2657475"/>
            <a:ext cx="152400" cy="1238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84B7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58151540-D1FE-4845-B273-6701EB355F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39200" y="2095500"/>
            <a:ext cx="25527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1800" b="0">
                <a:solidFill>
                  <a:srgbClr val="284B72"/>
                </a:solidFill>
                <a:latin typeface="Menlo"/>
                <a:ea typeface="Menlo"/>
                <a:cs typeface="Menlo"/>
              </a:defRPr>
            </a:defPPr>
          </a:lstStyle>
          <a:p xmlns:a="http://schemas.openxmlformats.org/drawingml/2006/main">
            <a:pPr algn="l">
              <a:lnSpc>
                <a:spcPct val="116000"/>
              </a:lnSpc>
              <a:buNone/>
              <a:defRPr sz="1800" b="0">
                <a:solidFill>
                  <a:srgbClr val="284B72"/>
                </a:solidFill>
                <a:latin typeface="Menlo"/>
                <a:ea typeface="Menlo"/>
                <a:cs typeface="Menlo"/>
              </a:defRPr>
            </a:pPr>
            <a:r>
              <a:rPr sz="1800" b="0">
                <a:solidFill>
                  <a:srgbClr val="284B72"/>
                </a:solidFill>
                <a:latin typeface="Menlo"/>
                <a:ea typeface="Menlo"/>
                <a:cs typeface="Menlo"/>
              </a:rPr>
              <a:t>04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FC3A47E2-B5A2-472C-88E3-43AAD63A0B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39200" y="3067050"/>
            <a:ext cx="249555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2500" b="1">
                <a:solidFill>
                  <a:srgbClr val="17191B"/>
                </a:solidFill>
                <a:latin typeface="AppleGothic"/>
                <a:ea typeface="AppleGothic"/>
                <a:cs typeface="AppleGothic"/>
              </a:defRPr>
            </a:defPPr>
          </a:lstStyle>
          <a:p xmlns:a="http://schemas.openxmlformats.org/drawingml/2006/main">
            <a:pPr algn="l">
              <a:lnSpc>
                <a:spcPct val="116000"/>
              </a:lnSpc>
              <a:buNone/>
              <a:defRPr sz="2500" b="1">
                <a:solidFill>
                  <a:srgbClr val="17191B"/>
                </a:solidFill>
                <a:latin typeface="AppleGothic"/>
                <a:ea typeface="AppleGothic"/>
                <a:cs typeface="AppleGothic"/>
              </a:defRPr>
            </a:pPr>
            <a:r>
              <a:rPr sz="2500" b="1">
                <a:solidFill>
                  <a:srgbClr val="17191B"/>
                </a:solidFill>
                <a:latin typeface="AppleGothic"/>
                <a:ea typeface="AppleGothic"/>
                <a:cs typeface="AppleGothic"/>
              </a:rPr>
              <a:t>사용자 수정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3772CFC6-D397-4695-97CD-1B0A398164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39200" y="4029075"/>
            <a:ext cx="2495550" cy="914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1800" b="0">
                <a:solidFill>
                  <a:srgbClr val="52606B"/>
                </a:solidFill>
                <a:latin typeface="AppleGothic"/>
                <a:ea typeface="AppleGothic"/>
                <a:cs typeface="AppleGothic"/>
              </a:defRPr>
            </a:defPPr>
          </a:lstStyle>
          <a:p xmlns:a="http://schemas.openxmlformats.org/drawingml/2006/main">
            <a:pPr algn="l">
              <a:lnSpc>
                <a:spcPct val="116000"/>
              </a:lnSpc>
              <a:buNone/>
              <a:defRPr sz="1800" b="0">
                <a:solidFill>
                  <a:srgbClr val="52606B"/>
                </a:solidFill>
                <a:latin typeface="AppleGothic"/>
                <a:ea typeface="AppleGothic"/>
                <a:cs typeface="AppleGothic"/>
              </a:defRPr>
            </a:pPr>
            <a:r>
              <a:rPr sz="1800" b="0">
                <a:solidFill>
                  <a:srgbClr val="52606B"/>
                </a:solidFill>
                <a:latin typeface="AppleGothic"/>
                <a:ea typeface="AppleGothic"/>
                <a:cs typeface="AppleGothic"/>
              </a:rPr>
              <a:t>보류·재검토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0B1CE89D-0FC1-4EB9-820F-5910B5508B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791200"/>
            <a:ext cx="109728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1600" b="0">
                <a:solidFill>
                  <a:srgbClr val="52606B"/>
                </a:solidFill>
                <a:latin typeface="AppleGothic"/>
                <a:ea typeface="AppleGothic"/>
                <a:cs typeface="AppleGothic"/>
              </a:defRPr>
            </a:defPPr>
          </a:lstStyle>
          <a:p xmlns:a="http://schemas.openxmlformats.org/drawingml/2006/main">
            <a:pPr algn="l">
              <a:lnSpc>
                <a:spcPct val="116000"/>
              </a:lnSpc>
              <a:buNone/>
              <a:defRPr sz="1600" b="0">
                <a:solidFill>
                  <a:srgbClr val="52606B"/>
                </a:solidFill>
                <a:latin typeface="AppleGothic"/>
                <a:ea typeface="AppleGothic"/>
                <a:cs typeface="AppleGothic"/>
              </a:defRPr>
            </a:pPr>
            <a:r>
              <a:rPr sz="1600" b="0">
                <a:solidFill>
                  <a:srgbClr val="52606B"/>
                </a:solidFill>
                <a:latin typeface="AppleGothic"/>
                <a:ea typeface="AppleGothic"/>
                <a:cs typeface="AppleGothic"/>
              </a:rPr>
              <a:t>글쓰기의 유창성·이해도·구조를 하나의 점수로 섞지 않는 설계</a:t>
            </a:r>
          </a:p>
        </p:txBody>
      </p:sp>
    </p:spTree>
    <p:extLst>
      <p:ext uri="{BB962C8B-B14F-4D97-AF65-F5344CB8AC3E}">
        <p14:creationId xmlns:p14="http://schemas.microsoft.com/office/powerpoint/2010/main" val="2117717987"/>
      </p:ext>
    </p:extLst>
  </p:cSld>
</p:sld>
</file>

<file path=ppt/slides/slide72.xml><?xml version="1.0" encoding="utf-8"?>
<p:sld xmlns:p="http://schemas.openxmlformats.org/presentationml/2006/main">
  <p:cSld>
    <p:bg>
      <p:bgPr>
        <a:solidFill xmlns:a="http://schemas.openxmlformats.org/drawingml/2006/main">
          <a:srgbClr val="F7F7F5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01547045-83F8-44BB-8502-CD532D1EA4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47650"/>
            <a:ext cx="9525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1400" b="0">
                <a:solidFill>
                  <a:srgbClr val="52606B"/>
                </a:solidFill>
                <a:latin typeface="AppleGothic"/>
                <a:ea typeface="AppleGothic"/>
                <a:cs typeface="AppleGothic"/>
              </a:defRPr>
            </a:defPPr>
          </a:lstStyle>
          <a:p xmlns:a="http://schemas.openxmlformats.org/drawingml/2006/main">
            <a:pPr algn="l">
              <a:lnSpc>
                <a:spcPct val="116000"/>
              </a:lnSpc>
              <a:buNone/>
              <a:defRPr sz="1400" b="0">
                <a:solidFill>
                  <a:srgbClr val="52606B"/>
                </a:solidFill>
                <a:latin typeface="AppleGothic"/>
                <a:ea typeface="AppleGothic"/>
                <a:cs typeface="AppleGothic"/>
              </a:defRPr>
            </a:pPr>
            <a:r>
              <a:rPr sz="1400" b="0">
                <a:solidFill>
                  <a:srgbClr val="52606B"/>
                </a:solidFill>
                <a:latin typeface="AppleGothic"/>
                <a:ea typeface="AppleGothic"/>
                <a:cs typeface="AppleGothic"/>
              </a:rPr>
              <a:t>LLMOPS / W07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AF9B9481-0993-4693-96A8-B47FE42244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8500" y="247650"/>
            <a:ext cx="7239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r">
              <a:defRPr sz="1400" b="0">
                <a:solidFill>
                  <a:srgbClr val="52606B"/>
                </a:solidFill>
                <a:latin typeface="Menlo"/>
                <a:ea typeface="Menlo"/>
                <a:cs typeface="Menlo"/>
              </a:defRPr>
            </a:defPPr>
          </a:lstStyle>
          <a:p xmlns:a="http://schemas.openxmlformats.org/drawingml/2006/main">
            <a:pPr algn="r">
              <a:lnSpc>
                <a:spcPct val="116000"/>
              </a:lnSpc>
              <a:buNone/>
              <a:defRPr sz="1400" b="0">
                <a:solidFill>
                  <a:srgbClr val="52606B"/>
                </a:solidFill>
                <a:latin typeface="Menlo"/>
                <a:ea typeface="Menlo"/>
                <a:cs typeface="Menlo"/>
              </a:defRPr>
            </a:pPr>
            <a:r>
              <a:rPr sz="1400" b="0">
                <a:solidFill>
                  <a:srgbClr val="52606B"/>
                </a:solidFill>
                <a:latin typeface="Menlo"/>
                <a:ea typeface="Menlo"/>
                <a:cs typeface="Menlo"/>
              </a:rPr>
              <a:t>72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3EB302BB-7263-47E5-A37E-9715542C65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23900"/>
            <a:ext cx="109728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3400" b="1">
                <a:solidFill>
                  <a:srgbClr val="17191B"/>
                </a:solidFill>
                <a:latin typeface="AppleGothic"/>
                <a:ea typeface="AppleGothic"/>
                <a:cs typeface="AppleGothic"/>
              </a:defRPr>
            </a:defPPr>
          </a:lstStyle>
          <a:p xmlns:a="http://schemas.openxmlformats.org/drawingml/2006/main">
            <a:pPr algn="l">
              <a:lnSpc>
                <a:spcPct val="116000"/>
              </a:lnSpc>
              <a:buNone/>
              <a:defRPr sz="3400" b="1">
                <a:solidFill>
                  <a:srgbClr val="17191B"/>
                </a:solidFill>
                <a:latin typeface="AppleGothic"/>
                <a:ea typeface="AppleGothic"/>
                <a:cs typeface="AppleGothic"/>
              </a:defRPr>
            </a:pPr>
            <a:r>
              <a:rPr sz="3400" b="1">
                <a:solidFill>
                  <a:srgbClr val="17191B"/>
                </a:solidFill>
                <a:latin typeface="AppleGothic"/>
                <a:ea typeface="AppleGothic"/>
                <a:cs typeface="AppleGothic"/>
              </a:rPr>
              <a:t>글쓰기 서비스의 평가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FD1D4A68-020B-434B-9D21-D9B09E027F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315075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FD5D3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E7A15434-1826-4B5D-BFC6-1F31FBB38F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77000"/>
            <a:ext cx="109728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1400" b="0">
                <a:solidFill>
                  <a:srgbClr val="52606B"/>
                </a:solidFill>
                <a:latin typeface="AppleGothic"/>
                <a:ea typeface="AppleGothic"/>
                <a:cs typeface="AppleGothic"/>
              </a:defRPr>
            </a:defPPr>
          </a:lstStyle>
          <a:p xmlns:a="http://schemas.openxmlformats.org/drawingml/2006/main">
            <a:pPr algn="l">
              <a:lnSpc>
                <a:spcPct val="116000"/>
              </a:lnSpc>
              <a:buNone/>
              <a:defRPr sz="1400" b="0">
                <a:solidFill>
                  <a:srgbClr val="52606B"/>
                </a:solidFill>
                <a:latin typeface="AppleGothic"/>
                <a:ea typeface="AppleGothic"/>
                <a:cs typeface="AppleGothic"/>
              </a:defRPr>
            </a:pPr>
            <a:r>
              <a:rPr sz="1400" b="0">
                <a:solidFill>
                  <a:srgbClr val="52606B"/>
                </a:solidFill>
                <a:latin typeface="AppleGothic"/>
                <a:ea typeface="AppleGothic"/>
                <a:cs typeface="AppleGothic"/>
              </a:rPr>
              <a:t>데이터 · 모델 적응 · 비교 평가 · 기획서 초안</a:t>
            </a:r>
          </a:p>
        </p:txBody>
      </p:sp>
      <p:graphicFrame>
        <p:nvGraphicFrame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BBE16F6C-DF2B-4CD4-8DB1-7EEEE61425A6}"/>
              </a:ext>
            </a:extLst>
          </p:cNvPr>
          <p:cNvGraphicFramePr/>
          <p:nvPr/>
        </p:nvGraphicFramePr>
        <p:xfrm>
          <a:off xmlns:a="http://schemas.openxmlformats.org/drawingml/2006/main" x="609600" y="1809750"/>
          <a:ext xmlns:a="http://schemas.openxmlformats.org/drawingml/2006/main" cx="10972800" cy="3714750"/>
        </p:xfrm>
        <a:graphic xmlns:a="http://schemas.openxmlformats.org/drawingml/2006/main">
          <a:graphicData uri="http://schemas.openxmlformats.org/drawingml/2006/table">
            <a:tbl>
              <a:tblPr firstRow="0" bandRow="0"/>
              <a:tblGrid>
                <a:gridCol w="2857500"/>
                <a:gridCol w="4686300"/>
                <a:gridCol w="3429000"/>
              </a:tblGrid>
              <a:tr h="742950">
                <a:tc>
                  <a:txBody>
                    <a:bodyPr wrap="none" lIns="133350" tIns="114300" rIns="133350" bIns="114300">
                      <a:noAutofit/>
                    </a:bodyPr>
                    <a:lstStyle/>
                    <a:p>
                      <a:r>
                        <a:rPr sz="1900" b="1">
                          <a:solidFill>
                            <a:srgbClr val="17283B"/>
                          </a:solidFill>
                          <a:latin typeface="AppleGothic"/>
                          <a:ea typeface="AppleGothic"/>
                          <a:cs typeface="AppleGothic"/>
                        </a:rPr>
                        <a:t>차원</a:t>
                      </a:r>
                    </a:p>
                  </a:txBody>
                  <a:tcPr marL="91440" marR="91440" marT="45720" marB="4572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EDF1F6"/>
                    </a:solidFill>
                  </a:tcPr>
                </a:tc>
                <a:tc>
                  <a:txBody>
                    <a:bodyPr wrap="none" lIns="133350" tIns="114300" rIns="133350" bIns="114300">
                      <a:noAutofit/>
                    </a:bodyPr>
                    <a:lstStyle/>
                    <a:p>
                      <a:r>
                        <a:rPr sz="1900" b="1">
                          <a:solidFill>
                            <a:srgbClr val="17283B"/>
                          </a:solidFill>
                          <a:latin typeface="AppleGothic"/>
                          <a:ea typeface="AppleGothic"/>
                          <a:cs typeface="AppleGothic"/>
                        </a:rPr>
                        <a:t>확인 방법</a:t>
                      </a:r>
                    </a:p>
                  </a:txBody>
                  <a:tcPr marL="91440" marR="91440" marT="45720" marB="4572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EDF1F6"/>
                    </a:solidFill>
                  </a:tcPr>
                </a:tc>
                <a:tc>
                  <a:txBody>
                    <a:bodyPr wrap="none" lIns="133350" tIns="114300" rIns="133350" bIns="114300">
                      <a:noAutofit/>
                    </a:bodyPr>
                    <a:lstStyle/>
                    <a:p>
                      <a:r>
                        <a:rPr sz="1900" b="1">
                          <a:solidFill>
                            <a:srgbClr val="17283B"/>
                          </a:solidFill>
                          <a:latin typeface="AppleGothic"/>
                          <a:ea typeface="AppleGothic"/>
                          <a:cs typeface="AppleGothic"/>
                        </a:rPr>
                        <a:t>실패 처리</a:t>
                      </a:r>
                    </a:p>
                  </a:txBody>
                  <a:tcPr marL="91440" marR="91440" marT="45720" marB="4572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EDF1F6"/>
                    </a:solidFill>
                  </a:tcPr>
                </a:tc>
              </a:tr>
              <a:tr h="742950">
                <a:tc>
                  <a:txBody>
                    <a:bodyPr wrap="none" lIns="133350" tIns="114300" rIns="133350" bIns="114300">
                      <a:noAutofit/>
                    </a:bodyPr>
                    <a:lstStyle/>
                    <a:p>
                      <a:r>
                        <a:rPr sz="1900" b="1">
                          <a:solidFill>
                            <a:srgbClr val="17191B"/>
                          </a:solidFill>
                          <a:latin typeface="AppleGothic"/>
                          <a:ea typeface="AppleGothic"/>
                          <a:cs typeface="AppleGothic"/>
                        </a:rPr>
                        <a:t>구조</a:t>
                      </a:r>
                    </a:p>
                  </a:txBody>
                  <a:tcPr marL="91440" marR="91440" marT="45720" marB="4572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 lIns="133350" tIns="114300" rIns="133350" bIns="114300">
                      <a:noAutofit/>
                    </a:bodyPr>
                    <a:lstStyle/>
                    <a:p>
                      <a:r>
                        <a:rPr sz="1900" b="0">
                          <a:solidFill>
                            <a:srgbClr val="52606B"/>
                          </a:solidFill>
                          <a:latin typeface="AppleGothic"/>
                          <a:ea typeface="AppleGothic"/>
                          <a:cs typeface="AppleGothic"/>
                        </a:rPr>
                        <a:t>문단 역할·주장 구분</a:t>
                      </a:r>
                    </a:p>
                  </a:txBody>
                  <a:tcPr marL="91440" marR="91440" marT="45720" marB="4572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 lIns="133350" tIns="114300" rIns="133350" bIns="114300">
                      <a:noAutofit/>
                    </a:bodyPr>
                    <a:lstStyle/>
                    <a:p>
                      <a:r>
                        <a:rPr sz="1900" b="0">
                          <a:solidFill>
                            <a:srgbClr val="52606B"/>
                          </a:solidFill>
                          <a:latin typeface="AppleGothic"/>
                          <a:ea typeface="AppleGothic"/>
                          <a:cs typeface="AppleGothic"/>
                        </a:rPr>
                        <a:t>불명확 구간 보류</a:t>
                      </a:r>
                    </a:p>
                  </a:txBody>
                  <a:tcPr marL="91440" marR="91440" marT="45720" marB="4572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FFFFFF"/>
                    </a:solidFill>
                  </a:tcPr>
                </a:tc>
              </a:tr>
              <a:tr h="742950">
                <a:tc>
                  <a:txBody>
                    <a:bodyPr wrap="none" lIns="133350" tIns="114300" rIns="133350" bIns="114300">
                      <a:noAutofit/>
                    </a:bodyPr>
                    <a:lstStyle/>
                    <a:p>
                      <a:r>
                        <a:rPr sz="1900" b="1">
                          <a:solidFill>
                            <a:srgbClr val="17191B"/>
                          </a:solidFill>
                          <a:latin typeface="AppleGothic"/>
                          <a:ea typeface="AppleGothic"/>
                          <a:cs typeface="AppleGothic"/>
                        </a:rPr>
                        <a:t>근거</a:t>
                      </a:r>
                    </a:p>
                  </a:txBody>
                  <a:tcPr marL="91440" marR="91440" marT="45720" marB="4572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 lIns="133350" tIns="114300" rIns="133350" bIns="114300">
                      <a:noAutofit/>
                    </a:bodyPr>
                    <a:lstStyle/>
                    <a:p>
                      <a:r>
                        <a:rPr sz="1900" b="0">
                          <a:solidFill>
                            <a:srgbClr val="52606B"/>
                          </a:solidFill>
                          <a:latin typeface="AppleGothic"/>
                          <a:ea typeface="AppleGothic"/>
                          <a:cs typeface="AppleGothic"/>
                        </a:rPr>
                        <a:t>원문 위치·주장 연결</a:t>
                      </a:r>
                    </a:p>
                  </a:txBody>
                  <a:tcPr marL="91440" marR="91440" marT="45720" marB="4572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 lIns="133350" tIns="114300" rIns="133350" bIns="114300">
                      <a:noAutofit/>
                    </a:bodyPr>
                    <a:lstStyle/>
                    <a:p>
                      <a:r>
                        <a:rPr sz="1900" b="0">
                          <a:solidFill>
                            <a:srgbClr val="52606B"/>
                          </a:solidFill>
                          <a:latin typeface="AppleGothic"/>
                          <a:ea typeface="AppleGothic"/>
                          <a:cs typeface="AppleGothic"/>
                        </a:rPr>
                        <a:t>근거 누락 표시</a:t>
                      </a:r>
                    </a:p>
                  </a:txBody>
                  <a:tcPr marL="91440" marR="91440" marT="45720" marB="4572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FFFFFF"/>
                    </a:solidFill>
                  </a:tcPr>
                </a:tc>
              </a:tr>
              <a:tr h="742950">
                <a:tc>
                  <a:txBody>
                    <a:bodyPr wrap="none" lIns="133350" tIns="114300" rIns="133350" bIns="114300">
                      <a:noAutofit/>
                    </a:bodyPr>
                    <a:lstStyle/>
                    <a:p>
                      <a:r>
                        <a:rPr sz="1900" b="1">
                          <a:solidFill>
                            <a:srgbClr val="17191B"/>
                          </a:solidFill>
                          <a:latin typeface="AppleGothic"/>
                          <a:ea typeface="AppleGothic"/>
                          <a:cs typeface="AppleGothic"/>
                        </a:rPr>
                        <a:t>유창성</a:t>
                      </a:r>
                    </a:p>
                  </a:txBody>
                  <a:tcPr marL="91440" marR="91440" marT="45720" marB="4572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 lIns="133350" tIns="114300" rIns="133350" bIns="114300">
                      <a:noAutofit/>
                    </a:bodyPr>
                    <a:lstStyle/>
                    <a:p>
                      <a:r>
                        <a:rPr sz="1900" b="0">
                          <a:solidFill>
                            <a:srgbClr val="52606B"/>
                          </a:solidFill>
                          <a:latin typeface="AppleGothic"/>
                          <a:ea typeface="AppleGothic"/>
                          <a:cs typeface="AppleGothic"/>
                        </a:rPr>
                        <a:t>문장 연결·반복</a:t>
                      </a:r>
                    </a:p>
                  </a:txBody>
                  <a:tcPr marL="91440" marR="91440" marT="45720" marB="4572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 lIns="133350" tIns="114300" rIns="133350" bIns="114300">
                      <a:noAutofit/>
                    </a:bodyPr>
                    <a:lstStyle/>
                    <a:p>
                      <a:r>
                        <a:rPr sz="1900" b="0">
                          <a:solidFill>
                            <a:srgbClr val="52606B"/>
                          </a:solidFill>
                          <a:latin typeface="AppleGothic"/>
                          <a:ea typeface="AppleGothic"/>
                          <a:cs typeface="AppleGothic"/>
                        </a:rPr>
                        <a:t>수정 제안 선택</a:t>
                      </a:r>
                    </a:p>
                  </a:txBody>
                  <a:tcPr marL="91440" marR="91440" marT="45720" marB="4572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FFFFFF"/>
                    </a:solidFill>
                  </a:tcPr>
                </a:tc>
              </a:tr>
              <a:tr h="742950">
                <a:tc>
                  <a:txBody>
                    <a:bodyPr wrap="none" lIns="133350" tIns="114300" rIns="133350" bIns="114300">
                      <a:noAutofit/>
                    </a:bodyPr>
                    <a:lstStyle/>
                    <a:p>
                      <a:r>
                        <a:rPr sz="1900" b="1">
                          <a:solidFill>
                            <a:srgbClr val="17191B"/>
                          </a:solidFill>
                          <a:latin typeface="AppleGothic"/>
                          <a:ea typeface="AppleGothic"/>
                          <a:cs typeface="AppleGothic"/>
                        </a:rPr>
                        <a:t>이해도</a:t>
                      </a:r>
                    </a:p>
                  </a:txBody>
                  <a:tcPr marL="91440" marR="91440" marT="45720" marB="4572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 lIns="133350" tIns="114300" rIns="133350" bIns="114300">
                      <a:noAutofit/>
                    </a:bodyPr>
                    <a:lstStyle/>
                    <a:p>
                      <a:r>
                        <a:rPr sz="1900" b="0">
                          <a:solidFill>
                            <a:srgbClr val="52606B"/>
                          </a:solidFill>
                          <a:latin typeface="AppleGothic"/>
                          <a:ea typeface="AppleGothic"/>
                          <a:cs typeface="AppleGothic"/>
                        </a:rPr>
                        <a:t>질문 의도·내용 이해</a:t>
                      </a:r>
                    </a:p>
                  </a:txBody>
                  <a:tcPr marL="91440" marR="91440" marT="45720" marB="4572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 lIns="133350" tIns="114300" rIns="133350" bIns="114300">
                      <a:noAutofit/>
                    </a:bodyPr>
                    <a:lstStyle/>
                    <a:p>
                      <a:r>
                        <a:rPr sz="1900" b="0">
                          <a:solidFill>
                            <a:srgbClr val="52606B"/>
                          </a:solidFill>
                          <a:latin typeface="AppleGothic"/>
                          <a:ea typeface="AppleGothic"/>
                          <a:cs typeface="AppleGothic"/>
                        </a:rPr>
                        <a:t>사용자 확인 요청</a:t>
                      </a:r>
                    </a:p>
                  </a:txBody>
                  <a:tcPr marL="91440" marR="91440" marT="45720" marB="4572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0C076C49-A878-4F2F-BAB0-402A5E4F24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80975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283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0D9332D2-4423-4E91-BF86-632D5A7811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5527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FD5D3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25F113BB-06AE-493D-9558-D945612F09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29565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FD5D3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E3B84597-3726-4663-9C36-8B23166166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0386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FD5D3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AB66E984-2FFC-4726-A838-EA6D291DE8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78155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FD5D3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9D80B0C8-5FF9-4D09-AEEB-483C4374DB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5245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283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9732E17F-39D2-4C2A-997F-BFD60969CC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791200"/>
            <a:ext cx="109728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1600" b="0">
                <a:solidFill>
                  <a:srgbClr val="52606B"/>
                </a:solidFill>
                <a:latin typeface="AppleGothic"/>
                <a:ea typeface="AppleGothic"/>
                <a:cs typeface="AppleGothic"/>
              </a:defRPr>
            </a:defPPr>
          </a:lstStyle>
          <a:p xmlns:a="http://schemas.openxmlformats.org/drawingml/2006/main">
            <a:pPr algn="l">
              <a:lnSpc>
                <a:spcPct val="116000"/>
              </a:lnSpc>
              <a:buNone/>
              <a:defRPr sz="1600" b="0">
                <a:solidFill>
                  <a:srgbClr val="52606B"/>
                </a:solidFill>
                <a:latin typeface="AppleGothic"/>
                <a:ea typeface="AppleGothic"/>
                <a:cs typeface="AppleGothic"/>
              </a:defRPr>
            </a:pPr>
            <a:r>
              <a:rPr sz="1600" b="0">
                <a:solidFill>
                  <a:srgbClr val="52606B"/>
                </a:solidFill>
                <a:latin typeface="AppleGothic"/>
                <a:ea typeface="AppleGothic"/>
                <a:cs typeface="AppleGothic"/>
              </a:rPr>
              <a:t>설명용 평가 설계 · 학생 성적 자동 결정 도구가 아님</a:t>
            </a:r>
          </a:p>
        </p:txBody>
      </p:sp>
    </p:spTree>
    <p:extLst>
      <p:ext uri="{BB962C8B-B14F-4D97-AF65-F5344CB8AC3E}">
        <p14:creationId xmlns:p14="http://schemas.microsoft.com/office/powerpoint/2010/main" val="688464970"/>
      </p:ext>
    </p:extLst>
  </p:cSld>
</p:sld>
</file>

<file path=ppt/slides/slide73.xml><?xml version="1.0" encoding="utf-8"?>
<p:sld xmlns:p="http://schemas.openxmlformats.org/presentationml/2006/main">
  <p:cSld>
    <p:bg>
      <p:bgPr>
        <a:solidFill xmlns:a="http://schemas.openxmlformats.org/drawingml/2006/main">
          <a:srgbClr val="F7F7F5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AC34AFF9-0634-4E6B-AED9-D01528A589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47650"/>
            <a:ext cx="9525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1400" b="0">
                <a:solidFill>
                  <a:srgbClr val="52606B"/>
                </a:solidFill>
                <a:latin typeface="AppleGothic"/>
                <a:ea typeface="AppleGothic"/>
                <a:cs typeface="AppleGothic"/>
              </a:defRPr>
            </a:defPPr>
          </a:lstStyle>
          <a:p xmlns:a="http://schemas.openxmlformats.org/drawingml/2006/main">
            <a:pPr algn="l">
              <a:lnSpc>
                <a:spcPct val="116000"/>
              </a:lnSpc>
              <a:buNone/>
              <a:defRPr sz="1400" b="0">
                <a:solidFill>
                  <a:srgbClr val="52606B"/>
                </a:solidFill>
                <a:latin typeface="AppleGothic"/>
                <a:ea typeface="AppleGothic"/>
                <a:cs typeface="AppleGothic"/>
              </a:defRPr>
            </a:pPr>
            <a:r>
              <a:rPr sz="1400" b="0">
                <a:solidFill>
                  <a:srgbClr val="52606B"/>
                </a:solidFill>
                <a:latin typeface="AppleGothic"/>
                <a:ea typeface="AppleGothic"/>
                <a:cs typeface="AppleGothic"/>
              </a:rPr>
              <a:t>LLMOPS / W07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E24E55E8-C96D-4FB1-A878-F71730D707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8500" y="247650"/>
            <a:ext cx="7239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r">
              <a:defRPr sz="1400" b="0">
                <a:solidFill>
                  <a:srgbClr val="52606B"/>
                </a:solidFill>
                <a:latin typeface="Menlo"/>
                <a:ea typeface="Menlo"/>
                <a:cs typeface="Menlo"/>
              </a:defRPr>
            </a:defPPr>
          </a:lstStyle>
          <a:p xmlns:a="http://schemas.openxmlformats.org/drawingml/2006/main">
            <a:pPr algn="r">
              <a:lnSpc>
                <a:spcPct val="116000"/>
              </a:lnSpc>
              <a:buNone/>
              <a:defRPr sz="1400" b="0">
                <a:solidFill>
                  <a:srgbClr val="52606B"/>
                </a:solidFill>
                <a:latin typeface="Menlo"/>
                <a:ea typeface="Menlo"/>
                <a:cs typeface="Menlo"/>
              </a:defRPr>
            </a:pPr>
            <a:r>
              <a:rPr sz="1400" b="0">
                <a:solidFill>
                  <a:srgbClr val="52606B"/>
                </a:solidFill>
                <a:latin typeface="Menlo"/>
                <a:ea typeface="Menlo"/>
                <a:cs typeface="Menlo"/>
              </a:rPr>
              <a:t>73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D316F7AC-BD07-4DF4-82F9-75049EB8ED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23900"/>
            <a:ext cx="109728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3400" b="1">
                <a:solidFill>
                  <a:srgbClr val="17191B"/>
                </a:solidFill>
                <a:latin typeface="AppleGothic"/>
                <a:ea typeface="AppleGothic"/>
                <a:cs typeface="AppleGothic"/>
              </a:defRPr>
            </a:defPPr>
          </a:lstStyle>
          <a:p xmlns:a="http://schemas.openxmlformats.org/drawingml/2006/main">
            <a:pPr algn="l">
              <a:lnSpc>
                <a:spcPct val="116000"/>
              </a:lnSpc>
              <a:buNone/>
              <a:defRPr sz="3400" b="1">
                <a:solidFill>
                  <a:srgbClr val="17191B"/>
                </a:solidFill>
                <a:latin typeface="AppleGothic"/>
                <a:ea typeface="AppleGothic"/>
                <a:cs typeface="AppleGothic"/>
              </a:defRPr>
            </a:pPr>
            <a:r>
              <a:rPr sz="3400" b="1">
                <a:solidFill>
                  <a:srgbClr val="17191B"/>
                </a:solidFill>
                <a:latin typeface="AppleGothic"/>
                <a:ea typeface="AppleGothic"/>
                <a:cs typeface="AppleGothic"/>
              </a:rPr>
              <a:t>Prototype과 제품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BD933402-E8DB-4A17-BEFF-18AC4CFC6F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315075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FD5D3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A82FE70C-4175-45B6-BF72-506CAB070A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77000"/>
            <a:ext cx="109728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1400" b="0">
                <a:solidFill>
                  <a:srgbClr val="52606B"/>
                </a:solidFill>
                <a:latin typeface="AppleGothic"/>
                <a:ea typeface="AppleGothic"/>
                <a:cs typeface="AppleGothic"/>
              </a:defRPr>
            </a:defPPr>
          </a:lstStyle>
          <a:p xmlns:a="http://schemas.openxmlformats.org/drawingml/2006/main">
            <a:pPr algn="l">
              <a:lnSpc>
                <a:spcPct val="116000"/>
              </a:lnSpc>
              <a:buNone/>
              <a:defRPr sz="1400" b="0">
                <a:solidFill>
                  <a:srgbClr val="52606B"/>
                </a:solidFill>
                <a:latin typeface="AppleGothic"/>
                <a:ea typeface="AppleGothic"/>
                <a:cs typeface="AppleGothic"/>
              </a:defRPr>
            </a:pPr>
            <a:r>
              <a:rPr sz="1400" b="0">
                <a:solidFill>
                  <a:srgbClr val="52606B"/>
                </a:solidFill>
                <a:latin typeface="AppleGothic"/>
                <a:ea typeface="AppleGothic"/>
                <a:cs typeface="AppleGothic"/>
              </a:rPr>
              <a:t>데이터 · 모델 적응 · 비교 평가 · 기획서 초안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BBCC5834-2062-4F0E-BB3D-D090ED6AA1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057400"/>
            <a:ext cx="5295900" cy="800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2900" b="1">
                <a:solidFill>
                  <a:srgbClr val="17191B"/>
                </a:solidFill>
                <a:latin typeface="AppleGothic"/>
                <a:ea typeface="AppleGothic"/>
                <a:cs typeface="AppleGothic"/>
              </a:defRPr>
            </a:defPPr>
          </a:lstStyle>
          <a:p xmlns:a="http://schemas.openxmlformats.org/drawingml/2006/main">
            <a:pPr algn="l">
              <a:lnSpc>
                <a:spcPct val="116000"/>
              </a:lnSpc>
              <a:buNone/>
              <a:defRPr sz="2900" b="1">
                <a:solidFill>
                  <a:srgbClr val="17191B"/>
                </a:solidFill>
                <a:latin typeface="AppleGothic"/>
                <a:ea typeface="AppleGothic"/>
                <a:cs typeface="AppleGothic"/>
              </a:defRPr>
            </a:pPr>
            <a:r>
              <a:rPr sz="2900" b="1">
                <a:solidFill>
                  <a:srgbClr val="17191B"/>
                </a:solidFill>
                <a:latin typeface="AppleGothic"/>
                <a:ea typeface="AppleGothic"/>
                <a:cs typeface="AppleGothic"/>
              </a:rPr>
              <a:t>Prototype · 프로토타입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FFDFC3CD-0B9B-475F-A31A-997ABE5483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000375"/>
            <a:ext cx="52959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84B7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9BEA2A41-2BC8-4D7D-AEC6-4B191E8025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371850"/>
            <a:ext cx="5238750" cy="36741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2300" b="0">
                <a:solidFill>
                  <a:srgbClr val="52606B"/>
                </a:solidFill>
                <a:latin typeface="AppleGothic"/>
                <a:ea typeface="AppleGothic"/>
                <a:cs typeface="AppleGothic"/>
              </a:defRPr>
            </a:defPPr>
          </a:lstStyle>
          <a:p xmlns:a="http://schemas.openxmlformats.org/drawingml/2006/main">
            <a:pPr algn="l">
              <a:lnSpc>
                <a:spcPct val="116000"/>
              </a:lnSpc>
              <a:buNone/>
              <a:defRPr sz="2300" b="0">
                <a:solidFill>
                  <a:srgbClr val="52606B"/>
                </a:solidFill>
                <a:latin typeface="AppleGothic"/>
                <a:ea typeface="AppleGothic"/>
                <a:cs typeface="AppleGothic"/>
              </a:defRPr>
            </a:pPr>
            <a:r>
              <a:rPr sz="2300" b="0">
                <a:solidFill>
                  <a:srgbClr val="52606B"/>
                </a:solidFill>
                <a:latin typeface="AppleGothic"/>
                <a:ea typeface="AppleGothic"/>
                <a:cs typeface="AppleGothic"/>
              </a:rPr>
              <a:t>핵심 흐름을 확인하는 시안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6A54209F-A7F5-4233-BD4C-F4009AA533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139311"/>
            <a:ext cx="5238750" cy="36741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2300" b="0">
                <a:solidFill>
                  <a:srgbClr val="52606B"/>
                </a:solidFill>
                <a:latin typeface="AppleGothic"/>
                <a:ea typeface="AppleGothic"/>
                <a:cs typeface="AppleGothic"/>
              </a:defRPr>
            </a:defPPr>
          </a:lstStyle>
          <a:p xmlns:a="http://schemas.openxmlformats.org/drawingml/2006/main">
            <a:pPr algn="l">
              <a:lnSpc>
                <a:spcPct val="116000"/>
              </a:lnSpc>
              <a:buNone/>
              <a:defRPr sz="2300" b="0">
                <a:solidFill>
                  <a:srgbClr val="52606B"/>
                </a:solidFill>
                <a:latin typeface="AppleGothic"/>
                <a:ea typeface="AppleGothic"/>
                <a:cs typeface="AppleGothic"/>
              </a:defRPr>
            </a:pPr>
            <a:r>
              <a:rPr sz="2300" b="0">
                <a:solidFill>
                  <a:srgbClr val="52606B"/>
                </a:solidFill>
                <a:latin typeface="AppleGothic"/>
                <a:ea typeface="AppleGothic"/>
                <a:cs typeface="AppleGothic"/>
              </a:rPr>
              <a:t>합성 입력·실행 범위 명시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358AB5D5-733A-47FB-811F-5E7D614C25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0" y="2057400"/>
            <a:ext cx="5295900" cy="800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2900" b="1">
                <a:solidFill>
                  <a:srgbClr val="17191B"/>
                </a:solidFill>
                <a:latin typeface="AppleGothic"/>
                <a:ea typeface="AppleGothic"/>
                <a:cs typeface="AppleGothic"/>
              </a:defRPr>
            </a:defPPr>
          </a:lstStyle>
          <a:p xmlns:a="http://schemas.openxmlformats.org/drawingml/2006/main">
            <a:pPr algn="l">
              <a:lnSpc>
                <a:spcPct val="116000"/>
              </a:lnSpc>
              <a:buNone/>
              <a:defRPr sz="2900" b="1">
                <a:solidFill>
                  <a:srgbClr val="17191B"/>
                </a:solidFill>
                <a:latin typeface="AppleGothic"/>
                <a:ea typeface="AppleGothic"/>
                <a:cs typeface="AppleGothic"/>
              </a:defRPr>
            </a:pPr>
            <a:r>
              <a:rPr sz="2900" b="1">
                <a:solidFill>
                  <a:srgbClr val="17191B"/>
                </a:solidFill>
                <a:latin typeface="AppleGothic"/>
                <a:ea typeface="AppleGothic"/>
                <a:cs typeface="AppleGothic"/>
              </a:rPr>
              <a:t>운영 제품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7A7BCCE1-2A30-4303-83FC-6C75751F7C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0" y="3000375"/>
            <a:ext cx="52959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52606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10A0C319-4FBB-4CCE-A9F5-B2C5B40441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0" y="3371850"/>
            <a:ext cx="5238750" cy="36741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2300" b="0">
                <a:solidFill>
                  <a:srgbClr val="52606B"/>
                </a:solidFill>
                <a:latin typeface="AppleGothic"/>
                <a:ea typeface="AppleGothic"/>
                <a:cs typeface="AppleGothic"/>
              </a:defRPr>
            </a:defPPr>
          </a:lstStyle>
          <a:p xmlns:a="http://schemas.openxmlformats.org/drawingml/2006/main">
            <a:pPr algn="l">
              <a:lnSpc>
                <a:spcPct val="116000"/>
              </a:lnSpc>
              <a:buNone/>
              <a:defRPr sz="2300" b="0">
                <a:solidFill>
                  <a:srgbClr val="52606B"/>
                </a:solidFill>
                <a:latin typeface="AppleGothic"/>
                <a:ea typeface="AppleGothic"/>
                <a:cs typeface="AppleGothic"/>
              </a:defRPr>
            </a:pPr>
            <a:r>
              <a:rPr sz="2300" b="0">
                <a:solidFill>
                  <a:srgbClr val="52606B"/>
                </a:solidFill>
                <a:latin typeface="AppleGothic"/>
                <a:ea typeface="AppleGothic"/>
                <a:cs typeface="AppleGothic"/>
              </a:rPr>
              <a:t>권한·실패·평가·보존 관리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ED82902D-B702-4B16-B3CD-EB41F66C2D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0" y="4139311"/>
            <a:ext cx="5238750" cy="36741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2300" b="0">
                <a:solidFill>
                  <a:srgbClr val="52606B"/>
                </a:solidFill>
                <a:latin typeface="AppleGothic"/>
                <a:ea typeface="AppleGothic"/>
                <a:cs typeface="AppleGothic"/>
              </a:defRPr>
            </a:defPPr>
          </a:lstStyle>
          <a:p xmlns:a="http://schemas.openxmlformats.org/drawingml/2006/main">
            <a:pPr algn="l">
              <a:lnSpc>
                <a:spcPct val="116000"/>
              </a:lnSpc>
              <a:buNone/>
              <a:defRPr sz="2300" b="0">
                <a:solidFill>
                  <a:srgbClr val="52606B"/>
                </a:solidFill>
                <a:latin typeface="AppleGothic"/>
                <a:ea typeface="AppleGothic"/>
                <a:cs typeface="AppleGothic"/>
              </a:defRPr>
            </a:pPr>
            <a:r>
              <a:rPr sz="2300" b="0">
                <a:solidFill>
                  <a:srgbClr val="52606B"/>
                </a:solidFill>
                <a:latin typeface="AppleGothic"/>
                <a:ea typeface="AppleGothic"/>
                <a:cs typeface="AppleGothic"/>
              </a:rPr>
              <a:t>시안만으로 준비 완료 판단 불가</a:t>
            </a:r>
          </a:p>
        </p:txBody>
      </p:sp>
    </p:spTree>
    <p:extLst>
      <p:ext uri="{BB962C8B-B14F-4D97-AF65-F5344CB8AC3E}">
        <p14:creationId xmlns:p14="http://schemas.microsoft.com/office/powerpoint/2010/main" val="1758313855"/>
      </p:ext>
    </p:extLst>
  </p:cSld>
</p:sld>
</file>

<file path=ppt/slides/slide74.xml><?xml version="1.0" encoding="utf-8"?>
<p:sld xmlns:p="http://schemas.openxmlformats.org/presentationml/2006/main">
  <p:cSld>
    <p:bg>
      <p:bgPr>
        <a:solidFill xmlns:a="http://schemas.openxmlformats.org/drawingml/2006/main">
          <a:srgbClr val="F7F7F5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0806D40C-0CCD-4021-A789-E219A2C970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47650"/>
            <a:ext cx="9525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1400" b="0">
                <a:solidFill>
                  <a:srgbClr val="52606B"/>
                </a:solidFill>
                <a:latin typeface="AppleGothic"/>
                <a:ea typeface="AppleGothic"/>
                <a:cs typeface="AppleGothic"/>
              </a:defRPr>
            </a:defPPr>
          </a:lstStyle>
          <a:p xmlns:a="http://schemas.openxmlformats.org/drawingml/2006/main">
            <a:pPr algn="l">
              <a:lnSpc>
                <a:spcPct val="116000"/>
              </a:lnSpc>
              <a:buNone/>
              <a:defRPr sz="1400" b="0">
                <a:solidFill>
                  <a:srgbClr val="52606B"/>
                </a:solidFill>
                <a:latin typeface="AppleGothic"/>
                <a:ea typeface="AppleGothic"/>
                <a:cs typeface="AppleGothic"/>
              </a:defRPr>
            </a:pPr>
            <a:r>
              <a:rPr sz="1400" b="0">
                <a:solidFill>
                  <a:srgbClr val="52606B"/>
                </a:solidFill>
                <a:latin typeface="AppleGothic"/>
                <a:ea typeface="AppleGothic"/>
                <a:cs typeface="AppleGothic"/>
              </a:rPr>
              <a:t>LLMOPS / W07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D0BFC9ED-597C-4183-9FA2-6B8D107D7F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8500" y="247650"/>
            <a:ext cx="7239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r">
              <a:defRPr sz="1400" b="0">
                <a:solidFill>
                  <a:srgbClr val="52606B"/>
                </a:solidFill>
                <a:latin typeface="Menlo"/>
                <a:ea typeface="Menlo"/>
                <a:cs typeface="Menlo"/>
              </a:defRPr>
            </a:defPPr>
          </a:lstStyle>
          <a:p xmlns:a="http://schemas.openxmlformats.org/drawingml/2006/main">
            <a:pPr algn="r">
              <a:lnSpc>
                <a:spcPct val="116000"/>
              </a:lnSpc>
              <a:buNone/>
              <a:defRPr sz="1400" b="0">
                <a:solidFill>
                  <a:srgbClr val="52606B"/>
                </a:solidFill>
                <a:latin typeface="Menlo"/>
                <a:ea typeface="Menlo"/>
                <a:cs typeface="Menlo"/>
              </a:defRPr>
            </a:pPr>
            <a:r>
              <a:rPr sz="1400" b="0">
                <a:solidFill>
                  <a:srgbClr val="52606B"/>
                </a:solidFill>
                <a:latin typeface="Menlo"/>
                <a:ea typeface="Menlo"/>
                <a:cs typeface="Menlo"/>
              </a:rPr>
              <a:t>74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A974281C-50E3-4AE6-B7CB-27C5FC6E10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23900"/>
            <a:ext cx="109728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3400" b="1">
                <a:solidFill>
                  <a:srgbClr val="17191B"/>
                </a:solidFill>
                <a:latin typeface="AppleGothic"/>
                <a:ea typeface="AppleGothic"/>
                <a:cs typeface="AppleGothic"/>
              </a:defRPr>
            </a:defPPr>
          </a:lstStyle>
          <a:p xmlns:a="http://schemas.openxmlformats.org/drawingml/2006/main">
            <a:pPr algn="l">
              <a:lnSpc>
                <a:spcPct val="116000"/>
              </a:lnSpc>
              <a:buNone/>
              <a:defRPr sz="3400" b="1">
                <a:solidFill>
                  <a:srgbClr val="17191B"/>
                </a:solidFill>
                <a:latin typeface="AppleGothic"/>
                <a:ea typeface="AppleGothic"/>
                <a:cs typeface="AppleGothic"/>
              </a:defRPr>
            </a:pPr>
            <a:r>
              <a:rPr sz="3400" b="1">
                <a:solidFill>
                  <a:srgbClr val="17191B"/>
                </a:solidFill>
                <a:latin typeface="AppleGothic"/>
                <a:ea typeface="AppleGothic"/>
                <a:cs typeface="AppleGothic"/>
              </a:rPr>
              <a:t>세 관점의 검토 질문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1D537ADE-DA49-42D0-9705-76A37C28F0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315075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FD5D3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9DABFF41-4EAA-48D9-860E-219F83D684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77000"/>
            <a:ext cx="109728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1400" b="0">
                <a:solidFill>
                  <a:srgbClr val="52606B"/>
                </a:solidFill>
                <a:latin typeface="AppleGothic"/>
                <a:ea typeface="AppleGothic"/>
                <a:cs typeface="AppleGothic"/>
              </a:defRPr>
            </a:defPPr>
          </a:lstStyle>
          <a:p xmlns:a="http://schemas.openxmlformats.org/drawingml/2006/main">
            <a:pPr algn="l">
              <a:lnSpc>
                <a:spcPct val="116000"/>
              </a:lnSpc>
              <a:buNone/>
              <a:defRPr sz="1400" b="0">
                <a:solidFill>
                  <a:srgbClr val="52606B"/>
                </a:solidFill>
                <a:latin typeface="AppleGothic"/>
                <a:ea typeface="AppleGothic"/>
                <a:cs typeface="AppleGothic"/>
              </a:defRPr>
            </a:pPr>
            <a:r>
              <a:rPr sz="1400" b="0">
                <a:solidFill>
                  <a:srgbClr val="52606B"/>
                </a:solidFill>
                <a:latin typeface="AppleGothic"/>
                <a:ea typeface="AppleGothic"/>
                <a:cs typeface="AppleGothic"/>
              </a:rPr>
              <a:t>데이터 · 모델 적응 · 비교 평가 · 기획서 초안</a:t>
            </a:r>
          </a:p>
        </p:txBody>
      </p:sp>
      <p:graphicFrame>
        <p:nvGraphicFrame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84897243-0233-4364-B0B0-1937C8F6275F}"/>
              </a:ext>
            </a:extLst>
          </p:cNvPr>
          <p:cNvGraphicFramePr/>
          <p:nvPr/>
        </p:nvGraphicFramePr>
        <p:xfrm>
          <a:off xmlns:a="http://schemas.openxmlformats.org/drawingml/2006/main" x="609600" y="1809750"/>
          <a:ext xmlns:a="http://schemas.openxmlformats.org/drawingml/2006/main" cx="10972800" cy="2971800"/>
        </p:xfrm>
        <a:graphic xmlns:a="http://schemas.openxmlformats.org/drawingml/2006/main">
          <a:graphicData uri="http://schemas.openxmlformats.org/drawingml/2006/table">
            <a:tbl>
              <a:tblPr firstRow="0" bandRow="0"/>
              <a:tblGrid>
                <a:gridCol w="3238500"/>
                <a:gridCol w="7734300"/>
              </a:tblGrid>
              <a:tr h="742950">
                <a:tc>
                  <a:txBody>
                    <a:bodyPr wrap="none" lIns="133350" tIns="114300" rIns="133350" bIns="114300">
                      <a:noAutofit/>
                    </a:bodyPr>
                    <a:lstStyle/>
                    <a:p>
                      <a:r>
                        <a:rPr sz="1900" b="1">
                          <a:solidFill>
                            <a:srgbClr val="17283B"/>
                          </a:solidFill>
                          <a:latin typeface="AppleGothic"/>
                          <a:ea typeface="AppleGothic"/>
                          <a:cs typeface="AppleGothic"/>
                        </a:rPr>
                        <a:t>관점</a:t>
                      </a:r>
                    </a:p>
                  </a:txBody>
                  <a:tcPr marL="91440" marR="91440" marT="45720" marB="4572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EDF1F6"/>
                    </a:solidFill>
                  </a:tcPr>
                </a:tc>
                <a:tc>
                  <a:txBody>
                    <a:bodyPr wrap="none" lIns="133350" tIns="114300" rIns="133350" bIns="114300">
                      <a:noAutofit/>
                    </a:bodyPr>
                    <a:lstStyle/>
                    <a:p>
                      <a:r>
                        <a:rPr sz="1900" b="1">
                          <a:solidFill>
                            <a:srgbClr val="17283B"/>
                          </a:solidFill>
                          <a:latin typeface="AppleGothic"/>
                          <a:ea typeface="AppleGothic"/>
                          <a:cs typeface="AppleGothic"/>
                        </a:rPr>
                        <a:t>질문</a:t>
                      </a:r>
                    </a:p>
                  </a:txBody>
                  <a:tcPr marL="91440" marR="91440" marT="45720" marB="4572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EDF1F6"/>
                    </a:solidFill>
                  </a:tcPr>
                </a:tc>
              </a:tr>
              <a:tr h="742950">
                <a:tc>
                  <a:txBody>
                    <a:bodyPr wrap="none" lIns="133350" tIns="114300" rIns="133350" bIns="114300">
                      <a:noAutofit/>
                    </a:bodyPr>
                    <a:lstStyle/>
                    <a:p>
                      <a:r>
                        <a:rPr sz="1900" b="1">
                          <a:solidFill>
                            <a:srgbClr val="17191B"/>
                          </a:solidFill>
                          <a:latin typeface="AppleGothic"/>
                          <a:ea typeface="AppleGothic"/>
                          <a:cs typeface="AppleGothic"/>
                        </a:rPr>
                        <a:t>사업·대표</a:t>
                      </a:r>
                    </a:p>
                  </a:txBody>
                  <a:tcPr marL="91440" marR="91440" marT="45720" marB="4572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 lIns="133350" tIns="114300" rIns="133350" bIns="114300">
                      <a:noAutofit/>
                    </a:bodyPr>
                    <a:lstStyle/>
                    <a:p>
                      <a:r>
                        <a:rPr sz="1900" b="0">
                          <a:solidFill>
                            <a:srgbClr val="52606B"/>
                          </a:solidFill>
                          <a:latin typeface="AppleGothic"/>
                          <a:ea typeface="AppleGothic"/>
                          <a:cs typeface="AppleGothic"/>
                        </a:rPr>
                        <a:t>누구의 문제인가 · 대안보다 가치가 있는가</a:t>
                      </a:r>
                    </a:p>
                  </a:txBody>
                  <a:tcPr marL="91440" marR="91440" marT="45720" marB="4572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FFFFFF"/>
                    </a:solidFill>
                  </a:tcPr>
                </a:tc>
              </a:tr>
              <a:tr h="742950">
                <a:tc>
                  <a:txBody>
                    <a:bodyPr wrap="none" lIns="133350" tIns="114300" rIns="133350" bIns="114300">
                      <a:noAutofit/>
                    </a:bodyPr>
                    <a:lstStyle/>
                    <a:p>
                      <a:r>
                        <a:rPr sz="1900" b="1">
                          <a:solidFill>
                            <a:srgbClr val="17191B"/>
                          </a:solidFill>
                          <a:latin typeface="AppleGothic"/>
                          <a:ea typeface="AppleGothic"/>
                          <a:cs typeface="AppleGothic"/>
                        </a:rPr>
                        <a:t>사용자 경험</a:t>
                      </a:r>
                    </a:p>
                  </a:txBody>
                  <a:tcPr marL="91440" marR="91440" marT="45720" marB="4572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 lIns="133350" tIns="114300" rIns="133350" bIns="114300">
                      <a:noAutofit/>
                    </a:bodyPr>
                    <a:lstStyle/>
                    <a:p>
                      <a:r>
                        <a:rPr sz="1900" b="0">
                          <a:solidFill>
                            <a:srgbClr val="52606B"/>
                          </a:solidFill>
                          <a:latin typeface="AppleGothic"/>
                          <a:ea typeface="AppleGothic"/>
                          <a:cs typeface="AppleGothic"/>
                        </a:rPr>
                        <a:t>실패·보류·수정 흐름이 이해되는가</a:t>
                      </a:r>
                    </a:p>
                  </a:txBody>
                  <a:tcPr marL="91440" marR="91440" marT="45720" marB="4572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FFFFFF"/>
                    </a:solidFill>
                  </a:tcPr>
                </a:tc>
              </a:tr>
              <a:tr h="742950">
                <a:tc>
                  <a:txBody>
                    <a:bodyPr wrap="none" lIns="133350" tIns="114300" rIns="133350" bIns="114300">
                      <a:noAutofit/>
                    </a:bodyPr>
                    <a:lstStyle/>
                    <a:p>
                      <a:r>
                        <a:rPr sz="1900" b="1">
                          <a:solidFill>
                            <a:srgbClr val="17191B"/>
                          </a:solidFill>
                          <a:latin typeface="AppleGothic"/>
                          <a:ea typeface="AppleGothic"/>
                          <a:cs typeface="AppleGothic"/>
                        </a:rPr>
                        <a:t>개발·평가</a:t>
                      </a:r>
                    </a:p>
                  </a:txBody>
                  <a:tcPr marL="91440" marR="91440" marT="45720" marB="4572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 lIns="133350" tIns="114300" rIns="133350" bIns="114300">
                      <a:noAutofit/>
                    </a:bodyPr>
                    <a:lstStyle/>
                    <a:p>
                      <a:r>
                        <a:rPr sz="1900" b="0">
                          <a:solidFill>
                            <a:srgbClr val="52606B"/>
                          </a:solidFill>
                          <a:latin typeface="AppleGothic"/>
                          <a:ea typeface="AppleGothic"/>
                          <a:cs typeface="AppleGothic"/>
                        </a:rPr>
                        <a:t>권한·구현 범위·평가·복구가 가능한가</a:t>
                      </a:r>
                    </a:p>
                  </a:txBody>
                  <a:tcPr marL="91440" marR="91440" marT="45720" marB="4572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DE5E8935-02CB-45AC-A73E-B001C5486D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80975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283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E06FB16E-FC4C-4392-98EA-ADAA854906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5527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FD5D3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D68D904D-45A7-41B9-B3A7-0BEE724356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29565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FD5D3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1AD40557-CC40-4FF9-BC92-D25A26A8F8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0386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FD5D3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0BC4DC29-B3E1-41CE-8B5E-FAB3A44C92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78155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283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A6D1722A-6F8B-4C15-9222-2DA54553C9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791200"/>
            <a:ext cx="109728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1600" b="0">
                <a:solidFill>
                  <a:srgbClr val="52606B"/>
                </a:solidFill>
                <a:latin typeface="AppleGothic"/>
                <a:ea typeface="AppleGothic"/>
                <a:cs typeface="AppleGothic"/>
              </a:defRPr>
            </a:defPPr>
          </a:lstStyle>
          <a:p xmlns:a="http://schemas.openxmlformats.org/drawingml/2006/main">
            <a:pPr algn="l">
              <a:lnSpc>
                <a:spcPct val="116000"/>
              </a:lnSpc>
              <a:buNone/>
              <a:defRPr sz="1600" b="0">
                <a:solidFill>
                  <a:srgbClr val="52606B"/>
                </a:solidFill>
                <a:latin typeface="AppleGothic"/>
                <a:ea typeface="AppleGothic"/>
                <a:cs typeface="AppleGothic"/>
              </a:defRPr>
            </a:pPr>
            <a:r>
              <a:rPr sz="1600" b="0">
                <a:solidFill>
                  <a:srgbClr val="52606B"/>
                </a:solidFill>
                <a:latin typeface="AppleGothic"/>
                <a:ea typeface="AppleGothic"/>
                <a:cs typeface="AppleGothic"/>
              </a:rPr>
              <a:t>UX · User Experience · 사용자 경험</a:t>
            </a:r>
          </a:p>
        </p:txBody>
      </p:sp>
    </p:spTree>
    <p:extLst>
      <p:ext uri="{BB962C8B-B14F-4D97-AF65-F5344CB8AC3E}">
        <p14:creationId xmlns:p14="http://schemas.microsoft.com/office/powerpoint/2010/main" val="1854856029"/>
      </p:ext>
    </p:extLst>
  </p:cSld>
</p:sld>
</file>

<file path=ppt/slides/slide75.xml><?xml version="1.0" encoding="utf-8"?>
<p:sld xmlns:p="http://schemas.openxmlformats.org/presentationml/2006/main">
  <p:cSld>
    <p:bg>
      <p:bgPr>
        <a:solidFill xmlns:a="http://schemas.openxmlformats.org/drawingml/2006/main">
          <a:srgbClr val="F7F7F5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78C6C1D0-4008-4164-A9D0-226A35C003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47650"/>
            <a:ext cx="9525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1400" b="0">
                <a:solidFill>
                  <a:srgbClr val="52606B"/>
                </a:solidFill>
                <a:latin typeface="AppleGothic"/>
                <a:ea typeface="AppleGothic"/>
                <a:cs typeface="AppleGothic"/>
              </a:defRPr>
            </a:defPPr>
          </a:lstStyle>
          <a:p xmlns:a="http://schemas.openxmlformats.org/drawingml/2006/main">
            <a:pPr algn="l">
              <a:lnSpc>
                <a:spcPct val="116000"/>
              </a:lnSpc>
              <a:buNone/>
              <a:defRPr sz="1400" b="0">
                <a:solidFill>
                  <a:srgbClr val="52606B"/>
                </a:solidFill>
                <a:latin typeface="AppleGothic"/>
                <a:ea typeface="AppleGothic"/>
                <a:cs typeface="AppleGothic"/>
              </a:defRPr>
            </a:pPr>
            <a:r>
              <a:rPr sz="1400" b="0">
                <a:solidFill>
                  <a:srgbClr val="52606B"/>
                </a:solidFill>
                <a:latin typeface="AppleGothic"/>
                <a:ea typeface="AppleGothic"/>
                <a:cs typeface="AppleGothic"/>
              </a:rPr>
              <a:t>LLMOPS / W07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636CBF77-3009-4FBA-A120-DFBA463CEF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8500" y="247650"/>
            <a:ext cx="7239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r">
              <a:defRPr sz="1400" b="0">
                <a:solidFill>
                  <a:srgbClr val="52606B"/>
                </a:solidFill>
                <a:latin typeface="Menlo"/>
                <a:ea typeface="Menlo"/>
                <a:cs typeface="Menlo"/>
              </a:defRPr>
            </a:defPPr>
          </a:lstStyle>
          <a:p xmlns:a="http://schemas.openxmlformats.org/drawingml/2006/main">
            <a:pPr algn="r">
              <a:lnSpc>
                <a:spcPct val="116000"/>
              </a:lnSpc>
              <a:buNone/>
              <a:defRPr sz="1400" b="0">
                <a:solidFill>
                  <a:srgbClr val="52606B"/>
                </a:solidFill>
                <a:latin typeface="Menlo"/>
                <a:ea typeface="Menlo"/>
                <a:cs typeface="Menlo"/>
              </a:defRPr>
            </a:pPr>
            <a:r>
              <a:rPr sz="1400" b="0">
                <a:solidFill>
                  <a:srgbClr val="52606B"/>
                </a:solidFill>
                <a:latin typeface="Menlo"/>
                <a:ea typeface="Menlo"/>
                <a:cs typeface="Menlo"/>
              </a:rPr>
              <a:t>75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5B24A620-7EC8-421D-81D7-587FAAEE71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23900"/>
            <a:ext cx="109728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3400" b="1">
                <a:solidFill>
                  <a:srgbClr val="17191B"/>
                </a:solidFill>
                <a:latin typeface="AppleGothic"/>
                <a:ea typeface="AppleGothic"/>
                <a:cs typeface="AppleGothic"/>
              </a:defRPr>
            </a:defPPr>
          </a:lstStyle>
          <a:p xmlns:a="http://schemas.openxmlformats.org/drawingml/2006/main">
            <a:pPr algn="l">
              <a:lnSpc>
                <a:spcPct val="116000"/>
              </a:lnSpc>
              <a:buNone/>
              <a:defRPr sz="3400" b="1">
                <a:solidFill>
                  <a:srgbClr val="17191B"/>
                </a:solidFill>
                <a:latin typeface="AppleGothic"/>
                <a:ea typeface="AppleGothic"/>
                <a:cs typeface="AppleGothic"/>
              </a:defRPr>
            </a:pPr>
            <a:r>
              <a:rPr sz="3400" b="1">
                <a:solidFill>
                  <a:srgbClr val="17191B"/>
                </a:solidFill>
                <a:latin typeface="AppleGothic"/>
                <a:ea typeface="AppleGothic"/>
                <a:cs typeface="AppleGothic"/>
              </a:rPr>
              <a:t>피드백과 수정 기록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3D63E660-D8F0-4F73-B225-45F6336D02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315075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FD5D3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B18721ED-6010-4B5C-A3F9-2BD2AD9052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77000"/>
            <a:ext cx="109728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1400" b="0">
                <a:solidFill>
                  <a:srgbClr val="52606B"/>
                </a:solidFill>
                <a:latin typeface="AppleGothic"/>
                <a:ea typeface="AppleGothic"/>
                <a:cs typeface="AppleGothic"/>
              </a:defRPr>
            </a:defPPr>
          </a:lstStyle>
          <a:p xmlns:a="http://schemas.openxmlformats.org/drawingml/2006/main">
            <a:pPr algn="l">
              <a:lnSpc>
                <a:spcPct val="116000"/>
              </a:lnSpc>
              <a:buNone/>
              <a:defRPr sz="1400" b="0">
                <a:solidFill>
                  <a:srgbClr val="52606B"/>
                </a:solidFill>
                <a:latin typeface="AppleGothic"/>
                <a:ea typeface="AppleGothic"/>
                <a:cs typeface="AppleGothic"/>
              </a:defRPr>
            </a:pPr>
            <a:r>
              <a:rPr sz="1400" b="0">
                <a:solidFill>
                  <a:srgbClr val="52606B"/>
                </a:solidFill>
                <a:latin typeface="AppleGothic"/>
                <a:ea typeface="AppleGothic"/>
                <a:cs typeface="AppleGothic"/>
              </a:rPr>
              <a:t>데이터 · 모델 적응 · 비교 평가 · 기획서 초안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FF21996C-1CF0-4D40-9563-A765C5F101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847850"/>
            <a:ext cx="5715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1800" b="0">
                <a:solidFill>
                  <a:srgbClr val="284B72"/>
                </a:solidFill>
                <a:latin typeface="Menlo"/>
                <a:ea typeface="Menlo"/>
                <a:cs typeface="Menlo"/>
              </a:defRPr>
            </a:defPPr>
          </a:lstStyle>
          <a:p xmlns:a="http://schemas.openxmlformats.org/drawingml/2006/main">
            <a:pPr algn="l">
              <a:lnSpc>
                <a:spcPct val="116000"/>
              </a:lnSpc>
              <a:buNone/>
              <a:defRPr sz="1800" b="0">
                <a:solidFill>
                  <a:srgbClr val="284B72"/>
                </a:solidFill>
                <a:latin typeface="Menlo"/>
                <a:ea typeface="Menlo"/>
                <a:cs typeface="Menlo"/>
              </a:defRPr>
            </a:pPr>
            <a:r>
              <a:rPr sz="1800" b="0">
                <a:solidFill>
                  <a:srgbClr val="284B72"/>
                </a:solidFill>
                <a:latin typeface="Menlo"/>
                <a:ea typeface="Menlo"/>
                <a:cs typeface="Menlo"/>
              </a:rPr>
              <a:t>01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DEC37E14-9BF4-4770-8200-0B38B311F9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90650" y="1828800"/>
            <a:ext cx="3000375" cy="36741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2300" b="1">
                <a:solidFill>
                  <a:srgbClr val="17191B"/>
                </a:solidFill>
                <a:latin typeface="AppleGothic"/>
                <a:ea typeface="AppleGothic"/>
                <a:cs typeface="AppleGothic"/>
              </a:defRPr>
            </a:defPPr>
          </a:lstStyle>
          <a:p xmlns:a="http://schemas.openxmlformats.org/drawingml/2006/main">
            <a:pPr algn="l">
              <a:lnSpc>
                <a:spcPct val="116000"/>
              </a:lnSpc>
              <a:buNone/>
              <a:defRPr sz="2300" b="1">
                <a:solidFill>
                  <a:srgbClr val="17191B"/>
                </a:solidFill>
                <a:latin typeface="AppleGothic"/>
                <a:ea typeface="AppleGothic"/>
                <a:cs typeface="AppleGothic"/>
              </a:defRPr>
            </a:pPr>
            <a:r>
              <a:rPr sz="2300" b="1">
                <a:solidFill>
                  <a:srgbClr val="17191B"/>
                </a:solidFill>
                <a:latin typeface="AppleGothic"/>
                <a:ea typeface="AppleGothic"/>
                <a:cs typeface="AppleGothic"/>
              </a:rPr>
              <a:t>질문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31D59031-C4FE-4562-B2C4-64BBEA6572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81550" y="1828800"/>
            <a:ext cx="6781800" cy="36741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2100" b="0">
                <a:solidFill>
                  <a:srgbClr val="52606B"/>
                </a:solidFill>
                <a:latin typeface="AppleGothic"/>
                <a:ea typeface="AppleGothic"/>
                <a:cs typeface="AppleGothic"/>
              </a:defRPr>
            </a:defPPr>
          </a:lstStyle>
          <a:p xmlns:a="http://schemas.openxmlformats.org/drawingml/2006/main">
            <a:pPr algn="l">
              <a:lnSpc>
                <a:spcPct val="116000"/>
              </a:lnSpc>
              <a:buNone/>
              <a:defRPr sz="2100" b="0">
                <a:solidFill>
                  <a:srgbClr val="52606B"/>
                </a:solidFill>
                <a:latin typeface="AppleGothic"/>
                <a:ea typeface="AppleGothic"/>
                <a:cs typeface="AppleGothic"/>
              </a:defRPr>
            </a:pPr>
            <a:r>
              <a:rPr sz="2100" b="0">
                <a:solidFill>
                  <a:srgbClr val="52606B"/>
                </a:solidFill>
                <a:latin typeface="AppleGothic"/>
                <a:ea typeface="AppleGothic"/>
                <a:cs typeface="AppleGothic"/>
              </a:rPr>
              <a:t>현재 버전과 한 가지 결정 제시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BA882839-E005-4D8A-8975-48CAADCAE6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90650" y="2329561"/>
            <a:ext cx="1019175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FD5D3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3678699C-704C-4492-916A-1069604CBD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086100"/>
            <a:ext cx="5715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1800" b="0">
                <a:solidFill>
                  <a:srgbClr val="284B72"/>
                </a:solidFill>
                <a:latin typeface="Menlo"/>
                <a:ea typeface="Menlo"/>
                <a:cs typeface="Menlo"/>
              </a:defRPr>
            </a:defPPr>
          </a:lstStyle>
          <a:p xmlns:a="http://schemas.openxmlformats.org/drawingml/2006/main">
            <a:pPr algn="l">
              <a:lnSpc>
                <a:spcPct val="116000"/>
              </a:lnSpc>
              <a:buNone/>
              <a:defRPr sz="1800" b="0">
                <a:solidFill>
                  <a:srgbClr val="284B72"/>
                </a:solidFill>
                <a:latin typeface="Menlo"/>
                <a:ea typeface="Menlo"/>
                <a:cs typeface="Menlo"/>
              </a:defRPr>
            </a:pPr>
            <a:r>
              <a:rPr sz="1800" b="0">
                <a:solidFill>
                  <a:srgbClr val="284B72"/>
                </a:solidFill>
                <a:latin typeface="Menlo"/>
                <a:ea typeface="Menlo"/>
                <a:cs typeface="Menlo"/>
              </a:rPr>
              <a:t>02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63D4C05C-16BE-49D0-9825-31F8F47BF4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90650" y="3067050"/>
            <a:ext cx="3000375" cy="36741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2300" b="1">
                <a:solidFill>
                  <a:srgbClr val="17191B"/>
                </a:solidFill>
                <a:latin typeface="AppleGothic"/>
                <a:ea typeface="AppleGothic"/>
                <a:cs typeface="AppleGothic"/>
              </a:defRPr>
            </a:defPPr>
          </a:lstStyle>
          <a:p xmlns:a="http://schemas.openxmlformats.org/drawingml/2006/main">
            <a:pPr algn="l">
              <a:lnSpc>
                <a:spcPct val="116000"/>
              </a:lnSpc>
              <a:buNone/>
              <a:defRPr sz="2300" b="1">
                <a:solidFill>
                  <a:srgbClr val="17191B"/>
                </a:solidFill>
                <a:latin typeface="AppleGothic"/>
                <a:ea typeface="AppleGothic"/>
                <a:cs typeface="AppleGothic"/>
              </a:defRPr>
            </a:pPr>
            <a:r>
              <a:rPr sz="2300" b="1">
                <a:solidFill>
                  <a:srgbClr val="17191B"/>
                </a:solidFill>
                <a:latin typeface="AppleGothic"/>
                <a:ea typeface="AppleGothic"/>
                <a:cs typeface="AppleGothic"/>
              </a:rPr>
              <a:t>피드백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473A7CC0-8540-4CF9-9F93-A2089E97CA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81550" y="3067050"/>
            <a:ext cx="6781800" cy="36741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2100" b="0">
                <a:solidFill>
                  <a:srgbClr val="52606B"/>
                </a:solidFill>
                <a:latin typeface="AppleGothic"/>
                <a:ea typeface="AppleGothic"/>
                <a:cs typeface="AppleGothic"/>
              </a:defRPr>
            </a:defPPr>
          </a:lstStyle>
          <a:p xmlns:a="http://schemas.openxmlformats.org/drawingml/2006/main">
            <a:pPr algn="l">
              <a:lnSpc>
                <a:spcPct val="116000"/>
              </a:lnSpc>
              <a:buNone/>
              <a:defRPr sz="2100" b="0">
                <a:solidFill>
                  <a:srgbClr val="52606B"/>
                </a:solidFill>
                <a:latin typeface="AppleGothic"/>
                <a:ea typeface="AppleGothic"/>
                <a:cs typeface="AppleGothic"/>
              </a:defRPr>
            </a:pPr>
            <a:r>
              <a:rPr sz="2100" b="0">
                <a:solidFill>
                  <a:srgbClr val="52606B"/>
                </a:solidFill>
                <a:latin typeface="AppleGothic"/>
                <a:ea typeface="AppleGothic"/>
                <a:cs typeface="AppleGothic"/>
              </a:rPr>
              <a:t>가정·누락·위험의 확인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52DDB9BB-899B-45FD-9F20-7161157176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90650" y="3567811"/>
            <a:ext cx="1019175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FD5D3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60FB35EA-389C-41D4-8C39-0268B60C39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324350"/>
            <a:ext cx="5715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1800" b="0">
                <a:solidFill>
                  <a:srgbClr val="284B72"/>
                </a:solidFill>
                <a:latin typeface="Menlo"/>
                <a:ea typeface="Menlo"/>
                <a:cs typeface="Menlo"/>
              </a:defRPr>
            </a:defPPr>
          </a:lstStyle>
          <a:p xmlns:a="http://schemas.openxmlformats.org/drawingml/2006/main">
            <a:pPr algn="l">
              <a:lnSpc>
                <a:spcPct val="116000"/>
              </a:lnSpc>
              <a:buNone/>
              <a:defRPr sz="1800" b="0">
                <a:solidFill>
                  <a:srgbClr val="284B72"/>
                </a:solidFill>
                <a:latin typeface="Menlo"/>
                <a:ea typeface="Menlo"/>
                <a:cs typeface="Menlo"/>
              </a:defRPr>
            </a:pPr>
            <a:r>
              <a:rPr sz="1800" b="0">
                <a:solidFill>
                  <a:srgbClr val="284B72"/>
                </a:solidFill>
                <a:latin typeface="Menlo"/>
                <a:ea typeface="Menlo"/>
                <a:cs typeface="Menlo"/>
              </a:rPr>
              <a:t>03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B1CB4E19-53E1-4BA5-BDD3-285C145170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90650" y="4305300"/>
            <a:ext cx="3000375" cy="36741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2300" b="1">
                <a:solidFill>
                  <a:srgbClr val="17191B"/>
                </a:solidFill>
                <a:latin typeface="AppleGothic"/>
                <a:ea typeface="AppleGothic"/>
                <a:cs typeface="AppleGothic"/>
              </a:defRPr>
            </a:defPPr>
          </a:lstStyle>
          <a:p xmlns:a="http://schemas.openxmlformats.org/drawingml/2006/main">
            <a:pPr algn="l">
              <a:lnSpc>
                <a:spcPct val="116000"/>
              </a:lnSpc>
              <a:buNone/>
              <a:defRPr sz="2300" b="1">
                <a:solidFill>
                  <a:srgbClr val="17191B"/>
                </a:solidFill>
                <a:latin typeface="AppleGothic"/>
                <a:ea typeface="AppleGothic"/>
                <a:cs typeface="AppleGothic"/>
              </a:defRPr>
            </a:pPr>
            <a:r>
              <a:rPr sz="2300" b="1">
                <a:solidFill>
                  <a:srgbClr val="17191B"/>
                </a:solidFill>
                <a:latin typeface="AppleGothic"/>
                <a:ea typeface="AppleGothic"/>
                <a:cs typeface="AppleGothic"/>
              </a:rPr>
              <a:t>수정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0D50FC0A-EC65-44D1-A3A3-2C3EE84ACA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81550" y="4305300"/>
            <a:ext cx="6781800" cy="36741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2100" b="0">
                <a:solidFill>
                  <a:srgbClr val="52606B"/>
                </a:solidFill>
                <a:latin typeface="AppleGothic"/>
                <a:ea typeface="AppleGothic"/>
                <a:cs typeface="AppleGothic"/>
              </a:defRPr>
            </a:defPPr>
          </a:lstStyle>
          <a:p xmlns:a="http://schemas.openxmlformats.org/drawingml/2006/main">
            <a:pPr algn="l">
              <a:lnSpc>
                <a:spcPct val="116000"/>
              </a:lnSpc>
              <a:buNone/>
              <a:defRPr sz="2100" b="0">
                <a:solidFill>
                  <a:srgbClr val="52606B"/>
                </a:solidFill>
                <a:latin typeface="AppleGothic"/>
                <a:ea typeface="AppleGothic"/>
                <a:cs typeface="AppleGothic"/>
              </a:defRPr>
            </a:pPr>
            <a:r>
              <a:rPr sz="2100" b="0">
                <a:solidFill>
                  <a:srgbClr val="52606B"/>
                </a:solidFill>
                <a:latin typeface="AppleGothic"/>
                <a:ea typeface="AppleGothic"/>
                <a:cs typeface="AppleGothic"/>
              </a:rPr>
              <a:t>채택·보류·반박과 근거 기록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C43F52C6-40F8-4F73-B724-10E5DD4C3F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90650" y="4806061"/>
            <a:ext cx="1019175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FD5D3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5E038D7A-F003-4BCA-96C6-A1E2DC8218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791200"/>
            <a:ext cx="109728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1600" b="0">
                <a:solidFill>
                  <a:srgbClr val="52606B"/>
                </a:solidFill>
                <a:latin typeface="AppleGothic"/>
                <a:ea typeface="AppleGothic"/>
                <a:cs typeface="AppleGothic"/>
              </a:defRPr>
            </a:defPPr>
          </a:lstStyle>
          <a:p xmlns:a="http://schemas.openxmlformats.org/drawingml/2006/main">
            <a:pPr algn="l">
              <a:lnSpc>
                <a:spcPct val="116000"/>
              </a:lnSpc>
              <a:buNone/>
              <a:defRPr sz="1600" b="0">
                <a:solidFill>
                  <a:srgbClr val="52606B"/>
                </a:solidFill>
                <a:latin typeface="AppleGothic"/>
                <a:ea typeface="AppleGothic"/>
                <a:cs typeface="AppleGothic"/>
              </a:defRPr>
            </a:pPr>
            <a:r>
              <a:rPr sz="1600" b="0">
                <a:solidFill>
                  <a:srgbClr val="52606B"/>
                </a:solidFill>
                <a:latin typeface="AppleGothic"/>
                <a:ea typeface="AppleGothic"/>
                <a:cs typeface="AppleGothic"/>
              </a:rPr>
              <a:t>교수 피드백을 받은 뒤 변경 이유와 추가 증거를 수정본에 명시</a:t>
            </a:r>
          </a:p>
        </p:txBody>
      </p:sp>
    </p:spTree>
    <p:extLst>
      <p:ext uri="{BB962C8B-B14F-4D97-AF65-F5344CB8AC3E}">
        <p14:creationId xmlns:p14="http://schemas.microsoft.com/office/powerpoint/2010/main" val="970065790"/>
      </p:ext>
    </p:extLst>
  </p:cSld>
</p:sld>
</file>

<file path=ppt/slides/slide76.xml><?xml version="1.0" encoding="utf-8"?>
<p:sld xmlns:p="http://schemas.openxmlformats.org/presentationml/2006/main">
  <p:cSld>
    <p:bg>
      <p:bgPr>
        <a:solidFill xmlns:a="http://schemas.openxmlformats.org/drawingml/2006/main">
          <a:srgbClr val="F7F7F5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21950372-1518-4CEF-9770-8684C531F7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47650"/>
            <a:ext cx="9525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1400" b="0">
                <a:solidFill>
                  <a:srgbClr val="52606B"/>
                </a:solidFill>
                <a:latin typeface="AppleGothic"/>
                <a:ea typeface="AppleGothic"/>
                <a:cs typeface="AppleGothic"/>
              </a:defRPr>
            </a:defPPr>
          </a:lstStyle>
          <a:p xmlns:a="http://schemas.openxmlformats.org/drawingml/2006/main">
            <a:pPr algn="l">
              <a:lnSpc>
                <a:spcPct val="116000"/>
              </a:lnSpc>
              <a:buNone/>
              <a:defRPr sz="1400" b="0">
                <a:solidFill>
                  <a:srgbClr val="52606B"/>
                </a:solidFill>
                <a:latin typeface="AppleGothic"/>
                <a:ea typeface="AppleGothic"/>
                <a:cs typeface="AppleGothic"/>
              </a:defRPr>
            </a:pPr>
            <a:r>
              <a:rPr sz="1400" b="0">
                <a:solidFill>
                  <a:srgbClr val="52606B"/>
                </a:solidFill>
                <a:latin typeface="AppleGothic"/>
                <a:ea typeface="AppleGothic"/>
                <a:cs typeface="AppleGothic"/>
              </a:rPr>
              <a:t>LLMOPS / W07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ECC48B71-DF57-4E84-9DB4-FC21CC79B5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8500" y="247650"/>
            <a:ext cx="7239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r">
              <a:defRPr sz="1400" b="0">
                <a:solidFill>
                  <a:srgbClr val="52606B"/>
                </a:solidFill>
                <a:latin typeface="Menlo"/>
                <a:ea typeface="Menlo"/>
                <a:cs typeface="Menlo"/>
              </a:defRPr>
            </a:defPPr>
          </a:lstStyle>
          <a:p xmlns:a="http://schemas.openxmlformats.org/drawingml/2006/main">
            <a:pPr algn="r">
              <a:lnSpc>
                <a:spcPct val="116000"/>
              </a:lnSpc>
              <a:buNone/>
              <a:defRPr sz="1400" b="0">
                <a:solidFill>
                  <a:srgbClr val="52606B"/>
                </a:solidFill>
                <a:latin typeface="Menlo"/>
                <a:ea typeface="Menlo"/>
                <a:cs typeface="Menlo"/>
              </a:defRPr>
            </a:pPr>
            <a:r>
              <a:rPr sz="1400" b="0">
                <a:solidFill>
                  <a:srgbClr val="52606B"/>
                </a:solidFill>
                <a:latin typeface="Menlo"/>
                <a:ea typeface="Menlo"/>
                <a:cs typeface="Menlo"/>
              </a:rPr>
              <a:t>76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3BB6C667-01BA-4781-B3DF-D57ED6B763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23900"/>
            <a:ext cx="109728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3400" b="1">
                <a:solidFill>
                  <a:srgbClr val="17191B"/>
                </a:solidFill>
                <a:latin typeface="AppleGothic"/>
                <a:ea typeface="AppleGothic"/>
                <a:cs typeface="AppleGothic"/>
              </a:defRPr>
            </a:defPPr>
          </a:lstStyle>
          <a:p xmlns:a="http://schemas.openxmlformats.org/drawingml/2006/main">
            <a:pPr algn="l">
              <a:lnSpc>
                <a:spcPct val="116000"/>
              </a:lnSpc>
              <a:buNone/>
              <a:defRPr sz="3400" b="1">
                <a:solidFill>
                  <a:srgbClr val="17191B"/>
                </a:solidFill>
                <a:latin typeface="AppleGothic"/>
                <a:ea typeface="AppleGothic"/>
                <a:cs typeface="AppleGothic"/>
              </a:defRPr>
            </a:pPr>
            <a:r>
              <a:rPr sz="3400" b="1">
                <a:solidFill>
                  <a:srgbClr val="17191B"/>
                </a:solidFill>
                <a:latin typeface="AppleGothic"/>
                <a:ea typeface="AppleGothic"/>
                <a:cs typeface="AppleGothic"/>
              </a:rPr>
              <a:t>제출 전 점검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98992E58-9768-4DFA-83F1-21DC21056B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315075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FD5D3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8A51A31F-05BB-493E-B8C5-280E8CBF45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77000"/>
            <a:ext cx="109728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1400" b="0">
                <a:solidFill>
                  <a:srgbClr val="52606B"/>
                </a:solidFill>
                <a:latin typeface="AppleGothic"/>
                <a:ea typeface="AppleGothic"/>
                <a:cs typeface="AppleGothic"/>
              </a:defRPr>
            </a:defPPr>
          </a:lstStyle>
          <a:p xmlns:a="http://schemas.openxmlformats.org/drawingml/2006/main">
            <a:pPr algn="l">
              <a:lnSpc>
                <a:spcPct val="116000"/>
              </a:lnSpc>
              <a:buNone/>
              <a:defRPr sz="1400" b="0">
                <a:solidFill>
                  <a:srgbClr val="52606B"/>
                </a:solidFill>
                <a:latin typeface="AppleGothic"/>
                <a:ea typeface="AppleGothic"/>
                <a:cs typeface="AppleGothic"/>
              </a:defRPr>
            </a:pPr>
            <a:r>
              <a:rPr sz="1400" b="0">
                <a:solidFill>
                  <a:srgbClr val="52606B"/>
                </a:solidFill>
                <a:latin typeface="AppleGothic"/>
                <a:ea typeface="AppleGothic"/>
                <a:cs typeface="AppleGothic"/>
              </a:rPr>
              <a:t>데이터 · 모델 적응 · 비교 평가 · 기획서 초안</a:t>
            </a:r>
          </a:p>
        </p:txBody>
      </p:sp>
      <p:graphicFrame>
        <p:nvGraphicFrame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29B558D8-732A-4315-8283-8339B59FF544}"/>
              </a:ext>
            </a:extLst>
          </p:cNvPr>
          <p:cNvGraphicFramePr/>
          <p:nvPr/>
        </p:nvGraphicFramePr>
        <p:xfrm>
          <a:off xmlns:a="http://schemas.openxmlformats.org/drawingml/2006/main" x="609600" y="1809750"/>
          <a:ext xmlns:a="http://schemas.openxmlformats.org/drawingml/2006/main" cx="10972800" cy="3905250"/>
        </p:xfrm>
        <a:graphic xmlns:a="http://schemas.openxmlformats.org/drawingml/2006/main">
          <a:graphicData uri="http://schemas.openxmlformats.org/drawingml/2006/table">
            <a:tbl>
              <a:tblPr firstRow="0" bandRow="0"/>
              <a:tblGrid>
                <a:gridCol w="3238500"/>
                <a:gridCol w="7734300"/>
              </a:tblGrid>
              <a:tr h="650875">
                <a:tc>
                  <a:txBody>
                    <a:bodyPr wrap="none" lIns="133350" tIns="114300" rIns="133350" bIns="114300">
                      <a:noAutofit/>
                    </a:bodyPr>
                    <a:lstStyle/>
                    <a:p>
                      <a:r>
                        <a:rPr sz="1700" b="1">
                          <a:solidFill>
                            <a:srgbClr val="17283B"/>
                          </a:solidFill>
                          <a:latin typeface="AppleGothic"/>
                          <a:ea typeface="AppleGothic"/>
                          <a:cs typeface="AppleGothic"/>
                        </a:rPr>
                        <a:t>항목</a:t>
                      </a:r>
                    </a:p>
                  </a:txBody>
                  <a:tcPr marL="91440" marR="91440" marT="45720" marB="4572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EDF1F6"/>
                    </a:solidFill>
                  </a:tcPr>
                </a:tc>
                <a:tc>
                  <a:txBody>
                    <a:bodyPr wrap="none" lIns="133350" tIns="114300" rIns="133350" bIns="114300">
                      <a:noAutofit/>
                    </a:bodyPr>
                    <a:lstStyle/>
                    <a:p>
                      <a:r>
                        <a:rPr sz="1700" b="1">
                          <a:solidFill>
                            <a:srgbClr val="17283B"/>
                          </a:solidFill>
                          <a:latin typeface="AppleGothic"/>
                          <a:ea typeface="AppleGothic"/>
                          <a:cs typeface="AppleGothic"/>
                        </a:rPr>
                        <a:t>확인</a:t>
                      </a:r>
                    </a:p>
                  </a:txBody>
                  <a:tcPr marL="91440" marR="91440" marT="45720" marB="4572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EDF1F6"/>
                    </a:solidFill>
                  </a:tcPr>
                </a:tc>
              </a:tr>
              <a:tr h="650875">
                <a:tc>
                  <a:txBody>
                    <a:bodyPr wrap="none" lIns="133350" tIns="114300" rIns="133350" bIns="114300">
                      <a:noAutofit/>
                    </a:bodyPr>
                    <a:lstStyle/>
                    <a:p>
                      <a:r>
                        <a:rPr sz="1700" b="1">
                          <a:solidFill>
                            <a:srgbClr val="17191B"/>
                          </a:solidFill>
                          <a:latin typeface="AppleGothic"/>
                          <a:ea typeface="AppleGothic"/>
                          <a:cs typeface="AppleGothic"/>
                        </a:rPr>
                        <a:t>문제·범위</a:t>
                      </a:r>
                    </a:p>
                  </a:txBody>
                  <a:tcPr marL="91440" marR="91440" marT="45720" marB="4572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 lIns="133350" tIns="114300" rIns="133350" bIns="114300">
                      <a:noAutofit/>
                    </a:bodyPr>
                    <a:lstStyle/>
                    <a:p>
                      <a:r>
                        <a:rPr sz="1700" b="0">
                          <a:solidFill>
                            <a:srgbClr val="52606B"/>
                          </a:solidFill>
                          <a:latin typeface="AppleGothic"/>
                          <a:ea typeface="AppleGothic"/>
                          <a:cs typeface="AppleGothic"/>
                        </a:rPr>
                        <a:t>사용자·대안·최소 기능·제외 범위</a:t>
                      </a:r>
                    </a:p>
                  </a:txBody>
                  <a:tcPr marL="91440" marR="91440" marT="45720" marB="4572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FFFFFF"/>
                    </a:solidFill>
                  </a:tcPr>
                </a:tc>
              </a:tr>
              <a:tr h="650875">
                <a:tc>
                  <a:txBody>
                    <a:bodyPr wrap="none" lIns="133350" tIns="114300" rIns="133350" bIns="114300">
                      <a:noAutofit/>
                    </a:bodyPr>
                    <a:lstStyle/>
                    <a:p>
                      <a:r>
                        <a:rPr sz="1700" b="1">
                          <a:solidFill>
                            <a:srgbClr val="17191B"/>
                          </a:solidFill>
                          <a:latin typeface="AppleGothic"/>
                          <a:ea typeface="AppleGothic"/>
                          <a:cs typeface="AppleGothic"/>
                        </a:rPr>
                        <a:t>자료·평가</a:t>
                      </a:r>
                    </a:p>
                  </a:txBody>
                  <a:tcPr marL="91440" marR="91440" marT="45720" marB="4572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 lIns="133350" tIns="114300" rIns="133350" bIns="114300">
                      <a:noAutofit/>
                    </a:bodyPr>
                    <a:lstStyle/>
                    <a:p>
                      <a:r>
                        <a:rPr sz="1700" b="0">
                          <a:solidFill>
                            <a:srgbClr val="52606B"/>
                          </a:solidFill>
                          <a:latin typeface="AppleGothic"/>
                          <a:ea typeface="AppleGothic"/>
                          <a:cs typeface="AppleGothic"/>
                        </a:rPr>
                        <a:t>사용 권한·고정 입력·비교·실패 기준</a:t>
                      </a:r>
                    </a:p>
                  </a:txBody>
                  <a:tcPr marL="91440" marR="91440" marT="45720" marB="4572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FFFFFF"/>
                    </a:solidFill>
                  </a:tcPr>
                </a:tc>
              </a:tr>
              <a:tr h="650875">
                <a:tc>
                  <a:txBody>
                    <a:bodyPr wrap="none" lIns="133350" tIns="114300" rIns="133350" bIns="114300">
                      <a:noAutofit/>
                    </a:bodyPr>
                    <a:lstStyle/>
                    <a:p>
                      <a:r>
                        <a:rPr sz="1700" b="1">
                          <a:solidFill>
                            <a:srgbClr val="17191B"/>
                          </a:solidFill>
                          <a:latin typeface="AppleGothic"/>
                          <a:ea typeface="AppleGothic"/>
                          <a:cs typeface="AppleGothic"/>
                        </a:rPr>
                        <a:t>운영·일정</a:t>
                      </a:r>
                    </a:p>
                  </a:txBody>
                  <a:tcPr marL="91440" marR="91440" marT="45720" marB="4572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 lIns="133350" tIns="114300" rIns="133350" bIns="114300">
                      <a:noAutofit/>
                    </a:bodyPr>
                    <a:lstStyle/>
                    <a:p>
                      <a:r>
                        <a:rPr sz="1700" b="0">
                          <a:solidFill>
                            <a:srgbClr val="52606B"/>
                          </a:solidFill>
                          <a:latin typeface="AppleGothic"/>
                          <a:ea typeface="AppleGothic"/>
                          <a:cs typeface="AppleGothic"/>
                        </a:rPr>
                        <a:t>보류·복구·담당·완료 조건</a:t>
                      </a:r>
                    </a:p>
                  </a:txBody>
                  <a:tcPr marL="91440" marR="91440" marT="45720" marB="4572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FFFFFF"/>
                    </a:solidFill>
                  </a:tcPr>
                </a:tc>
              </a:tr>
              <a:tr h="650875">
                <a:tc>
                  <a:txBody>
                    <a:bodyPr wrap="none" lIns="133350" tIns="114300" rIns="133350" bIns="114300">
                      <a:noAutofit/>
                    </a:bodyPr>
                    <a:lstStyle/>
                    <a:p>
                      <a:r>
                        <a:rPr sz="1700" b="1">
                          <a:solidFill>
                            <a:srgbClr val="17191B"/>
                          </a:solidFill>
                          <a:latin typeface="AppleGothic"/>
                          <a:ea typeface="AppleGothic"/>
                          <a:cs typeface="AppleGothic"/>
                        </a:rPr>
                        <a:t>문서 형식</a:t>
                      </a:r>
                    </a:p>
                  </a:txBody>
                  <a:tcPr marL="91440" marR="91440" marT="45720" marB="4572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 lIns="133350" tIns="114300" rIns="133350" bIns="114300">
                      <a:noAutofit/>
                    </a:bodyPr>
                    <a:lstStyle/>
                    <a:p>
                      <a:r>
                        <a:rPr sz="1700" b="0">
                          <a:solidFill>
                            <a:srgbClr val="52606B"/>
                          </a:solidFill>
                          <a:latin typeface="AppleGothic"/>
                          <a:ea typeface="AppleGothic"/>
                          <a:cs typeface="AppleGothic"/>
                        </a:rPr>
                        <a:t>PPT·Word·PDF·HTML 가능 · HWP 제외</a:t>
                      </a:r>
                    </a:p>
                  </a:txBody>
                  <a:tcPr marL="91440" marR="91440" marT="45720" marB="4572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FFFFFF"/>
                    </a:solidFill>
                  </a:tcPr>
                </a:tc>
              </a:tr>
              <a:tr h="650875">
                <a:tc>
                  <a:txBody>
                    <a:bodyPr wrap="none" lIns="133350" tIns="114300" rIns="133350" bIns="114300">
                      <a:noAutofit/>
                    </a:bodyPr>
                    <a:lstStyle/>
                    <a:p>
                      <a:r>
                        <a:rPr sz="1700" b="1">
                          <a:solidFill>
                            <a:srgbClr val="17191B"/>
                          </a:solidFill>
                          <a:latin typeface="AppleGothic"/>
                          <a:ea typeface="AppleGothic"/>
                          <a:cs typeface="AppleGothic"/>
                        </a:rPr>
                        <a:t>개인정보</a:t>
                      </a:r>
                    </a:p>
                  </a:txBody>
                  <a:tcPr marL="91440" marR="91440" marT="45720" marB="4572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 lIns="133350" tIns="114300" rIns="133350" bIns="114300">
                      <a:noAutofit/>
                    </a:bodyPr>
                    <a:lstStyle/>
                    <a:p>
                      <a:r>
                        <a:rPr sz="1700" b="0">
                          <a:solidFill>
                            <a:srgbClr val="52606B"/>
                          </a:solidFill>
                          <a:latin typeface="AppleGothic"/>
                          <a:ea typeface="AppleGothic"/>
                          <a:cs typeface="AppleGothic"/>
                        </a:rPr>
                        <a:t>LMS·이메일 제출 · 공개 GitHub 금지</a:t>
                      </a:r>
                    </a:p>
                  </a:txBody>
                  <a:tcPr marL="91440" marR="91440" marT="45720" marB="4572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696E88EB-B142-4116-83B6-CD6118C807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80975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283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6FE05DD5-D6DF-42F3-A6A6-742724C161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460625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FD5D3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1FCBECB1-5CF4-4B8E-8C36-13863E8369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1115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FD5D3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08FD5905-E674-40D4-A3D5-CE1371E01A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762375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FD5D3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D6EA32CC-C27C-45C3-B49D-9E680E5DC7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41325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FD5D3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F5A42837-E14D-4D2C-9597-08E161E39F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064125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FD5D3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9E897769-DDAE-47E6-B961-4C499AF192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7150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283B"/>
          </a:solidFill>
          <a:ln xmlns:a="http://schemas.openxmlformats.org/drawingml/2006/main" w="0">
            <a:noFill/>
            <a:prstDash val="solid"/>
          </a:ln>
        </p:spPr>
      </p:sp>
    </p:spTree>
    <p:extLst>
      <p:ext uri="{BB962C8B-B14F-4D97-AF65-F5344CB8AC3E}">
        <p14:creationId xmlns:p14="http://schemas.microsoft.com/office/powerpoint/2010/main" val="751745014"/>
      </p:ext>
    </p:extLst>
  </p:cSld>
</p:sld>
</file>

<file path=ppt/slides/slide77.xml><?xml version="1.0" encoding="utf-8"?>
<p:sld xmlns:p="http://schemas.openxmlformats.org/presentationml/2006/main">
  <p:cSld>
    <p:bg>
      <p:bgPr>
        <a:solidFill xmlns:a="http://schemas.openxmlformats.org/drawingml/2006/main">
          <a:srgbClr val="F7F7F5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E49875C1-F1A5-4156-9C8F-BA6A370DF1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47650"/>
            <a:ext cx="9525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1400" b="0">
                <a:solidFill>
                  <a:srgbClr val="52606B"/>
                </a:solidFill>
                <a:latin typeface="AppleGothic"/>
                <a:ea typeface="AppleGothic"/>
                <a:cs typeface="AppleGothic"/>
              </a:defRPr>
            </a:defPPr>
          </a:lstStyle>
          <a:p xmlns:a="http://schemas.openxmlformats.org/drawingml/2006/main">
            <a:pPr algn="l">
              <a:lnSpc>
                <a:spcPct val="116000"/>
              </a:lnSpc>
              <a:buNone/>
              <a:defRPr sz="1400" b="0">
                <a:solidFill>
                  <a:srgbClr val="52606B"/>
                </a:solidFill>
                <a:latin typeface="AppleGothic"/>
                <a:ea typeface="AppleGothic"/>
                <a:cs typeface="AppleGothic"/>
              </a:defRPr>
            </a:pPr>
            <a:r>
              <a:rPr sz="1400" b="0">
                <a:solidFill>
                  <a:srgbClr val="52606B"/>
                </a:solidFill>
                <a:latin typeface="AppleGothic"/>
                <a:ea typeface="AppleGothic"/>
                <a:cs typeface="AppleGothic"/>
              </a:rPr>
              <a:t>LLMOPS / W07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94C767B3-9C17-4ACC-A4BC-A4AE12959F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8500" y="247650"/>
            <a:ext cx="7239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r">
              <a:defRPr sz="1400" b="0">
                <a:solidFill>
                  <a:srgbClr val="52606B"/>
                </a:solidFill>
                <a:latin typeface="Menlo"/>
                <a:ea typeface="Menlo"/>
                <a:cs typeface="Menlo"/>
              </a:defRPr>
            </a:defPPr>
          </a:lstStyle>
          <a:p xmlns:a="http://schemas.openxmlformats.org/drawingml/2006/main">
            <a:pPr algn="r">
              <a:lnSpc>
                <a:spcPct val="116000"/>
              </a:lnSpc>
              <a:buNone/>
              <a:defRPr sz="1400" b="0">
                <a:solidFill>
                  <a:srgbClr val="52606B"/>
                </a:solidFill>
                <a:latin typeface="Menlo"/>
                <a:ea typeface="Menlo"/>
                <a:cs typeface="Menlo"/>
              </a:defRPr>
            </a:pPr>
            <a:r>
              <a:rPr sz="1400" b="0">
                <a:solidFill>
                  <a:srgbClr val="52606B"/>
                </a:solidFill>
                <a:latin typeface="Menlo"/>
                <a:ea typeface="Menlo"/>
                <a:cs typeface="Menlo"/>
              </a:rPr>
              <a:t>77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B0DF9318-3097-482E-8CDC-615082F50C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23900"/>
            <a:ext cx="109728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3400" b="1">
                <a:solidFill>
                  <a:srgbClr val="17191B"/>
                </a:solidFill>
                <a:latin typeface="AppleGothic"/>
                <a:ea typeface="AppleGothic"/>
                <a:cs typeface="AppleGothic"/>
              </a:defRPr>
            </a:defPPr>
          </a:lstStyle>
          <a:p xmlns:a="http://schemas.openxmlformats.org/drawingml/2006/main">
            <a:pPr algn="l">
              <a:lnSpc>
                <a:spcPct val="116000"/>
              </a:lnSpc>
              <a:buNone/>
              <a:defRPr sz="3400" b="1">
                <a:solidFill>
                  <a:srgbClr val="17191B"/>
                </a:solidFill>
                <a:latin typeface="AppleGothic"/>
                <a:ea typeface="AppleGothic"/>
                <a:cs typeface="AppleGothic"/>
              </a:defRPr>
            </a:pPr>
            <a:r>
              <a:rPr sz="3400" b="1">
                <a:solidFill>
                  <a:srgbClr val="17191B"/>
                </a:solidFill>
                <a:latin typeface="AppleGothic"/>
                <a:ea typeface="AppleGothic"/>
                <a:cs typeface="AppleGothic"/>
              </a:rPr>
              <a:t>참고 자료와 재현 경로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B76D991D-E6DB-4825-B464-A78CCE6AFB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315075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FD5D3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46986A67-1376-45D7-BC5B-B618737950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77000"/>
            <a:ext cx="109728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1400" b="0">
                <a:solidFill>
                  <a:srgbClr val="52606B"/>
                </a:solidFill>
                <a:latin typeface="AppleGothic"/>
                <a:ea typeface="AppleGothic"/>
                <a:cs typeface="AppleGothic"/>
              </a:defRPr>
            </a:defPPr>
          </a:lstStyle>
          <a:p xmlns:a="http://schemas.openxmlformats.org/drawingml/2006/main">
            <a:pPr algn="l">
              <a:lnSpc>
                <a:spcPct val="116000"/>
              </a:lnSpc>
              <a:buNone/>
              <a:defRPr sz="1400" b="0">
                <a:solidFill>
                  <a:srgbClr val="52606B"/>
                </a:solidFill>
                <a:latin typeface="AppleGothic"/>
                <a:ea typeface="AppleGothic"/>
                <a:cs typeface="AppleGothic"/>
              </a:defRPr>
            </a:pPr>
            <a:r>
              <a:rPr sz="1400" b="0">
                <a:solidFill>
                  <a:srgbClr val="52606B"/>
                </a:solidFill>
                <a:latin typeface="AppleGothic"/>
                <a:ea typeface="AppleGothic"/>
                <a:cs typeface="AppleGothic"/>
              </a:rPr>
              <a:t>데이터 · 모델 적응 · 비교 평가 · 기획서 초안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CDBC5446-091D-4A2F-9389-E22E7C0DAE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981200"/>
            <a:ext cx="10972800" cy="895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2700" b="1">
                <a:solidFill>
                  <a:srgbClr val="17191B"/>
                </a:solidFill>
                <a:latin typeface="AppleGothic"/>
                <a:ea typeface="AppleGothic"/>
                <a:cs typeface="AppleGothic"/>
              </a:defRPr>
            </a:defPPr>
          </a:lstStyle>
          <a:p xmlns:a="http://schemas.openxmlformats.org/drawingml/2006/main">
            <a:pPr algn="l">
              <a:lnSpc>
                <a:spcPct val="116000"/>
              </a:lnSpc>
              <a:buNone/>
              <a:defRPr sz="2700" b="1">
                <a:solidFill>
                  <a:srgbClr val="17191B"/>
                </a:solidFill>
                <a:latin typeface="AppleGothic"/>
                <a:ea typeface="AppleGothic"/>
                <a:cs typeface="AppleGothic"/>
              </a:defRPr>
            </a:pPr>
            <a:r>
              <a:rPr sz="2700" b="1">
                <a:solidFill>
                  <a:srgbClr val="17191B"/>
                </a:solidFill>
                <a:latin typeface="AppleGothic"/>
                <a:ea typeface="AppleGothic"/>
                <a:cs typeface="AppleGothic"/>
              </a:rPr>
              <a:t>LoRA · Hu et al. / QLoRA · Dettmers et al.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22BB7A6C-F5F8-4C32-B898-BADB0563C6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1242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FD5D3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2F18478B-2903-437B-BE40-CA4DCE9F31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590925"/>
            <a:ext cx="10668000" cy="352679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2200" b="0">
                <a:solidFill>
                  <a:srgbClr val="52606B"/>
                </a:solidFill>
                <a:latin typeface="AppleGothic"/>
                <a:ea typeface="AppleGothic"/>
                <a:cs typeface="AppleGothic"/>
              </a:defRPr>
            </a:defPPr>
          </a:lstStyle>
          <a:p xmlns:a="http://schemas.openxmlformats.org/drawingml/2006/main">
            <a:pPr algn="l">
              <a:lnSpc>
                <a:spcPct val="116000"/>
              </a:lnSpc>
              <a:buNone/>
              <a:defRPr sz="2200" b="0">
                <a:solidFill>
                  <a:srgbClr val="52606B"/>
                </a:solidFill>
                <a:latin typeface="AppleGothic"/>
                <a:ea typeface="AppleGothic"/>
                <a:cs typeface="AppleGothic"/>
              </a:defRPr>
            </a:pPr>
            <a:r>
              <a:rPr sz="2200" b="0">
                <a:solidFill>
                  <a:srgbClr val="52606B"/>
                </a:solidFill>
                <a:latin typeface="AppleGothic"/>
                <a:ea typeface="AppleGothic"/>
                <a:cs typeface="AppleGothic"/>
              </a:rPr>
              <a:t>DPO · Rafailov et al. · 원 논문과 수치 실험 구분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6D15A85A-D79A-4C17-99AD-880670C5C0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210304"/>
            <a:ext cx="10668000" cy="352679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2200" b="0">
                <a:solidFill>
                  <a:srgbClr val="52606B"/>
                </a:solidFill>
                <a:latin typeface="AppleGothic"/>
                <a:ea typeface="AppleGothic"/>
                <a:cs typeface="AppleGothic"/>
              </a:defRPr>
            </a:defPPr>
          </a:lstStyle>
          <a:p xmlns:a="http://schemas.openxmlformats.org/drawingml/2006/main">
            <a:pPr algn="l">
              <a:lnSpc>
                <a:spcPct val="116000"/>
              </a:lnSpc>
              <a:buNone/>
              <a:defRPr sz="2200" b="0">
                <a:solidFill>
                  <a:srgbClr val="52606B"/>
                </a:solidFill>
                <a:latin typeface="AppleGothic"/>
                <a:ea typeface="AppleGothic"/>
                <a:cs typeface="AppleGothic"/>
              </a:defRPr>
            </a:pPr>
            <a:r>
              <a:rPr sz="2200" b="0">
                <a:solidFill>
                  <a:srgbClr val="52606B"/>
                </a:solidFill>
                <a:latin typeface="AppleGothic"/>
                <a:ea typeface="AppleGothic"/>
                <a:cs typeface="AppleGothic"/>
              </a:rPr>
              <a:t>repo: week07/lab/notebooks · 운영 커리큘럼</a:t>
            </a:r>
          </a:p>
        </p:txBody>
      </p:sp>
    </p:spTree>
    <p:extLst>
      <p:ext uri="{BB962C8B-B14F-4D97-AF65-F5344CB8AC3E}">
        <p14:creationId xmlns:p14="http://schemas.microsoft.com/office/powerpoint/2010/main" val="1218932154"/>
      </p:ext>
    </p:extLst>
  </p:cSld>
</p:sld>
</file>

<file path=ppt/theme/theme1.xml><?xml version="1.0" encoding="utf-8"?>
<a:theme xmlns:a="http://schemas.openxmlformats.org/drawingml/2006/main" name="ChatGPT">
  <a:themeElements>
    <a:clrScheme name="LLMOPS EDITORIAL">
      <a:dk1>
        <a:srgbClr val="0A0B0C"/>
      </a:dk1>
      <a:lt1>
        <a:srgbClr val="FFFFFF"/>
      </a:lt1>
      <a:dk2>
        <a:srgbClr val="17283B"/>
      </a:dk2>
      <a:lt2>
        <a:srgbClr val="F7F7F5"/>
      </a:lt2>
      <a:accent1>
        <a:srgbClr val="284B72"/>
      </a:accent1>
      <a:accent2>
        <a:srgbClr val="17283B"/>
      </a:accent2>
      <a:accent3>
        <a:srgbClr val="52606B"/>
      </a:accent3>
      <a:accent4>
        <a:srgbClr val="EDF1F6"/>
      </a:accent4>
      <a:accent5>
        <a:srgbClr val="17191B"/>
      </a:accent5>
      <a:accent6>
        <a:srgbClr val="CFD5D3"/>
      </a:accent6>
      <a:hlink>
        <a:srgbClr val="284B72"/>
      </a:hlink>
      <a:folHlink>
        <a:srgbClr val="17283B"/>
      </a:folHlink>
    </a:clrScheme>
    <a:fontScheme name="">
      <a:majorFont>
        <a:latin typeface="Aptos"/>
        <a:ea typeface=""/>
        <a:cs typeface=""/>
      </a:majorFont>
      <a:minorFont>
        <a:latin typeface="Aptos"/>
        <a:ea typeface=""/>
        <a:cs typeface=""/>
      </a:minorFont>
    </a:fontScheme>
    <a:fmtScheme name="LLMOPS EDITORIAL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2026-10-16T15:22:05.4050000Z</dcterms:created>
  <dcterms:modified xsi:type="dcterms:W3CDTF">2026-10-16T15:22:05.4050000Z</dcterms:modified>
</coreProperties>
</file>