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1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slides/charts/chart2.xml" ContentType="application/vnd.openxmlformats-officedocument.drawingml.chart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slides/charts/chart3.xml" ContentType="application/vnd.openxmlformats-officedocument.drawingml.chart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slides/charts/chart4.xml" ContentType="application/vnd.openxmlformats-officedocument.drawingml.chart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slides/charts/chart5.xml" ContentType="application/vnd.openxmlformats-officedocument.drawingml.chart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slides/charts/chart6.xml" ContentType="application/vnd.openxmlformats-officedocument.drawingml.chart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ffbb47aa0741a8" /><Relationship Type="http://schemas.openxmlformats.org/officeDocument/2006/relationships/extended-properties" Target="/docProps/app.xml" Id="R6ee51d8ae2fe4a6d" /><Relationship Type="http://schemas.openxmlformats.org/officeDocument/2006/relationships/officeDocument" Target="/ppt/presentation.xml" Id="R7d7d6e9671d841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200f7cf67e47c4"/>
  </p:sldMasterIdLst>
  <p:notesMasterIdLst>
    <p:notesMasterId xmlns:r="http://schemas.openxmlformats.org/officeDocument/2006/relationships" r:id="Rd85e8e70c2dd41db"/>
  </p:notesMasterIdLst>
  <p:sldIdLst>
    <p:sldId xmlns:r="http://schemas.openxmlformats.org/officeDocument/2006/relationships" id="256" r:id="R0799fbfca01545b3"/>
    <p:sldId xmlns:r="http://schemas.openxmlformats.org/officeDocument/2006/relationships" id="257" r:id="R573ad0f3ca544c9e"/>
    <p:sldId xmlns:r="http://schemas.openxmlformats.org/officeDocument/2006/relationships" id="258" r:id="R5ad3a447d33347f6"/>
    <p:sldId xmlns:r="http://schemas.openxmlformats.org/officeDocument/2006/relationships" id="259" r:id="R70967d99323447f4"/>
    <p:sldId xmlns:r="http://schemas.openxmlformats.org/officeDocument/2006/relationships" id="260" r:id="R32d8b7d1f2094ae1"/>
    <p:sldId xmlns:r="http://schemas.openxmlformats.org/officeDocument/2006/relationships" id="261" r:id="R90ff10f998d947d2"/>
    <p:sldId xmlns:r="http://schemas.openxmlformats.org/officeDocument/2006/relationships" id="262" r:id="R77b8f12327284b2a"/>
    <p:sldId xmlns:r="http://schemas.openxmlformats.org/officeDocument/2006/relationships" id="263" r:id="Rf832ebefdf614a51"/>
    <p:sldId xmlns:r="http://schemas.openxmlformats.org/officeDocument/2006/relationships" id="264" r:id="R2bb794987cb248a4"/>
    <p:sldId xmlns:r="http://schemas.openxmlformats.org/officeDocument/2006/relationships" id="265" r:id="R5497b6500d5f44ab"/>
    <p:sldId xmlns:r="http://schemas.openxmlformats.org/officeDocument/2006/relationships" id="266" r:id="R60ec720b5b6a4949"/>
    <p:sldId xmlns:r="http://schemas.openxmlformats.org/officeDocument/2006/relationships" id="267" r:id="R6ee43a797f744c6f"/>
    <p:sldId xmlns:r="http://schemas.openxmlformats.org/officeDocument/2006/relationships" id="268" r:id="R90d38a682ef0490b"/>
    <p:sldId xmlns:r="http://schemas.openxmlformats.org/officeDocument/2006/relationships" id="269" r:id="R54f7ab72eb8e44b2"/>
    <p:sldId xmlns:r="http://schemas.openxmlformats.org/officeDocument/2006/relationships" id="270" r:id="R3ba6a4f8742447b5"/>
    <p:sldId xmlns:r="http://schemas.openxmlformats.org/officeDocument/2006/relationships" id="271" r:id="R80b2016e993242b8"/>
    <p:sldId xmlns:r="http://schemas.openxmlformats.org/officeDocument/2006/relationships" id="272" r:id="R25219cbb1a3644ae"/>
    <p:sldId xmlns:r="http://schemas.openxmlformats.org/officeDocument/2006/relationships" id="273" r:id="R978d2e6d9cf24e8e"/>
    <p:sldId xmlns:r="http://schemas.openxmlformats.org/officeDocument/2006/relationships" id="274" r:id="R8aaea5a390904ab5"/>
    <p:sldId xmlns:r="http://schemas.openxmlformats.org/officeDocument/2006/relationships" id="275" r:id="R4c6ade67e0be4f46"/>
    <p:sldId xmlns:r="http://schemas.openxmlformats.org/officeDocument/2006/relationships" id="276" r:id="R05c7a1e7be454407"/>
    <p:sldId xmlns:r="http://schemas.openxmlformats.org/officeDocument/2006/relationships" id="277" r:id="R3fd74eb941e741c6"/>
    <p:sldId xmlns:r="http://schemas.openxmlformats.org/officeDocument/2006/relationships" id="278" r:id="R92dd3d67b32c453c"/>
    <p:sldId xmlns:r="http://schemas.openxmlformats.org/officeDocument/2006/relationships" id="279" r:id="Rc7a5f3306ea14ed7"/>
    <p:sldId xmlns:r="http://schemas.openxmlformats.org/officeDocument/2006/relationships" id="280" r:id="R42b1d9ec982b4de7"/>
    <p:sldId xmlns:r="http://schemas.openxmlformats.org/officeDocument/2006/relationships" id="281" r:id="R4e6b93940d6a4c6a"/>
    <p:sldId xmlns:r="http://schemas.openxmlformats.org/officeDocument/2006/relationships" id="282" r:id="R334dec9cace447c9"/>
    <p:sldId xmlns:r="http://schemas.openxmlformats.org/officeDocument/2006/relationships" id="283" r:id="R901aa5cdf50a421e"/>
    <p:sldId xmlns:r="http://schemas.openxmlformats.org/officeDocument/2006/relationships" id="284" r:id="R73773b65e96e4976"/>
    <p:sldId xmlns:r="http://schemas.openxmlformats.org/officeDocument/2006/relationships" id="285" r:id="R26cdad4b4a7d435d"/>
    <p:sldId xmlns:r="http://schemas.openxmlformats.org/officeDocument/2006/relationships" id="286" r:id="R139d1d7e43fe4e83"/>
    <p:sldId xmlns:r="http://schemas.openxmlformats.org/officeDocument/2006/relationships" id="287" r:id="Re6becee29c534381"/>
    <p:sldId xmlns:r="http://schemas.openxmlformats.org/officeDocument/2006/relationships" id="288" r:id="R1c38711a3fa24147"/>
    <p:sldId xmlns:r="http://schemas.openxmlformats.org/officeDocument/2006/relationships" id="289" r:id="R77927b97099d450b"/>
    <p:sldId xmlns:r="http://schemas.openxmlformats.org/officeDocument/2006/relationships" id="290" r:id="R5d3a4ce1bd9c452e"/>
    <p:sldId xmlns:r="http://schemas.openxmlformats.org/officeDocument/2006/relationships" id="291" r:id="R7d584d15e3bf4cbb"/>
    <p:sldId xmlns:r="http://schemas.openxmlformats.org/officeDocument/2006/relationships" id="292" r:id="Ra19f01ea473e4a31"/>
    <p:sldId xmlns:r="http://schemas.openxmlformats.org/officeDocument/2006/relationships" id="293" r:id="R9e5720accc634c02"/>
    <p:sldId xmlns:r="http://schemas.openxmlformats.org/officeDocument/2006/relationships" id="294" r:id="Rb2e486a9750045fb"/>
    <p:sldId xmlns:r="http://schemas.openxmlformats.org/officeDocument/2006/relationships" id="295" r:id="Rff1a550051cf45ba"/>
    <p:sldId xmlns:r="http://schemas.openxmlformats.org/officeDocument/2006/relationships" id="296" r:id="R9fc29835906a4ab1"/>
    <p:sldId xmlns:r="http://schemas.openxmlformats.org/officeDocument/2006/relationships" id="297" r:id="Rc43802c0788b403e"/>
    <p:sldId xmlns:r="http://schemas.openxmlformats.org/officeDocument/2006/relationships" id="298" r:id="Recc6a0c167734d6c"/>
    <p:sldId xmlns:r="http://schemas.openxmlformats.org/officeDocument/2006/relationships" id="299" r:id="R5e3856360cf94949"/>
    <p:sldId xmlns:r="http://schemas.openxmlformats.org/officeDocument/2006/relationships" id="300" r:id="Rc1e4e173adfc4c52"/>
    <p:sldId xmlns:r="http://schemas.openxmlformats.org/officeDocument/2006/relationships" id="301" r:id="R0ab60f8e98204a24"/>
    <p:sldId xmlns:r="http://schemas.openxmlformats.org/officeDocument/2006/relationships" id="302" r:id="R87ed5ee46f2e43c2"/>
    <p:sldId xmlns:r="http://schemas.openxmlformats.org/officeDocument/2006/relationships" id="303" r:id="R23564060aea84352"/>
    <p:sldId xmlns:r="http://schemas.openxmlformats.org/officeDocument/2006/relationships" id="304" r:id="Rd3634f5df48c447d"/>
    <p:sldId xmlns:r="http://schemas.openxmlformats.org/officeDocument/2006/relationships" id="305" r:id="R3d981352fbcb4366"/>
    <p:sldId xmlns:r="http://schemas.openxmlformats.org/officeDocument/2006/relationships" id="306" r:id="R158aa1a8d8924b6f"/>
    <p:sldId xmlns:r="http://schemas.openxmlformats.org/officeDocument/2006/relationships" id="307" r:id="R44d930e380614030"/>
    <p:sldId xmlns:r="http://schemas.openxmlformats.org/officeDocument/2006/relationships" id="308" r:id="Rb6d8f8c70d6b49ae"/>
    <p:sldId xmlns:r="http://schemas.openxmlformats.org/officeDocument/2006/relationships" id="309" r:id="Rf5146aa9134642af"/>
    <p:sldId xmlns:r="http://schemas.openxmlformats.org/officeDocument/2006/relationships" id="310" r:id="R2f805649bbe447aa"/>
    <p:sldId xmlns:r="http://schemas.openxmlformats.org/officeDocument/2006/relationships" id="311" r:id="Rd3036caafd5f4d6d"/>
    <p:sldId xmlns:r="http://schemas.openxmlformats.org/officeDocument/2006/relationships" id="312" r:id="Rd30b94f8a5324236"/>
    <p:sldId xmlns:r="http://schemas.openxmlformats.org/officeDocument/2006/relationships" id="313" r:id="Rf623d1ca21d84ba7"/>
    <p:sldId xmlns:r="http://schemas.openxmlformats.org/officeDocument/2006/relationships" id="314" r:id="R225052a294074490"/>
    <p:sldId xmlns:r="http://schemas.openxmlformats.org/officeDocument/2006/relationships" id="315" r:id="R2551dcc8fa694a3e"/>
    <p:sldId xmlns:r="http://schemas.openxmlformats.org/officeDocument/2006/relationships" id="316" r:id="R7bc9ffcdbc3a45b9"/>
    <p:sldId xmlns:r="http://schemas.openxmlformats.org/officeDocument/2006/relationships" id="317" r:id="R456c969b08d641a6"/>
    <p:sldId xmlns:r="http://schemas.openxmlformats.org/officeDocument/2006/relationships" id="318" r:id="Rfc2edb680a7e4feb"/>
    <p:sldId xmlns:r="http://schemas.openxmlformats.org/officeDocument/2006/relationships" id="319" r:id="Rd5fdbc87907a4a6c"/>
    <p:sldId xmlns:r="http://schemas.openxmlformats.org/officeDocument/2006/relationships" id="320" r:id="R828081e2133a4690"/>
    <p:sldId xmlns:r="http://schemas.openxmlformats.org/officeDocument/2006/relationships" id="321" r:id="R0b5870565d084d1d"/>
    <p:sldId xmlns:r="http://schemas.openxmlformats.org/officeDocument/2006/relationships" id="322" r:id="R0dfb27e9b9034891"/>
    <p:sldId xmlns:r="http://schemas.openxmlformats.org/officeDocument/2006/relationships" id="323" r:id="R24e2aa2d70994640"/>
    <p:sldId xmlns:r="http://schemas.openxmlformats.org/officeDocument/2006/relationships" id="324" r:id="Rc662c63f07d0421f"/>
    <p:sldId xmlns:r="http://schemas.openxmlformats.org/officeDocument/2006/relationships" id="325" r:id="R1478ef93760d455e"/>
    <p:sldId xmlns:r="http://schemas.openxmlformats.org/officeDocument/2006/relationships" id="326" r:id="R7aebc1c301524b6f"/>
    <p:sldId xmlns:r="http://schemas.openxmlformats.org/officeDocument/2006/relationships" id="327" r:id="Re6978615ce6e4e54"/>
    <p:sldId xmlns:r="http://schemas.openxmlformats.org/officeDocument/2006/relationships" id="328" r:id="R6db9488afdec4068"/>
    <p:sldId xmlns:r="http://schemas.openxmlformats.org/officeDocument/2006/relationships" id="329" r:id="R878bd3f236464987"/>
    <p:sldId xmlns:r="http://schemas.openxmlformats.org/officeDocument/2006/relationships" id="330" r:id="Rd6d42cd18c3d4934"/>
    <p:sldId xmlns:r="http://schemas.openxmlformats.org/officeDocument/2006/relationships" id="331" r:id="Rdba273e9ab614c4c"/>
    <p:sldId xmlns:r="http://schemas.openxmlformats.org/officeDocument/2006/relationships" id="332" r:id="Rff7e1ad531024079"/>
    <p:sldId xmlns:r="http://schemas.openxmlformats.org/officeDocument/2006/relationships" id="333" r:id="R0f00a42aa6504428"/>
    <p:sldId xmlns:r="http://schemas.openxmlformats.org/officeDocument/2006/relationships" id="334" r:id="R43f74a98affa4cac"/>
    <p:sldId xmlns:r="http://schemas.openxmlformats.org/officeDocument/2006/relationships" id="335" r:id="R9ca0a9b8224b43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a847ec71c94062" /><Relationship Type="http://schemas.openxmlformats.org/officeDocument/2006/relationships/slideMaster" Target="/ppt/slideMasters/slideMaster1.xml" Id="Rec200f7cf67e47c4" /><Relationship Type="http://schemas.openxmlformats.org/officeDocument/2006/relationships/notesMaster" Target="/ppt/notesMasters/notesMaster1.xml" Id="Rd85e8e70c2dd41db" /><Relationship Type="http://schemas.openxmlformats.org/officeDocument/2006/relationships/presProps" Target="/ppt/presProps.xml" Id="R8d26520f8b5247ef" /><Relationship Type="http://schemas.openxmlformats.org/officeDocument/2006/relationships/tableStyles" Target="/ppt/tableStyles.xml" Id="R7d2cdf57ba134c1e" /><Relationship Type="http://schemas.openxmlformats.org/officeDocument/2006/relationships/slide" Target="/ppt/slides/slide1.xml" Id="R0799fbfca01545b3" /><Relationship Type="http://schemas.openxmlformats.org/officeDocument/2006/relationships/slide" Target="/ppt/slides/slide2.xml" Id="R573ad0f3ca544c9e" /><Relationship Type="http://schemas.openxmlformats.org/officeDocument/2006/relationships/slide" Target="/ppt/slides/slide3.xml" Id="R5ad3a447d33347f6" /><Relationship Type="http://schemas.openxmlformats.org/officeDocument/2006/relationships/slide" Target="/ppt/slides/slide4.xml" Id="R70967d99323447f4" /><Relationship Type="http://schemas.openxmlformats.org/officeDocument/2006/relationships/slide" Target="/ppt/slides/slide5.xml" Id="R32d8b7d1f2094ae1" /><Relationship Type="http://schemas.openxmlformats.org/officeDocument/2006/relationships/slide" Target="/ppt/slides/slide6.xml" Id="R90ff10f998d947d2" /><Relationship Type="http://schemas.openxmlformats.org/officeDocument/2006/relationships/slide" Target="/ppt/slides/slide7.xml" Id="R77b8f12327284b2a" /><Relationship Type="http://schemas.openxmlformats.org/officeDocument/2006/relationships/slide" Target="/ppt/slides/slide8.xml" Id="Rf832ebefdf614a51" /><Relationship Type="http://schemas.openxmlformats.org/officeDocument/2006/relationships/slide" Target="/ppt/slides/slide9.xml" Id="R2bb794987cb248a4" /><Relationship Type="http://schemas.openxmlformats.org/officeDocument/2006/relationships/slide" Target="/ppt/slides/slide10.xml" Id="R5497b6500d5f44ab" /><Relationship Type="http://schemas.openxmlformats.org/officeDocument/2006/relationships/slide" Target="/ppt/slides/slide11.xml" Id="R60ec720b5b6a4949" /><Relationship Type="http://schemas.openxmlformats.org/officeDocument/2006/relationships/slide" Target="/ppt/slides/slide12.xml" Id="R6ee43a797f744c6f" /><Relationship Type="http://schemas.openxmlformats.org/officeDocument/2006/relationships/slide" Target="/ppt/slides/slide13.xml" Id="R90d38a682ef0490b" /><Relationship Type="http://schemas.openxmlformats.org/officeDocument/2006/relationships/slide" Target="/ppt/slides/slide14.xml" Id="R54f7ab72eb8e44b2" /><Relationship Type="http://schemas.openxmlformats.org/officeDocument/2006/relationships/slide" Target="/ppt/slides/slide15.xml" Id="R3ba6a4f8742447b5" /><Relationship Type="http://schemas.openxmlformats.org/officeDocument/2006/relationships/slide" Target="/ppt/slides/slide16.xml" Id="R80b2016e993242b8" /><Relationship Type="http://schemas.openxmlformats.org/officeDocument/2006/relationships/slide" Target="/ppt/slides/slide17.xml" Id="R25219cbb1a3644ae" /><Relationship Type="http://schemas.openxmlformats.org/officeDocument/2006/relationships/slide" Target="/ppt/slides/slide18.xml" Id="R978d2e6d9cf24e8e" /><Relationship Type="http://schemas.openxmlformats.org/officeDocument/2006/relationships/slide" Target="/ppt/slides/slide19.xml" Id="R8aaea5a390904ab5" /><Relationship Type="http://schemas.openxmlformats.org/officeDocument/2006/relationships/slide" Target="/ppt/slides/slide20.xml" Id="R4c6ade67e0be4f46" /><Relationship Type="http://schemas.openxmlformats.org/officeDocument/2006/relationships/slide" Target="/ppt/slides/slide21.xml" Id="R05c7a1e7be454407" /><Relationship Type="http://schemas.openxmlformats.org/officeDocument/2006/relationships/slide" Target="/ppt/slides/slide22.xml" Id="R3fd74eb941e741c6" /><Relationship Type="http://schemas.openxmlformats.org/officeDocument/2006/relationships/slide" Target="/ppt/slides/slide23.xml" Id="R92dd3d67b32c453c" /><Relationship Type="http://schemas.openxmlformats.org/officeDocument/2006/relationships/slide" Target="/ppt/slides/slide24.xml" Id="Rc7a5f3306ea14ed7" /><Relationship Type="http://schemas.openxmlformats.org/officeDocument/2006/relationships/slide" Target="/ppt/slides/slide25.xml" Id="R42b1d9ec982b4de7" /><Relationship Type="http://schemas.openxmlformats.org/officeDocument/2006/relationships/slide" Target="/ppt/slides/slide26.xml" Id="R4e6b93940d6a4c6a" /><Relationship Type="http://schemas.openxmlformats.org/officeDocument/2006/relationships/slide" Target="/ppt/slides/slide27.xml" Id="R334dec9cace447c9" /><Relationship Type="http://schemas.openxmlformats.org/officeDocument/2006/relationships/slide" Target="/ppt/slides/slide28.xml" Id="R901aa5cdf50a421e" /><Relationship Type="http://schemas.openxmlformats.org/officeDocument/2006/relationships/slide" Target="/ppt/slides/slide29.xml" Id="R73773b65e96e4976" /><Relationship Type="http://schemas.openxmlformats.org/officeDocument/2006/relationships/slide" Target="/ppt/slides/slide30.xml" Id="R26cdad4b4a7d435d" /><Relationship Type="http://schemas.openxmlformats.org/officeDocument/2006/relationships/slide" Target="/ppt/slides/slide31.xml" Id="R139d1d7e43fe4e83" /><Relationship Type="http://schemas.openxmlformats.org/officeDocument/2006/relationships/slide" Target="/ppt/slides/slide32.xml" Id="Re6becee29c534381" /><Relationship Type="http://schemas.openxmlformats.org/officeDocument/2006/relationships/slide" Target="/ppt/slides/slide33.xml" Id="R1c38711a3fa24147" /><Relationship Type="http://schemas.openxmlformats.org/officeDocument/2006/relationships/slide" Target="/ppt/slides/slide34.xml" Id="R77927b97099d450b" /><Relationship Type="http://schemas.openxmlformats.org/officeDocument/2006/relationships/slide" Target="/ppt/slides/slide35.xml" Id="R5d3a4ce1bd9c452e" /><Relationship Type="http://schemas.openxmlformats.org/officeDocument/2006/relationships/slide" Target="/ppt/slides/slide36.xml" Id="R7d584d15e3bf4cbb" /><Relationship Type="http://schemas.openxmlformats.org/officeDocument/2006/relationships/slide" Target="/ppt/slides/slide37.xml" Id="Ra19f01ea473e4a31" /><Relationship Type="http://schemas.openxmlformats.org/officeDocument/2006/relationships/slide" Target="/ppt/slides/slide38.xml" Id="R9e5720accc634c02" /><Relationship Type="http://schemas.openxmlformats.org/officeDocument/2006/relationships/slide" Target="/ppt/slides/slide39.xml" Id="Rb2e486a9750045fb" /><Relationship Type="http://schemas.openxmlformats.org/officeDocument/2006/relationships/slide" Target="/ppt/slides/slide40.xml" Id="Rff1a550051cf45ba" /><Relationship Type="http://schemas.openxmlformats.org/officeDocument/2006/relationships/slide" Target="/ppt/slides/slide41.xml" Id="R9fc29835906a4ab1" /><Relationship Type="http://schemas.openxmlformats.org/officeDocument/2006/relationships/slide" Target="/ppt/slides/slide42.xml" Id="Rc43802c0788b403e" /><Relationship Type="http://schemas.openxmlformats.org/officeDocument/2006/relationships/slide" Target="/ppt/slides/slide43.xml" Id="Recc6a0c167734d6c" /><Relationship Type="http://schemas.openxmlformats.org/officeDocument/2006/relationships/slide" Target="/ppt/slides/slide44.xml" Id="R5e3856360cf94949" /><Relationship Type="http://schemas.openxmlformats.org/officeDocument/2006/relationships/slide" Target="/ppt/slides/slide45.xml" Id="Rc1e4e173adfc4c52" /><Relationship Type="http://schemas.openxmlformats.org/officeDocument/2006/relationships/slide" Target="/ppt/slides/slide46.xml" Id="R0ab60f8e98204a24" /><Relationship Type="http://schemas.openxmlformats.org/officeDocument/2006/relationships/slide" Target="/ppt/slides/slide47.xml" Id="R87ed5ee46f2e43c2" /><Relationship Type="http://schemas.openxmlformats.org/officeDocument/2006/relationships/slide" Target="/ppt/slides/slide48.xml" Id="R23564060aea84352" /><Relationship Type="http://schemas.openxmlformats.org/officeDocument/2006/relationships/slide" Target="/ppt/slides/slide49.xml" Id="Rd3634f5df48c447d" /><Relationship Type="http://schemas.openxmlformats.org/officeDocument/2006/relationships/slide" Target="/ppt/slides/slide50.xml" Id="R3d981352fbcb4366" /><Relationship Type="http://schemas.openxmlformats.org/officeDocument/2006/relationships/slide" Target="/ppt/slides/slide51.xml" Id="R158aa1a8d8924b6f" /><Relationship Type="http://schemas.openxmlformats.org/officeDocument/2006/relationships/slide" Target="/ppt/slides/slide52.xml" Id="R44d930e380614030" /><Relationship Type="http://schemas.openxmlformats.org/officeDocument/2006/relationships/slide" Target="/ppt/slides/slide53.xml" Id="Rb6d8f8c70d6b49ae" /><Relationship Type="http://schemas.openxmlformats.org/officeDocument/2006/relationships/slide" Target="/ppt/slides/slide54.xml" Id="Rf5146aa9134642af" /><Relationship Type="http://schemas.openxmlformats.org/officeDocument/2006/relationships/slide" Target="/ppt/slides/slide55.xml" Id="R2f805649bbe447aa" /><Relationship Type="http://schemas.openxmlformats.org/officeDocument/2006/relationships/slide" Target="/ppt/slides/slide56.xml" Id="Rd3036caafd5f4d6d" /><Relationship Type="http://schemas.openxmlformats.org/officeDocument/2006/relationships/slide" Target="/ppt/slides/slide57.xml" Id="Rd30b94f8a5324236" /><Relationship Type="http://schemas.openxmlformats.org/officeDocument/2006/relationships/slide" Target="/ppt/slides/slide58.xml" Id="Rf623d1ca21d84ba7" /><Relationship Type="http://schemas.openxmlformats.org/officeDocument/2006/relationships/slide" Target="/ppt/slides/slide59.xml" Id="R225052a294074490" /><Relationship Type="http://schemas.openxmlformats.org/officeDocument/2006/relationships/slide" Target="/ppt/slides/slide60.xml" Id="R2551dcc8fa694a3e" /><Relationship Type="http://schemas.openxmlformats.org/officeDocument/2006/relationships/slide" Target="/ppt/slides/slide61.xml" Id="R7bc9ffcdbc3a45b9" /><Relationship Type="http://schemas.openxmlformats.org/officeDocument/2006/relationships/slide" Target="/ppt/slides/slide62.xml" Id="R456c969b08d641a6" /><Relationship Type="http://schemas.openxmlformats.org/officeDocument/2006/relationships/slide" Target="/ppt/slides/slide63.xml" Id="Rfc2edb680a7e4feb" /><Relationship Type="http://schemas.openxmlformats.org/officeDocument/2006/relationships/slide" Target="/ppt/slides/slide64.xml" Id="Rd5fdbc87907a4a6c" /><Relationship Type="http://schemas.openxmlformats.org/officeDocument/2006/relationships/slide" Target="/ppt/slides/slide65.xml" Id="R828081e2133a4690" /><Relationship Type="http://schemas.openxmlformats.org/officeDocument/2006/relationships/slide" Target="/ppt/slides/slide66.xml" Id="R0b5870565d084d1d" /><Relationship Type="http://schemas.openxmlformats.org/officeDocument/2006/relationships/slide" Target="/ppt/slides/slide67.xml" Id="R0dfb27e9b9034891" /><Relationship Type="http://schemas.openxmlformats.org/officeDocument/2006/relationships/slide" Target="/ppt/slides/slide68.xml" Id="R24e2aa2d70994640" /><Relationship Type="http://schemas.openxmlformats.org/officeDocument/2006/relationships/slide" Target="/ppt/slides/slide69.xml" Id="Rc662c63f07d0421f" /><Relationship Type="http://schemas.openxmlformats.org/officeDocument/2006/relationships/slide" Target="/ppt/slides/slide70.xml" Id="R1478ef93760d455e" /><Relationship Type="http://schemas.openxmlformats.org/officeDocument/2006/relationships/slide" Target="/ppt/slides/slide71.xml" Id="R7aebc1c301524b6f" /><Relationship Type="http://schemas.openxmlformats.org/officeDocument/2006/relationships/slide" Target="/ppt/slides/slide72.xml" Id="Re6978615ce6e4e54" /><Relationship Type="http://schemas.openxmlformats.org/officeDocument/2006/relationships/slide" Target="/ppt/slides/slide73.xml" Id="R6db9488afdec4068" /><Relationship Type="http://schemas.openxmlformats.org/officeDocument/2006/relationships/slide" Target="/ppt/slides/slide74.xml" Id="R878bd3f236464987" /><Relationship Type="http://schemas.openxmlformats.org/officeDocument/2006/relationships/slide" Target="/ppt/slides/slide75.xml" Id="Rd6d42cd18c3d4934" /><Relationship Type="http://schemas.openxmlformats.org/officeDocument/2006/relationships/slide" Target="/ppt/slides/slide76.xml" Id="Rdba273e9ab614c4c" /><Relationship Type="http://schemas.openxmlformats.org/officeDocument/2006/relationships/slide" Target="/ppt/slides/slide77.xml" Id="Rff7e1ad531024079" /><Relationship Type="http://schemas.openxmlformats.org/officeDocument/2006/relationships/slide" Target="/ppt/slides/slide78.xml" Id="R0f00a42aa6504428" /><Relationship Type="http://schemas.openxmlformats.org/officeDocument/2006/relationships/slide" Target="/ppt/slides/slide79.xml" Id="R43f74a98affa4cac" /><Relationship Type="http://schemas.openxmlformats.org/officeDocument/2006/relationships/slide" Target="/ppt/slides/slide80.xml" Id="R9ca0a9b8224b43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77a37583fa43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LLMOPS EDITORIAL">
      <a:dk1>
        <a:srgbClr val="0A0B0C"/>
      </a:dk1>
      <a:lt1>
        <a:srgbClr val="FFFFFF"/>
      </a:lt1>
      <a:dk2>
        <a:srgbClr val="17283B"/>
      </a:dk2>
      <a:lt2>
        <a:srgbClr val="F7F7F5"/>
      </a:lt2>
      <a:accent1>
        <a:srgbClr val="284B72"/>
      </a:accent1>
      <a:accent2>
        <a:srgbClr val="17283B"/>
      </a:accent2>
      <a:accent3>
        <a:srgbClr val="52606B"/>
      </a:accent3>
      <a:accent4>
        <a:srgbClr val="EDF1F6"/>
      </a:accent4>
      <a:accent5>
        <a:srgbClr val="17191B"/>
      </a:accent5>
      <a:accent6>
        <a:srgbClr val="CFD5D3"/>
      </a:accent6>
      <a:hlink>
        <a:srgbClr val="284B72"/>
      </a:hlink>
      <a:folHlink>
        <a:srgbClr val="17283B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LLMOPS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7124b26d534af4" /><Relationship Type="http://schemas.openxmlformats.org/officeDocument/2006/relationships/notesMaster" Target="/ppt/notesMasters/notesMaster1.xml" Id="R4df461d76d5e40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b7d8c2d0ac4f5d" /><Relationship Type="http://schemas.openxmlformats.org/officeDocument/2006/relationships/notesMaster" Target="/ppt/notesMasters/notesMaster1.xml" Id="R78bdea848ec846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b082953d444a6c" /><Relationship Type="http://schemas.openxmlformats.org/officeDocument/2006/relationships/notesMaster" Target="/ppt/notesMasters/notesMaster1.xml" Id="R3a05bc78bd2d49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ac74b61a5e4fd8" /><Relationship Type="http://schemas.openxmlformats.org/officeDocument/2006/relationships/notesMaster" Target="/ppt/notesMasters/notesMaster1.xml" Id="Rf15737900e7c4b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a100cae0b4465b" /><Relationship Type="http://schemas.openxmlformats.org/officeDocument/2006/relationships/notesMaster" Target="/ppt/notesMasters/notesMaster1.xml" Id="R963e9497d49f42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2d8e9d6f274139" /><Relationship Type="http://schemas.openxmlformats.org/officeDocument/2006/relationships/notesMaster" Target="/ppt/notesMasters/notesMaster1.xml" Id="Rb87471d9ac274c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01478ba9944d95" /><Relationship Type="http://schemas.openxmlformats.org/officeDocument/2006/relationships/notesMaster" Target="/ppt/notesMasters/notesMaster1.xml" Id="R667a47ea8a0641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e93cc83c894b66" /><Relationship Type="http://schemas.openxmlformats.org/officeDocument/2006/relationships/notesMaster" Target="/ppt/notesMasters/notesMaster1.xml" Id="R90624c61af8c4c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5dbc820ab54f77" /><Relationship Type="http://schemas.openxmlformats.org/officeDocument/2006/relationships/notesMaster" Target="/ppt/notesMasters/notesMaster1.xml" Id="Rd21f1e7acac34b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3e435c6a294bff" /><Relationship Type="http://schemas.openxmlformats.org/officeDocument/2006/relationships/notesMaster" Target="/ppt/notesMasters/notesMaster1.xml" Id="R67e2523991a846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5f33b0caa943ad" /><Relationship Type="http://schemas.openxmlformats.org/officeDocument/2006/relationships/notesMaster" Target="/ppt/notesMasters/notesMaster1.xml" Id="Rc7830a2757a7412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7ec39d4f484334" /><Relationship Type="http://schemas.openxmlformats.org/officeDocument/2006/relationships/notesMaster" Target="/ppt/notesMasters/notesMaster1.xml" Id="Rf5a658f1c3cc4b1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7787dcea1fb4a66" /><Relationship Type="http://schemas.openxmlformats.org/officeDocument/2006/relationships/notesMaster" Target="/ppt/notesMasters/notesMaster1.xml" Id="R1eff5509e4de44d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2aefb56fe04473" /><Relationship Type="http://schemas.openxmlformats.org/officeDocument/2006/relationships/notesMaster" Target="/ppt/notesMasters/notesMaster1.xml" Id="R191d930d24a84ae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f1245d433d14925" /><Relationship Type="http://schemas.openxmlformats.org/officeDocument/2006/relationships/notesMaster" Target="/ppt/notesMasters/notesMaster1.xml" Id="R91acb0978be34d3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3c61e1a9023410b" /><Relationship Type="http://schemas.openxmlformats.org/officeDocument/2006/relationships/notesMaster" Target="/ppt/notesMasters/notesMaster1.xml" Id="Rf44b8cb99e874fd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1a435cf9bd046c9" /><Relationship Type="http://schemas.openxmlformats.org/officeDocument/2006/relationships/notesMaster" Target="/ppt/notesMasters/notesMaster1.xml" Id="R61e4d71b41b8410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f1fd6aa1b984341" /><Relationship Type="http://schemas.openxmlformats.org/officeDocument/2006/relationships/notesMaster" Target="/ppt/notesMasters/notesMaster1.xml" Id="R231bb4e96fbf429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74dc871f1be48d0" /><Relationship Type="http://schemas.openxmlformats.org/officeDocument/2006/relationships/notesMaster" Target="/ppt/notesMasters/notesMaster1.xml" Id="R6c67411e390f4f2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99f37472a564219" /><Relationship Type="http://schemas.openxmlformats.org/officeDocument/2006/relationships/notesMaster" Target="/ppt/notesMasters/notesMaster1.xml" Id="Rd50b5802ec04469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271b5d6ed134b26" /><Relationship Type="http://schemas.openxmlformats.org/officeDocument/2006/relationships/notesMaster" Target="/ppt/notesMasters/notesMaster1.xml" Id="R641fc7b11b05436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25880fe3e6944c7" /><Relationship Type="http://schemas.openxmlformats.org/officeDocument/2006/relationships/notesMaster" Target="/ppt/notesMasters/notesMaster1.xml" Id="Re04ecd766785474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9f908dfa5b740b7" /><Relationship Type="http://schemas.openxmlformats.org/officeDocument/2006/relationships/notesMaster" Target="/ppt/notesMasters/notesMaster1.xml" Id="R609dcccdafc042b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69f5ebf036d4819" /><Relationship Type="http://schemas.openxmlformats.org/officeDocument/2006/relationships/notesMaster" Target="/ppt/notesMasters/notesMaster1.xml" Id="R581f4b31beb2425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d4898c46e184eac" /><Relationship Type="http://schemas.openxmlformats.org/officeDocument/2006/relationships/notesMaster" Target="/ppt/notesMasters/notesMaster1.xml" Id="R0b82e86f0ab3463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f8ca500599a4fa9" /><Relationship Type="http://schemas.openxmlformats.org/officeDocument/2006/relationships/notesMaster" Target="/ppt/notesMasters/notesMaster1.xml" Id="R96c1e221e33b4e1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30fc06847114446" /><Relationship Type="http://schemas.openxmlformats.org/officeDocument/2006/relationships/notesMaster" Target="/ppt/notesMasters/notesMaster1.xml" Id="Rd1a663f03dec416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08bf23fa93840cc" /><Relationship Type="http://schemas.openxmlformats.org/officeDocument/2006/relationships/notesMaster" Target="/ppt/notesMasters/notesMaster1.xml" Id="R7e634a7ee42b421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e9fcf973db440be" /><Relationship Type="http://schemas.openxmlformats.org/officeDocument/2006/relationships/notesMaster" Target="/ppt/notesMasters/notesMaster1.xml" Id="R5b8f09b13f83459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2c62f3403a34fa0" /><Relationship Type="http://schemas.openxmlformats.org/officeDocument/2006/relationships/notesMaster" Target="/ppt/notesMasters/notesMaster1.xml" Id="Rf48e940ddcd1468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92f0e281dab476b" /><Relationship Type="http://schemas.openxmlformats.org/officeDocument/2006/relationships/notesMaster" Target="/ppt/notesMasters/notesMaster1.xml" Id="Rd7978011ea2d4e0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fe7fe4330c64c71" /><Relationship Type="http://schemas.openxmlformats.org/officeDocument/2006/relationships/notesMaster" Target="/ppt/notesMasters/notesMaster1.xml" Id="R011cbe51c051472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ea0f2d01ceb4965" /><Relationship Type="http://schemas.openxmlformats.org/officeDocument/2006/relationships/notesMaster" Target="/ppt/notesMasters/notesMaster1.xml" Id="R1ad7614001e74a4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d748d526eef4c60" /><Relationship Type="http://schemas.openxmlformats.org/officeDocument/2006/relationships/notesMaster" Target="/ppt/notesMasters/notesMaster1.xml" Id="Rbbbf62364bd440d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c0faaed008c4ce4" /><Relationship Type="http://schemas.openxmlformats.org/officeDocument/2006/relationships/notesMaster" Target="/ppt/notesMasters/notesMaster1.xml" Id="R72dd714b33c84a2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307d13b727c4727" /><Relationship Type="http://schemas.openxmlformats.org/officeDocument/2006/relationships/notesMaster" Target="/ppt/notesMasters/notesMaster1.xml" Id="R072891655956475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6b8a62b895e4ff1" /><Relationship Type="http://schemas.openxmlformats.org/officeDocument/2006/relationships/notesMaster" Target="/ppt/notesMasters/notesMaster1.xml" Id="Rd0af392431a14cd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a08d92a66f94de4" /><Relationship Type="http://schemas.openxmlformats.org/officeDocument/2006/relationships/notesMaster" Target="/ppt/notesMasters/notesMaster1.xml" Id="Rbe2864b2df5242b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58b212ac0854e9a" /><Relationship Type="http://schemas.openxmlformats.org/officeDocument/2006/relationships/notesMaster" Target="/ppt/notesMasters/notesMaster1.xml" Id="Rf9b9443a53ad434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429f75eb14d4f8f" /><Relationship Type="http://schemas.openxmlformats.org/officeDocument/2006/relationships/notesMaster" Target="/ppt/notesMasters/notesMaster1.xml" Id="R2fa810e1d354498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57bddb0fad04a04" /><Relationship Type="http://schemas.openxmlformats.org/officeDocument/2006/relationships/notesMaster" Target="/ppt/notesMasters/notesMaster1.xml" Id="R2edc9461dda0473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fd7ee3876494163" /><Relationship Type="http://schemas.openxmlformats.org/officeDocument/2006/relationships/notesMaster" Target="/ppt/notesMasters/notesMaster1.xml" Id="Rb2372db158904ef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5f812714d484970" /><Relationship Type="http://schemas.openxmlformats.org/officeDocument/2006/relationships/notesMaster" Target="/ppt/notesMasters/notesMaster1.xml" Id="R51afd353e39f441c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7cb828984cd4f71" /><Relationship Type="http://schemas.openxmlformats.org/officeDocument/2006/relationships/notesMaster" Target="/ppt/notesMasters/notesMaster1.xml" Id="R67bcace8309244bd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aebd28c4f6140d9" /><Relationship Type="http://schemas.openxmlformats.org/officeDocument/2006/relationships/notesMaster" Target="/ppt/notesMasters/notesMaster1.xml" Id="R62f8e0423a144346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b6da65ec335a4d27" /><Relationship Type="http://schemas.openxmlformats.org/officeDocument/2006/relationships/notesMaster" Target="/ppt/notesMasters/notesMaster1.xml" Id="R1d37f462a37e49b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9dbb24fc15964337" /><Relationship Type="http://schemas.openxmlformats.org/officeDocument/2006/relationships/notesMaster" Target="/ppt/notesMasters/notesMaster1.xml" Id="Rc766f504cc8947d2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2fb259cf5c8344dd" /><Relationship Type="http://schemas.openxmlformats.org/officeDocument/2006/relationships/notesMaster" Target="/ppt/notesMasters/notesMaster1.xml" Id="Ra7339201787343aa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68b558ad660d48db" /><Relationship Type="http://schemas.openxmlformats.org/officeDocument/2006/relationships/notesMaster" Target="/ppt/notesMasters/notesMaster1.xml" Id="Rce1e68f667fe4b07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76eb8bc9a80c4dcb" /><Relationship Type="http://schemas.openxmlformats.org/officeDocument/2006/relationships/notesMaster" Target="/ppt/notesMasters/notesMaster1.xml" Id="R723a7c80922b4495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5dbb3e8f20584906" /><Relationship Type="http://schemas.openxmlformats.org/officeDocument/2006/relationships/notesMaster" Target="/ppt/notesMasters/notesMaster1.xml" Id="R19e4afd7cd8b4e47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55d8924af02c4f09" /><Relationship Type="http://schemas.openxmlformats.org/officeDocument/2006/relationships/notesMaster" Target="/ppt/notesMasters/notesMaster1.xml" Id="R014e2dbb5a594373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106cc996b43c4c1b" /><Relationship Type="http://schemas.openxmlformats.org/officeDocument/2006/relationships/notesMaster" Target="/ppt/notesMasters/notesMaster1.xml" Id="R8d472a4dfd5948d0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8c1dccd5a3ae4f47" /><Relationship Type="http://schemas.openxmlformats.org/officeDocument/2006/relationships/notesMaster" Target="/ppt/notesMasters/notesMaster1.xml" Id="Re6d576b0ad00487b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d8844b5d70c64f2c" /><Relationship Type="http://schemas.openxmlformats.org/officeDocument/2006/relationships/notesMaster" Target="/ppt/notesMasters/notesMaster1.xml" Id="Re6ec2e49066b4fb1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ea06c9d7b38449f8" /><Relationship Type="http://schemas.openxmlformats.org/officeDocument/2006/relationships/notesMaster" Target="/ppt/notesMasters/notesMaster1.xml" Id="R1945b42715a64a28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c7fc8cc710314611" /><Relationship Type="http://schemas.openxmlformats.org/officeDocument/2006/relationships/notesMaster" Target="/ppt/notesMasters/notesMaster1.xml" Id="Rae89dbb30e3f4f48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888bcbab882e45aa" /><Relationship Type="http://schemas.openxmlformats.org/officeDocument/2006/relationships/notesMaster" Target="/ppt/notesMasters/notesMaster1.xml" Id="R4739a7d537ea4316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a564ef6fdded4885" /><Relationship Type="http://schemas.openxmlformats.org/officeDocument/2006/relationships/notesMaster" Target="/ppt/notesMasters/notesMaster1.xml" Id="R10d8be4414574550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8e7955354340493f" /><Relationship Type="http://schemas.openxmlformats.org/officeDocument/2006/relationships/notesMaster" Target="/ppt/notesMasters/notesMaster1.xml" Id="R418f636d1eb44311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d63d52fdf6c9408e" /><Relationship Type="http://schemas.openxmlformats.org/officeDocument/2006/relationships/notesMaster" Target="/ppt/notesMasters/notesMaster1.xml" Id="R12ba327033cc45f6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86e90592c5254fca" /><Relationship Type="http://schemas.openxmlformats.org/officeDocument/2006/relationships/notesMaster" Target="/ppt/notesMasters/notesMaster1.xml" Id="Re3483c1ec9f64570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e3311934faf14933" /><Relationship Type="http://schemas.openxmlformats.org/officeDocument/2006/relationships/notesMaster" Target="/ppt/notesMasters/notesMaster1.xml" Id="Re0db9884d41e40fd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a7ed0e786b60435e" /><Relationship Type="http://schemas.openxmlformats.org/officeDocument/2006/relationships/notesMaster" Target="/ppt/notesMasters/notesMaster1.xml" Id="R15ca4d7de637420e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d1bdbc0929cc4904" /><Relationship Type="http://schemas.openxmlformats.org/officeDocument/2006/relationships/notesMaster" Target="/ppt/notesMasters/notesMaster1.xml" Id="R4f6cc4e82af04f04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87b6144900f94e41" /><Relationship Type="http://schemas.openxmlformats.org/officeDocument/2006/relationships/notesMaster" Target="/ppt/notesMasters/notesMaster1.xml" Id="Rc819362951044ec4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80955c343fb64213" /><Relationship Type="http://schemas.openxmlformats.org/officeDocument/2006/relationships/notesMaster" Target="/ppt/notesMasters/notesMaster1.xml" Id="R4e52c8023f3444e2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b6dfa7e781b94488" /><Relationship Type="http://schemas.openxmlformats.org/officeDocument/2006/relationships/notesMaster" Target="/ppt/notesMasters/notesMaster1.xml" Id="R6faf4dc02b4d4394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cb9986be3d4546ab" /><Relationship Type="http://schemas.openxmlformats.org/officeDocument/2006/relationships/notesMaster" Target="/ppt/notesMasters/notesMaster1.xml" Id="R99c50a38c3bb409d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38d8b75163964b6c" /><Relationship Type="http://schemas.openxmlformats.org/officeDocument/2006/relationships/notesMaster" Target="/ppt/notesMasters/notesMaster1.xml" Id="R1b402f98a1d4431d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414a8481b5484568" /><Relationship Type="http://schemas.openxmlformats.org/officeDocument/2006/relationships/notesMaster" Target="/ppt/notesMasters/notesMaster1.xml" Id="R089016b1cd8549f6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dabc2834fb164d20" /><Relationship Type="http://schemas.openxmlformats.org/officeDocument/2006/relationships/notesMaster" Target="/ppt/notesMasters/notesMaster1.xml" Id="R094cff5ade1d45dd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309d73f2dd594abb" /><Relationship Type="http://schemas.openxmlformats.org/officeDocument/2006/relationships/notesMaster" Target="/ppt/notesMasters/notesMaster1.xml" Id="R5b6cb784feb2461e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e83799b09c69433a" /><Relationship Type="http://schemas.openxmlformats.org/officeDocument/2006/relationships/notesMaster" Target="/ppt/notesMasters/notesMaster1.xml" Id="R785a1324c2924cb8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40340a6140714b32" /><Relationship Type="http://schemas.openxmlformats.org/officeDocument/2006/relationships/notesMaster" Target="/ppt/notesMasters/notesMaster1.xml" Id="R7fa4110417d743d2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9a61cf1e51654bec" /><Relationship Type="http://schemas.openxmlformats.org/officeDocument/2006/relationships/notesMaster" Target="/ppt/notesMasters/notesMaster1.xml" Id="R7dcc0ed408094baa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d6e5ad718017447f" /><Relationship Type="http://schemas.openxmlformats.org/officeDocument/2006/relationships/notesMaster" Target="/ppt/notesMasters/notesMaster1.xml" Id="R6a1fff61eb37402c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cae6c2fcbb8f4fa6" /><Relationship Type="http://schemas.openxmlformats.org/officeDocument/2006/relationships/notesMaster" Target="/ppt/notesMasters/notesMaster1.xml" Id="R77a48d4d743f4181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931a713d3e4a401f" /><Relationship Type="http://schemas.openxmlformats.org/officeDocument/2006/relationships/notesMaster" Target="/ppt/notesMasters/notesMaster1.xml" Id="R558b0c8a87c14308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a3bc9fa507f14c92" /><Relationship Type="http://schemas.openxmlformats.org/officeDocument/2006/relationships/notesMaster" Target="/ppt/notesMasters/notesMaster1.xml" Id="R9cf9847958df42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logits는 확률 변환 전 점수다. 토큰 손실 감소와 새 사건에서의 업무 품질을 구분한다. 자세한 shift·마스킹 계산은 6주차 18–26쪽을 참고한다.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https://huggingface.co/docs/trl/sft_trainer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 논문 초기화 A 무작위/B=0과 이번 SVD 근사는 다른 계산이다. 12×8 차원은 수업용 예시이며 논문 실험 크기가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https://arxiv.org/abs/2106.09685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도식 면적을 실측 메모리 비율로 해석하지 않는다. 저장 정밀도와 계산 정밀도, 고정 모델을 통과하는 gradient와 가중치 갱신을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https://arxiv.org/abs/2305.14314</a:t>
            </a:r>
          </a:p>
          <a:p xmlns:a="http://schemas.openxmlformats.org/drawingml/2006/main">
            <a:r>
              <a:t>- https://arxiv.org/abs/2106.09685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https://huggingface.co/docs/trl/sft_trainer</a:t>
            </a:r>
          </a:p>
          <a:p xmlns:a="http://schemas.openxmlformats.org/drawingml/2006/main">
            <a:r>
              <a:t>- https://arxiv.org/abs/2106.09685</a:t>
            </a:r>
          </a:p>
          <a:p xmlns:a="http://schemas.openxmlformats.org/drawingml/2006/main">
            <a:r>
              <a:t>- https://arxiv.org/abs/2305.14314</a:t>
            </a:r>
          </a:p>
          <a:p xmlns:a="http://schemas.openxmlformats.org/drawingml/2006/main">
            <a:r>
              <a:t>- https://arxiv.org/abs/2305.18290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prompt는 근거 문서가 없는 문의다. chosen은 사실의 절대 정답이라는 뜻이 아니다. 이 예시의 선택 기준은 근거 없는 단정 방지와 다음 행동 안내다.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https://arxiv.org/abs/2305.18290</a:t>
            </a:r>
          </a:p>
          <a:p xmlns:a="http://schemas.openxmlformats.org/drawingml/2006/main">
            <a:r>
              <a:t>- https://huggingface.co/docs/trl/dpo_trainer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https://huggingface.co/docs/trl/sft_trainer</a:t>
            </a:r>
          </a:p>
          <a:p xmlns:a="http://schemas.openxmlformats.org/drawingml/2006/main">
            <a:r>
              <a:t>- https://arxiv.org/abs/2305.18290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https://huggingface.co/docs/trl/dpo_trainer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https://arxiv.org/abs/2305.18290</a:t>
            </a:r>
          </a:p>
          <a:p xmlns:a="http://schemas.openxmlformats.org/drawingml/2006/main">
            <a:r>
              <a:t>- https://huggingface.co/docs/trl/dpo_trainer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https://arxiv.org/abs/2305.18290</a:t>
            </a:r>
          </a:p>
          <a:p xmlns:a="http://schemas.openxmlformats.org/drawingml/2006/main">
            <a:r>
              <a:t>- https://huggingface.co/docs/trl/dpo_trainer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 논문의 RLHF 파이프라인과 DPO 대조다. DPO는 명시적인 보상 모델을 별도로 학습하지 않지만 비용이 0이거나 모든 업무에서 더 좋다는 뜻은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https://arxiv.org/abs/2305.18290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PPO는 근접 정책 최적화, RLHF는 인간 피드백 기반 강화학습이다. 다양한 변형이 있으므로 여기서는 원 논문의 기본 경로만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https://arxiv.org/abs/2305.18290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보통 SFT 모델에서 policy와 reference를 시작한다. reference의 가중치는 갱신하지 않는다. 구현에 따라 reference log probability를 사전 계산할 수 있으며 같은 토큰화·정의가 필요하다.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https://arxiv.org/abs/2305.18290</a:t>
            </a:r>
          </a:p>
          <a:p xmlns:a="http://schemas.openxmlformats.org/drawingml/2006/main">
            <a:r>
              <a:t>- repo:week07/lab/notebooks/05_dpo_evaluation_workshop.ipynb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https://arxiv.org/abs/2305.18290</a:t>
            </a:r>
          </a:p>
          <a:p xmlns:a="http://schemas.openxmlformats.org/drawingml/2006/main">
            <a:r>
              <a:t>- repo:week07/lab/notebooks/05_dpo_evaluation_workshop.ipynb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repo:week07/lab/notebooks/05_dpo_evaluation_workshop.ipynb</a:t>
            </a:r>
          </a:p>
          <a:p xmlns:a="http://schemas.openxmlformats.org/drawingml/2006/main">
            <a:r>
              <a:t>- repo:course_labs/preference_evaluation.py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https://arxiv.org/abs/2305.18290</a:t>
            </a:r>
          </a:p>
          <a:p xmlns:a="http://schemas.openxmlformats.org/drawingml/2006/main">
            <a:r>
              <a:t>- repo:week07/lab/notebooks/05_dpo_evaluation_workshop.ipynb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https://arxiv.org/abs/2305.18290</a:t>
            </a:r>
          </a:p>
          <a:p xmlns:a="http://schemas.openxmlformats.org/drawingml/2006/main">
            <a:r>
              <a:t>- repo:week07/lab/notebooks/05_dpo_evaluation_workshop.ipynb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https://arxiv.org/abs/2305.18290</a:t>
            </a:r>
          </a:p>
          <a:p xmlns:a="http://schemas.openxmlformats.org/drawingml/2006/main">
            <a:r>
              <a:t>- repo:week07/lab/notebooks/05_dpo_evaluation_workshop.ipynb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repo:week07/lab/notebooks/05_dpo_evaluation_workshop.ipynb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https://arxiv.org/abs/2305.18290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https://arxiv.org/abs/2305.18290</a:t>
            </a:r>
          </a:p>
          <a:p xmlns:a="http://schemas.openxmlformats.org/drawingml/2006/main">
            <a:r>
              <a:t>- https://huggingface.co/docs/trl/dpo_trainer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repo:week07/lab/notebooks/05_dpo_evaluation_workshop.ipynb</a:t>
            </a:r>
          </a:p>
          <a:p xmlns:a="http://schemas.openxmlformats.org/drawingml/2006/main">
            <a:r>
              <a:t>- https://arxiv.org/abs/2305.18290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- repo:week07/lab/notebooks/05_dpo_evaluation_workshop.ipynb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repo:week07/lab/notebooks/05_dpo_evaluation_workshop.ipynb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repo:week07/lab/notebooks/05_dpo_evaluation_workshop.ipynb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https://huggingface.co/docs/trl/dpo_trainer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repo:course_labs/preference_evaluation.py</a:t>
            </a:r>
          </a:p>
          <a:p xmlns:a="http://schemas.openxmlformats.org/drawingml/2006/main">
            <a:r>
              <a:t>- repo:week07/lab/notebooks/05_dpo_evaluation_workshop.ipynb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repo:course_labs/preference_evaluation.py</a:t>
            </a:r>
          </a:p>
          <a:p xmlns:a="http://schemas.openxmlformats.org/drawingml/2006/main">
            <a:r>
              <a:t>- repo:week07/lab/notebooks/05_dpo_evaluation_workshop.ipynb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repo:course_labs/preference_evaluation.py</a:t>
            </a:r>
          </a:p>
          <a:p xmlns:a="http://schemas.openxmlformats.org/drawingml/2006/main">
            <a:r>
              <a:t>- repo:week07/lab/notebooks/05_dpo_evaluation_workshop.ipynb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repo:course_labs/preference_evaluation.py</a:t>
            </a:r>
          </a:p>
          <a:p xmlns:a="http://schemas.openxmlformats.org/drawingml/2006/main">
            <a:r>
              <a:t>- repo:week07/lab/notebooks/05_dpo_evaluation_workshop.ipynb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repo:course_labs/preference_evaluation.py</a:t>
            </a:r>
          </a:p>
          <a:p xmlns:a="http://schemas.openxmlformats.org/drawingml/2006/main">
            <a:r>
              <a:t>- repo:week07/lab/notebooks/05_dpo_evaluation_workshop.ipynb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서론은 아이디어 제안과 주장, 본론1·본론2는 각 주장과 근거 연결, 결론은 제언과 주장 요약을 각각 검토한다. 구조 검토와 유창성·이해도를 하나의 자동 점수로 섞지 않는다. 원문 인용과 판단 보류, 사용자 직접 수정 경로를 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https://arxiv.org/abs/2305.18290</a:t>
            </a:r>
          </a:p>
          <a:p xmlns:a="http://schemas.openxmlformats.org/drawingml/2006/main">
            <a:r>
              <a:t>- https://huggingface.co/docs/trl/dpo_trainer</a:t>
            </a:r>
          </a:p>
          <a:p xmlns:a="http://schemas.openxmlformats.org/drawingml/2006/main">
            <a:r>
              <a:t>- https://huggingface.co/docs/trl/sft_trainer</a:t>
            </a:r>
          </a:p>
          <a:p xmlns:a="http://schemas.openxmlformats.org/drawingml/2006/main">
            <a:r>
              <a:t>- https://arxiv.org/abs/2106.09685</a:t>
            </a:r>
          </a:p>
          <a:p xmlns:a="http://schemas.openxmlformats.org/drawingml/2006/main">
            <a:r>
              <a:t>- https://arxiv.org/abs/2305.14314</a:t>
            </a:r>
          </a:p>
          <a:p xmlns:a="http://schemas.openxmlformats.org/drawingml/2006/main">
            <a:r>
              <a:t>- repo:week07/lab/notebooks/05_dpo_evaluation_workshop.ipynb</a:t>
            </a:r>
          </a:p>
          <a:p xmlns:a="http://schemas.openxmlformats.org/drawingml/2006/main">
            <a:r>
              <a:t>- repo:course_labs/preference_evaluation.py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dd4a66cf154eb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31d9267f4241f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92df4383bd42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ebbb1bd14046f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4ed54a58c94bb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f9ce6107394d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9846A7-B64E-49BB-9562-C98CF2AF3B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DFFA53B-76B0-407B-AD2E-8758F11CBFB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2040F61-9541-4CFE-8C3B-28636E987C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B0B753-65C6-4FF6-876D-1980F36B7A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AEAFA3B-499A-4660-AA5D-5F0573DBB9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CA3AE53-0BEB-4CCA-A532-FB9EB8F4D1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3B94D07-E9CB-4B9E-9921-5BDC0724BD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D117656-D26C-4663-943B-013E5850A49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B13788-3B2E-4D54-B80E-54E29A601A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9BDD24C-ACD0-47BB-ABDC-A38E40B4E1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f6ae1052fa44a0" /><Relationship Type="http://schemas.openxmlformats.org/officeDocument/2006/relationships/slideLayout" Target="/ppt/slideLayouts/slideLayout1.xml" Id="R3b6d923c1d904640" /><Relationship Type="http://schemas.openxmlformats.org/officeDocument/2006/relationships/slideLayout" Target="/ppt/slideLayouts/slideLayout2.xml" Id="R1bbda4c5a98f4179" /><Relationship Type="http://schemas.openxmlformats.org/officeDocument/2006/relationships/slideLayout" Target="/ppt/slideLayouts/slideLayout3.xml" Id="R6dce5a4d2c754fd4" /><Relationship Type="http://schemas.openxmlformats.org/officeDocument/2006/relationships/slideLayout" Target="/ppt/slideLayouts/slideLayout4.xml" Id="R659a090952464fdb" /><Relationship Type="http://schemas.openxmlformats.org/officeDocument/2006/relationships/slideLayout" Target="/ppt/slideLayouts/slideLayout5.xml" Id="R135689831a424672" /><Relationship Type="http://schemas.openxmlformats.org/officeDocument/2006/relationships/slideLayout" Target="/ppt/slideLayouts/slideLayout6.xml" Id="Rcdd734b2154545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6d923c1d904640"/>
    <p:sldLayoutId xmlns:r="http://schemas.openxmlformats.org/officeDocument/2006/relationships" id="2147483650" r:id="R1bbda4c5a98f4179"/>
    <p:sldLayoutId xmlns:r="http://schemas.openxmlformats.org/officeDocument/2006/relationships" id="2147483651" r:id="R6dce5a4d2c754fd4"/>
    <p:sldLayoutId xmlns:r="http://schemas.openxmlformats.org/officeDocument/2006/relationships" id="2147483652" r:id="R659a090952464fdb"/>
    <p:sldLayoutId xmlns:r="http://schemas.openxmlformats.org/officeDocument/2006/relationships" id="2147483653" r:id="R135689831a424672"/>
    <p:sldLayoutId xmlns:r="http://schemas.openxmlformats.org/officeDocument/2006/relationships" id="2147483654" r:id="Rcdd734b2154545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LLMOPS EDITORIAL">
      <a:dk1>
        <a:srgbClr val="0A0B0C"/>
      </a:dk1>
      <a:lt1>
        <a:srgbClr val="FFFFFF"/>
      </a:lt1>
      <a:dk2>
        <a:srgbClr val="17283B"/>
      </a:dk2>
      <a:lt2>
        <a:srgbClr val="F7F7F5"/>
      </a:lt2>
      <a:accent1>
        <a:srgbClr val="284B72"/>
      </a:accent1>
      <a:accent2>
        <a:srgbClr val="17283B"/>
      </a:accent2>
      <a:accent3>
        <a:srgbClr val="52606B"/>
      </a:accent3>
      <a:accent4>
        <a:srgbClr val="EDF1F6"/>
      </a:accent4>
      <a:accent5>
        <a:srgbClr val="17191B"/>
      </a:accent5>
      <a:accent6>
        <a:srgbClr val="CFD5D3"/>
      </a:accent6>
      <a:hlink>
        <a:srgbClr val="284B72"/>
      </a:hlink>
      <a:folHlink>
        <a:srgbClr val="17283B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LLMOPS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832164c6b14f88" /><Relationship Type="http://schemas.openxmlformats.org/officeDocument/2006/relationships/notesSlide" Target="/ppt/notesSlides/notesSlide1.xml" Id="Rf816ab6cd14541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3861185e9f4e61" /><Relationship Type="http://schemas.openxmlformats.org/officeDocument/2006/relationships/notesSlide" Target="/ppt/notesSlides/notesSlide2.xml" Id="R1989764e720e43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206038492049de" /><Relationship Type="http://schemas.openxmlformats.org/officeDocument/2006/relationships/notesSlide" Target="/ppt/notesSlides/notesSlide3.xml" Id="R0b1844b2663346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9b2f80efe14588" /><Relationship Type="http://schemas.openxmlformats.org/officeDocument/2006/relationships/notesSlide" Target="/ppt/notesSlides/notesSlide4.xml" Id="Rfb469657a5b04e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990351c9f44add" /><Relationship Type="http://schemas.openxmlformats.org/officeDocument/2006/relationships/notesSlide" Target="/ppt/notesSlides/notesSlide5.xml" Id="Raea6a8e1cfea4b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32ab18240f44cf" /><Relationship Type="http://schemas.openxmlformats.org/officeDocument/2006/relationships/notesSlide" Target="/ppt/notesSlides/notesSlide6.xml" Id="R469f0d91405540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eb7a33048440f6" /><Relationship Type="http://schemas.openxmlformats.org/officeDocument/2006/relationships/notesSlide" Target="/ppt/notesSlides/notesSlide7.xml" Id="R19501738849f44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6c6f6e41344f6a" /><Relationship Type="http://schemas.openxmlformats.org/officeDocument/2006/relationships/notesSlide" Target="/ppt/notesSlides/notesSlide8.xml" Id="R91fde0de6acf4c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cf51bec0274e5f" /><Relationship Type="http://schemas.openxmlformats.org/officeDocument/2006/relationships/notesSlide" Target="/ppt/notesSlides/notesSlide9.xml" Id="Rdd3f766209cf4b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b34bbd125044fd" /><Relationship Type="http://schemas.openxmlformats.org/officeDocument/2006/relationships/notesSlide" Target="/ppt/notesSlides/notesSlide10.xml" Id="Re00860f2577b4e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dfcaca1b6f4650" /><Relationship Type="http://schemas.openxmlformats.org/officeDocument/2006/relationships/notesSlide" Target="/ppt/notesSlides/notesSlide11.xml" Id="Rb5bb52be45d74ae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b1ac28ee8e43e6" /><Relationship Type="http://schemas.openxmlformats.org/officeDocument/2006/relationships/image" Target="/ppt/media/image.png" Id="R1d37fa5522244951" /><Relationship Type="http://schemas.openxmlformats.org/officeDocument/2006/relationships/notesSlide" Target="/ppt/notesSlides/notesSlide12.xml" Id="R9e8e835b1e2c4c4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930277ef2646de" /><Relationship Type="http://schemas.openxmlformats.org/officeDocument/2006/relationships/notesSlide" Target="/ppt/notesSlides/notesSlide13.xml" Id="R697590db750a48a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249642af3f48d1" /><Relationship Type="http://schemas.openxmlformats.org/officeDocument/2006/relationships/notesSlide" Target="/ppt/notesSlides/notesSlide14.xml" Id="R36f85605f2ff415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d6fe81b80f42de" /><Relationship Type="http://schemas.openxmlformats.org/officeDocument/2006/relationships/notesSlide" Target="/ppt/notesSlides/notesSlide15.xml" Id="R28874083257549e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8259c577364619" /><Relationship Type="http://schemas.openxmlformats.org/officeDocument/2006/relationships/notesSlide" Target="/ppt/notesSlides/notesSlide16.xml" Id="R95297c926e8347d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41fdabbc8b4383" /><Relationship Type="http://schemas.openxmlformats.org/officeDocument/2006/relationships/notesSlide" Target="/ppt/notesSlides/notesSlide17.xml" Id="Rb63ac193f726462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4c54af4d8b4900" /><Relationship Type="http://schemas.openxmlformats.org/officeDocument/2006/relationships/image" Target="/ppt/media/image2.png" Id="R16f3e5d06fdb42b0" /><Relationship Type="http://schemas.openxmlformats.org/officeDocument/2006/relationships/notesSlide" Target="/ppt/notesSlides/notesSlide18.xml" Id="Rc3fc6a93a5fb421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6c6f2e77e544ca" /><Relationship Type="http://schemas.openxmlformats.org/officeDocument/2006/relationships/chart" Target="/ppt/slides/charts/chart1.xml" Id="R078481811a3949da" /><Relationship Type="http://schemas.openxmlformats.org/officeDocument/2006/relationships/notesSlide" Target="/ppt/notesSlides/notesSlide19.xml" Id="R32bdfeae5a5547c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97c272f6554002" /><Relationship Type="http://schemas.openxmlformats.org/officeDocument/2006/relationships/image" Target="/ppt/media/image3.png" Id="Ra0110de4979b44a6" /><Relationship Type="http://schemas.openxmlformats.org/officeDocument/2006/relationships/notesSlide" Target="/ppt/notesSlides/notesSlide20.xml" Id="R4f18ebaf45f34a4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8a50aa4ec547cf" /><Relationship Type="http://schemas.openxmlformats.org/officeDocument/2006/relationships/notesSlide" Target="/ppt/notesSlides/notesSlide21.xml" Id="R72758f2c5c91406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2569e2838e40ee" /><Relationship Type="http://schemas.openxmlformats.org/officeDocument/2006/relationships/notesSlide" Target="/ppt/notesSlides/notesSlide22.xml" Id="R3aa858305aa84cb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356a55acd74e7a" /><Relationship Type="http://schemas.openxmlformats.org/officeDocument/2006/relationships/notesSlide" Target="/ppt/notesSlides/notesSlide23.xml" Id="R99e8b8dd32c5483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e6e065a3874c08" /><Relationship Type="http://schemas.openxmlformats.org/officeDocument/2006/relationships/notesSlide" Target="/ppt/notesSlides/notesSlide24.xml" Id="R6174a1924e2a4b4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bac1e15abb4e4b" /><Relationship Type="http://schemas.openxmlformats.org/officeDocument/2006/relationships/notesSlide" Target="/ppt/notesSlides/notesSlide25.xml" Id="R1337f7249fff45a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6760027c4f44af" /><Relationship Type="http://schemas.openxmlformats.org/officeDocument/2006/relationships/notesSlide" Target="/ppt/notesSlides/notesSlide26.xml" Id="R1e94a9ad6e8d406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8f3cc4fb4846e5" /><Relationship Type="http://schemas.openxmlformats.org/officeDocument/2006/relationships/notesSlide" Target="/ppt/notesSlides/notesSlide27.xml" Id="R2e99ce7d62384b4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ce4fe1bdfb4a29" /><Relationship Type="http://schemas.openxmlformats.org/officeDocument/2006/relationships/notesSlide" Target="/ppt/notesSlides/notesSlide28.xml" Id="Rfd70679372934dc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b78f6722ab4470" /><Relationship Type="http://schemas.openxmlformats.org/officeDocument/2006/relationships/notesSlide" Target="/ppt/notesSlides/notesSlide29.xml" Id="R00ed6060a090453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b0f79c58ce4264" /><Relationship Type="http://schemas.openxmlformats.org/officeDocument/2006/relationships/notesSlide" Target="/ppt/notesSlides/notesSlide30.xml" Id="Rf8329051d949452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08c1aa9a0842cb" /><Relationship Type="http://schemas.openxmlformats.org/officeDocument/2006/relationships/notesSlide" Target="/ppt/notesSlides/notesSlide31.xml" Id="R8945207ded9e4d2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8b243e2a894d2a" /><Relationship Type="http://schemas.openxmlformats.org/officeDocument/2006/relationships/notesSlide" Target="/ppt/notesSlides/notesSlide32.xml" Id="R4d8a7c4c15da482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f20f7172554164" /><Relationship Type="http://schemas.openxmlformats.org/officeDocument/2006/relationships/notesSlide" Target="/ppt/notesSlides/notesSlide33.xml" Id="R3c7afbebd5bf43a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eeeb2d098b4885" /><Relationship Type="http://schemas.openxmlformats.org/officeDocument/2006/relationships/notesSlide" Target="/ppt/notesSlides/notesSlide34.xml" Id="R27177533187d4a4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899786f7614d67" /><Relationship Type="http://schemas.openxmlformats.org/officeDocument/2006/relationships/image" Target="/ppt/media/image4.png" Id="R26acb4499a834cc6" /><Relationship Type="http://schemas.openxmlformats.org/officeDocument/2006/relationships/notesSlide" Target="/ppt/notesSlides/notesSlide35.xml" Id="R15870fb9a9c54d3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811bf3f83a4c25" /><Relationship Type="http://schemas.openxmlformats.org/officeDocument/2006/relationships/notesSlide" Target="/ppt/notesSlides/notesSlide36.xml" Id="R47a537366795452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2a573e4a0a48f8" /><Relationship Type="http://schemas.openxmlformats.org/officeDocument/2006/relationships/notesSlide" Target="/ppt/notesSlides/notesSlide37.xml" Id="R27c8e0c32cff4d4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02d2657cd647b0" /><Relationship Type="http://schemas.openxmlformats.org/officeDocument/2006/relationships/notesSlide" Target="/ppt/notesSlides/notesSlide38.xml" Id="Rcddfd93d120d4be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df4041a7b9452a" /><Relationship Type="http://schemas.openxmlformats.org/officeDocument/2006/relationships/notesSlide" Target="/ppt/notesSlides/notesSlide39.xml" Id="Rd725f9746d5f45a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8124dce8ae42a6" /><Relationship Type="http://schemas.openxmlformats.org/officeDocument/2006/relationships/notesSlide" Target="/ppt/notesSlides/notesSlide40.xml" Id="R3f13ae24629a4d4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9a281548664397" /><Relationship Type="http://schemas.openxmlformats.org/officeDocument/2006/relationships/notesSlide" Target="/ppt/notesSlides/notesSlide41.xml" Id="R4c4a7e103ff94d2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dec71d0d6041a2" /><Relationship Type="http://schemas.openxmlformats.org/officeDocument/2006/relationships/notesSlide" Target="/ppt/notesSlides/notesSlide42.xml" Id="Rb0c5d1b5e8fc4d0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1a654c1a5a478c" /><Relationship Type="http://schemas.openxmlformats.org/officeDocument/2006/relationships/notesSlide" Target="/ppt/notesSlides/notesSlide43.xml" Id="R96db3e17ee0e43fe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b725635ab04112" /><Relationship Type="http://schemas.openxmlformats.org/officeDocument/2006/relationships/chart" Target="/ppt/slides/charts/chart2.xml" Id="R722927bfc81947f8" /><Relationship Type="http://schemas.openxmlformats.org/officeDocument/2006/relationships/notesSlide" Target="/ppt/notesSlides/notesSlide44.xml" Id="R41d8f027f1124853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13916874044ae0" /><Relationship Type="http://schemas.openxmlformats.org/officeDocument/2006/relationships/notesSlide" Target="/ppt/notesSlides/notesSlide45.xml" Id="Rccf5dd98478b4709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7df7002f2f48d9" /><Relationship Type="http://schemas.openxmlformats.org/officeDocument/2006/relationships/chart" Target="/ppt/slides/charts/chart3.xml" Id="Rad2f25458ed84737" /><Relationship Type="http://schemas.openxmlformats.org/officeDocument/2006/relationships/notesSlide" Target="/ppt/notesSlides/notesSlide46.xml" Id="R640f57c8c3394a48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1718947356456a" /><Relationship Type="http://schemas.openxmlformats.org/officeDocument/2006/relationships/notesSlide" Target="/ppt/notesSlides/notesSlide47.xml" Id="R3fc60f1db7a342dd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0994c6c9b84a73" /><Relationship Type="http://schemas.openxmlformats.org/officeDocument/2006/relationships/notesSlide" Target="/ppt/notesSlides/notesSlide48.xml" Id="R94da36afc1ea438d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fafec0ef424d12" /><Relationship Type="http://schemas.openxmlformats.org/officeDocument/2006/relationships/chart" Target="/ppt/slides/charts/chart4.xml" Id="R7a84caecf5ae4411" /><Relationship Type="http://schemas.openxmlformats.org/officeDocument/2006/relationships/notesSlide" Target="/ppt/notesSlides/notesSlide49.xml" Id="R76ae368f36b04eac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1595732a554413" /><Relationship Type="http://schemas.openxmlformats.org/officeDocument/2006/relationships/chart" Target="/ppt/slides/charts/chart5.xml" Id="R43d0d99a46274e81" /><Relationship Type="http://schemas.openxmlformats.org/officeDocument/2006/relationships/notesSlide" Target="/ppt/notesSlides/notesSlide50.xml" Id="R740ac1b3b1294dd8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f9651245744abe" /><Relationship Type="http://schemas.openxmlformats.org/officeDocument/2006/relationships/notesSlide" Target="/ppt/notesSlides/notesSlide51.xml" Id="R40652cfeb55045a0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e18d1644c2474a" /><Relationship Type="http://schemas.openxmlformats.org/officeDocument/2006/relationships/notesSlide" Target="/ppt/notesSlides/notesSlide52.xml" Id="R6dd453464a1c4434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fe4e3c93164c02" /><Relationship Type="http://schemas.openxmlformats.org/officeDocument/2006/relationships/notesSlide" Target="/ppt/notesSlides/notesSlide53.xml" Id="R521cac18c039424e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04f147339049a7" /><Relationship Type="http://schemas.openxmlformats.org/officeDocument/2006/relationships/notesSlide" Target="/ppt/notesSlides/notesSlide54.xml" Id="Ra138823987784423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b0c885e7034130" /><Relationship Type="http://schemas.openxmlformats.org/officeDocument/2006/relationships/notesSlide" Target="/ppt/notesSlides/notesSlide55.xml" Id="R672ad0602eaa49b5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83910ccbeb4a46" /><Relationship Type="http://schemas.openxmlformats.org/officeDocument/2006/relationships/notesSlide" Target="/ppt/notesSlides/notesSlide56.xml" Id="R05de973062814f6f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bf7456f08940dd" /><Relationship Type="http://schemas.openxmlformats.org/officeDocument/2006/relationships/notesSlide" Target="/ppt/notesSlides/notesSlide57.xml" Id="Rdae8e566830c44a6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27b9e6ae3c4b4f" /><Relationship Type="http://schemas.openxmlformats.org/officeDocument/2006/relationships/chart" Target="/ppt/slides/charts/chart6.xml" Id="R55cc6dfbad124bbd" /><Relationship Type="http://schemas.openxmlformats.org/officeDocument/2006/relationships/notesSlide" Target="/ppt/notesSlides/notesSlide58.xml" Id="R79447cb6a36f4803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0a072240004ed2" /><Relationship Type="http://schemas.openxmlformats.org/officeDocument/2006/relationships/notesSlide" Target="/ppt/notesSlides/notesSlide59.xml" Id="Rb7587482e30940d3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4336c956754f06" /><Relationship Type="http://schemas.openxmlformats.org/officeDocument/2006/relationships/notesSlide" Target="/ppt/notesSlides/notesSlide60.xml" Id="Rf1109d3a5e3b47aa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ce22a6844240fb" /><Relationship Type="http://schemas.openxmlformats.org/officeDocument/2006/relationships/notesSlide" Target="/ppt/notesSlides/notesSlide61.xml" Id="R4aecf765828244e0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812c0062734001" /><Relationship Type="http://schemas.openxmlformats.org/officeDocument/2006/relationships/notesSlide" Target="/ppt/notesSlides/notesSlide62.xml" Id="R952879a973274876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c8ec3cad2e4915" /><Relationship Type="http://schemas.openxmlformats.org/officeDocument/2006/relationships/notesSlide" Target="/ppt/notesSlides/notesSlide63.xml" Id="R59a84e15b6e949b5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7dbedb3892492d" /><Relationship Type="http://schemas.openxmlformats.org/officeDocument/2006/relationships/notesSlide" Target="/ppt/notesSlides/notesSlide64.xml" Id="Rfe52880172dc4557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b6fced4d1d45af" /><Relationship Type="http://schemas.openxmlformats.org/officeDocument/2006/relationships/notesSlide" Target="/ppt/notesSlides/notesSlide65.xml" Id="R1d9a7efdfdef4d0c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6ca08836ae4753" /><Relationship Type="http://schemas.openxmlformats.org/officeDocument/2006/relationships/notesSlide" Target="/ppt/notesSlides/notesSlide66.xml" Id="Rf4e3f38e406b4a5f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ed863db70640ae" /><Relationship Type="http://schemas.openxmlformats.org/officeDocument/2006/relationships/notesSlide" Target="/ppt/notesSlides/notesSlide67.xml" Id="R8aa74313017a4889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a9259310bd42c9" /><Relationship Type="http://schemas.openxmlformats.org/officeDocument/2006/relationships/notesSlide" Target="/ppt/notesSlides/notesSlide68.xml" Id="R377fea99f4cc48a0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f9ffd6249841a6" /><Relationship Type="http://schemas.openxmlformats.org/officeDocument/2006/relationships/notesSlide" Target="/ppt/notesSlides/notesSlide69.xml" Id="R3c29828bfe894544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cae36823834f78" /><Relationship Type="http://schemas.openxmlformats.org/officeDocument/2006/relationships/notesSlide" Target="/ppt/notesSlides/notesSlide70.xml" Id="Re90b280198de4178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ce330f2e8441c4" /><Relationship Type="http://schemas.openxmlformats.org/officeDocument/2006/relationships/notesSlide" Target="/ppt/notesSlides/notesSlide71.xml" Id="Ra1bedd5677dd4ae6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99133457d24df4" /><Relationship Type="http://schemas.openxmlformats.org/officeDocument/2006/relationships/notesSlide" Target="/ppt/notesSlides/notesSlide72.xml" Id="R013493bd14a44940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cc0d9429b141fa" /><Relationship Type="http://schemas.openxmlformats.org/officeDocument/2006/relationships/notesSlide" Target="/ppt/notesSlides/notesSlide73.xml" Id="Rea2d7d3a256346ae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238f1aacd94f84" /><Relationship Type="http://schemas.openxmlformats.org/officeDocument/2006/relationships/notesSlide" Target="/ppt/notesSlides/notesSlide74.xml" Id="Reec758fee38c4e9c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50e30a904542d2" /><Relationship Type="http://schemas.openxmlformats.org/officeDocument/2006/relationships/notesSlide" Target="/ppt/notesSlides/notesSlide75.xml" Id="Re3b1d466080b45e0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f8ab926dae43ab" /><Relationship Type="http://schemas.openxmlformats.org/officeDocument/2006/relationships/notesSlide" Target="/ppt/notesSlides/notesSlide76.xml" Id="R7ac9e903338b4081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5b308bc23d4b1f" /><Relationship Type="http://schemas.openxmlformats.org/officeDocument/2006/relationships/notesSlide" Target="/ppt/notesSlides/notesSlide77.xml" Id="R34476f49e7bc4eea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320309015940b6" /><Relationship Type="http://schemas.openxmlformats.org/officeDocument/2006/relationships/notesSlide" Target="/ppt/notesSlides/notesSlide78.xml" Id="R768e789206f24fcd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f6b277fec74ebd" /><Relationship Type="http://schemas.openxmlformats.org/officeDocument/2006/relationships/notesSlide" Target="/ppt/notesSlides/notesSlide79.xml" Id="R520ffdfee2b04e09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9e25264d684d86" /><Relationship Type="http://schemas.openxmlformats.org/officeDocument/2006/relationships/notesSlide" Target="/ppt/notesSlides/notesSlide80.xml" Id="R066169fc6ea2438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전체 행렬</c:v>
          </c:tx>
          <c:spPr>
            <a:solidFill xmlns:a="http://schemas.openxmlformats.org/drawingml/2006/main">
              <a:srgbClr val="284B72"/>
            </a:solidFill>
            <a:ln xmlns:a="http://schemas.openxmlformats.org/drawingml/2006/main" w="19050">
              <a:solidFill>
                <a:srgbClr val="284B72"/>
              </a:solidFill>
            </a:ln>
          </c:spPr>
          <c:invertIfNegative val="0"/>
          <c:cat>
            <c:strRef>
              <c:f>'Chart Data'!$A$2:$A$5</c:f>
              <c:strCache>
                <c:ptCount val="4"/>
                <c:pt idx="0">
                  <c:v>rank1</c:v>
                </c:pt>
                <c:pt idx="1">
                  <c:v>rank2</c:v>
                </c:pt>
                <c:pt idx="2">
                  <c:v>rank4</c:v>
                </c:pt>
                <c:pt idx="3">
                  <c:v>rank8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96</c:v>
                </c:pt>
                <c:pt idx="1">
                  <c:v>96</c:v>
                </c:pt>
                <c:pt idx="2">
                  <c:v>96</c:v>
                </c:pt>
                <c:pt idx="3">
                  <c:v>96</c:v>
                </c:pt>
              </c:numCache>
            </c:numRef>
          </c:val>
        </c:ser>
        <c:ser>
          <c:idx val="1"/>
          <c:order val="1"/>
          <c:tx>
            <c:v>두 행렬 합계</c:v>
          </c:tx>
          <c:spPr>
            <a:solidFill xmlns:a="http://schemas.openxmlformats.org/drawingml/2006/main">
              <a:srgbClr val="17283B"/>
            </a:solidFill>
            <a:ln xmlns:a="http://schemas.openxmlformats.org/drawingml/2006/main" w="19050">
              <a:solidFill>
                <a:srgbClr val="17283B"/>
              </a:solidFill>
            </a:ln>
          </c:spPr>
          <c:invertIfNegative val="0"/>
          <c:cat>
            <c:strRef>
              <c:f>'Chart Data'!$C$2:$C$5</c:f>
              <c:strCache>
                <c:ptCount val="4"/>
                <c:pt idx="0">
                  <c:v>rank1</c:v>
                </c:pt>
                <c:pt idx="1">
                  <c:v>rank2</c:v>
                </c:pt>
                <c:pt idx="2">
                  <c:v>rank4</c:v>
                </c:pt>
                <c:pt idx="3">
                  <c:v>rank8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20</c:v>
                </c:pt>
                <c:pt idx="1">
                  <c:v>40</c:v>
                </c:pt>
                <c:pt idx="2">
                  <c:v>80</c:v>
                </c:pt>
                <c:pt idx="3">
                  <c:v>160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06B"/>
                  </a:solidFill>
                  <a:latin typeface="AppleGothic"/>
                  <a:ea typeface="AppleGothic"/>
                  <a:cs typeface="Apple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2606B"/>
              </a:solidFill>
              <a:latin typeface="AppleGothic"/>
              <a:ea typeface="AppleGothic"/>
              <a:cs typeface="AppleGothic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DPO loss · beta=0.1</c:v>
          </c:tx>
          <c:spPr>
            <a:solidFill xmlns:a="http://schemas.openxmlformats.org/drawingml/2006/main">
              <a:srgbClr val="284B72"/>
            </a:solidFill>
            <a:ln xmlns:a="http://schemas.openxmlformats.org/drawingml/2006/main" w="19050">
              <a:solidFill>
                <a:srgbClr val="284B72"/>
              </a:solidFill>
            </a:ln>
          </c:spPr>
          <c:marker>
            <c:symbol val="none"/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-6</c:v>
                </c:pt>
                <c:pt idx="1">
                  <c:v>-3</c:v>
                </c:pt>
                <c:pt idx="2">
                  <c:v>0</c:v>
                </c:pt>
                <c:pt idx="3">
                  <c:v>3</c:v>
                </c:pt>
                <c:pt idx="4">
                  <c:v>6</c:v>
                </c:pt>
              </c:numCache>
            </c:numRef>
          </c:cat>
          <c:val>
            <c:numRef>
              <c:f>'Chart Data'!$B$2:$B$6</c:f>
              <c:numCache>
                <c:formatCode>0.000</c:formatCode>
                <c:ptCount val="5"/>
                <c:pt idx="0">
                  <c:v>1.037488</c:v>
                </c:pt>
                <c:pt idx="1">
                  <c:v>0.854355</c:v>
                </c:pt>
                <c:pt idx="2">
                  <c:v>0.693147</c:v>
                </c:pt>
                <c:pt idx="3">
                  <c:v>0.554355</c:v>
                </c:pt>
                <c:pt idx="4">
                  <c:v>0.437488</c:v>
                </c:pt>
              </c:numCache>
            </c:numRef>
          </c:val>
          <c:smooth val="0"/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06B"/>
                  </a:solidFill>
                  <a:latin typeface="AppleGothic"/>
                  <a:ea typeface="AppleGothic"/>
                  <a:cs typeface="Apple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β=0.1</c:v>
          </c:tx>
          <c:spPr>
            <a:solidFill xmlns:a="http://schemas.openxmlformats.org/drawingml/2006/main">
              <a:srgbClr val="284B72"/>
            </a:solidFill>
            <a:ln xmlns:a="http://schemas.openxmlformats.org/drawingml/2006/main" w="19050">
              <a:solidFill>
                <a:srgbClr val="284B72"/>
              </a:solidFill>
            </a:ln>
          </c:spPr>
          <c:marker>
            <c:symbol val="none"/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-6</c:v>
                </c:pt>
                <c:pt idx="1">
                  <c:v>-3</c:v>
                </c:pt>
                <c:pt idx="2">
                  <c:v>0</c:v>
                </c:pt>
                <c:pt idx="3">
                  <c:v>3</c:v>
                </c:pt>
                <c:pt idx="4">
                  <c:v>6</c:v>
                </c:pt>
              </c:numCache>
            </c:num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1.037488</c:v>
                </c:pt>
                <c:pt idx="1">
                  <c:v>0.854355</c:v>
                </c:pt>
                <c:pt idx="2">
                  <c:v>0.693147</c:v>
                </c:pt>
                <c:pt idx="3">
                  <c:v>0.554355</c:v>
                </c:pt>
                <c:pt idx="4">
                  <c:v>0.437488</c:v>
                </c:pt>
              </c:numCache>
            </c:numRef>
          </c:val>
          <c:smooth val="0"/>
        </c:ser>
        <c:ser>
          <c:idx val="1"/>
          <c:order val="1"/>
          <c:tx>
            <c:v>β=0.5</c:v>
          </c:tx>
          <c:spPr>
            <a:solidFill xmlns:a="http://schemas.openxmlformats.org/drawingml/2006/main">
              <a:srgbClr val="17283B"/>
            </a:solidFill>
            <a:ln xmlns:a="http://schemas.openxmlformats.org/drawingml/2006/main" w="19050">
              <a:solidFill>
                <a:srgbClr val="17283B"/>
              </a:solidFill>
            </a:ln>
          </c:spPr>
          <c:marker>
            <c:symbol val="none"/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-6</c:v>
                </c:pt>
                <c:pt idx="1">
                  <c:v>-3</c:v>
                </c:pt>
                <c:pt idx="2">
                  <c:v>0</c:v>
                </c:pt>
                <c:pt idx="3">
                  <c:v>3</c:v>
                </c:pt>
                <c:pt idx="4">
                  <c:v>6</c:v>
                </c:pt>
              </c:numCache>
            </c:numRef>
          </c:cat>
          <c:val>
            <c:numRef>
              <c:f>'Chart Data'!$D$2:$D$6</c:f>
              <c:numCache>
                <c:formatCode>0.00</c:formatCode>
                <c:ptCount val="5"/>
                <c:pt idx="0">
                  <c:v>3.048587</c:v>
                </c:pt>
                <c:pt idx="1">
                  <c:v>1.701413</c:v>
                </c:pt>
                <c:pt idx="2">
                  <c:v>0.693147</c:v>
                </c:pt>
                <c:pt idx="3">
                  <c:v>0.201413</c:v>
                </c:pt>
                <c:pt idx="4">
                  <c:v>0.048587</c:v>
                </c:pt>
              </c:numCache>
            </c:numRef>
          </c:val>
          <c:smooth val="0"/>
        </c:ser>
        <c:ser>
          <c:idx val="2"/>
          <c:order val="2"/>
          <c:tx>
            <c:v>β=1</c:v>
          </c:tx>
          <c:spPr>
            <a:solidFill xmlns:a="http://schemas.openxmlformats.org/drawingml/2006/main">
              <a:srgbClr val="52606B"/>
            </a:solidFill>
            <a:ln xmlns:a="http://schemas.openxmlformats.org/drawingml/2006/main" w="19050">
              <a:solidFill>
                <a:srgbClr val="52606B"/>
              </a:solidFill>
            </a:ln>
          </c:spPr>
          <c:marker>
            <c:symbol val="none"/>
          </c:marker>
          <c:cat>
            <c:numRef>
              <c:f>'Chart Data'!$E$2:$E$6</c:f>
              <c:numCache>
                <c:formatCode>General</c:formatCode>
                <c:ptCount val="5"/>
                <c:pt idx="0">
                  <c:v>-6</c:v>
                </c:pt>
                <c:pt idx="1">
                  <c:v>-3</c:v>
                </c:pt>
                <c:pt idx="2">
                  <c:v>0</c:v>
                </c:pt>
                <c:pt idx="3">
                  <c:v>3</c:v>
                </c:pt>
                <c:pt idx="4">
                  <c:v>6</c:v>
                </c:pt>
              </c:numCache>
            </c:numRef>
          </c:cat>
          <c:val>
            <c:numRef>
              <c:f>'Chart Data'!$F$2:$F$6</c:f>
              <c:numCache>
                <c:formatCode>0.00</c:formatCode>
                <c:ptCount val="5"/>
                <c:pt idx="0">
                  <c:v>6.002476</c:v>
                </c:pt>
                <c:pt idx="1">
                  <c:v>3.048587</c:v>
                </c:pt>
                <c:pt idx="2">
                  <c:v>0.693147</c:v>
                </c:pt>
                <c:pt idx="3">
                  <c:v>0.048587</c:v>
                </c:pt>
                <c:pt idx="4">
                  <c:v>0.002476</c:v>
                </c:pt>
              </c:numCache>
            </c:numRef>
          </c:val>
          <c:smooth val="0"/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06B"/>
                  </a:solidFill>
                  <a:latin typeface="AppleGothic"/>
                  <a:ea typeface="AppleGothic"/>
                  <a:cs typeface="Apple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2606B"/>
              </a:solidFill>
              <a:latin typeface="AppleGothic"/>
              <a:ea typeface="AppleGothic"/>
              <a:cs typeface="AppleGothic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DPO loss</c:v>
          </c:tx>
          <c:spPr>
            <a:solidFill xmlns:a="http://schemas.openxmlformats.org/drawingml/2006/main">
              <a:srgbClr val="284B72"/>
            </a:solidFill>
            <a:ln xmlns:a="http://schemas.openxmlformats.org/drawingml/2006/main" w="19050">
              <a:solidFill>
                <a:srgbClr val="284B72"/>
              </a:solidFill>
            </a:ln>
          </c:spPr>
          <c:marker>
            <c:symbol val="none"/>
          </c:marker>
          <c:cat>
            <c:numRef>
              <c:f>'Chart Data'!$A$2:$A$10</c:f>
              <c:numCache>
                <c:formatCode>General</c:formatCode>
                <c:ptCount val="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</c:numCache>
            </c:numRef>
          </c:cat>
          <c:val>
            <c:numRef>
              <c:f>'Chart Data'!$B$2:$B$10</c:f>
              <c:numCache>
                <c:formatCode>0.000</c:formatCode>
                <c:ptCount val="9"/>
                <c:pt idx="0">
                  <c:v>0.693147</c:v>
                </c:pt>
                <c:pt idx="1">
                  <c:v>0.535442</c:v>
                </c:pt>
                <c:pt idx="2">
                  <c:v>0.42622</c:v>
                </c:pt>
                <c:pt idx="3">
                  <c:v>0.348786</c:v>
                </c:pt>
                <c:pt idx="4">
                  <c:v>0.29231</c:v>
                </c:pt>
                <c:pt idx="5">
                  <c:v>0.249941</c:v>
                </c:pt>
                <c:pt idx="6">
                  <c:v>0.217319</c:v>
                </c:pt>
                <c:pt idx="7">
                  <c:v>0.191616</c:v>
                </c:pt>
                <c:pt idx="8">
                  <c:v>0.170951</c:v>
                </c:pt>
              </c:numCache>
            </c:numRef>
          </c:val>
          <c:smooth val="0"/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06B"/>
                  </a:solidFill>
                  <a:latin typeface="AppleGothic"/>
                  <a:ea typeface="AppleGothic"/>
                  <a:cs typeface="Apple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chosen 선택 확률</c:v>
          </c:tx>
          <c:spPr>
            <a:solidFill xmlns:a="http://schemas.openxmlformats.org/drawingml/2006/main">
              <a:srgbClr val="284B72"/>
            </a:solidFill>
            <a:ln xmlns:a="http://schemas.openxmlformats.org/drawingml/2006/main" w="19050">
              <a:solidFill>
                <a:srgbClr val="284B72"/>
              </a:solidFill>
            </a:ln>
          </c:spPr>
          <c:marker>
            <c:symbol val="none"/>
          </c:marker>
          <c:cat>
            <c:numRef>
              <c:f>'Chart Data'!$A$2:$A$10</c:f>
              <c:numCache>
                <c:formatCode>General</c:formatCode>
                <c:ptCount val="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</c:numCache>
            </c:numRef>
          </c:cat>
          <c:val>
            <c:numRef>
              <c:f>'Chart Data'!$B$2:$B$10</c:f>
              <c:numCache>
                <c:formatCode>0.0%</c:formatCode>
                <c:ptCount val="9"/>
                <c:pt idx="0">
                  <c:v>0.5</c:v>
                </c:pt>
                <c:pt idx="1">
                  <c:v>0.665978</c:v>
                </c:pt>
                <c:pt idx="2">
                  <c:v>0.779759</c:v>
                </c:pt>
                <c:pt idx="3">
                  <c:v>0.85166</c:v>
                </c:pt>
                <c:pt idx="4">
                  <c:v>0.896642</c:v>
                </c:pt>
                <c:pt idx="5">
                  <c:v>0.925388</c:v>
                </c:pt>
                <c:pt idx="6">
                  <c:v>0.944356</c:v>
                </c:pt>
                <c:pt idx="7">
                  <c:v>0.957297</c:v>
                </c:pt>
                <c:pt idx="8">
                  <c:v>0.966411</c:v>
                </c:pt>
              </c:numCache>
            </c:numRef>
          </c:val>
          <c:smooth val="0"/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06B"/>
                  </a:solidFill>
                  <a:latin typeface="AppleGothic"/>
                  <a:ea typeface="AppleGothic"/>
                  <a:cs typeface="Apple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284B72"/>
            </a:solidFill>
            <a:ln xmlns:a="http://schemas.openxmlformats.org/drawingml/2006/main" w="19050">
              <a:solidFill>
                <a:srgbClr val="284B72"/>
              </a:solidFill>
            </a:ln>
          </c:spPr>
          <c:invertIfNegative val="0"/>
          <c:cat>
            <c:strRef>
              <c:f>'Chart Data'!$A$2:$A$5</c:f>
              <c:strCache>
                <c:ptCount val="4"/>
                <c:pt idx="0">
                  <c:v>근거</c:v>
                </c:pt>
                <c:pt idx="1">
                  <c:v>형식</c:v>
                </c:pt>
                <c:pt idx="2">
                  <c:v>유용성</c:v>
                </c:pt>
                <c:pt idx="3">
                  <c:v>과도한 거절 없음</c:v>
                </c:pt>
              </c:strCache>
            </c:strRef>
          </c:cat>
          <c:val>
            <c:numRef>
              <c:f>'Chart Data'!$B$2:$B$5</c:f>
              <c:numCache>
                <c:formatCode>0.0%</c:formatCode>
                <c:ptCount val="4"/>
                <c:pt idx="0">
                  <c:v>0.833333</c:v>
                </c:pt>
                <c:pt idx="1">
                  <c:v>0.75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v>candidate</c:v>
          </c:tx>
          <c:spPr>
            <a:solidFill xmlns:a="http://schemas.openxmlformats.org/drawingml/2006/main">
              <a:srgbClr val="17283B"/>
            </a:solidFill>
            <a:ln xmlns:a="http://schemas.openxmlformats.org/drawingml/2006/main" w="19050">
              <a:solidFill>
                <a:srgbClr val="17283B"/>
              </a:solidFill>
            </a:ln>
          </c:spPr>
          <c:invertIfNegative val="0"/>
          <c:cat>
            <c:strRef>
              <c:f>'Chart Data'!$C$2:$C$5</c:f>
              <c:strCache>
                <c:ptCount val="4"/>
                <c:pt idx="0">
                  <c:v>근거</c:v>
                </c:pt>
                <c:pt idx="1">
                  <c:v>형식</c:v>
                </c:pt>
                <c:pt idx="2">
                  <c:v>유용성</c:v>
                </c:pt>
                <c:pt idx="3">
                  <c:v>과도한 거절 없음</c:v>
                </c:pt>
              </c:strCache>
            </c:strRef>
          </c:cat>
          <c:val>
            <c:numRef>
              <c:f>'Chart Data'!$D$2:$D$5</c:f>
              <c:numCache>
                <c:formatCode>0.0%</c:formatCode>
                <c:ptCount val="4"/>
                <c:pt idx="0">
                  <c:v>0.75</c:v>
                </c:pt>
                <c:pt idx="1">
                  <c:v>0.916667</c:v>
                </c:pt>
                <c:pt idx="2">
                  <c:v>0.916667</c:v>
                </c:pt>
                <c:pt idx="3">
                  <c:v>0.916667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06B"/>
                  </a:solidFill>
                  <a:latin typeface="AppleGothic"/>
                  <a:ea typeface="AppleGothic"/>
                  <a:cs typeface="Apple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2606B"/>
              </a:solidFill>
              <a:latin typeface="AppleGothic"/>
              <a:ea typeface="AppleGothic"/>
              <a:cs typeface="AppleGothic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02BF8-6A66-4770-A4E5-58A49592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rPr>
              <a:t>LLMOPS / WEEK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01B03-C692-4AD2-8373-238C4EFB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모델 적응과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서비스 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9A97A9-62FD-4267-A744-60193AA5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1DD90-9C2B-4AAC-8324-44C5D27F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668000" cy="323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rPr>
              <a:t>WEEK 07 · 2026.10.16 · 온라인 실시간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FA42B-D073-4C29-9245-FE018B85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215"/>
            <a:ext cx="10668000" cy="323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rPr>
              <a:t>선호 기준과 비교 평가 · 프로젝트 초안 0.1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663C3-BFE1-4635-A385-2812E9C2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0830"/>
            <a:ext cx="10668000" cy="323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rPr>
              <a:t>차성재 · 무신사 Core AI PM × AI 대학원 겸임교수</a:t>
            </a:r>
          </a:p>
        </p:txBody>
      </p:sp>
    </p:spTree>
    <p:extLst>
      <p:ext uri="{BB962C8B-B14F-4D97-AF65-F5344CB8AC3E}">
        <p14:creationId xmlns:p14="http://schemas.microsoft.com/office/powerpoint/2010/main" val="5297464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B1A7AC-D44F-4E80-BF7D-C88E87FE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D6BA6-DD8C-4B4E-B72D-6958E40D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F0EC7-43A1-4A97-8631-651A54C6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이번 주의 학습 목표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72C0D-2013-4148-B37A-85333806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D6C7C-5A00-48C4-BCDF-F78E0C25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3BB4F-22E4-40B3-90F1-9F29E8B9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B06C4-A042-48FD-B122-7F389A8E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2880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선택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1DBB83-5FFD-4FF7-9581-E83BA65B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2880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오류 유형과 기술 대안의 연결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A77655-2C01-4408-9E51-29D0635D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2956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C91E1-3FC3-4C30-8533-92E05C7F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DE5D8-1347-4BC8-8840-48FDEDDD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6705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실험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0A6FBC-6C95-459E-B3CD-982EBC1F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6705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손실·reference·평가 집계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DA4431-EFF7-4D5B-B50E-C1DCB7F0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781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5EADD9-6E77-4F81-8C6C-AFC02202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35BD23-84FA-4411-A5C2-D8B762DA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0530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기획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8FA5EF-150B-4D71-9524-52FC7F7F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30530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실행 근거와 요구사항·위험의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AB15D5-EE8B-4BDA-888A-DDC7C2EC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0606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A552A2-F8AF-4680-808C-A6DEF9AE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6주차의 SFT·LoRA 원리를 실제 선택과 검증 계획으로 연결</a:t>
            </a:r>
          </a:p>
        </p:txBody>
      </p:sp>
    </p:spTree>
    <p:extLst>
      <p:ext uri="{BB962C8B-B14F-4D97-AF65-F5344CB8AC3E}">
        <p14:creationId xmlns:p14="http://schemas.microsoft.com/office/powerpoint/2010/main" val="9680185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6F11D4-244C-4223-ACDC-5DC31624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76C6A-C23D-4A79-9AC2-53922A10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E9359-2C31-43DB-9A20-93969BA9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16주 로드맵 · 7주차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FD87A6-C4C2-4447-AA68-849ECF84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35D57-64CB-4CC1-9537-118C7BA4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D9E0F-7707-4D9B-9002-9C171DEC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022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E9CC2-44A7-4B23-B524-BF75E5B7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0022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09.04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817A2-4689-46FD-BC73-7B159DA5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실행 추적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C884A6-B22D-414D-8B0F-3DB2700B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42C39E-DEE8-41EB-9238-3BA02CAE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1937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09.11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DD335-E393-43EE-AF32-60EAC481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프롬프트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81292D-A5BA-4A8A-AFA2-54DF3F68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3852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191732-FDD2-416C-B40D-F2442D03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3852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09.18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B62BB3-CD3B-4611-95D8-5E68F2FC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평가·오류 분류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FCB1D1-F20C-499D-872F-44F44FC0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97775A-CD33-42B5-87C9-8225DF5E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5767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09.25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7A44C9-9454-4A92-8DD2-E6C1E6AA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RAG·근거 · 녹화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1208A4-FD16-4FA1-81E8-5393D7B0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7682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F8EB7-E131-4A60-A672-F7E37120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7682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10.02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2F7609-CCBB-4EB5-97C9-85BCEAFC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검색 품질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24FA2D-F33D-4FD0-84F1-9D565D34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022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FB893D-6D75-4BE4-B1DB-5762B5A8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0022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10.09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BE7915-64A7-405B-BC31-46C3182F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14550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휴일 · 수업 없음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E394B8-7F48-43FD-8DF9-EE7934B7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24125"/>
            <a:ext cx="5314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60BF26-F296-4271-BC67-9AFA407B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19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1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1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400" b="1">
                <a:solidFill>
                  <a:srgbClr val="284B72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DAC723-7944-4B3B-9AC8-4DC8E979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1937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10.16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9218B2-5F38-445E-8EA1-1367F9CD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33700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84B72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284B72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284B72"/>
                </a:solidFill>
                <a:latin typeface="AppleGothic"/>
                <a:ea typeface="AppleGothic"/>
                <a:cs typeface="AppleGothic"/>
              </a:rPr>
              <a:t>강의 재개·초안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16E4F7-F43C-40EA-AA0A-11072EA9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3852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4E97D2-EF9F-4EAC-8609-7F18C4FB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3852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10.23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9887DB-21D7-49B4-B204-DD4F0588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기획서 평가 · 마감10.22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E9F9C9-3F90-412C-8D56-F81F9222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576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09–15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6798A5-EC8F-4656-80C2-31CF2291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5767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10.30–12.11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063525-6BFC-4568-BD11-A403FC4A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72000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구현·운영·프로젝트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6498B0-5563-4F78-AA23-99B6B0DD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7682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16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D14324-AC9B-420B-93AC-ED179AE0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7682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12.18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F14D60-BD99-4ABA-9D34-37F27DA3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91150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실시간 온라인 발표</a:t>
            </a:r>
          </a:p>
        </p:txBody>
      </p:sp>
    </p:spTree>
    <p:extLst>
      <p:ext uri="{BB962C8B-B14F-4D97-AF65-F5344CB8AC3E}">
        <p14:creationId xmlns:p14="http://schemas.microsoft.com/office/powerpoint/2010/main" val="13911423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61490-CD96-42D3-996C-E46A6F16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B21917-B047-4247-AD64-DCBCAA6D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0FE76-73F7-44CB-B463-73013B21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6–8주차 운영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8872E-C5C1-4F26-9EA1-9CCA1784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5AA17-AD83-4576-A648-139C9562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7B479-D0BE-4A3B-B123-FB4BF5219E36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971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주차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진행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06 · 10.09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한글날 · 수업·녹화영상·신규 과제 없음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07 · 10.16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실시간 온라인 · 초안 0.1·교수 피드백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08 · 10.23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시험·실시간 수업 없이 제출물 평가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F3A70-4986-4C4B-A2B1-8F77810B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23207-318F-4A55-919C-857DE8BC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0EA7DB-F1F2-43F6-92E6-FF3A9128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D92F9-7292-482F-9EC7-3E438450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873A84-1B3F-4802-A73C-5A904096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1F2E9-678C-4472-9751-D62047F5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수정본 0.2 마감: 10.22(목) 23:59 한국시간 · 6주차 내용은 7주차에 통합</a:t>
            </a:r>
          </a:p>
        </p:txBody>
      </p:sp>
    </p:spTree>
    <p:extLst>
      <p:ext uri="{BB962C8B-B14F-4D97-AF65-F5344CB8AC3E}">
        <p14:creationId xmlns:p14="http://schemas.microsoft.com/office/powerpoint/2010/main" val="11162921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D2F4FD-C19C-423E-9980-F6BC3A6C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A5E32-E858-4DDB-A34D-F7B53667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BB5AB-3F62-40CF-9C64-9502C425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100분 수업 구성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38C69-C9D1-497D-A8A7-1D39AFF0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5373C-4F95-4E79-B39C-41A921DD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750F0-DA8B-44CD-AB03-42C8FF347A7C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557893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내용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557893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00–10분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실패 유형·기술 선택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10–25분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학습 자료·분할·모델 적응 복습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25–45분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선호 기준·DPO·비교 평가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45–50분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휴식·커널 확인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50–80분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Notebook 핵심 실험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80–100분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프로젝트 초안·설계 리뷰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AA1BB-EC92-46AB-9B2E-143940AE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E38067-A143-40B9-9479-36F3921A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7643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D437B-5B2E-4B89-89B3-5D9AA24F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5536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94B2F4-71BF-49C8-B21A-6CEADE98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3429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C1F992-5199-4FF0-AB1B-6644F950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1321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972CE4-2DE4-452D-9AD7-3F0FB544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9214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39E0E-222A-410F-B62E-8A4182ED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7107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47B80C-6A38-49AF-A172-E9349676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A69A61-7E27-4BC9-87B5-D5BED608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전체 셀은 복습에서 확장 · 핵심 셀과 장표 연결은 63쪽</a:t>
            </a:r>
          </a:p>
        </p:txBody>
      </p:sp>
    </p:spTree>
    <p:extLst>
      <p:ext uri="{BB962C8B-B14F-4D97-AF65-F5344CB8AC3E}">
        <p14:creationId xmlns:p14="http://schemas.microsoft.com/office/powerpoint/2010/main" val="9373817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28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00030-B71D-4C7D-B54D-2078058E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rPr>
              <a:t>W07 /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8F155-6D20-4F28-8C60-3E5323D1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정답과 선호의 차이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123AA-77D0-4CA7-890A-F8483360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73620-F322-47A1-9AED-F24DB740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사실에 맞는 답변과 사용자가 원하는 답변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7EEEC-8FCD-4821-9DF7-1F8E9990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861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근거·형식·유용성을 나누어 보는 이유</a:t>
            </a:r>
          </a:p>
        </p:txBody>
      </p:sp>
    </p:spTree>
    <p:extLst>
      <p:ext uri="{BB962C8B-B14F-4D97-AF65-F5344CB8AC3E}">
        <p14:creationId xmlns:p14="http://schemas.microsoft.com/office/powerpoint/2010/main" val="13129355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DFAE26-0484-494B-ADB0-0A94A0FA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0BE88-43BB-4F7D-B3CC-AA267E3E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AC613-B061-41FD-B376-B46C1968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지식 오류와 행동 오류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CAA69-9FA8-4FA0-BD26-9869278A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60E3F5-312F-4381-9B9C-D467A8C1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E3B36-AA52-4630-9FD6-2A4EBDB4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지식·근거 오류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16AAB-D54D-4B48-80D0-079F99BB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38449-E017-416C-8BCE-58CB0762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최신 문서 누락·잘못된 인용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5C8671-43E4-4959-BBC3-AD5AB9F3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검색·버전·접근 권한 점검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CE85BB-BF55-4DF7-B47E-416B032B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반복 행동 오류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B0B7AA-9352-4819-A9C3-0974320C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842B3B-F03E-4249-B8EE-07EF0B33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출력 형식·설명 방식 불안정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3A0829-AA4A-404E-AC28-9F5A9D2D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프롬프트·검사·학습 후보 비교</a:t>
            </a:r>
          </a:p>
        </p:txBody>
      </p:sp>
    </p:spTree>
    <p:extLst>
      <p:ext uri="{BB962C8B-B14F-4D97-AF65-F5344CB8AC3E}">
        <p14:creationId xmlns:p14="http://schemas.microsoft.com/office/powerpoint/2010/main" val="13960571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EFF31-311B-4A42-BD8F-4E852738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8EAF84-61A8-4C4E-9DF9-92342AEA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75C98-814C-476C-9A98-91218D7E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같은 근거와 다른 답변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7DF2F-9B6F-4256-AD3B-26D5BD6B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21524-9C2F-414F-A68B-CF546F2F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0C036-72BC-4054-8CCA-3AD6F456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4689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0DEDD-5C67-4693-9474-C52994E8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477500" cy="426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근거가 같아도 설명 방식과 보류 기준은 달라짐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C7ED9-AA62-49D8-A794-6ABF0E3F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3789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짧은 단정과 자세한 설명 모두 틀릴 수 있음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928E9-DF3A-4A72-8511-E3D3E329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6536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선택 이유를 명시한 뒤 개선할 행동을 정의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EA95A-D8C3-4245-A859-A1689FDC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합성 문의 예시 · 사실 검토와 상대 선호를 구분</a:t>
            </a:r>
          </a:p>
        </p:txBody>
      </p:sp>
    </p:spTree>
    <p:extLst>
      <p:ext uri="{BB962C8B-B14F-4D97-AF65-F5344CB8AC3E}">
        <p14:creationId xmlns:p14="http://schemas.microsoft.com/office/powerpoint/2010/main" val="6759888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951FB8-9E59-4536-B71D-D51359CB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532AD-4A4A-4A7D-8888-7F39433F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1EF48-4E0F-42FA-AB08-9E9A175A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오류 유형과 첫 비교 대상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D87FF-C95B-4EC9-A7AC-87F7E810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7C415-DFDD-4656-B375-97F671E5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DC25B-F44E-4967-9971-D2FC3AA02352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686300"/>
                <a:gridCol w="34290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문제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첫 비교 대상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추가 근거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최신 문서 누락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검색·문서 관리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버전·권한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JSON 형식 위반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프롬프트·출력 검사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같은 입력의 반복 실패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행동·형식의 반복 오류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SFT·LoRA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허가된 자료·보류 평가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답변 선호 불일치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기준·선호 최적화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선택 이유·라벨 편향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C7F9B-63F9-493D-8B91-D148F89F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7AE6C-A432-401F-90DB-A909D71C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9A71AA-F37B-45EF-AE02-C7901452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C1885-313D-4E62-863B-9479AA8F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AD057-83A9-47A9-84FB-4FE1E7B8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298E1B-6D05-479F-BA1C-A69EC1EF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A7545-426A-4E9D-8F98-C0ED9D42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JSON: JavaScript Object Notation · 데이터 교환 형식</a:t>
            </a:r>
          </a:p>
        </p:txBody>
      </p:sp>
    </p:spTree>
    <p:extLst>
      <p:ext uri="{BB962C8B-B14F-4D97-AF65-F5344CB8AC3E}">
        <p14:creationId xmlns:p14="http://schemas.microsoft.com/office/powerpoint/2010/main" val="7041593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A78DA2-AA6C-4EEF-847C-531E7EAE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FA090-C50F-40B3-8F2E-ABE48042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949F9-5B08-4274-B35C-F19CD7B3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기술 선택의 검증 순서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6249F-677F-41DF-80DB-2BEE7987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0F9AC-8CB0-4878-B3DC-FDBBFB50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A40434-C0BB-4642-97D1-0F2A9799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840E0-BFB1-4C87-943A-0C581E28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7858F-BE61-455D-BEF9-A7C6BC0D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48A4F-6393-4195-8C47-09A2DA91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오류 수집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223A7-D29D-4B82-98B6-19855B91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입력·원문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DB0A0-E7E5-4FE3-84CA-DA634155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4A4F50-9191-4536-BEFC-8181F2BF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50741F-726F-41BF-85EB-D9B9F4CF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기준선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C96FB6-0232-4329-8540-C9DE0765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최소 변경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7B19AB-A178-4DC1-86BC-6940A68B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D89810-F100-465E-AC63-8BA16E04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52F1C9-DF54-4727-9D07-8BB0017A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후보 비교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48D336-065E-419E-8EB6-EE4CE49B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같은 조건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46D15E-5941-4581-A84C-059408FF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7E4A99-5E54-4CA6-AB1A-4A26629D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643180-386C-4CB6-8829-D6F6416E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채택 판단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D68A29-14BD-4A05-8FFA-528322A2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품질·비용·복구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58B2F7-9902-468F-9684-663A0081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기술 이름보다 고칠 실패와 확인할 실험을 먼저 기록</a:t>
            </a:r>
          </a:p>
        </p:txBody>
      </p:sp>
    </p:spTree>
    <p:extLst>
      <p:ext uri="{BB962C8B-B14F-4D97-AF65-F5344CB8AC3E}">
        <p14:creationId xmlns:p14="http://schemas.microsoft.com/office/powerpoint/2010/main" val="994539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28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37D08-DEF2-4B8C-A21D-2AF35495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rPr>
              <a:t>W07 /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0DDDC-AFD0-48CB-AA32-89011723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6주차 원리와 적용 조건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3CB06-D8C7-4D82-8CA3-0DAC06F2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139D8-B11E-476B-9E51-9AB81490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SFT · Supervised Fine-Tuning · 지도 미세조정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14B15-E542-46FC-A113-2B41B0E1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861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배경·수식·메모리는 6주차 76쪽 자료와 함께 복습</a:t>
            </a:r>
          </a:p>
        </p:txBody>
      </p:sp>
    </p:spTree>
    <p:extLst>
      <p:ext uri="{BB962C8B-B14F-4D97-AF65-F5344CB8AC3E}">
        <p14:creationId xmlns:p14="http://schemas.microsoft.com/office/powerpoint/2010/main" val="1796884877"/>
      </p:ext>
    </p:extLst>
  </p:cSld>
</p:sld>
</file>

<file path=ppt/slides/slide1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7F7F5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4" name="">
            <ns1:extLst>
              <ns1:ext uri="{FF2B5EF4-FFF2-40B4-BE49-F238E27FC236}">
                <ns2:creationId id="{9C8EEE44-B918-4F07-997F-6867F3E81C2A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247650"/>
            <ns1:ext cx="9525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LLMOPS / W07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7E57910F-E360-427F-ABF2-17B552DB487E}"/>
              </ns1:ext>
            </ns1:extLst>
          </ns0:cNvPr>
          <ns0:cNvSpPr>
            <ns1:spLocks noGrp="1"/>
          </ns0:cNvSpPr>
          <ns0:nvPr/>
        </ns0:nvSpPr>
        <ns0:spPr>
          <ns1:xfrm>
            <ns1:off x="10858500" y="247650"/>
            <ns1:ext cx="7239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r">
              <ns1:defRPr sz="1400" b="0">
                <ns1:solidFill>
                  <ns1:srgbClr val="52606B"/>
                </ns1:solidFill>
                <ns1:latin typeface="Menlo"/>
                <ns1:ea typeface="Menlo"/>
                <ns1:cs typeface="Menlo"/>
              </ns1:defRPr>
            </ns1:defPPr>
          </ns1:lstStyle>
          <ns1:p>
            <ns1:pPr algn="r">
              <ns1:lnSpc>
                <ns1:spcPct val="116000"/>
              </ns1:lnSpc>
              <ns1:buNone/>
              <ns1:defRPr sz="1400" b="0">
                <ns1:solidFill>
                  <ns1:srgbClr val="52606B"/>
                </ns1:solidFill>
                <ns1:latin typeface="Menlo"/>
                <ns1:ea typeface="Menlo"/>
                <ns1:cs typeface="Menlo"/>
              </ns1:defRPr>
            </ns1:pPr>
            <ns1:r>
              <ns1:rPr sz="1400" b="0">
                <ns1:solidFill>
                  <ns1:srgbClr val="52606B"/>
                </ns1:solidFill>
                <ns1:latin typeface="Menlo"/>
                <ns1:ea typeface="Menlo"/>
                <ns1:cs typeface="Menlo"/>
              </ns1:rPr>
              <ns1:t>12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FF099E88-E502-4B27-A1A8-257D6F8641B7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723900"/>
            <ns1:ext cx="10972800" cy="666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34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34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34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rPr>
              <ns1:t>SFT의 예측과 업무 품질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CB557673-B8E1-48DF-B877-85E637A390F6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315075"/>
            <ns1:ext cx="10972800" cy="9525"/>
          </ns1:xfrm>
          <ns1:prstGeom prst="rect">
            <ns1:avLst/>
          </ns1:prstGeom>
          <ns1:solidFill>
            <ns1:srgbClr val="CFD5D3"/>
          </ns1:solidFill>
          <ns1:ln w="0">
            <ns1:noFill/>
            <ns1:prstDash val="solid"/>
          </ns1:ln>
        </ns0:spPr>
      </ns0:sp>
      <ns0:sp>
        <ns0:nvSpPr>
          <ns0:cNvPr id="5" name="">
            <ns1:extLst>
              <ns1:ext uri="{FF2B5EF4-FFF2-40B4-BE49-F238E27FC236}">
                <ns2:creationId id="{5308EDE3-59B0-4647-8BBF-8262ED6AD7C6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77000"/>
            <ns1:ext cx="109728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선호 데이터 · DPO · 비교 평가 · 프로젝트 기획</ns1:t>
            </ns1:r>
          </ns1:p>
        </ns0:txBody>
      </ns0:sp>
      <ns0:pic>
        <ns0:nvPicPr>
          <ns0:cNvPr id="6" name="">
            <ns1:extLst>
              <ns1:ext uri="{FF2B5EF4-FFF2-40B4-BE49-F238E27FC236}">
                <ns2:creationId id="{31B25ACC-412A-4148-8CA1-2F15C223B27A}"/>
              </ns1:ext>
            </ns1:extLst>
          </ns0:cNvPr>
          <ns0:cNvPicPr>
            <ns1:picLocks noChangeAspect="1"/>
          </ns0:cNvPicPr>
          <ns0:nvPr/>
        </ns0:nvPicPr>
        <ns0:blipFill>
          <ns1:blip ns3:embed="R1d37fa5522244951">
            <ns1:grayscl/>
          </ns1:blip>
          <ns1:stretch/>
        </ns0:blipFill>
        <ns0:spPr>
          <ns1:xfrm>
            <ns1:off x="609600" y="1623599"/>
            <ns1:ext cx="7810500" cy="3991803"/>
          </ns1:xfrm>
          <ns1:prstGeom prst="rect">
            <ns1:avLst/>
          </ns1:prstGeom>
        </ns0:spPr>
      </ns0:pic>
      <ns0:sp>
        <ns0:nvSpPr>
          <ns0:cNvPr id="7" name="">
            <ns1:extLst>
              <ns1:ext uri="{FF2B5EF4-FFF2-40B4-BE49-F238E27FC236}">
                <ns2:creationId id="{3BEB09D0-395A-4F5A-8023-B4F99832C88F}"/>
              </ns1:ext>
            </ns1:extLst>
          </ns0:cNvPr>
          <ns0:cNvSpPr>
            <ns1:spLocks noGrp="1"/>
          </ns0:cNvSpPr>
          <ns0:nvPr/>
        </ns0:nvSpPr>
        <ns0:spPr>
          <ns1:xfrm>
            <ns1:off x="8858250" y="1771650"/>
            <ns1:ext cx="272415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22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22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22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rPr>
              <ns1:t>예측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F5892072-AD86-4B40-B6F5-E3DAE5D1BF43}"/>
              </ns1:ext>
            </ns1:extLst>
          </ns0:cNvPr>
          <ns0:cNvSpPr>
            <ns1:spLocks noGrp="1"/>
          </ns0:cNvSpPr>
          <ns0:nvPr/>
        </ns0:nvSpPr>
        <ns0:spPr>
          <ns1:xfrm>
            <ns1:off x="8858250" y="2228850"/>
            <ns1:ext cx="2724150" cy="685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다음 토큰을 예측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1704F6EA-D503-42E4-89A3-46E5C3861731}"/>
              </ns1:ext>
            </ns1:extLst>
          </ns0:cNvPr>
          <ns0:cNvSpPr>
            <ns1:spLocks noGrp="1"/>
          </ns0:cNvSpPr>
          <ns0:nvPr/>
        </ns0:nvSpPr>
        <ns0:spPr>
          <ns1:xfrm>
            <ns1:off x="8858250" y="3009900"/>
            <ns1:ext cx="272415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22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22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22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rPr>
              <ns1:t>손실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CB5BFBBB-A492-47BC-8FC4-A79B7353A79E}"/>
              </ns1:ext>
            </ns1:extLst>
          </ns0:cNvPr>
          <ns0:cNvSpPr>
            <ns1:spLocks noGrp="1"/>
          </ns0:cNvSpPr>
          <ns0:nvPr/>
        </ns0:nvSpPr>
        <ns0:spPr>
          <ns1:xfrm>
            <ns1:off x="8858250" y="3467100"/>
            <ns1:ext cx="2724150" cy="685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기대 답변과 차이 계산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AB725B3E-9C19-4E2D-90F7-920126CC4DF8}"/>
              </ns1:ext>
            </ns1:extLst>
          </ns0:cNvPr>
          <ns0:cNvSpPr>
            <ns1:spLocks noGrp="1"/>
          </ns0:cNvSpPr>
          <ns0:nvPr/>
        </ns0:nvSpPr>
        <ns0:spPr>
          <ns1:xfrm>
            <ns1:off x="8858250" y="4248150"/>
            <ns1:ext cx="272415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22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22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22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rPr>
              <ns1:t>검증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8D965CAB-07E3-491C-B10C-B8F631F1A185}"/>
              </ns1:ext>
            </ns1:extLst>
          </ns0:cNvPr>
          <ns0:cNvSpPr>
            <ns1:spLocks noGrp="1"/>
          </ns0:cNvSpPr>
          <ns0:nvPr/>
        </ns0:nvSpPr>
        <ns0:spPr>
          <ns1:xfrm>
            <ns1:off x="8858250" y="4705350"/>
            <ns1:ext cx="2724150" cy="685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새 업무 입력에서 평가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1AA47CA8-2301-480C-86AE-5100F7B00610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5791200"/>
            <ns1:ext cx="109728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6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6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6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Hugging Face TRL 공식 도식 · 흑백 표시</ns1:t>
            </ns1:r>
          </ns1:p>
        </ns0:txBody>
      </ns0:sp>
    </ns0:spTree>
    <ns0:extLst>
      <ns0:ext uri="{BB962C8B-B14F-4D97-AF65-F5344CB8AC3E}">
        <ns4:creationId val="1751447564"/>
      </ns0:ext>
    </ns0:extLst>
  </ns0:cSld>
</ns0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89FDC9-9BC3-40B8-8FB7-59989EA0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1B516-4091-4F0A-9F37-3BBA5A1C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ABA0D-4E76-4C38-8695-7048D99D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학습 자료의 준비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CDB88B-634C-498F-A548-148A8744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63582-56FD-4C37-B661-719CD739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86EA9-0178-4C7B-9E2E-5CAA03BB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985380-812E-44D1-A887-7577097C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E0300-13A6-4FD1-9027-4F0D72FB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B1F686-A95D-4EBB-A726-AD49E7E1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수집·허가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951494-5E65-4082-99C3-3EB793A9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사용 범위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91BCB3-6F04-4562-AE6F-56D3E045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CF9485-627F-4F49-85BA-DCA1376F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BD0FFC-369D-4670-AEAC-9574E057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형식 검사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BDC54B-09BE-4AC0-B567-4A9024E7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필드·출력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0F5FE-5D73-4B63-9EFC-06AB7B2D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761A22-0647-4D83-ACFE-56A601BF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25BCE8-5105-4119-86FD-90085573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사건 분할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1C1A76-7477-473F-A010-BB6C2850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관련 표현 묶음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3199F5-D612-4126-9831-0BAE96EC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71C2F4-86FC-4AEA-A58D-7A009A19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8E5A0E-D167-4194-9EA3-C73DB69F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보류 평가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14BD88-8B23-4988-B214-C6BF1135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새 사건 검토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2776C7-D913-40BB-B91F-609C5A43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자동 형식 검사는 내용의 신뢰성과 사용 허가를 대신하지 않음</a:t>
            </a:r>
          </a:p>
        </p:txBody>
      </p:sp>
    </p:spTree>
    <p:extLst>
      <p:ext uri="{BB962C8B-B14F-4D97-AF65-F5344CB8AC3E}">
        <p14:creationId xmlns:p14="http://schemas.microsoft.com/office/powerpoint/2010/main" val="10538438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8971F1-ADA1-4D54-ABC3-FA04322A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2E167-07E4-4BEC-91C1-0475F29C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89D14-910B-49B4-A44B-48970195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자료 검사의 네 항목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47579-FCE6-41C4-89FD-FBFA88C2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8D0D5-51A8-4CB7-B79A-3BBE331F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A13E4-CA8B-4743-BF6A-A0555A781465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686300"/>
                <a:gridCol w="34290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검사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대상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실패 예시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필드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입력·답변·사건 ID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빈 instruction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출력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구문·필수 키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잘못된 JSON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중복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ID·내용·동일 사건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표현만 바꾼 복사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권한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사용·보존·삭제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고객 원문 무단 사용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72512-C62F-4518-8580-7C081667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90D3B-27AE-4F38-848A-305C78C1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7A8AF-D539-424A-9420-9D1F5ECE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AFBCF8-5D4B-4CC0-9EF1-1D497C59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F55331-F183-47E9-A154-53F0CD1D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80B0CC-0D28-4845-89F0-FB4B413C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E3633-9B6F-42B0-AA02-3B10BCD1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수업 실습은 합성 자료 48건 · 실제 고객·학생 원문 미사용</a:t>
            </a:r>
          </a:p>
        </p:txBody>
      </p:sp>
    </p:spTree>
    <p:extLst>
      <p:ext uri="{BB962C8B-B14F-4D97-AF65-F5344CB8AC3E}">
        <p14:creationId xmlns:p14="http://schemas.microsoft.com/office/powerpoint/2010/main" val="20439074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D5B309-3286-4519-9114-E2D4EDCFDCB2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172450" y="4362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06B"/>
            </a:solidFill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9F6741-CD27-4490-9BEC-FE34292E7F16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048250" y="4362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06B"/>
            </a:solidFill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CA1E0-4B01-4965-8E62-43E0BED5413D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172450" y="25908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06B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211210-5F77-471D-8A12-FA70A19C46E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048250" y="25908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06B"/>
            </a:solidFill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434B36-02FB-4E7C-9A68-2269A62C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6A2EC-9BCC-4B30-9D08-9AB68CFE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2A4BD-B0DE-4B9A-BC1E-944882A0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사건 단위 분할과 누출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EA48DA-BB17-46CC-AF45-7F8B1D9C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F996B-051C-44B3-92EA-606E7B62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90E22-271F-40E5-8BC0-CB257A8A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문장별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8DC98-A54C-4587-B89F-4D82D730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0025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DFB37D-22D3-4356-8BDB-031B6029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34315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사건 A 표현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7F05F-D6F3-48BB-BDD9-4EE69C13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0025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90B06-D7AE-48CD-A220-85684856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4315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train 배치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E91481-B5CA-44ED-B4AF-89C5BCAA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0025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0D8D74-A623-448A-8115-96F83AA7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4315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표현 2는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9958A8-4A19-49BE-AE3F-471E5D88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사건별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99B287-1011-49FE-B369-9CCC2160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7190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B39B68-5F29-4A87-AE3E-775B1696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148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사건 A의 모든 표현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8E8BC6-ABC8-4272-AAFA-849CB6DE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7190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DE244D-49F9-41C1-862C-F290F9E8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같은 분할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94C3C1-9781-4C47-BAD4-3D9633F8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7190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6AFEA8-4BA5-403D-AF40-48F6F70D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148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사건 B로 평가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E0ECA7-0C7F-41E1-A3DE-F4082FAC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train: 학습용 · test: 보류 평가용 · 같은 정보의 표현만 달라지는 누출 점검</a:t>
            </a:r>
          </a:p>
        </p:txBody>
      </p:sp>
    </p:spTree>
    <p:extLst>
      <p:ext uri="{BB962C8B-B14F-4D97-AF65-F5344CB8AC3E}">
        <p14:creationId xmlns:p14="http://schemas.microsoft.com/office/powerpoint/2010/main" val="5335610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D4709-DB03-4A4D-BEDB-3D721359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877DD-2852-45A6-A092-8ADEC88A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A5CB2-3359-4EF5-A5F3-57A8A13E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자료 오류와 누출의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98EA2-901B-4D04-B288-50B7064E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E15C9-6664-4D4E-9C1C-D96FCE8C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209DD-CFB3-4730-A546-A468C564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20612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77A84-D4F7-4183-82E8-B7C95599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 = examples()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splits = split_groups(data, seed=42)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not leakage(splits)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splits["test"].append(splits["train"][0])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leakage(splits)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8CAB37-7793-4415-B3CA-72234DBD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Notebook 01 · 자료 추가 이후에도 누출 검사 반복</a:t>
            </a:r>
          </a:p>
        </p:txBody>
      </p:sp>
    </p:spTree>
    <p:extLst>
      <p:ext uri="{BB962C8B-B14F-4D97-AF65-F5344CB8AC3E}">
        <p14:creationId xmlns:p14="http://schemas.microsoft.com/office/powerpoint/2010/main" val="16433482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A60055-9741-41BF-81CE-4DA6BE78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5BDC6-EBDA-4307-B0D6-0CF5811C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9DB04-931F-401B-B08D-8B198401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분할 결과와 검사 범위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4F526-361F-4536-ABC0-4B779F6C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77B8C-1A9E-4909-99AE-A4EC046C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EECD4-AD04-4279-A179-FE46AF070F84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971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686300"/>
                <a:gridCol w="34290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분할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사건 수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문장 수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train · 학습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16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32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dev · 설정 선택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test · 최종 보류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D2CA7-5D7B-4E9D-83E4-4D4AB28F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D75AE-3FC3-41CC-B0A3-F58A48B2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8E1AE-8BE3-4DC6-AC4F-D8BC9388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59D10-CDC3-4B32-8117-394ACFBC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40F9B8-6A3C-4AE4-81B7-193EA506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32724-11C0-421E-86DA-8D099BC2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24사건 × 2표현 · seed=42 · 같은 분할 유지와 일반화 입증은 별개</a:t>
            </a:r>
          </a:p>
        </p:txBody>
      </p:sp>
    </p:spTree>
    <p:extLst>
      <p:ext uri="{BB962C8B-B14F-4D97-AF65-F5344CB8AC3E}">
        <p14:creationId xmlns:p14="http://schemas.microsoft.com/office/powerpoint/2010/main" val="1867756328"/>
      </p:ext>
    </p:extLst>
  </p:cSld>
</p:sld>
</file>

<file path=ppt/slides/slide1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7F7F5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4" name="">
            <ns1:extLst>
              <ns1:ext uri="{FF2B5EF4-FFF2-40B4-BE49-F238E27FC236}">
                <ns2:creationId id="{263CE567-1E55-445B-B264-BED098D029F5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247650"/>
            <ns1:ext cx="9525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LLMOPS / W07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0034A89E-61FA-47D4-B51C-19C7F99BB42B}"/>
              </ns1:ext>
            </ns1:extLst>
          </ns0:cNvPr>
          <ns0:cNvSpPr>
            <ns1:spLocks noGrp="1"/>
          </ns0:cNvSpPr>
          <ns0:nvPr/>
        </ns0:nvSpPr>
        <ns0:spPr>
          <ns1:xfrm>
            <ns1:off x="10858500" y="247650"/>
            <ns1:ext cx="7239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r">
              <ns1:defRPr sz="1400" b="0">
                <ns1:solidFill>
                  <ns1:srgbClr val="52606B"/>
                </ns1:solidFill>
                <ns1:latin typeface="Menlo"/>
                <ns1:ea typeface="Menlo"/>
                <ns1:cs typeface="Menlo"/>
              </ns1:defRPr>
            </ns1:defPPr>
          </ns1:lstStyle>
          <ns1:p>
            <ns1:pPr algn="r">
              <ns1:lnSpc>
                <ns1:spcPct val="116000"/>
              </ns1:lnSpc>
              <ns1:buNone/>
              <ns1:defRPr sz="1400" b="0">
                <ns1:solidFill>
                  <ns1:srgbClr val="52606B"/>
                </ns1:solidFill>
                <ns1:latin typeface="Menlo"/>
                <ns1:ea typeface="Menlo"/>
                <ns1:cs typeface="Menlo"/>
              </ns1:defRPr>
            </ns1:pPr>
            <ns1:r>
              <ns1:rPr sz="1400" b="0">
                <ns1:solidFill>
                  <ns1:srgbClr val="52606B"/>
                </ns1:solidFill>
                <ns1:latin typeface="Menlo"/>
                <ns1:ea typeface="Menlo"/>
                <ns1:cs typeface="Menlo"/>
              </ns1:rPr>
              <ns1:t>18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7D1A7830-5896-45BC-817F-BFED26FB95CA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723900"/>
            <ns1:ext cx="10972800" cy="666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34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34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34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rPr>
              <ns1:t>LoRA의 고정 경로와 학습 경로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EE42B4FF-D863-4A4D-94BA-12BB5E7CE254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315075"/>
            <ns1:ext cx="10972800" cy="9525"/>
          </ns1:xfrm>
          <ns1:prstGeom prst="rect">
            <ns1:avLst/>
          </ns1:prstGeom>
          <ns1:solidFill>
            <ns1:srgbClr val="CFD5D3"/>
          </ns1:solidFill>
          <ns1:ln w="0">
            <ns1:noFill/>
            <ns1:prstDash val="solid"/>
          </ns1:ln>
        </ns0:spPr>
      </ns0:sp>
      <ns0:sp>
        <ns0:nvSpPr>
          <ns0:cNvPr id="5" name="">
            <ns1:extLst>
              <ns1:ext uri="{FF2B5EF4-FFF2-40B4-BE49-F238E27FC236}">
                <ns2:creationId id="{9A76C5A6-5D7F-4E0F-B5FE-41C6CDA2462C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77000"/>
            <ns1:ext cx="109728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선호 데이터 · DPO · 비교 평가 · 프로젝트 기획</ns1:t>
            </ns1:r>
          </ns1:p>
        </ns0:txBody>
      </ns0:sp>
      <ns0:pic>
        <ns0:nvPicPr>
          <ns0:cNvPr id="6" name="">
            <ns1:extLst>
              <ns1:ext uri="{FF2B5EF4-FFF2-40B4-BE49-F238E27FC236}">
                <ns2:creationId id="{CDDCB171-2FC5-4A88-8A4A-7E1210B19DC9}"/>
              </ns1:ext>
            </ns1:extLst>
          </ns0:cNvPr>
          <ns0:cNvPicPr>
            <ns1:picLocks noChangeAspect="1"/>
          </ns0:cNvPicPr>
          <ns0:nvPr/>
        </ns0:nvPicPr>
        <ns0:blipFill>
          <ns1:blip ns3:embed="R16f3e5d06fdb42b0">
            <ns1:grayscl/>
          </ns1:blip>
          <ns1:stretch/>
        </ns0:blipFill>
        <ns0:spPr>
          <ns1:xfrm>
            <ns1:off x="1409417" y="1628775"/>
            <ns1:ext cx="3943916" cy="3905250"/>
          </ns1:xfrm>
          <ns1:prstGeom prst="rect">
            <ns1:avLst/>
          </ns1:prstGeom>
        </ns0:spPr>
      </ns0:pic>
      <ns0:sp>
        <ns0:nvSpPr>
          <ns0:cNvPr id="7" name="">
            <ns1:extLst>
              <ns1:ext uri="{FF2B5EF4-FFF2-40B4-BE49-F238E27FC236}">
                <ns2:creationId id="{3CDD18B2-4C62-4841-81E9-3FC1DF0A77E3}"/>
              </ns1:ext>
            </ns1:extLst>
          </ns0:cNvPr>
          <ns0:cNvSpPr>
            <ns1:spLocks noGrp="1"/>
          </ns0:cNvSpPr>
          <ns0:nvPr/>
        </ns0:nvSpPr>
        <ns0:spPr>
          <ns1:xfrm>
            <ns1:off x="6800850" y="1714500"/>
            <ns1:ext cx="464820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23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23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23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rPr>
              <ns1:t>W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0A28D8FB-0F82-49AA-A122-7D9FB237A642}"/>
              </ns1:ext>
            </ns1:extLst>
          </ns0:cNvPr>
          <ns0:cNvSpPr>
            <ns1:spLocks noGrp="1"/>
          </ns0:cNvSpPr>
          <ns0:nvPr/>
        </ns0:nvSpPr>
        <ns0:spPr>
          <ns1:xfrm>
            <ns1:off x="6800850" y="2200275"/>
            <ns1:ext cx="4648200" cy="647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20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20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20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기존 고정 가중치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4C483667-3AC4-4C42-996A-EDE470C05B07}"/>
              </ns1:ext>
            </ns1:extLst>
          </ns0:cNvPr>
          <ns0:cNvSpPr>
            <ns1:spLocks noGrp="1"/>
          </ns0:cNvSpPr>
          <ns0:nvPr/>
        </ns0:nvSpPr>
        <ns0:spPr>
          <ns1:xfrm>
            <ns1:off x="6800850" y="2952750"/>
            <ns1:ext cx="464820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23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23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23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rPr>
              <ns1:t>A·B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21DD9BAA-D186-44AB-86AE-91688AD84E93}"/>
              </ns1:ext>
            </ns1:extLst>
          </ns0:cNvPr>
          <ns0:cNvSpPr>
            <ns1:spLocks noGrp="1"/>
          </ns0:cNvSpPr>
          <ns0:nvPr/>
        </ns0:nvSpPr>
        <ns0:spPr>
          <ns1:xfrm>
            <ns1:off x="6800850" y="3438525"/>
            <ns1:ext cx="4648200" cy="647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20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20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20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학습할 두 작은 행렬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08DE9B50-55B5-44AC-A737-0B469A0EFE93}"/>
              </ns1:ext>
            </ns1:extLst>
          </ns0:cNvPr>
          <ns0:cNvSpPr>
            <ns1:spLocks noGrp="1"/>
          </ns0:cNvSpPr>
          <ns0:nvPr/>
        </ns0:nvSpPr>
        <ns0:spPr>
          <ns1:xfrm>
            <ns1:off x="6800850" y="4191000"/>
            <ns1:ext cx="464820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23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23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23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rPr>
              <ns1:t>차원 예시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C4E9F6FD-5E37-4DD8-BE08-AC4A77B3C0EF}"/>
              </ns1:ext>
            </ns1:extLst>
          </ns0:cNvPr>
          <ns0:cNvSpPr>
            <ns1:spLocks noGrp="1"/>
          </ns0:cNvSpPr>
          <ns0:nvPr/>
        </ns0:nvSpPr>
        <ns0:spPr>
          <ns1:xfrm>
            <ns1:off x="6800850" y="4676775"/>
            <ns1:ext cx="4648200" cy="647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20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20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20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A: 2×8 · B: 12×2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AC26871C-C8C8-49DD-B4C6-34CCE8B52F0E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5791200"/>
            <ns1:ext cx="109728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6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6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6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LoRA: Low-Rank Adaptation · Hu et al., Figure 1 · 흑백 발췌</ns1:t>
            </ns1:r>
          </ns1:p>
        </ns0:txBody>
      </ns0:sp>
    </ns0:spTree>
    <ns0:extLst>
      <ns0:ext uri="{BB962C8B-B14F-4D97-AF65-F5344CB8AC3E}">
        <ns4:creationId val="1909415421"/>
      </ns0:ext>
    </ns0:extLst>
  </ns0:cSld>
</ns0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28F58-B025-4996-AB34-82E3AB84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51AB0-7C75-4F57-A950-EE55B569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97B25-A87B-4F79-8BC7-A5C1FB0F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rank별 파라미터와 비용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E082A-70F7-45DB-AED2-8D8D0E9B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9E71A-20C1-4B89-9E65-43087FB7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B40FD608-932D-4253-B79D-E0B1BAF9C337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8481811a3949d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DDDC2-919F-43C9-A33A-46004A2D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12×8 행렬 · 전체 96개와 r(12+8)개 · 실제 모델 메모리 실측 아님</a:t>
            </a:r>
          </a:p>
        </p:txBody>
      </p:sp>
    </p:spTree>
    <p:extLst>
      <p:ext uri="{BB962C8B-B14F-4D97-AF65-F5344CB8AC3E}">
        <p14:creationId xmlns:p14="http://schemas.microsoft.com/office/powerpoint/2010/main" val="1925811415"/>
      </p:ext>
    </p:extLst>
  </p:cSld>
</p:sld>
</file>

<file path=ppt/slides/slide20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7F7F5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1" name="">
            <ns1:extLst>
              <ns1:ext uri="{FF2B5EF4-FFF2-40B4-BE49-F238E27FC236}">
                <ns2:creationId id="{8E529672-1CCB-4921-B8D1-BE9A3AD7320B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247650"/>
            <ns1:ext cx="9525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LLMOPS / W07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B2A7AB26-B4CA-4674-913F-6E0DE7FC0716}"/>
              </ns1:ext>
            </ns1:extLst>
          </ns0:cNvPr>
          <ns0:cNvSpPr>
            <ns1:spLocks noGrp="1"/>
          </ns0:cNvSpPr>
          <ns0:nvPr/>
        </ns0:nvSpPr>
        <ns0:spPr>
          <ns1:xfrm>
            <ns1:off x="10858500" y="247650"/>
            <ns1:ext cx="7239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r">
              <ns1:defRPr sz="1400" b="0">
                <ns1:solidFill>
                  <ns1:srgbClr val="52606B"/>
                </ns1:solidFill>
                <ns1:latin typeface="Menlo"/>
                <ns1:ea typeface="Menlo"/>
                <ns1:cs typeface="Menlo"/>
              </ns1:defRPr>
            </ns1:defPPr>
          </ns1:lstStyle>
          <ns1:p>
            <ns1:pPr algn="r">
              <ns1:lnSpc>
                <ns1:spcPct val="116000"/>
              </ns1:lnSpc>
              <ns1:buNone/>
              <ns1:defRPr sz="1400" b="0">
                <ns1:solidFill>
                  <ns1:srgbClr val="52606B"/>
                </ns1:solidFill>
                <ns1:latin typeface="Menlo"/>
                <ns1:ea typeface="Menlo"/>
                <ns1:cs typeface="Menlo"/>
              </ns1:defRPr>
            </ns1:pPr>
            <ns1:r>
              <ns1:rPr sz="1400" b="0">
                <ns1:solidFill>
                  <ns1:srgbClr val="52606B"/>
                </ns1:solidFill>
                <ns1:latin typeface="Menlo"/>
                <ns1:ea typeface="Menlo"/>
                <ns1:cs typeface="Menlo"/>
              </ns1:rPr>
              <ns1:t>20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835ED8A1-17BD-48FA-B070-363ABAE73BDC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723900"/>
            <ns1:ext cx="10972800" cy="666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34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34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34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rPr>
              <ns1:t>전체 미세조정·LoRA·QLoRA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B63F67C4-587F-46DF-A3AF-A6BED1C1F1B3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315075"/>
            <ns1:ext cx="10972800" cy="9525"/>
          </ns1:xfrm>
          <ns1:prstGeom prst="rect">
            <ns1:avLst/>
          </ns1:prstGeom>
          <ns1:solidFill>
            <ns1:srgbClr val="CFD5D3"/>
          </ns1:solidFill>
          <ns1:ln w="0">
            <ns1:noFill/>
            <ns1:prstDash val="solid"/>
          </ns1:ln>
        </ns0:spPr>
      </ns0:sp>
      <ns0:sp>
        <ns0:nvSpPr>
          <ns0:cNvPr id="5" name="">
            <ns1:extLst>
              <ns1:ext uri="{FF2B5EF4-FFF2-40B4-BE49-F238E27FC236}">
                <ns2:creationId id="{FF6D4167-DF74-453B-B48E-C9B8FE344A8C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77000"/>
            <ns1:ext cx="109728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선호 데이터 · DPO · 비교 평가 · 프로젝트 기획</ns1:t>
            </ns1:r>
          </ns1:p>
        </ns0:txBody>
      </ns0:sp>
      <ns0:pic>
        <ns0:nvPicPr>
          <ns0:cNvPr id="6" name="">
            <ns1:extLst>
              <ns1:ext uri="{FF2B5EF4-FFF2-40B4-BE49-F238E27FC236}">
                <ns2:creationId id="{51485B09-2846-4D8F-B5CB-DBEFF4000CBF}"/>
              </ns1:ext>
            </ns1:extLst>
          </ns0:cNvPr>
          <ns0:cNvPicPr>
            <ns1:picLocks noChangeAspect="1"/>
          </ns0:cNvPicPr>
          <ns0:nvPr/>
        </ns0:nvPicPr>
        <ns0:blipFill>
          <ns1:blip ns3:embed="Ra0110de4979b44a6">
            <ns1:grayscl/>
          </ns1:blip>
          <ns1:stretch/>
        </ns0:blipFill>
        <ns0:spPr>
          <ns1:xfrm>
            <ns1:off x="1331595" y="1562100"/>
            <ns1:ext cx="9528810" cy="3905250"/>
          </ns1:xfrm>
          <ns1:prstGeom prst="rect">
            <ns1:avLst/>
          </ns1:prstGeom>
        </ns0:spPr>
      </ns0:pic>
      <ns0:sp>
        <ns0:nvSpPr>
          <ns0:cNvPr id="7" name="">
            <ns1:extLst>
              <ns1:ext uri="{FF2B5EF4-FFF2-40B4-BE49-F238E27FC236}">
                <ns2:creationId id="{E41DC1CB-67AB-4560-B6CD-DA7A7FB47AEE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5553075"/>
            <ns1:ext cx="34861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모델 가중치까지 갱신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0562B686-D516-4FA4-B524-B41E6C2E6175}"/>
              </ns1:ext>
            </ns1:extLst>
          </ns0:cNvPr>
          <ns0:cNvSpPr>
            <ns1:spLocks noGrp="1"/>
          </ns0:cNvSpPr>
          <ns0:nvPr/>
        </ns0:nvSpPr>
        <ns0:spPr>
          <ns1:xfrm>
            <ns1:off x="4324350" y="5553075"/>
            <ns1:ext cx="34861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고정 Base와 Adapter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DDEF5B95-3FB9-4578-9E70-5C1D62AEC2B8}"/>
              </ns1:ext>
            </ns1:extLst>
          </ns0:cNvPr>
          <ns0:cNvSpPr>
            <ns1:spLocks noGrp="1"/>
          </ns0:cNvSpPr>
          <ns0:nvPr/>
        </ns0:nvSpPr>
        <ns0:spPr>
          <ns1:xfrm>
            <ns1:off x="8039100" y="5553075"/>
            <ns1:ext cx="34861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4-bit 고정 Base와 Adapter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53B6866E-789D-43C8-9D95-0C03A2A6E386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019800"/>
            <ns1:ext cx="1097280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QLoRA: Quantized Low-Rank Adaptation · Figure 1 · CC BY 4.0 · 흑백 발췌</ns1:t>
            </ns1:r>
          </ns1:p>
        </ns0:txBody>
      </ns0:sp>
    </ns0:spTree>
    <ns0:extLst>
      <ns0:ext uri="{BB962C8B-B14F-4D97-AF65-F5344CB8AC3E}">
        <ns4:creationId val="1587382970"/>
      </ns0:ext>
    </ns0:extLst>
  </ns0:cSld>
</ns0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81DF1C-28FC-458B-AD5E-58A79330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A95574-6624-471F-839F-9BD47A79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1D1248-54CE-4CBA-B0F9-8459BFB1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학습 목적과 갱신 방법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F1954-716E-44EE-9C50-2C3B60C8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23D5F-64C8-4109-9BE8-14D8E517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738F4-0E3D-4AD5-89CC-CBACFE560133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971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686300"/>
                <a:gridCol w="34290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선택하는 내용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예시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학습 목적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어떤 신호로 학습할 것인가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SFT·DPO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갱신 방법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어떤 파라미터를 바꿀 것인가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전체·LoRA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저장·자원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어떤 정밀도와 환경인가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QLoRA·batch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588B7-A4E9-40DC-BF99-D16D8C6A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794EC-3FC1-4DA2-B717-4576C2B0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0FF9D1-113F-4E89-9C09-2BF0AA0B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FF4A27-1759-48CE-B878-105C3753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BDD9F8-EB3C-41B1-920B-F713407F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49E3C8-0327-4A14-9664-B8FFA836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SFT·DPO에 LoRA를 결합할 수 있음 · 한 축의 선택을 다른 축의 대안으로 혼동하지 않음</a:t>
            </a:r>
          </a:p>
        </p:txBody>
      </p:sp>
    </p:spTree>
    <p:extLst>
      <p:ext uri="{BB962C8B-B14F-4D97-AF65-F5344CB8AC3E}">
        <p14:creationId xmlns:p14="http://schemas.microsoft.com/office/powerpoint/2010/main" val="110058748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6F4487-2007-47B0-8D67-FB964D80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5E7A0-7E34-4E41-A17C-57D1AF09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08681-B0A1-4B9C-B2DA-90D8EC31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수치 실험과 실제 모델 학습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E8677-F504-4B29-AAB4-0098B7E1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F3821-E076-453E-A55E-DB4DCFBD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85D0C-33DD-41F5-A3B9-B4F1002B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이번 공통 실습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909F1-C978-4559-84FB-3874F09E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29576-F20C-49C4-9DFC-0D05E9BB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자료 누출·행렬 근사·선호 손실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4F9E4B-FF95-4558-AF68-3B6A2824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GPU·모델·API 키 없이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93B4A0-281C-4E6E-AFB9-20BBF4D4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실제 모델 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D2F2D3-0792-49D1-8C06-56EF1B61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F2440B-818D-4540-ACB5-A3FADC50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허가 자료·GPU·커널·버전 필요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E19DE7-A5BC-4A69-B6BF-521A588B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동일 보류 입력의 품질·비용 측정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B8110D-3DCB-4CDA-9BE0-E36DCFC8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SVD: Singular Value Decomposition · 특이값 분해 · 실제 LoRA 학습과 구분</a:t>
            </a:r>
          </a:p>
        </p:txBody>
      </p:sp>
    </p:spTree>
    <p:extLst>
      <p:ext uri="{BB962C8B-B14F-4D97-AF65-F5344CB8AC3E}">
        <p14:creationId xmlns:p14="http://schemas.microsoft.com/office/powerpoint/2010/main" val="166840114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728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C685D-0470-41EA-AA29-530FA105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rPr>
              <a:t>W07 / 23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CA65A-750E-4052-8590-7125CAE3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선호 데이터의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F575F-D92D-455B-849F-948129CA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BD156-80DB-479F-8DDA-6A984E10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같은 질문의 두 답변과 선택 이유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01BAA-1D54-480C-8373-D9A65AF2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861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사용자에게 유용한 행동을 구체적인 기준으로 표현</a:t>
            </a:r>
          </a:p>
        </p:txBody>
      </p:sp>
    </p:spTree>
    <p:extLst>
      <p:ext uri="{BB962C8B-B14F-4D97-AF65-F5344CB8AC3E}">
        <p14:creationId xmlns:p14="http://schemas.microsoft.com/office/powerpoint/2010/main" val="133471817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0724E-1874-4DB7-BCC7-8C4F449E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D5793-6C53-440E-8D0D-82A809ED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C2D96F-5FA6-4CF4-9C29-4B765400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근거 없는 문의의 세 답변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B683F-D1A7-474A-AD81-E31D70E4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95D28-8E08-46C4-B346-2ABFF973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6D3DC-1410-4724-9CFC-13521108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4689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8DF0BD-2AFD-405E-A906-8FC79E7B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477500" cy="426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A: 무조건 승인됩니다.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94BC30-F17C-480F-B97C-CCBF723E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3789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B: 확인할 근거가 없어 담당자 검토가 필요합니다.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B5645-C772-43BA-9DEF-CE437418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6536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C: 요청을 처리할 수 없습니다.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6464D-6ED1-4752-828E-0332B168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합성 예시 · B는 근거·다음 행동, C는 과도한 거절 여부를 검토</a:t>
            </a:r>
          </a:p>
        </p:txBody>
      </p:sp>
    </p:spTree>
    <p:extLst>
      <p:ext uri="{BB962C8B-B14F-4D97-AF65-F5344CB8AC3E}">
        <p14:creationId xmlns:p14="http://schemas.microsoft.com/office/powerpoint/2010/main" val="185501786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D421D-7E42-4D1C-848B-F013EE252C13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96000" y="2495550"/>
            <a:ext cx="2876550" cy="838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84B72"/>
            </a:solidFill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970565-68BA-4554-8C57-D41C2698161E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3219450" y="2495550"/>
            <a:ext cx="2876550" cy="838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84B72"/>
            </a:solidFill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18C13F-E849-4257-9871-47AB17CD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2200E-91EB-4F7D-92E2-B8BB5E73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B546C-0C45-413F-A950-2C5239E7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선호쌍의 구성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A4EDD-DCFB-4DD2-98D8-E41E4AA8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73B71-E79C-45CE-B12F-CF39C5E0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95F2F-1484-4322-8C08-0F835D84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14500"/>
            <a:ext cx="647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E99D9-85F1-46E9-B20E-56BF7128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943100"/>
            <a:ext cx="601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같은 질문 · 근거 문서가 없는 문의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4552F-8037-4A8C-9FED-06717A29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197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7F8F27-9C74-4FC4-A350-3D4FDF43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33750"/>
            <a:ext cx="52197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71503A-AC29-4F81-8C29-719226E2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chosen · 선택한 답변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17339-1719-4041-9D6E-F0EA0D73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확인할 근거가 없어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담당자 검토가 필요합니다.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682A02-4DC9-49AB-BF7D-4137DF34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24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rejected · 선택하지 않은 답변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4AC79-6E33-4DAE-9E02-A9840C77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957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무조건 승인됩니다.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937685-C5E8-4C63-8B6B-57BC67E0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선택 기준: 근거 없는 단정 방지와 다음 행동 안내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2A41CB-4638-4169-9B96-E18D5ED5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같은 prompt 아래 두 답변 비교 · chosen은 명시한 기준에서 선택한 답변</a:t>
            </a:r>
          </a:p>
        </p:txBody>
      </p:sp>
    </p:spTree>
    <p:extLst>
      <p:ext uri="{BB962C8B-B14F-4D97-AF65-F5344CB8AC3E}">
        <p14:creationId xmlns:p14="http://schemas.microsoft.com/office/powerpoint/2010/main" val="33387325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D2D5D7-5281-4189-ABC4-3C890FFF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5BEC3-4B6A-4AFF-8F46-5DBAC733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76007-4EB3-44CC-9A64-0728FA64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기대 답변과 상대 선호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42ABA-10AC-459F-8F0E-B2E6AA0C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75219-B27A-4457-939E-10D5EC6B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51525-DFB5-454E-B890-212E8768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SFT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5A482-0C2C-4C35-AB11-34860893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8A5751-C8A3-4F8F-A432-92BA128C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입력과 기대 답변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23FEAD-EC94-4F8F-B7D8-0B7B7E53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원하는 출력을 직접 제시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B0B71-E3DC-41B0-84C2-4EC1324C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DPO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2A42B1-9082-42C9-8DE6-403737DA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A0AAAE-4FEA-4F58-ACD2-50C86B1E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질문과 두 답변의 선택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9F6056-AA40-42A9-8F85-A3FE13F4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원하는 상대적 응답 행동 표현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686C1-8451-4EC0-95A4-BC6C3439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DPO: Direct Preference Optimization · 직접 선호 최적화</a:t>
            </a:r>
          </a:p>
        </p:txBody>
      </p:sp>
    </p:spTree>
    <p:extLst>
      <p:ext uri="{BB962C8B-B14F-4D97-AF65-F5344CB8AC3E}">
        <p14:creationId xmlns:p14="http://schemas.microsoft.com/office/powerpoint/2010/main" val="57900537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FF52C-E592-4426-B033-7E2E5AE8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E4785-F91E-4A68-8F5E-1444F79E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CBEB4-2F96-4D6B-8432-1F473327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선호 데이터 한 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6558C-4BA3-4312-97B0-F731E42D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BDA240-14E1-47A7-9A7F-91534479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96B73-DB55-43DE-85E2-4C8C4CB9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70294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B788E-13D6-4078-AC1A-2A6D9F11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649605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prompt: 근거 문서가 없는 문의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chosen: 담당자 검토가 필요합니다.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rejected: 무조건 승인됩니다.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reason: 근거 없는 단정 방지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2A770-6736-45AD-BD06-7E79695C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9550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학습 입력과 검토 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8E2BC-372B-40C3-834C-03BA5CA2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52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D9558-DFF0-4506-9AA1-E1293C2C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09975"/>
            <a:ext cx="3429000" cy="308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같은 질문·같은 제공 문맥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C95F1-0940-45DB-B66B-0114A0D0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80383"/>
            <a:ext cx="3429000" cy="308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reason은 라벨 검토용 기록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224BD4-6D26-4621-8C42-A8108223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prompt·chosen·rejected가 기본 형식 · reason을 모델 입력에 자동 포함하지 않음</a:t>
            </a:r>
          </a:p>
        </p:txBody>
      </p:sp>
    </p:spTree>
    <p:extLst>
      <p:ext uri="{BB962C8B-B14F-4D97-AF65-F5344CB8AC3E}">
        <p14:creationId xmlns:p14="http://schemas.microsoft.com/office/powerpoint/2010/main" val="23257023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52F4A-41F8-4330-A147-559A18B7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62EAC-B722-43CD-91C9-578F8E8F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601537-75BA-4B9E-AEB6-CB58ABDB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무효 선호쌍의 탐지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0EE89-A12E-4650-BEA9-84C56B98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48CEE-A59D-425B-BE83-ACDBCD59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06665-0CB2-47C7-BA28-C996D3E3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17823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CAEE3-1665-48D7-B7CD-BA33A050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invalid = [dict(prefs[0], chosen="같은 답변",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    rejected="같은 답변")]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issues = preference_audit(invalid)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any(x["kind"] == "identical_pair" for x in issues)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A2563B-E764-4EAC-8587-BCD2A22D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Notebook 03 · 동일 답변과 필수 항목 누락 검사</a:t>
            </a:r>
          </a:p>
        </p:txBody>
      </p:sp>
    </p:spTree>
    <p:extLst>
      <p:ext uri="{BB962C8B-B14F-4D97-AF65-F5344CB8AC3E}">
        <p14:creationId xmlns:p14="http://schemas.microsoft.com/office/powerpoint/2010/main" val="174819035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3EBBD3-351B-4B01-AC44-D6360AD5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E03CA-B505-46AB-9FA8-B4857B78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8794F-87A6-429A-94C8-CF27DC1C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선택 기준의 구체화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6CF68-0B17-457D-B317-0F1A7EB5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1319C-FBF5-4747-9A10-9B0F6FF1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2016C-12A0-454B-AADE-B2016F8E9E85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686300"/>
                <a:gridCol w="34290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차원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확인할 기준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남길 근거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근거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제공 문서와 주장 일치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원문 위치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유용성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다음 행동에 도움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구체적 안내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형식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필수 키·출력 계약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검사 결과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거절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필요한 보류와 과도한 거절 구분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선택 이유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DC33E-689A-497B-8C1C-5CE6CBD4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947FE-58D4-4D97-9AAF-9739CE4A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C59A9-C0FC-42EA-B5AA-2F637EE1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3CB7BB-EB86-4E61-8D6A-9178D129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1297B0-D9E7-45A3-93A0-4826F4E3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046E21-A991-4A8F-A614-DB146163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E308D2-7151-473E-AEB1-8170850F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좋아 보인다·더 자연스럽다 대신 비교 가능한 판단 기준 기록</a:t>
            </a:r>
          </a:p>
        </p:txBody>
      </p:sp>
    </p:spTree>
    <p:extLst>
      <p:ext uri="{BB962C8B-B14F-4D97-AF65-F5344CB8AC3E}">
        <p14:creationId xmlns:p14="http://schemas.microsoft.com/office/powerpoint/2010/main" val="37813015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330696-15A0-4839-9359-ACAF7200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9842D-25AD-49F2-A223-4C02E2E3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FBD3E-F3C9-48FB-B15F-F9319D66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평가자 의견 불일치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C32D7-B79F-4853-88F1-8828A4F0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CFF2E-50D4-4D59-B53C-C3D7477E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2C67D-16F9-48FA-9C19-D1F1E265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32A8E-F812-460C-B07C-88E71B3B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2880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92078-2C7C-4CB8-B02F-39736BD4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2880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서로 다른 선택과 이유를 모두 보존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78A613-137F-4A96-A503-349158C6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2956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42CC65-21F4-427D-B6D2-DC0B0D27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D2A7F9-E116-4A40-9C51-35188C21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6705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분리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2FCE0-E3B1-410E-95CB-F92230C1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6705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근거 부족과 문체 선호를 구분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4B442B-61FD-46B2-AFF1-F78999CF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781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57D032-8C10-4B0D-9ED1-4A5D19D0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956A95-7733-47F6-B5E9-FC4D4E43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0530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재검토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B2EF2B-7DBA-4BC1-8A0D-D3CE4C0D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30530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기준 수정·판단 보류·추가 라벨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E8200E-03C0-4E98-92A0-ECB7D824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0606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ACF5B1-30A4-43EB-B742-9B3BCAAC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불일치를 숨기거나 무조건 다수결로 정답화하지 않음</a:t>
            </a:r>
          </a:p>
        </p:txBody>
      </p:sp>
    </p:spTree>
    <p:extLst>
      <p:ext uri="{BB962C8B-B14F-4D97-AF65-F5344CB8AC3E}">
        <p14:creationId xmlns:p14="http://schemas.microsoft.com/office/powerpoint/2010/main" val="42257633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46D51-67D4-410D-BC13-28B37612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11687A-DA3F-4BEB-9B85-291B8662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69FEE-DF5A-4648-8934-9CA105E3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길이와 답변 품질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7D4C3-576E-408F-80A0-B78270C8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BACC2-DA68-4D42-8F4D-2DCE0CF3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75FC0-BEB3-4124-8262-D1F8765A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길이가 긴 답변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7922E7-1081-45B1-9195-771A4A4F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8BD0A-0492-4AB1-874D-56F49FED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상세해 보여 선택될 수 있음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4BF2F-FF87-4223-86C4-FD1852C8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근거 없는 내용도 길어질 수 있음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D882C7-780E-4ED9-8F38-3D7BD3DA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기준에 맞는 답변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5A3C9-5F77-4156-9D3A-EF3F01CB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E1D717-8F07-4427-B797-949E74A6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필요한 내용과 근거 충족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636D4-1689-4831-947A-67D828C7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길이와 별개로 유용성·거절 검토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C921B7-E2CB-4F1A-A06B-8BBEC6C8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문자 길이 차이는 검토 신호 · 자동 삭제나 정답 기준으로 사용하지 않음</a:t>
            </a:r>
          </a:p>
        </p:txBody>
      </p:sp>
    </p:spTree>
    <p:extLst>
      <p:ext uri="{BB962C8B-B14F-4D97-AF65-F5344CB8AC3E}">
        <p14:creationId xmlns:p14="http://schemas.microsoft.com/office/powerpoint/2010/main" val="36030187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22CBCD-2524-40A8-A0C9-6B65660F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5C01A-FDF6-4019-A851-D26EA042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38672-D519-4699-815C-90E33100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답변 순서와 평가자 가림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10C9D8-2900-45B3-B85A-4146E4D5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2D553-67D4-4C52-9427-EC9D36E9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4C19E9-FF04-4587-8660-F48806E4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0260A-776A-4F37-98EA-38F60AF7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B9574-6C16-4626-B637-0B7E35C6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451C82-EF44-45F1-811E-5762E51F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응답 수집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B9E3C-6BD1-444C-A680-CA1D108B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동일 입력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7505F2-67EB-4182-86A1-48B39871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83E685-310D-49B4-856A-A1D0CC56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CB0ED5-66B0-46D3-982D-B3B46663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순서 배치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6CA48-9B79-43B8-8834-6E3BD7CB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A·B 위치 변경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1E883A-2932-471A-BE78-9682B23A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8FFBB8-32C9-4118-B910-2DF9228E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56C634-C266-45CC-8B58-886A4594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기준 검토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AAEB4D-5F19-453F-8C5C-A9EAB8FC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모델명 가림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4C46B7-9582-4378-9EDB-9F3EBEEC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609C3E-157E-4105-B5AF-726C8A3E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86EE9F-5D9D-497B-8BD2-C3FB1D1E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결과 복원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282DCF-6A7B-4B35-A308-00B6DBBA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대응표로 집계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A0CEBD-C174-4364-98D6-4CBA6E3B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가림과 순서 변경은 편향을 줄이기 위한 절차 · 제거를 보장하지 않음</a:t>
            </a:r>
          </a:p>
        </p:txBody>
      </p:sp>
    </p:spTree>
    <p:extLst>
      <p:ext uri="{BB962C8B-B14F-4D97-AF65-F5344CB8AC3E}">
        <p14:creationId xmlns:p14="http://schemas.microsoft.com/office/powerpoint/2010/main" val="126435034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23485-D5B7-4C0D-A81B-5DF57E10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DAEEA-7AED-4202-9C56-BEAF451E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BBE55-551F-45C9-BFEA-A08C7BDA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선호 자료의 분할·보존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32A41-9578-468D-A014-F6DA4A6E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5EA68-178F-4141-87C7-00FEBF20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48774-0557-482C-BF2A-C560CF7F3466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항목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확인할 내용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분할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같은 질문·사건의 쌍을 같은 분할에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기록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선택 이유·기준 버전·검토 이력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보류 평가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학습·기준 수정에 쓰지 않은 입력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권한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원문 사용 범위·삭제·보존 정책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A47E1-A30F-4078-A0D2-5A01870F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4DA4F-D0DB-4814-AB28-D3C535EF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8CD2B-8D07-4933-AFB5-3664930A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D56CEB-70C4-477A-B325-CAF220E0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8F04A5-7C54-491C-B0FF-9796704D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FBADFF-313A-4539-B67E-59B4A389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66EAB1-584C-47B0-BF18-E866EF92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평가 입력을 보고 라벨 기준과 설정을 반복 수정하면 독립성이 약해짐</a:t>
            </a:r>
          </a:p>
        </p:txBody>
      </p:sp>
    </p:spTree>
    <p:extLst>
      <p:ext uri="{BB962C8B-B14F-4D97-AF65-F5344CB8AC3E}">
        <p14:creationId xmlns:p14="http://schemas.microsoft.com/office/powerpoint/2010/main" val="195456341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1728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E3FD1-4AB3-4686-99E4-0B23D593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rPr>
              <a:t>W07 / 34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4F989-3BEC-47E0-8D2B-8D9E7E98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DPO의 계산과 학습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5F85E-5B89-446B-898E-FB27875C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5F25F9-E7E2-4591-AB56-FF1B823C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reference 대비 답변 선호의 변화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307FA-F58D-4576-8CA1-5292AF75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861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시퀀스 확률에서 손실과 갱신까지</a:t>
            </a:r>
          </a:p>
        </p:txBody>
      </p:sp>
    </p:spTree>
    <p:extLst>
      <p:ext uri="{BB962C8B-B14F-4D97-AF65-F5344CB8AC3E}">
        <p14:creationId xmlns:p14="http://schemas.microsoft.com/office/powerpoint/2010/main" val="698638380"/>
      </p:ext>
    </p:extLst>
  </p:cSld>
</p:sld>
</file>

<file path=ppt/slides/slide3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7F7F5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4" name="">
            <ns1:extLst>
              <ns1:ext uri="{FF2B5EF4-FFF2-40B4-BE49-F238E27FC236}">
                <ns2:creationId id="{745B9B04-DA14-4A63-8655-063E970BC099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247650"/>
            <ns1:ext cx="9525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LLMOPS / W07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EBB87ED9-EA3B-4CDB-B015-5A5FE9C4787F}"/>
              </ns1:ext>
            </ns1:extLst>
          </ns0:cNvPr>
          <ns0:cNvSpPr>
            <ns1:spLocks noGrp="1"/>
          </ns0:cNvSpPr>
          <ns0:nvPr/>
        </ns0:nvSpPr>
        <ns0:spPr>
          <ns1:xfrm>
            <ns1:off x="10858500" y="247650"/>
            <ns1:ext cx="7239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r">
              <ns1:defRPr sz="1400" b="0">
                <ns1:solidFill>
                  <ns1:srgbClr val="52606B"/>
                </ns1:solidFill>
                <ns1:latin typeface="Menlo"/>
                <ns1:ea typeface="Menlo"/>
                <ns1:cs typeface="Menlo"/>
              </ns1:defRPr>
            </ns1:defPPr>
          </ns1:lstStyle>
          <ns1:p>
            <ns1:pPr algn="r">
              <ns1:lnSpc>
                <ns1:spcPct val="116000"/>
              </ns1:lnSpc>
              <ns1:buNone/>
              <ns1:defRPr sz="1400" b="0">
                <ns1:solidFill>
                  <ns1:srgbClr val="52606B"/>
                </ns1:solidFill>
                <ns1:latin typeface="Menlo"/>
                <ns1:ea typeface="Menlo"/>
                <ns1:cs typeface="Menlo"/>
              </ns1:defRPr>
            </ns1:pPr>
            <ns1:r>
              <ns1:rPr sz="1400" b="0">
                <ns1:solidFill>
                  <ns1:srgbClr val="52606B"/>
                </ns1:solidFill>
                <ns1:latin typeface="Menlo"/>
                <ns1:ea typeface="Menlo"/>
                <ns1:cs typeface="Menlo"/>
              </ns1:rPr>
              <ns1:t>35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69BE262C-6161-4B7D-BC11-8EA13CD5ADC5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723900"/>
            <ns1:ext cx="10972800" cy="666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34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34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34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rPr>
              <ns1:t>보상 모델 경로와 DPO 경로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29ADD912-E0C0-453E-B2D5-FD32D48D4D4F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315075"/>
            <ns1:ext cx="10972800" cy="9525"/>
          </ns1:xfrm>
          <ns1:prstGeom prst="rect">
            <ns1:avLst/>
          </ns1:prstGeom>
          <ns1:solidFill>
            <ns1:srgbClr val="CFD5D3"/>
          </ns1:solidFill>
          <ns1:ln w="0">
            <ns1:noFill/>
            <ns1:prstDash val="solid"/>
          </ns1:ln>
        </ns0:spPr>
      </ns0:sp>
      <ns0:sp>
        <ns0:nvSpPr>
          <ns0:cNvPr id="5" name="">
            <ns1:extLst>
              <ns1:ext uri="{FF2B5EF4-FFF2-40B4-BE49-F238E27FC236}">
                <ns2:creationId id="{FA05E16C-2058-4702-8292-69A796401D2C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77000"/>
            <ns1:ext cx="109728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선호 데이터 · DPO · 비교 평가 · 프로젝트 기획</ns1:t>
            </ns1:r>
          </ns1:p>
        </ns0:txBody>
      </ns0:sp>
      <ns0:pic>
        <ns0:nvPicPr>
          <ns0:cNvPr id="6" name="">
            <ns1:extLst>
              <ns1:ext uri="{FF2B5EF4-FFF2-40B4-BE49-F238E27FC236}">
                <ns2:creationId id="{3FE0A5E2-2875-4B25-AA5D-F8F979CCEBB6}"/>
              </ns1:ext>
            </ns1:extLst>
          </ns0:cNvPr>
          <ns0:cNvPicPr>
            <ns1:picLocks noChangeAspect="1"/>
          </ns0:cNvPicPr>
          <ns0:nvPr/>
        </ns0:nvPicPr>
        <ns0:blipFill>
          <ns1:blip ns3:embed="R26acb4499a834cc6">
            <ns1:grayscl/>
          </ns1:blip>
          <ns1:stretch/>
        </ns0:blipFill>
        <ns0:spPr>
          <ns1:xfrm>
            <ns1:off x="609600" y="1893570"/>
            <ns1:ext cx="10972800" cy="2194560"/>
          </ns1:xfrm>
          <ns1:prstGeom prst="rect">
            <ns1:avLst/>
          </ns1:prstGeom>
        </ns0:spPr>
      </ns0:pic>
      <ns0:sp>
        <ns0:nvSpPr>
          <ns0:cNvPr id="7" name="">
            <ns1:extLst>
              <ns1:ext uri="{FF2B5EF4-FFF2-40B4-BE49-F238E27FC236}">
                <ns2:creationId id="{4A812AFB-4075-4CAC-AC4E-A9BCCB0D1CCE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4581525"/>
            <ns1:ext cx="348615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21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21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21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rPr>
              <ns1:t>RLHF 경로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B529540E-5DEA-464A-8DA0-1F97A054C851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5048250"/>
            <ns1:ext cx="3486150" cy="590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보상 모델과 강화학습 단계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32992DA6-1785-450F-B21F-64E5A2F4E3BF}"/>
              </ns1:ext>
            </ns1:extLst>
          </ns0:cNvPr>
          <ns0:cNvSpPr>
            <ns1:spLocks noGrp="1"/>
          </ns0:cNvSpPr>
          <ns0:nvPr/>
        </ns0:nvSpPr>
        <ns0:spPr>
          <ns1:xfrm>
            <ns1:off x="4324350" y="4581525"/>
            <ns1:ext cx="348615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21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21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21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rPr>
              <ns1:t>DPO 경로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A56F5C1B-C160-4BA5-8BD0-CE2A230D88E2}"/>
              </ns1:ext>
            </ns1:extLst>
          </ns0:cNvPr>
          <ns0:cNvSpPr>
            <ns1:spLocks noGrp="1"/>
          </ns0:cNvSpPr>
          <ns0:nvPr/>
        </ns0:nvSpPr>
        <ns0:spPr>
          <ns1:xfrm>
            <ns1:off x="4324350" y="5048250"/>
            <ns1:ext cx="3486150" cy="590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선호 자료로 정책 직접 최적화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5CC87ACE-5E44-4245-90C9-F027B8C298D3}"/>
              </ns1:ext>
            </ns1:extLst>
          </ns0:cNvPr>
          <ns0:cNvSpPr>
            <ns1:spLocks noGrp="1"/>
          </ns0:cNvSpPr>
          <ns0:nvPr/>
        </ns0:nvSpPr>
        <ns0:spPr>
          <ns1:xfrm>
            <ns1:off x="8039100" y="4581525"/>
            <ns1:ext cx="348615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21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21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21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rPr>
              <ns1:t>남는 작업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06FF24DD-390A-4FEA-A280-EA7B0EC32179}"/>
              </ns1:ext>
            </ns1:extLst>
          </ns0:cNvPr>
          <ns0:cNvSpPr>
            <ns1:spLocks noGrp="1"/>
          </ns0:cNvSpPr>
          <ns0:nvPr/>
        </ns0:nvSpPr>
        <ns0:spPr>
          <ns1:xfrm>
            <ns1:off x="8039100" y="5048250"/>
            <ns1:ext cx="3486150" cy="590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자료·편향·실제 업무 평가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F8507869-320A-4276-9EBD-5591D9C8AB04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5791200"/>
            <ns1:ext cx="109728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6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6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6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Rafailov et al., Figure 1, v3 p.2 · CC BY 4.0 · 흑백 발췌</ns1:t>
            </ns1:r>
          </ns1:p>
        </ns0:txBody>
      </ns0:sp>
    </ns0:spTree>
    <ns0:extLst>
      <ns0:ext uri="{BB962C8B-B14F-4D97-AF65-F5344CB8AC3E}">
        <ns4:creationId val="1624730235"/>
      </ns0:ext>
    </ns0:extLst>
  </ns0:cSld>
</ns0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777285-F2B3-482B-B548-D5B4A59E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47480-5219-41CC-9F47-15637FD3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209D6-0121-4F55-A3AC-964E4928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PPO 기반 RLHF와 DPO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01D4B-7EC7-4B0E-83F9-F26F99AC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1BBB6-69BC-4D6A-8BF4-81B3442A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FEE59-C522-4657-A971-9E9AEF93C252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971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686300"/>
                <a:gridCol w="34290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항목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PPO 기반 RLHF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기본 DPO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학습 자료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선호로 보상 모델 학습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고정 선호쌍 사용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정책 갱신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샘플링·보상으로 최적화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상대 로그확률 손실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추가 관리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보상·정책·reference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policy·reference·라벨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1230B-D5D5-4D44-ADEB-DF41FA9E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8BFBE-4199-41B7-8FE8-B10BA1B2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67A834-ADAE-40AE-8DAD-9FC1E79C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3F29E3-73BB-43E1-87C7-23AC21BF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B0C002-FF8C-4B16-B9F9-89ED6D05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76CE8-D7B2-4846-9D35-518E9EE2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PPO: Proximal Policy Optimization · RLHF: Reinforcement Learning from Human Feedback</a:t>
            </a:r>
          </a:p>
        </p:txBody>
      </p:sp>
    </p:spTree>
    <p:extLst>
      <p:ext uri="{BB962C8B-B14F-4D97-AF65-F5344CB8AC3E}">
        <p14:creationId xmlns:p14="http://schemas.microsoft.com/office/powerpoint/2010/main" val="20577114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7975FC-89BC-4C3C-A47D-AF14BB10ADC8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7334250" y="3657600"/>
            <a:ext cx="1447800" cy="1219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84B72"/>
            </a:solidFill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691E89-8D59-49AE-9D60-7B8432B03D17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334250" y="2381250"/>
            <a:ext cx="1447800" cy="1276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84B72"/>
            </a:solidFill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F5BC72-950C-457B-BD1F-680C56FA33B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590800" y="3657600"/>
            <a:ext cx="933450" cy="1219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84B72"/>
            </a:solidFill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34CDC5-D623-4AEF-85E7-53332B922FA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590800" y="2381250"/>
            <a:ext cx="933450" cy="1276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84B72"/>
            </a:solidFill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438687-03F8-41D4-85BD-E27337E9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823BC-C726-450B-A686-06F02EC2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099DA-336A-444E-A372-C706324B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Policy와 Reference의 비교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EAA1A-48B2-48D1-A765-185D8A66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D1922-F952-4431-836A-0C903CD7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5B32A-F7CA-49D9-8C69-5F7917BA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981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F094F-4C4C-4BBC-8D4D-4B085843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동일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C6A7B-B3DA-422E-8D05-5B2FDBBF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질문·답변 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E2DC1E-64C1-4188-B80F-713BDD54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66900"/>
            <a:ext cx="3810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4CAE50-1765-4BEF-AABE-2EC0AA22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0977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policy · 학습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EF13F-1076-41C2-94E8-C2B04971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86025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차이: (−2)−(−5)=3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4FC36B-3391-4B50-9AB9-807757F4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62450"/>
            <a:ext cx="3810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BCEF7E-B199-4592-B8CC-0564EA8B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5053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reference · 고정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1382E6-84FB-4096-8DC9-D3BE774B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981575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차이: (−3)−(−3)=0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A8B40D-2697-4891-A643-D9483008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43250"/>
            <a:ext cx="28003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A01B41-F0CF-4F12-A344-9681F15F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861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차이의 차감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522FA6-0CC1-4D6E-A7C6-F29DBF38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62375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3 − 0 = 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6E9490-2E28-4327-8309-B5AA7A69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policy: 학습 대상 · reference: 고정 비교 정책 · 같은 입력과 두 답변 사용</a:t>
            </a:r>
          </a:p>
        </p:txBody>
      </p:sp>
    </p:spTree>
    <p:extLst>
      <p:ext uri="{BB962C8B-B14F-4D97-AF65-F5344CB8AC3E}">
        <p14:creationId xmlns:p14="http://schemas.microsoft.com/office/powerpoint/2010/main" val="109121724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C4D507-DAEC-4B1F-AF23-EA39E391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AA33D-4EC1-42FE-809C-E618B35A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38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8B2D5-2082-4AD7-9FA7-404BB63B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시퀀스 로그확률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2E6A7-A9FB-419E-990B-E8983CBB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A1897F-D0E0-467C-9C6B-955580EC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76DFE-ED6E-45D8-83D7-7ABF408F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log P(답변 | 질문) = 토큰별 log p의 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25361-C1B7-4E16-942C-5406C209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1788D-CE63-47BC-ABB9-28A22271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66800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질문을 조건으로 답변 토큰의 확률을 누적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E965AE-0310-4404-94DE-998A3CCC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479"/>
            <a:ext cx="1066800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자연로그 · 확률 대신 음수 로그값 사용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38A856-81A8-4272-B145-A0C94BD2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Judge 평가점수·문자 길이·단순 평균 점수를 수식에 넣지 않음</a:t>
            </a:r>
          </a:p>
        </p:txBody>
      </p:sp>
    </p:spTree>
    <p:extLst>
      <p:ext uri="{BB962C8B-B14F-4D97-AF65-F5344CB8AC3E}">
        <p14:creationId xmlns:p14="http://schemas.microsoft.com/office/powerpoint/2010/main" val="193535397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0CF8E1-2AA9-4AD0-B799-98810A43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333FE-6FC6-4205-A840-DAEB14E7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3865A-9CD2-4C27-9EA3-F786329A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토큰 확률의 작은 계산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F3458-0626-496F-9B3A-772486CE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639E5-5F4A-4FF6-ADCE-BAD6DDD0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4BA9B-D6D5-4AC2-9AC1-E46A5D4E3D26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971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686300"/>
                <a:gridCol w="34290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항목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값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해석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조건부 확률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0.8, 0.5, 0.2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가상 답변 토큰 3개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시퀀스 확률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0.08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세 조건부 확률의 곱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로그확률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−2.5257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세 자연로그의 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8B92E-35A3-45C2-8D6E-DD76F215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5676FF-97C3-4A3C-8FA6-EB23B8E4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2091CE-6828-4292-849E-24A2C891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541DF5-A785-46EA-9B44-F479286A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FED23-EDB1-4CBE-B69D-F93B086B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EE8219-5569-429D-B417-3219D536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실제 모델 실행값이 아닌 수식 확인 예시 · 답변 토큰만 계산</a:t>
            </a:r>
          </a:p>
        </p:txBody>
      </p:sp>
    </p:spTree>
    <p:extLst>
      <p:ext uri="{BB962C8B-B14F-4D97-AF65-F5344CB8AC3E}">
        <p14:creationId xmlns:p14="http://schemas.microsoft.com/office/powerpoint/2010/main" val="56222647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B91FE0-D761-4696-9525-C09E921E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822A9-E179-42D5-A57A-3A64C5A3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2FF87-4358-48B9-B785-1E78E018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네 로그확률의 입력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6AF19-70C6-4315-9D9F-7B7727BE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8B490-EBDE-44A8-9BA8-75CE1B3A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BF369-CAC4-4045-BF5C-74D6FE5AAEA4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228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686300"/>
                <a:gridCol w="34290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모델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chosen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rejected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policy · 학습 대상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−2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−5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reference · 고정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−3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−3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91D18-B3E3-4AA1-BE46-DDE856D6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1EDD2E-CE45-46A9-85B0-948DB535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DC928E-5F09-49BD-8729-2B401C49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62816A-C4D3-4EF5-B327-C1DF0960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F43B0F-F6C2-4110-BDB8-24204CA9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다른 답변 시퀀스도 존재할 수 있는 가상 로그확률 · Judge 점수 아님</a:t>
            </a:r>
          </a:p>
        </p:txBody>
      </p:sp>
    </p:spTree>
    <p:extLst>
      <p:ext uri="{BB962C8B-B14F-4D97-AF65-F5344CB8AC3E}">
        <p14:creationId xmlns:p14="http://schemas.microsoft.com/office/powerpoint/2010/main" val="180604017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B64D2B-373B-445F-BA23-4E6B832D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97AC1-D3BD-41A7-977D-CBA26963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41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A110F-65BB-4346-A20E-8765F0F0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Reference 대비 선호 Margin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EF4B5-6EFD-4167-84FC-50089B54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95FC8-BE82-4DD0-B365-83C7220B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F21F8-373F-461A-94D1-D7F10733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m = (−2 − (−5)) − (−3 − (−3)) =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437C9-0E76-41E7-98AD-3F3CC3A5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13FA2A-B799-4246-B4EA-7D6E70BE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66800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policy의 선호 차이에서 reference 차이를 차감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482F9-187E-42F2-B441-B92739C8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479"/>
            <a:ext cx="1066800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m이 커질수록 reference 대비 chosen의 상대 선호 증가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7F9BE-8708-43BE-B8F5-80AC7BD6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Margin: 두 모델의 답변 선호 차이를 다시 비교한 값</a:t>
            </a:r>
          </a:p>
        </p:txBody>
      </p:sp>
    </p:spTree>
    <p:extLst>
      <p:ext uri="{BB962C8B-B14F-4D97-AF65-F5344CB8AC3E}">
        <p14:creationId xmlns:p14="http://schemas.microsoft.com/office/powerpoint/2010/main" val="44519414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84466-0459-4ABA-9751-D15B3EA8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A08E6-744D-4EA9-A4A2-5BA86293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42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A5C0CA-81C0-49F9-A52F-984168CE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DPO 손실의 안정적인 계산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583C3-C1E5-4441-AC17-15A07CAA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33FC7-E6C1-4F5F-8D61-B22399C5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E30F7-6F21-49F6-8FAE-7CF5D09B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17823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52EC46-EB23-43C4-89B0-FE08C71C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policy = (-2., -5.)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reference = (-3., -3.)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loss = dpo_loss(*policy, *reference, beta=.1)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np.isclose(loss, np.logaddexp(0, -.1 * 3))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B2FA5-44C0-4A1E-BBDA-D4CE7038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Notebook 05 · −log sigmoid(βm) = logaddexp(0, −βm)</a:t>
            </a:r>
          </a:p>
        </p:txBody>
      </p:sp>
    </p:spTree>
    <p:extLst>
      <p:ext uri="{BB962C8B-B14F-4D97-AF65-F5344CB8AC3E}">
        <p14:creationId xmlns:p14="http://schemas.microsoft.com/office/powerpoint/2010/main" val="53164950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75D50-9070-4580-95D3-C8326D5E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19DD6-E3A7-4FF6-A8DB-050DA1EC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43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AC357-BF4D-4DC0-9FA2-1CBCC59B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세 조건의 손실 비교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667E5C-F60E-4F70-9EAB-15397BC5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53EA7-D1D8-46EF-AB16-7DB9834E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62A24-E7D8-414F-A7FF-723FE489A587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971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686300"/>
                <a:gridCol w="34290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조건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margin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손실 · β=0.1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기준선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0.6931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선호 방향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0.5544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반대 방향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−3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0.8544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FC5FB-1062-4E09-B4AB-9633CC1E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7432B-3AF7-4E2D-A3C9-BE1B02A6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83F11-1DC0-4D58-8625-45384C47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C149A-CE49-4EEA-8D8C-05442D2A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4969B-0458-43EE-B8A5-C96EF144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F168B6-843F-4436-A77C-73EF46D2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고정 수식 계산값 · 모델 정확도·평가 성과로 해석하지 않음</a:t>
            </a:r>
          </a:p>
        </p:txBody>
      </p:sp>
    </p:spTree>
    <p:extLst>
      <p:ext uri="{BB962C8B-B14F-4D97-AF65-F5344CB8AC3E}">
        <p14:creationId xmlns:p14="http://schemas.microsoft.com/office/powerpoint/2010/main" val="52273720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7090E-792D-40B1-BF4A-BF2E29FC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F561AB-0215-45D9-ACF4-344620AC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44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C14D3-1592-4F5B-84C8-0AE2F8C8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Margin과 DPO 손실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8AD9D-1900-4770-AF17-8F4BEC9F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71BB7-76AE-4D12-834E-8E4ECCEC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5A137D54-716C-43A1-9EBF-8B117A5B0F7A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2927bfc81947f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F61E7-A026-4FFF-9FA2-6BFCC610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β=0.1 · 가상 margin별 손실 · 큰 margin이 해당 선호쌍 손실을 감소</a:t>
            </a:r>
          </a:p>
        </p:txBody>
      </p:sp>
    </p:spTree>
    <p:extLst>
      <p:ext uri="{BB962C8B-B14F-4D97-AF65-F5344CB8AC3E}">
        <p14:creationId xmlns:p14="http://schemas.microsoft.com/office/powerpoint/2010/main" val="131492034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A1FBA5-92A6-4C60-83C4-C4DD29AF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EB4D0-02D5-49A7-B363-360169A0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45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0DC2F-2A45-4860-AC31-0C46D6B3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Beta의 수식 효과와 학습 설정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80AF9D-CC86-4251-B9C8-2F068CD3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FA619-5931-46B3-8BC2-28135B59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7776D4-D63F-45B3-8893-B32E2466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고정 Margin 실험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53D83A-CB36-48CD-AE8E-84B2D925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FFD09-B527-4379-9FC7-493FE3DA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같은 m에서 β만 바꾼 손실 비교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4489E-8C73-4819-9660-419ABAAA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수식 민감도를 관찰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E8A81-3D4B-41D3-ACB1-985222E5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실제 학습 설정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5F97CE-F48D-46B2-A1CD-4C1ED7EC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4C9FF5-3706-4690-A7D2-0BF80C2D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reference와의 변화 제어에 관련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C1174E-2EA0-46D7-B996-BE6FE1C0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학습률·자료·갱신 횟수와 함께 검증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A5BB2F-87E1-4F18-B767-27FF60CD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β가 크면 항상 더 좋은 답변을 학습한다는 뜻은 아님</a:t>
            </a:r>
          </a:p>
        </p:txBody>
      </p:sp>
    </p:spTree>
    <p:extLst>
      <p:ext uri="{BB962C8B-B14F-4D97-AF65-F5344CB8AC3E}">
        <p14:creationId xmlns:p14="http://schemas.microsoft.com/office/powerpoint/2010/main" val="51040425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5F5ADC-B6E6-4D1A-915E-39ABB0F5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0AB50-A4D6-4045-9B82-571970ED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46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49E3D-8225-4A10-8C8B-55FD3FB4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Beta별 손실 곡선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FE2FE-2277-4DE3-93E3-C1EB051C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6B88C-5B2C-4C29-BD45-F0E85945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FCC7D6C4-CA70-4DC0-A490-BB52EC0C2001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d2f25458ed8473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4CCEBA-C671-48BC-B3C9-80C86DF2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β=0.1·0.5·1.0 · 고정 margin 수치 비교 · 실제 모델 성과·최적 β 추천 아님</a:t>
            </a:r>
          </a:p>
        </p:txBody>
      </p:sp>
    </p:spTree>
    <p:extLst>
      <p:ext uri="{BB962C8B-B14F-4D97-AF65-F5344CB8AC3E}">
        <p14:creationId xmlns:p14="http://schemas.microsoft.com/office/powerpoint/2010/main" val="58009213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1B6BA-B330-414F-87D7-94A14D23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2330E-9FEF-4F62-93BA-A6CD4B27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62C0B1-E4F6-491F-8012-7C85CB74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질문 하나의 정책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A94F5-0E8F-417C-A40E-37300C8B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CE6047-AE28-4A3D-B6F8-1C7D3B50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69818-F452-4FF4-94DE-40785EB5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4689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5C0B6-DFF6-4590-A2C1-48400EE6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477500" cy="426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고정 답변 두 개 중 chosen의 선택 확률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EF419-54A3-4E51-9AC2-C768B5DF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3789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θ 한 개와 Bernoulli policy만 갱신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51C2CC-40B9-4F03-89F7-61D5ACFE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6536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reference는 0.5/0.5로 고정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4CE38F-406B-4569-9B72-D3AECBA5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전체 어휘·새 질문·텍스트 생성이 없는 장난감 정책</a:t>
            </a:r>
          </a:p>
        </p:txBody>
      </p:sp>
    </p:spTree>
    <p:extLst>
      <p:ext uri="{BB962C8B-B14F-4D97-AF65-F5344CB8AC3E}">
        <p14:creationId xmlns:p14="http://schemas.microsoft.com/office/powerpoint/2010/main" val="11440882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2652A-8D09-45FE-A804-DC380942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DE3A8C-E9C0-4AFB-AFCA-69D02708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48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85364-1D97-41CE-BBFD-0A19AF57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80회 갱신의 실행 예시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C5F73-81D8-4A91-AF81-3AD17990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F363A-DC2A-48A9-AD67-53AA7090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7DD32-7660-4D36-AE85-FD3A602E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17823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ED40F-E802-4F67-B6D4-4F730B35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history = toy_preference_training(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beta=.5, steps=80, lr=.3)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history[-1]["loss"] &lt; history[0]["loss"]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print(history[0]); print(history[-1])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3618C-97F9-4D76-8181-10B4E58E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Notebook 03·05 · 동일 β·학습률·갱신 횟수에서 관찰</a:t>
            </a:r>
          </a:p>
        </p:txBody>
      </p:sp>
    </p:spTree>
    <p:extLst>
      <p:ext uri="{BB962C8B-B14F-4D97-AF65-F5344CB8AC3E}">
        <p14:creationId xmlns:p14="http://schemas.microsoft.com/office/powerpoint/2010/main" val="154925694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79004-E2A4-4C8E-A5FF-C03591D8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366DF0-8750-40D9-BE62-D5DC49AA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9B2ED-F8FA-4281-8AC1-BF34325A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정책 실험의 손실 변화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18395-CF74-41CC-B7FE-E27A7B25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B4378-BF18-4395-8085-BC98AB24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208BAEB2-3ACB-41C9-8D3E-662637AC1374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84caecf5ae441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35FF6-78DF-4E9E-AA6C-1B4061EE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질문 1개·답변 2개 · β=0.5 · lr=0.3 · θ 한 개의 수치 최적화</a:t>
            </a:r>
          </a:p>
        </p:txBody>
      </p:sp>
    </p:spTree>
    <p:extLst>
      <p:ext uri="{BB962C8B-B14F-4D97-AF65-F5344CB8AC3E}">
        <p14:creationId xmlns:p14="http://schemas.microsoft.com/office/powerpoint/2010/main" val="68289123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24B06-7F45-4C40-B46F-3790B5AC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3FE1E-25D3-4CEF-B22D-1BAE0480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F6892-30EE-4E9A-88C3-9DFC131F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선택 확률의 변화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E317C-BA0B-47E6-A1D9-E1D40743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69090-046F-41E3-BDE8-95664B81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7AEE86B1-1839-4B68-A0BC-AB58188A69EE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d0d99a46274e8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94D14B-FFD6-45F1-99E7-CBAD0E10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같은 실험의 chosen 선택 확률 · 새 질문의 정확도·안전성 검증 아님</a:t>
            </a:r>
          </a:p>
        </p:txBody>
      </p:sp>
    </p:spTree>
    <p:extLst>
      <p:ext uri="{BB962C8B-B14F-4D97-AF65-F5344CB8AC3E}">
        <p14:creationId xmlns:p14="http://schemas.microsoft.com/office/powerpoint/2010/main" val="1972458497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7F647F-436B-4A22-A35C-CF60A2B6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345E6-B9A8-434C-BCD9-04E1C8A7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51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BE814-7FA5-4575-953B-0C59892A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확인한 결과와 남은 검증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1F06B-6D3A-407A-9997-596FE973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E4B01-7114-4FC2-AA4B-9C9F6702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63B48-22E9-48D4-8B25-DB84F75E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이번 계산의 결과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85BA9-2DDB-432A-B921-BBA02C86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8412E-F2CC-490C-A119-CEE0DF06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해당 쌍의 손실·선택 확률 변화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8EFA24-31BF-4ADB-B16B-4BE85FF5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수식·갱신 구현의 동작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266A5-BFAB-4743-BDC4-1997E030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확인하지 못한 결과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80146-EF51-43F0-B03E-5468D9B4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29C14B-E320-4054-9238-7483CB91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새 질문의 사실성·유용성·안전성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27902-8FCD-4730-9624-587047A6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실제 모델 품질·GPU 비용·일반화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1431BD-C1B8-4053-8FC3-809B7770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한 쌍을 더 선호하게 된 결과와 업무 전체의 개선을 분리</a:t>
            </a:r>
          </a:p>
        </p:txBody>
      </p:sp>
    </p:spTree>
    <p:extLst>
      <p:ext uri="{BB962C8B-B14F-4D97-AF65-F5344CB8AC3E}">
        <p14:creationId xmlns:p14="http://schemas.microsoft.com/office/powerpoint/2010/main" val="79578006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1852D8-2A25-4C91-8F4B-75D13F22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12469-414E-45C9-AED5-CD7CA72F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52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4675F8-308E-45D0-91B0-9FD7BD36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DPO 실험의 재현 정보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586C0-C47F-4C0D-97D8-EFE29E96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A1E18-E38B-4CF9-A522-9A07B387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6D243-D395-485A-AD15-E6D4577692FA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항목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기록할 내용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자료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질문·쌍·선택 이유·분할·해시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모델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policy·reference·revision·Tokenizer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학습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β·학습률·길이·batch·step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평가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기준 버전·원문·실패·비용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42345-859B-4A3E-B05D-53720065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0E1DC-6A2D-4E13-9B21-17843C94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6A9C06-8FCF-4C5A-BBAD-AD273900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2D020B-2019-4056-A64F-144C79C1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6475E-9EC7-4F79-8023-D6731EA5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DC520A-520E-4DDD-ACE1-D6364BA3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C3559F-B18A-40E4-BC3B-14090ADF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Tokenizer: 문자와 토큰 ID의 변환기 · 모델·데이터와 함께 버전 관리</a:t>
            </a:r>
          </a:p>
        </p:txBody>
      </p:sp>
    </p:spTree>
    <p:extLst>
      <p:ext uri="{BB962C8B-B14F-4D97-AF65-F5344CB8AC3E}">
        <p14:creationId xmlns:p14="http://schemas.microsoft.com/office/powerpoint/2010/main" val="35756175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1728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47785-A87A-4EBD-B489-A3F18A15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rPr>
              <a:t>W07 / 53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DC45A-70DD-490D-9F10-A79BD94A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비교 평가와 배포 판단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055D5-A69E-410E-83AE-C8C2CCD1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F810F-F6D9-493D-BBC2-9E0BD53B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평균·승률 하나로 놓치는 회귀 오류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76238-5F39-484F-9590-16BB31AD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861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실제 입력의 실패 이유와 운영 비용을 함께 검토</a:t>
            </a:r>
          </a:p>
        </p:txBody>
      </p:sp>
    </p:spTree>
    <p:extLst>
      <p:ext uri="{BB962C8B-B14F-4D97-AF65-F5344CB8AC3E}">
        <p14:creationId xmlns:p14="http://schemas.microsoft.com/office/powerpoint/2010/main" val="1419169756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42251C-E5C8-455A-8487-E1718909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1F596-9A77-4949-BA9A-E35BDBBD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54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1C57E-8AF3-4B5B-9657-985CF786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공정한 비교의 조건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D5E05-1D23-4A14-B862-3EB94063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C7DAD-E043-436B-8E7C-FF8862B6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5EEF0-DD4F-4B23-97AB-51D37B31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F37BD-CB39-4075-9A44-9196F515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E2163-0B05-4CD6-9A29-29D3D9A4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1D462-A4A8-4E7A-964C-47F1CD38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고정 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996DE8-E562-4BAC-9B25-CBF25193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문서·템플릿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00970-ED0E-494B-9B92-BE038D4E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D0D4D-6E92-4B30-8284-59E2F5A2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0C20C4-145F-42DE-9CDD-ACC24FF8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응답 생성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967DD-ED9B-4FD7-8B35-91375C41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설정·버전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86FC70-FCD7-488A-812F-8464A733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C5F5C1-FD02-4212-91F5-91D729C7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FF8411-CA4F-4128-A6D2-F0EFF97F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가림 검토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D97384-4557-4C20-A88C-55577F8F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같은 평가 기준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6F18A9-70CC-42BF-A1C0-D96DEF73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4B4328-A57D-45CA-B6C8-088EF915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82FAE4-D3DA-4593-98F6-EDDCBB79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실패 기록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B50AB-8E8F-4A6F-B801-B78680FB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원문·비용·결정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34E02E-3373-4B1F-A0C3-1AA1A3A5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개발용 입력과 최종 보류 입력을 분리 · 최고 사례만 선별하지 않음</a:t>
            </a:r>
          </a:p>
        </p:txBody>
      </p:sp>
    </p:spTree>
    <p:extLst>
      <p:ext uri="{BB962C8B-B14F-4D97-AF65-F5344CB8AC3E}">
        <p14:creationId xmlns:p14="http://schemas.microsoft.com/office/powerpoint/2010/main" val="1242457623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A7E588-0DE3-4D30-9FF4-31FE85F8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6CA48-B33D-4807-80D3-A436CDA2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55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A9845-F7E7-4AF6-BF59-DD3A4A00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차원별 평가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091A8-4CE8-4BDE-BB05-C75AC828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3D2FE-7552-48A5-A5FB-E897C48E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1B374-237B-448C-977C-47095B787077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686300"/>
                <a:gridCol w="34290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차원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 방법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실패 처리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근거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주장과 원문 위치 일치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근거 부족 시 보류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형식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JSON 필수 키·구문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검사·재시도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유용성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다음 행동에 도움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안내 수정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거절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과도한 거절 여부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사유·사람 검토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09759-817D-4209-8559-72C6559F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45D3F-D6F6-4D09-BC4B-2F611D50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0CB1B6-4493-47BA-943E-8C3470B5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C1BAF0-10F7-48DC-9E45-FF15062D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6F9096-455B-453D-AEF5-03126926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0025A8-F098-4E8F-96B7-42C34A98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E8E3F9-C87F-4C27-8682-68C6D546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같은 입력·문서·생성 조건에서 평가 · 실제 원문 검토를 플래그 검사로 대체하지 않음</a:t>
            </a:r>
          </a:p>
        </p:txBody>
      </p:sp>
    </p:spTree>
    <p:extLst>
      <p:ext uri="{BB962C8B-B14F-4D97-AF65-F5344CB8AC3E}">
        <p14:creationId xmlns:p14="http://schemas.microsoft.com/office/powerpoint/2010/main" val="947738445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CEC1E-E0E9-464F-A94F-54C1C6A8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07C3F-3293-4F3F-AA0C-81821706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56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65337-27C6-407D-867C-C3E78804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합성 평가 Fixture의 실행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DDEC3-E541-433B-83DA-E546F0D9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2E486-3A5B-465D-ADBD-974AC5AC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8738BB-0AE6-45AD-99FE-2A63EB8E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17823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C9B68-6BDF-484E-827F-3F663D2A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fixtures = evaluation_fixtures()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summary = fixture_summary(fixtures)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summary["n"] == 12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print(summary["counts"])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34BF0-7BD4-4630-A95F-0A5ECDC9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Notebook 05 · Fixture: 검증용 고정 입력 · 실제 모델·사람 평가 결과 아님</a:t>
            </a:r>
          </a:p>
        </p:txBody>
      </p:sp>
    </p:spTree>
    <p:extLst>
      <p:ext uri="{BB962C8B-B14F-4D97-AF65-F5344CB8AC3E}">
        <p14:creationId xmlns:p14="http://schemas.microsoft.com/office/powerpoint/2010/main" val="896955533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765318-9E7C-422F-9A66-D0B1383E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887BEC-31CF-4B78-9D20-86FFDAC5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57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59B826-D989-4CAB-8186-6C09BFBD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12건의 수업용 규칙 집계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B693D-A6A8-4FAA-A3B1-93264A3A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05158-B7BB-4F54-99E5-68021303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23368D-6020-4D52-8374-AEA064013AAB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686300"/>
                <a:gridCol w="34290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판정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건수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의미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candidate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후보에 유리한 플래그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baseline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기준선에 유리한 플래그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tie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수업용 규칙상 동률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review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필수 조건 미충족·검토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8EB413-FB28-4EB7-A12D-9C727D5D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135F9-AA55-4295-9EBA-B65C3438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B83FA-30C5-4DFB-AF86-09AA048D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771EB9-0244-4C14-BDC9-3D215B94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93BE56-11EB-4BB5-AFEC-0FB20176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6C27CC-DEBC-4BF0-ACCA-9B8FFEA3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00E392-C24D-41A0-8364-82846341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직접 작성한 0/1 조합과 수업용 규칙 · 실제 모델 승률·학생 성적 아님</a:t>
            </a:r>
          </a:p>
        </p:txBody>
      </p:sp>
    </p:spTree>
    <p:extLst>
      <p:ext uri="{BB962C8B-B14F-4D97-AF65-F5344CB8AC3E}">
        <p14:creationId xmlns:p14="http://schemas.microsoft.com/office/powerpoint/2010/main" val="482341923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BAD1A-C9D9-42DA-A1E9-796163FF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BC23E-AAF9-4DC2-A5AA-7B64C83A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3B7B7-D9BB-4252-8DC3-ADCA857B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형식 개선과 근거 품질의 회귀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5ADEC-101B-4AB2-9CD1-B5086021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88F61-5D57-4067-9E78-B7DBF56A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F7954B50-53CF-4CD7-83F5-4D44C358BBEB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cc6dfbad124bb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886D6-1022-4BAC-84AF-0B8C1596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합성 플래그 12건 · 형식 9→11건, 근거 10→9건 · 실제 모델 품질 측정 아님</a:t>
            </a:r>
          </a:p>
        </p:txBody>
      </p:sp>
    </p:spTree>
    <p:extLst>
      <p:ext uri="{BB962C8B-B14F-4D97-AF65-F5344CB8AC3E}">
        <p14:creationId xmlns:p14="http://schemas.microsoft.com/office/powerpoint/2010/main" val="1504048352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94177A-06CD-4390-98DC-EC8A2CF6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BF89C-E141-4F7D-B682-35A76532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59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02EC9-E5A9-4DFF-ADF7-AA0DE610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회귀 사례의 검토 흐름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3966C-D809-46C5-81E8-0652D276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6F086-A1BA-4332-8F56-2B101898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01724-7A45-4E3C-ACE3-21FABC56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D3F862-3BC5-4CCF-9926-5CB5DE8A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2880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분리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6B8E7F-7137-4865-8284-386A57E3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2880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차원별 결과에서 나빠진 항목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10FF1F-B6B6-4703-B570-C6C922E4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2956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3FE977-1BA6-4347-99BF-12C815E8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D4024-E452-45BA-9BFE-EE446703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6705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원문 검토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FD60A2-C8DA-4E60-9435-0F756AED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6705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동일 입력의 근거·답변을 다시 읽기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C859AA-837F-48DC-807F-687F727E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781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9B0C87-9427-4B4B-8FB9-5F9AECB0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F98155-7C68-4007-8DCD-EA26C806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0530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판단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663270-C732-4A46-9033-F9C2998B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30530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기준 수정·자료 보완·채택 보류 기록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0E0DF4-0C07-448A-9247-55CD491C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0606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EB153A-9D57-4CD0-BA47-6EECA666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합성 예시의 근거 회귀 ID: SYN-03·SYN-12 · 실제 응답 검토는 별도 필요</a:t>
            </a:r>
          </a:p>
        </p:txBody>
      </p:sp>
    </p:spTree>
    <p:extLst>
      <p:ext uri="{BB962C8B-B14F-4D97-AF65-F5344CB8AC3E}">
        <p14:creationId xmlns:p14="http://schemas.microsoft.com/office/powerpoint/2010/main" val="1565104943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536B9D-05F6-4E47-9A4E-19499863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135E7-2C43-4201-B5F1-E6C448E1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70498-2B65-47DF-B56A-C609D882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배포 후보의 검토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10D9DA-40BF-4948-810E-92880491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74D0A-EDDB-4B91-B8AB-EA929FA7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EB8FDC-F005-4EE4-9D54-513709F2D58E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검토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필요한 근거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품질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사전 합의한 조건과 회귀 사례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비용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시간·메모리·오류·처리량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재현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Base·Adapter·입력·설정 버전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복구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이전 조합·중단 조건·담당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B7A68E-4AEF-491E-9E0B-59EEBEF0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6A589-AF00-4FDF-B028-79399DA3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E0A3A-8D00-4266-B319-707439DB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45962A-6D2B-44AF-B5C0-8F413645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7532CD-EF2B-499D-B442-90E1FBCD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E2E78E-D94E-444E-A760-00D048F7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84D932-0F8B-41A2-BDFA-6386B36E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합성 fixture만으로 배포 승인 불가 · 실제 보류 입력에서 추가 검증</a:t>
            </a:r>
          </a:p>
        </p:txBody>
      </p:sp>
    </p:spTree>
    <p:extLst>
      <p:ext uri="{BB962C8B-B14F-4D97-AF65-F5344CB8AC3E}">
        <p14:creationId xmlns:p14="http://schemas.microsoft.com/office/powerpoint/2010/main" val="789719895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277488-1703-42F6-8A91-D4208D4B3A9C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172450" y="4362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06B"/>
            </a:solidFill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472EC4-A3B5-42AA-8FD0-C51FEF3C2137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048250" y="4362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06B"/>
            </a:solidFill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213734-EE1D-4121-91EA-2F2EC940CE15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172450" y="25908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06B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6BF8E-4B60-46FD-89C6-CF499FB378CF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048250" y="25908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06B"/>
            </a:solidFill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A5426D-92A2-4DEF-A1F0-3F382775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AF6C3-F07B-47E4-A420-2E72D546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61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0D7B5-86B3-4EC6-910C-85D422CF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정상·보류·실패의 사용자 흐름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D6B0EB-F591-4A8C-A91A-062C5303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C85FD-FBD7-4DB5-A2FB-2B0D5EA8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656C97-8AB9-4D49-9E8B-3F9ECAB2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05F8EB-EC05-4E35-B3AC-D8A9A651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0025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D2FAB-D7B6-4300-A9EB-678FF071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34315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근거·형식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67386-4BBA-4036-B7FA-5007C6FB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0025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C358BB-5655-4667-9DF4-5C7A6335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4315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답변과 출처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99F9C7-3F64-488C-87D6-30E18E62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0025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3B1618-9057-418D-A18B-58231E58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4315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사용자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4A3DAD-B8D1-4A6D-B4AA-ACBB6781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보류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85C632-3FFE-47BE-9C63-FE00E68E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7190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8E7D11-F769-456C-A762-08CB9200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148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근거 부족·오류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8942E1-4A78-4DAE-A997-8E4885C7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7190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9B44D5-4853-46B3-B446-63F01F0D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사유·다음 행동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06ED00-1D08-45FF-9990-153F6929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7190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985487-2E5D-4C87-93BA-32AC0E2F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148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사람 검토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F0FD4A-C15C-427F-9FBA-93F4985F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구현 시 과도한 거절·재시도 횟수·복구 경로를 함께 설계</a:t>
            </a:r>
          </a:p>
        </p:txBody>
      </p:sp>
    </p:spTree>
    <p:extLst>
      <p:ext uri="{BB962C8B-B14F-4D97-AF65-F5344CB8AC3E}">
        <p14:creationId xmlns:p14="http://schemas.microsoft.com/office/powerpoint/2010/main" val="196600819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1728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3BEF1-6DD1-4258-9B90-5FC1767E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rPr>
              <a:t>W07 / 62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845E9-AEFF-4F2E-8709-190EF1A9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단계별 Notebook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F1F0F-1929-4620-B2D7-D1BC8F6D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831EB-507F-4990-A602-C1E9A480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Python 3.11 · 기존 .venv · 공통 requirements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3B62B-9858-4A8E-85AF-6A97043B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861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선택 핵심 셀부터 실행한 뒤 변수를 바꾸며 확장</a:t>
            </a:r>
          </a:p>
        </p:txBody>
      </p:sp>
    </p:spTree>
    <p:extLst>
      <p:ext uri="{BB962C8B-B14F-4D97-AF65-F5344CB8AC3E}">
        <p14:creationId xmlns:p14="http://schemas.microsoft.com/office/powerpoint/2010/main" val="1327708118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E4476B-B99F-480C-A4EC-D613BC14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2B5AE-3C91-498D-9056-1FF752F6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63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D966D-4E9C-492A-92AF-7CFC06D7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실습 파일과 장표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51884-9357-4F06-B68D-AD283619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494F0-AA04-4DC8-8960-7913A9FD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29A33-BCC4-4B4C-BF15-A0CB3C49C1A2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686300"/>
                <a:gridCol w="3429000"/>
              </a:tblGrid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파일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실행 내용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장표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01 · 데이터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분할·누출·Dataset Card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13–17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02 · 행렬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rank·오차·원본 고정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18–22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03 · 선호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선호쌍·DPO·단일 정책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27–52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04 · 기획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요구사항·HTML 초안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69, 71–79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05 · 워크숍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로그확률·평가 집계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38–60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CC5DF-5EF3-4DA9-96E7-28F5AD26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251FF-E285-4FD5-8A53-E2A6CCA2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0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15FC9-A9D9-4775-A2AF-F45C6B73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1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6EE58-C308-455A-A925-C2617348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A54FFD-B486-41DD-9ED4-5D0E5D15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3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7A4CC9-CF6C-47F4-AA1E-22894FA2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F57AFB-C43C-4436-99A5-20F7AC69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4540E5-2C2F-4CA5-B993-C3F37008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전체 노트북은 복습에서 확장 · 100분 수업은 핵심 셀 선택</a:t>
            </a:r>
          </a:p>
        </p:txBody>
      </p:sp>
    </p:spTree>
    <p:extLst>
      <p:ext uri="{BB962C8B-B14F-4D97-AF65-F5344CB8AC3E}">
        <p14:creationId xmlns:p14="http://schemas.microsoft.com/office/powerpoint/2010/main" val="1667090510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15A43B-9AF6-4DA2-A7A1-A61CC6CB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82036-9ED9-4673-948E-E25D17B4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64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1917B-85B3-4653-9F17-1F2670E6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VS Code 실행 순서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6B16C-0053-4EE8-A6BA-9C71AB39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54E1A-64BB-41C3-9B5F-5E9D6558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CFC413-6064-4EA5-B628-F169DE80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F5334-A301-4AC3-BE6B-79428D29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2880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루트 폴더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833CD-0F6F-4D4D-9A54-72F26049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2880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llmops-16week 전체 열기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D71B3-5EF4-4935-893C-15F32489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2956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6F9F0E-9014-4584-BE55-3AEA9F63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D02A6-1A7F-4C0A-B7D2-E82AE582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6705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커널 선택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7B594F-2721-4F19-8BD6-5B0BA255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6705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Python 3.11 · .venv 환경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DF7706-D429-4F92-8EBA-5D4EAFCB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781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715CEC-3033-4BD1-8B6D-C47639DD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280C4F-9687-427B-B9C8-5F71474D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0530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순서 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7585B7-2561-404F-8257-19AF0B21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30530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위에서 아래로 실행 후 한 변수 변경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9CCA3B-A75E-4DBC-8B5C-658F41F9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0606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78A520-ADB0-44B6-BC5E-11695E77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기존 .venv 재생성 불필요 · 설치·Windows 안내는 lab/README.md</a:t>
            </a:r>
          </a:p>
        </p:txBody>
      </p:sp>
    </p:spTree>
    <p:extLst>
      <p:ext uri="{BB962C8B-B14F-4D97-AF65-F5344CB8AC3E}">
        <p14:creationId xmlns:p14="http://schemas.microsoft.com/office/powerpoint/2010/main" val="410414183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574F5E-55DF-41FE-B8F2-DCE0B570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9B310-90EF-4BCB-B6C5-89B20A9B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65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807C4-D7F8-4CD6-A07C-3E8B2AB5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실습 01 · 자료 누출의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B2A36-A425-4181-B5C4-27F4470E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F17A8-022B-4585-A4EB-71FF9DD2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8000F-3193-465D-9BA6-B9FD463C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66D3ED-55CF-493B-82F0-8715D485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C2AE0D-3799-424C-9546-712D745B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A2FD2F-5303-43C1-8CAA-7BCAC23A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예상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3B4AD8-8CD7-47F6-A45F-79857464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같은 사건의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교차 여부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E8D51-8929-419C-9EDF-C7C14258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88EB1-C340-478B-A1E3-65EC56F6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800845-44A1-4BB8-A99B-D9BF34E9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실행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F47CDC-DD82-47DD-A375-6700C215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문장·사건별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분할 비교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9E6F1F-E034-46B4-973F-BD04BF54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F4314B-CBE2-48E5-837D-9591B9CB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C5AA47-4860-4AF8-994B-E7D75232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변경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401B5B-ADFF-4419-8144-73D4AE15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누출 자료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추가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6BFEA5-CE3B-4799-9F4C-6B687020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97D502-3380-4BCF-A58C-B8D1852D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E989E3-10D8-4842-A7D8-935FF1FB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E00A88-DF98-4EA1-B448-B504A004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검사 결과와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분할 기준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B09CEE-C237-4335-963F-E6A70689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정상 48건 · train32/dev8/test8 · 완전 중복과 같은 사건의 표현 구분</a:t>
            </a:r>
          </a:p>
        </p:txBody>
      </p:sp>
    </p:spTree>
    <p:extLst>
      <p:ext uri="{BB962C8B-B14F-4D97-AF65-F5344CB8AC3E}">
        <p14:creationId xmlns:p14="http://schemas.microsoft.com/office/powerpoint/2010/main" val="522814151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4CCE76-F82E-4113-B987-718F9A1D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61CB95-AA23-423E-83E8-67EC5498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66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1BB8A-0691-4482-8CBA-5BD8FF14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실습 02 · 원본과 근사 오차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C21C5-B90C-4450-8865-A7D53848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B503B-4442-4B1B-8B50-3B3226EB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9E77B-B601-4245-B04D-484B5CDB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17823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3A152-19A6-4B8D-9D30-712F0D75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 = rank_approximation(delta, 2)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adapted = W + result["update"]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np.array_equal(W, W_original)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print(result["factor_params"], result["relative_error"])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76D72-C729-4F60-8C6B-83FD4411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Notebook 02의 W·delta 생성 이후 실행 · SVD 근사이며 LoRA 학습 아님</a:t>
            </a:r>
          </a:p>
        </p:txBody>
      </p:sp>
    </p:spTree>
    <p:extLst>
      <p:ext uri="{BB962C8B-B14F-4D97-AF65-F5344CB8AC3E}">
        <p14:creationId xmlns:p14="http://schemas.microsoft.com/office/powerpoint/2010/main" val="2135810543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ECA553-8ECC-490A-8E8A-F5B14AD0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D1CB2-3B37-4450-BD58-5D8F3932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67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EE389-1CDA-441E-B429-D59559A5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실습 03 · 선호 손실의 변화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BCAF7-224C-405D-8E03-6321EC33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FAC4F-3F5F-4389-BD7C-400CBE04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8CEA3-9D89-4FB5-B61B-02A0945C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C5C9D-ED82-495C-89FF-54D8538E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2880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예상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DC5EC1-D7BC-4A19-8A12-6AA55DA1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2880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chosen 쪽 상대 로그확률 변화와 손실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456D4-7E38-4EE6-B9B7-82A3439F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2956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98B39D-C7D6-4027-80BB-4BA575C3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C964CB-3BF4-4310-8FD4-F29A8BDC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6705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실행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2178DF-EE4C-4D3D-9990-077423E5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6705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기준선·선호·반대 방향 비교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F92C26-8385-4C1E-80A0-FB8AFB9D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781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561DCA-2B07-4088-ABE3-9B934BED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08C6E-80C1-4D87-8949-738D3338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0530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변경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40ED4A-76FA-4F7A-B722-C28271C0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30530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β만 바꾸고 가정과 한계 기록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4EF0FB-C259-4F3B-BDDE-8F53415B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0606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D527AA-F796-40CA-977B-14C5E2D5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한 질문 정책의 결과를 새 질문의 서비스 성과로 일반화하지 않음</a:t>
            </a:r>
          </a:p>
        </p:txBody>
      </p:sp>
    </p:spTree>
    <p:extLst>
      <p:ext uri="{BB962C8B-B14F-4D97-AF65-F5344CB8AC3E}">
        <p14:creationId xmlns:p14="http://schemas.microsoft.com/office/powerpoint/2010/main" val="217923033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2CA962-3193-4C37-994C-464D324F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35064-038D-4D0B-8723-D7D0E6EA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68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BB701-9E21-43BC-94CF-94C0E326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실습 05 · 차원별 회귀 검사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FEC1A-A08D-4B45-AF3D-5DB16C1C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F6BEC-8782-4FC9-A311-16D0ADF6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510AD-A2EF-4328-9698-98C97B99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17823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029B63-F942-4CF0-B022-FB1A82DC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b = summary["rates"]["baseline"]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 = summary["rates"]["candidate"]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c["format"] &gt; b["format"]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c["evidence"] &lt; b["evidence"]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5F2AF-DB0C-419B-8BFD-EDE8B83F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Notebook 05 · 합성 입력에서 집계 해석 연습 · 실제 품질 평가는 별도</a:t>
            </a:r>
          </a:p>
        </p:txBody>
      </p:sp>
    </p:spTree>
    <p:extLst>
      <p:ext uri="{BB962C8B-B14F-4D97-AF65-F5344CB8AC3E}">
        <p14:creationId xmlns:p14="http://schemas.microsoft.com/office/powerpoint/2010/main" val="101899499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3C38F-7649-4987-8C85-035BFE5D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F738F-7FCB-4035-B1FD-8FDE1503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7F8B2-4F05-403D-989D-3B1C9027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실습 04 · 기획서 HTML 생성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41335-742D-4FEC-91F8-E9C2E4C5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92121-BC10-4D1D-A2B6-C1B2FD3F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06896-5D3C-48B7-BA0C-4F84CED6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17823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10BD9E-C3A1-4C48-9045-7CAE0D10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proposal_check(doc) == []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html = proposal_html(doc)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path = OUT / "proposal-draft.html"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path.write_text(html, encoding="utf-8")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3A845-4584-4254-ABB9-883616CF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Notebook 04의 doc 작성 이후 실행 · 항목 유무 통과와 내용 검토 구분</a:t>
            </a:r>
          </a:p>
        </p:txBody>
      </p:sp>
    </p:spTree>
    <p:extLst>
      <p:ext uri="{BB962C8B-B14F-4D97-AF65-F5344CB8AC3E}">
        <p14:creationId xmlns:p14="http://schemas.microsoft.com/office/powerpoint/2010/main" val="212302092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C0F35E-2AFD-4855-AD6C-BF840F89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6E2A3-6DD3-48ED-BB41-E5453E98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70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320F5F-D72D-4B76-B88F-6E778AF4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실행 산출물과 다음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130E3-F61C-4CBC-9084-FAACC0D4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79DDC-3BC3-48C1-A278-BF749A15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7FCA53-0D21-434E-ABA4-7004B0957DAE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760216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산출물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확인할 내용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88416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Dataset Card·행렬</a:t>
                      </a:r>
                    </a:p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보고서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자료·분할·오차·수치 실험 범위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선호·워크숍 보고서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가정·조건·단일 정책·합성 평가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기획서 HTML·JSON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문제·범위·평가·권한·복구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피드백 기록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현재 버전·질문·수정 이유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224485-FD28-49C4-B062-654F46B2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E3FF92-C84F-44BE-B468-B11AA17B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97AD7-3543-4382-ABAF-35025116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1116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E3CC4-FAF8-4CE2-AD39-AB7B1CC9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4066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523603-F030-459C-85FF-9FE99A42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7016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B26EB-CD51-47C1-BD89-CD60541B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9966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152048-5A2F-4E25-89F7-CE299867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output/validation/ 하위 로컬 출력 · 개인정보·학생 제출 원문 공개 GitHub 금지</a:t>
            </a:r>
          </a:p>
        </p:txBody>
      </p:sp>
    </p:spTree>
    <p:extLst>
      <p:ext uri="{BB962C8B-B14F-4D97-AF65-F5344CB8AC3E}">
        <p14:creationId xmlns:p14="http://schemas.microsoft.com/office/powerpoint/2010/main" val="674554948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1728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B6D67-FB0B-4187-B5F1-BE1E058F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rPr>
              <a:t>W07 / 71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632DC-FDE0-4017-A224-5299F481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프로젝트 초안과 설계 리뷰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046AF-4038-4278-9F9B-0E3C35EC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C9F41-81CF-4F0A-BBA2-0CC89947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7주차 초안 0.1과 교수 피드백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BA7A1-15F3-4558-8077-A57848C4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861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8주차 수정본 0.2의 제출물 평가 · 중간고사 없음</a:t>
            </a:r>
          </a:p>
        </p:txBody>
      </p:sp>
    </p:spTree>
    <p:extLst>
      <p:ext uri="{BB962C8B-B14F-4D97-AF65-F5344CB8AC3E}">
        <p14:creationId xmlns:p14="http://schemas.microsoft.com/office/powerpoint/2010/main" val="1997629606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0028BB-23F1-4D9C-B418-DC2508FA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FC187-110F-45F3-AC56-44F210E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72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0EA9C-FA95-4684-BC1B-F85BDBC2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팀·개인 진행과 제출 일정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5F32E-AEFA-4831-AB49-36F293B4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C6AFA-F848-4296-A292-31CAFD8D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45D7E2-91B1-49B2-9233-61CDBE0FDC40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기준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아주대AI대학원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2–4인 자율 팀 · LMS 제출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군산대·국립창원대 등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개인 진행 가능 · 공지 교수 이메일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7주차 · 10.16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초안 0.1·교수 피드백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마감 · 10.22(목)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수정본 0.2 · 23:59 한국시간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평가 · 10.23(금)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시험·실시간 수업 없이 제출물 평가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BA54AA-3122-4AD4-81FB-B25F7DD3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A0D6A-BFB9-4C86-86B7-4D22BB9B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0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43663-6EFE-4387-82B6-1004C995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1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EF26A7-2EDF-4BEF-87CE-256654A9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94AB66-AE35-44FA-B54A-F8586E83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3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2A5A99-83EF-4F20-AA35-100AD39E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A7157B-DC81-4E88-8EC0-F06B62C7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BF557A-BBF1-4ABD-BED0-660D3E36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개별 예외는 교수 승인 확인 · 팀 신청 폼과 기획서 제출함은 별개</a:t>
            </a:r>
          </a:p>
        </p:txBody>
      </p:sp>
    </p:spTree>
    <p:extLst>
      <p:ext uri="{BB962C8B-B14F-4D97-AF65-F5344CB8AC3E}">
        <p14:creationId xmlns:p14="http://schemas.microsoft.com/office/powerpoint/2010/main" val="1789965930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244043-147F-4E26-A795-EEE5E4D6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B1DCC5-98B9-4A39-900A-F1F44366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73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BB016-5236-4926-9069-65D73FCD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제안서·요구사항·발표 자료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C8773A-DACD-40D1-8119-BC869168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200CF-069B-4096-971A-23852428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6F221-9594-41BB-AC6D-826F0F0CA9EE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형식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독자가 확인할 내용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2Pager · 2쪽 요약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문제·제안·근거·검증 요청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PRD · 제품 요구사항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기능·완료 조건·실패·권한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로드맵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범위·일정·역할·완료 기준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PPT·시안·데모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핵심 구조와 실제 동작 범위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42793-94F8-410C-BE27-E1FFDE74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B6264-6943-4565-A8BB-9021A228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5F2B5-4EFF-4FE4-B4D6-CA476E68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63A6F-245F-4B4C-974F-CBC2A147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8C18DB-AC6E-4867-A608-017BFFE4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4B1562-DB24-4D5C-83B3-30EBAE6C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7C0CC9-CA80-4A37-A348-22B2E185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PRD: Product Requirements Document · 같은 내용의 중복 문서 제출 불필요</a:t>
            </a:r>
          </a:p>
        </p:txBody>
      </p:sp>
    </p:spTree>
    <p:extLst>
      <p:ext uri="{BB962C8B-B14F-4D97-AF65-F5344CB8AC3E}">
        <p14:creationId xmlns:p14="http://schemas.microsoft.com/office/powerpoint/2010/main" val="1626199545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4278A5-F345-44C2-82E7-3A03A8A1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39ADC-0354-49F6-9AC6-C70C6B12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74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0D360B-F982-4727-A380-6C42C3DE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2Pager 첫 문단의 개선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9FF13-B418-4337-8922-8E79AD60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9C35D-B017-40E4-97FF-2899236B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7B9C6-6AD3-407B-B673-4480E6BA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과정 중심 초안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23F832-2658-46BB-A8A2-CD06054F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4F61C-5459-43DD-A5CA-E73C887C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여러 AI 도구를 사용해 보았다.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DBDD4C-1627-4F6C-AD49-66A59475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제작 과정만 있고 사용자·문제가 모호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A6F1A8-589E-4B7E-9B11-5806CF14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제안 중심 초안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9836F-25E8-4C4C-BDDB-8C14E2D0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230B6E-1DD5-422C-AB02-4DCD0C6C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논증 글의 주장·근거 연결 피드백 제안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4CEEE5-220C-4580-AB82-2291A078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9311"/>
            <a:ext cx="5238750" cy="706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대상·현재 한계·최소 기능·검증을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먼저 제시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B2103C-52D4-4D0A-BD0D-08D7B8B8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합성 작성 예시 · 도구 대화와 제작 과정은 필요한 경우 부록으로 이동</a:t>
            </a:r>
          </a:p>
        </p:txBody>
      </p:sp>
    </p:spTree>
    <p:extLst>
      <p:ext uri="{BB962C8B-B14F-4D97-AF65-F5344CB8AC3E}">
        <p14:creationId xmlns:p14="http://schemas.microsoft.com/office/powerpoint/2010/main" val="474785067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255578-74AD-4337-98B2-9DEE0AAC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45033A-F466-42D4-B408-A6C0A2FE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75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4679B-A613-4C7C-B4E8-6B3115EF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PRD의 요구사항과 검증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F322A-1E3D-4C46-BB3A-CF301D07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6FC50-402F-4ADC-ADE7-C7B19DD0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6747D-ED31-437D-8414-3D99C9BCD6A4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971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686300"/>
                <a:gridCol w="34290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요구사항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 방법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실패 처리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FR01 · 근거 위치 표시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고정 입력의 인용 위치 검토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근거 부족 시 보류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FR02 · 구조화 출력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JSON 필드·구문 검사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재시도 후 검토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FR03 · 수정 제안 선택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채택·거절 동작 확인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원문 유지·되돌리기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73F40-47C5-4669-B7BA-31AC84C4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55A234-84DC-4D99-BE9E-112BC95F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CA87B8-AAB9-413C-932A-66EDF39A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32A34-68E7-455E-90A2-206A339D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ABB40E-EB4A-4163-807F-198C9FDE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328B0-813D-4676-8A0B-F956FE06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FR: Functional Requirement · 기능 요구사항 · 목표와 실제 성과 구분</a:t>
            </a:r>
          </a:p>
        </p:txBody>
      </p:sp>
    </p:spTree>
    <p:extLst>
      <p:ext uri="{BB962C8B-B14F-4D97-AF65-F5344CB8AC3E}">
        <p14:creationId xmlns:p14="http://schemas.microsoft.com/office/powerpoint/2010/main" val="1961696271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26CBD8-8EB0-429A-A76A-B7D4EFE2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F5219-0951-44AB-93AA-8D3F88F0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76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D2C17-1F5E-49D5-A69D-A0902D41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글쓰기 개선 서비스의 구조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F711B-4EAD-4231-8C88-C3B9C8B9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2131E-6F0A-4A0E-9EC0-3AB0CA47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F6C2C-2759-4B08-9F44-9701EA60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D9A02-FCB4-4F04-A795-66296B6D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92BD73-C435-46BC-A1B3-A6A31274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5F3EB3-0950-42EC-A288-1183327E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원문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276CD3-42E5-4B81-AA1E-FCFBAC8C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서론·본론·결론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D9FDAC-F76B-46E3-B419-409BE70F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FC6AF0-DC21-41C0-972D-D4439F27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C2689A-D71A-453E-B009-55C9EEAF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기준별 판단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F19019-BADC-4289-81B2-F6D93CE4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주장·근거·유창성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6CFF3A-5584-4A66-A634-E759F738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026398-415E-4A7E-A596-CA0770C4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30259C-7AB5-4B9C-89B7-B3135DB4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근거 피드백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70AC9B-5EB5-4589-990B-56871499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원문 위치·보류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D4F0B6-EDDF-4971-BD28-57157AE4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CBA100-ED32-47BB-9CFB-74AFD38A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C0A38B-1296-44EC-B8C8-3960949E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사용자 수정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E493F7-0BBB-4221-B390-24AA7EFD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채택·재검토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B880F3-A923-494E-9E93-9E8ECAA9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구조·유창성·이해도는 별도 기준으로 검토 · 학생 성적 자동 결정 제외</a:t>
            </a:r>
          </a:p>
        </p:txBody>
      </p:sp>
    </p:spTree>
    <p:extLst>
      <p:ext uri="{BB962C8B-B14F-4D97-AF65-F5344CB8AC3E}">
        <p14:creationId xmlns:p14="http://schemas.microsoft.com/office/powerpoint/2010/main" val="882353080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34F7B3-B3AA-4CA4-A08D-CA7BA002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A27AB-86AC-4237-8E6E-4DF07BE7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77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9F712-5A67-41AD-8659-A979D5A8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세 관점의 설계 리뷰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ECDE8-E98D-4BC1-96B9-AF4A2A90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6B50E-03E7-4240-8EFD-E7D9A36A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8B60A-28C1-4812-8A37-285B6A1E2261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971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686300"/>
                <a:gridCol w="34290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관점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질문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기획서의 근거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사업·대표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현재 대안보다 가치가 있는가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대상·문제·검증 계획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사용자 경험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실패·보류·수정이 이해되는가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흐름·시안·사용 범위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개발·평가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권한·비용·복구가 가능한가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자료·구현·평가·위험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020F3-FAE8-438D-8F00-211AF820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3082F-CBE4-4152-8652-B241B6DB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5EBFC-C926-4405-AB71-956915B4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FB298-5AB9-4D37-B319-4A6DDD2E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62481C-CA51-4344-8A39-F4B0E989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D8350-10E0-4E2E-BE43-15A515CB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UX: User Experience · 사용자 경험 · 프로토타입은 운영 제품 검증과 구분</a:t>
            </a:r>
          </a:p>
        </p:txBody>
      </p:sp>
    </p:spTree>
    <p:extLst>
      <p:ext uri="{BB962C8B-B14F-4D97-AF65-F5344CB8AC3E}">
        <p14:creationId xmlns:p14="http://schemas.microsoft.com/office/powerpoint/2010/main" val="137777552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CD373-4C2D-4129-B36E-B3058A53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CDDFC-A932-42AB-9487-A9EF0A65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78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413E6-1712-445F-9E17-5166947A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교수 피드백과 수정 기록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935E7-CB60-4D4C-8A82-1153191B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D1D10-93FE-49A7-A5C7-06BAAFAA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FE6FD-DC93-4C15-8DB1-C1B916BB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17823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C0494-024F-46DC-91D5-E5FB4070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feedback = {"version": "0.1", "question": doc["question"],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"professor_feedback": "미수신",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"decision": "미결정", "reason": "",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"next_evidence": ""}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22525-7161-402A-880B-F1D38FD7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Notebook 04 · 채택·보류·반박의 이유와 추가 근거를 수정본에 기록</a:t>
            </a:r>
          </a:p>
        </p:txBody>
      </p:sp>
    </p:spTree>
    <p:extLst>
      <p:ext uri="{BB962C8B-B14F-4D97-AF65-F5344CB8AC3E}">
        <p14:creationId xmlns:p14="http://schemas.microsoft.com/office/powerpoint/2010/main" val="972339210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3B7B87-A9D3-474E-8AB2-618B80F0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F9B18-7C1D-4FF0-9381-174FA71F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79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3E599F-9BDB-48EE-9916-2484F8A3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제출 전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A0B64-B7F7-4520-A083-2894971F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82440-A44C-4428-B204-6DDE4BA6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58647-C080-47AC-8BE7-BB4ED2D78752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항목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문제·범위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사용자·대안·최소 기능·제외 범위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검증·운영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보류 입력·기준·실패·권한·복구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문서 형식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PPT·Word·PDF·HTML 가능 · HWP 제외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일정·경로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10.22(목) 23:59 · LMS 또는 공지 이메일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개인정보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명단·연락처·학생 제출 원문 공개 금지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FE452-286D-44EC-BAA4-FE24B90C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8C9D8B-A871-4B66-907E-FA7B25F8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0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6918DF-8A58-41E6-8901-6B1B6F49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1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1C9A4A-B801-40AC-B0E6-CEA14EA7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5E1BB7-2DE8-42DC-BFC3-516A3E4E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3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833E5D-7BB3-4121-AEE3-1A42A381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400941-2129-47C0-BA5A-ACD36B0E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652172-EC94-4C31-86FA-D368DA71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Prototype: 핵심 동작을 확인하는 시안 · 실제 LLM·고정 응답·수동 처리 범위 명시</a:t>
            </a:r>
          </a:p>
        </p:txBody>
      </p:sp>
    </p:spTree>
    <p:extLst>
      <p:ext uri="{BB962C8B-B14F-4D97-AF65-F5344CB8AC3E}">
        <p14:creationId xmlns:p14="http://schemas.microsoft.com/office/powerpoint/2010/main" val="292995393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68D20D-9C33-4468-8F71-958AE38C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60768-D89B-4F54-A0ED-070B3730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80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55FE2-3673-4CD4-98A0-4FB7864D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출처와 재현 경로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1E659-F900-4055-81C7-03FE6C8F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3DA82-3A90-4346-A686-F32893C1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선호 데이터 · DPO · 비교 평가 · 프로젝트 기획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EAEC8-B865-4763-9799-7744331DEF53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자료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원문·실행 위치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DPO 원 논문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https://arxiv.org/abs/2305.18290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DPO 공식 문서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https://huggingface.co/docs/trl/dpo_trainer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실습 Notebook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week07/lab/notebooks · 01–05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SFT·LoRA 배경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week06 강의안 · 76쪽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9288F7-922B-4C64-8BDA-85A7B07A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2653C-E9D3-4D0C-A8B8-388083DD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38F66-E1AE-4F64-8519-90F88A08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B80391-1F4D-4299-8805-A244BA1B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F9C890-B1C5-4638-8BD5-B786DF4D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6DD16E-8A39-44D3-9B25-B866FDA4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D2A73-B8CE-48C1-B96A-1BE89469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외부 도식·계산 근거·이용 범위: lecture/assets/SOURCES.md</a:t>
            </a:r>
          </a:p>
        </p:txBody>
      </p:sp>
    </p:spTree>
    <p:extLst>
      <p:ext uri="{BB962C8B-B14F-4D97-AF65-F5344CB8AC3E}">
        <p14:creationId xmlns:p14="http://schemas.microsoft.com/office/powerpoint/2010/main" val="891069991"/>
      </p:ext>
    </p:extLst>
  </p:cSld>
</p:sld>
</file>

<file path=ppt/theme/theme1.xml><?xml version="1.0" encoding="utf-8"?>
<a:theme xmlns:a="http://schemas.openxmlformats.org/drawingml/2006/main" name="ChatGPT">
  <a:themeElements>
    <a:clrScheme name="LLMOPS EDITORIAL">
      <a:dk1>
        <a:srgbClr val="0A0B0C"/>
      </a:dk1>
      <a:lt1>
        <a:srgbClr val="FFFFFF"/>
      </a:lt1>
      <a:dk2>
        <a:srgbClr val="17283B"/>
      </a:dk2>
      <a:lt2>
        <a:srgbClr val="F7F7F5"/>
      </a:lt2>
      <a:accent1>
        <a:srgbClr val="284B72"/>
      </a:accent1>
      <a:accent2>
        <a:srgbClr val="17283B"/>
      </a:accent2>
      <a:accent3>
        <a:srgbClr val="52606B"/>
      </a:accent3>
      <a:accent4>
        <a:srgbClr val="EDF1F6"/>
      </a:accent4>
      <a:accent5>
        <a:srgbClr val="17191B"/>
      </a:accent5>
      <a:accent6>
        <a:srgbClr val="CFD5D3"/>
      </a:accent6>
      <a:hlink>
        <a:srgbClr val="284B72"/>
      </a:hlink>
      <a:folHlink>
        <a:srgbClr val="17283B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LLMOPS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2026-10-16T23:23:09.7280000Z</dcterms:created>
  <dcterms:modified xsi:type="dcterms:W3CDTF">2026-10-16T23:23:09.7280000Z</dcterms:modified>
</coreProperties>
</file>