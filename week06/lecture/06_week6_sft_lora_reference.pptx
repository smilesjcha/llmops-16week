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6a93d1d36446d8" /><Relationship Type="http://schemas.openxmlformats.org/officeDocument/2006/relationships/extended-properties" Target="/docProps/app.xml" Id="R9817904c53464d6d" /><Relationship Type="http://schemas.openxmlformats.org/officeDocument/2006/relationships/officeDocument" Target="/ppt/presentation.xml" Id="Rf54efa5cd0704ec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46413146894462a"/>
  </p:sldMasterIdLst>
  <p:notesMasterIdLst>
    <p:notesMasterId xmlns:r="http://schemas.openxmlformats.org/officeDocument/2006/relationships" r:id="R88a062bee1ad42c4"/>
  </p:notesMasterIdLst>
  <p:sldIdLst>
    <p:sldId xmlns:r="http://schemas.openxmlformats.org/officeDocument/2006/relationships" id="256" r:id="R660a3d076aeb465b"/>
    <p:sldId xmlns:r="http://schemas.openxmlformats.org/officeDocument/2006/relationships" id="257" r:id="Rf4c6d9649de14d26"/>
    <p:sldId xmlns:r="http://schemas.openxmlformats.org/officeDocument/2006/relationships" id="258" r:id="Rdebc07f0339e4dc5"/>
    <p:sldId xmlns:r="http://schemas.openxmlformats.org/officeDocument/2006/relationships" id="259" r:id="Rd0bdc187654745de"/>
    <p:sldId xmlns:r="http://schemas.openxmlformats.org/officeDocument/2006/relationships" id="260" r:id="Rf4a0af33eeae4039"/>
    <p:sldId xmlns:r="http://schemas.openxmlformats.org/officeDocument/2006/relationships" id="261" r:id="R389310e38d094d88"/>
    <p:sldId xmlns:r="http://schemas.openxmlformats.org/officeDocument/2006/relationships" id="262" r:id="R453bc5a6cb5c456d"/>
    <p:sldId xmlns:r="http://schemas.openxmlformats.org/officeDocument/2006/relationships" id="263" r:id="Ra86cf4f729314cd4"/>
    <p:sldId xmlns:r="http://schemas.openxmlformats.org/officeDocument/2006/relationships" id="264" r:id="Rebae1e91188944b8"/>
    <p:sldId xmlns:r="http://schemas.openxmlformats.org/officeDocument/2006/relationships" id="265" r:id="R2fa2a1d98d6547ee"/>
    <p:sldId xmlns:r="http://schemas.openxmlformats.org/officeDocument/2006/relationships" id="266" r:id="R308507367c8544b3"/>
    <p:sldId xmlns:r="http://schemas.openxmlformats.org/officeDocument/2006/relationships" id="267" r:id="Rec0dfe92fe8f4889"/>
    <p:sldId xmlns:r="http://schemas.openxmlformats.org/officeDocument/2006/relationships" id="268" r:id="R857991a92069496e"/>
    <p:sldId xmlns:r="http://schemas.openxmlformats.org/officeDocument/2006/relationships" id="269" r:id="Rc2106cfcd0b446c0"/>
    <p:sldId xmlns:r="http://schemas.openxmlformats.org/officeDocument/2006/relationships" id="270" r:id="R9dc7e6f1643d468b"/>
    <p:sldId xmlns:r="http://schemas.openxmlformats.org/officeDocument/2006/relationships" id="271" r:id="R1cbcf4f301ee443b"/>
    <p:sldId xmlns:r="http://schemas.openxmlformats.org/officeDocument/2006/relationships" id="272" r:id="Rc4708f71789148fe"/>
    <p:sldId xmlns:r="http://schemas.openxmlformats.org/officeDocument/2006/relationships" id="273" r:id="R24fd23e1b5f2492d"/>
    <p:sldId xmlns:r="http://schemas.openxmlformats.org/officeDocument/2006/relationships" id="274" r:id="R1a7e1f2bddcb48e0"/>
    <p:sldId xmlns:r="http://schemas.openxmlformats.org/officeDocument/2006/relationships" id="275" r:id="Rc3dc1d589e8f4f5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22304ade3354bd6" /><Relationship Type="http://schemas.openxmlformats.org/officeDocument/2006/relationships/slideMaster" Target="/ppt/slideMasters/slideMaster1.xml" Id="R546413146894462a" /><Relationship Type="http://schemas.openxmlformats.org/officeDocument/2006/relationships/notesMaster" Target="/ppt/notesMasters/notesMaster1.xml" Id="R88a062bee1ad42c4" /><Relationship Type="http://schemas.openxmlformats.org/officeDocument/2006/relationships/presProps" Target="/ppt/presProps.xml" Id="R7b5c3bb53615429a" /><Relationship Type="http://schemas.openxmlformats.org/officeDocument/2006/relationships/tableStyles" Target="/ppt/tableStyles.xml" Id="R558e66e7d58e40f9" /><Relationship Type="http://schemas.openxmlformats.org/officeDocument/2006/relationships/slide" Target="/ppt/slides/slide1.xml" Id="R660a3d076aeb465b" /><Relationship Type="http://schemas.openxmlformats.org/officeDocument/2006/relationships/slide" Target="/ppt/slides/slide2.xml" Id="Rf4c6d9649de14d26" /><Relationship Type="http://schemas.openxmlformats.org/officeDocument/2006/relationships/slide" Target="/ppt/slides/slide3.xml" Id="Rdebc07f0339e4dc5" /><Relationship Type="http://schemas.openxmlformats.org/officeDocument/2006/relationships/slide" Target="/ppt/slides/slide4.xml" Id="Rd0bdc187654745de" /><Relationship Type="http://schemas.openxmlformats.org/officeDocument/2006/relationships/slide" Target="/ppt/slides/slide5.xml" Id="Rf4a0af33eeae4039" /><Relationship Type="http://schemas.openxmlformats.org/officeDocument/2006/relationships/slide" Target="/ppt/slides/slide6.xml" Id="R389310e38d094d88" /><Relationship Type="http://schemas.openxmlformats.org/officeDocument/2006/relationships/slide" Target="/ppt/slides/slide7.xml" Id="R453bc5a6cb5c456d" /><Relationship Type="http://schemas.openxmlformats.org/officeDocument/2006/relationships/slide" Target="/ppt/slides/slide8.xml" Id="Ra86cf4f729314cd4" /><Relationship Type="http://schemas.openxmlformats.org/officeDocument/2006/relationships/slide" Target="/ppt/slides/slide9.xml" Id="Rebae1e91188944b8" /><Relationship Type="http://schemas.openxmlformats.org/officeDocument/2006/relationships/slide" Target="/ppt/slides/slide10.xml" Id="R2fa2a1d98d6547ee" /><Relationship Type="http://schemas.openxmlformats.org/officeDocument/2006/relationships/slide" Target="/ppt/slides/slide11.xml" Id="R308507367c8544b3" /><Relationship Type="http://schemas.openxmlformats.org/officeDocument/2006/relationships/slide" Target="/ppt/slides/slide12.xml" Id="Rec0dfe92fe8f4889" /><Relationship Type="http://schemas.openxmlformats.org/officeDocument/2006/relationships/slide" Target="/ppt/slides/slide13.xml" Id="R857991a92069496e" /><Relationship Type="http://schemas.openxmlformats.org/officeDocument/2006/relationships/slide" Target="/ppt/slides/slide14.xml" Id="Rc2106cfcd0b446c0" /><Relationship Type="http://schemas.openxmlformats.org/officeDocument/2006/relationships/slide" Target="/ppt/slides/slide15.xml" Id="R9dc7e6f1643d468b" /><Relationship Type="http://schemas.openxmlformats.org/officeDocument/2006/relationships/slide" Target="/ppt/slides/slide16.xml" Id="R1cbcf4f301ee443b" /><Relationship Type="http://schemas.openxmlformats.org/officeDocument/2006/relationships/slide" Target="/ppt/slides/slide17.xml" Id="Rc4708f71789148fe" /><Relationship Type="http://schemas.openxmlformats.org/officeDocument/2006/relationships/slide" Target="/ppt/slides/slide18.xml" Id="R24fd23e1b5f2492d" /><Relationship Type="http://schemas.openxmlformats.org/officeDocument/2006/relationships/slide" Target="/ppt/slides/slide19.xml" Id="R1a7e1f2bddcb48e0" /><Relationship Type="http://schemas.openxmlformats.org/officeDocument/2006/relationships/slide" Target="/ppt/slides/slide20.xml" Id="Rc3dc1d589e8f4f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6e9513a2e3e4f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LLMOPS EDITORIAL">
      <a:dk1>
        <a:srgbClr val="0A0B0C"/>
      </a:dk1>
      <a:lt1>
        <a:srgbClr val="FFFFFF"/>
      </a:lt1>
      <a:dk2>
        <a:srgbClr val="17283B"/>
      </a:dk2>
      <a:lt2>
        <a:srgbClr val="F7F7F5"/>
      </a:lt2>
      <a:accent1>
        <a:srgbClr val="006B4F"/>
      </a:accent1>
      <a:accent2>
        <a:srgbClr val="17283B"/>
      </a:accent2>
      <a:accent3>
        <a:srgbClr val="52606B"/>
      </a:accent3>
      <a:accent4>
        <a:srgbClr val="EDF3EF"/>
      </a:accent4>
      <a:accent5>
        <a:srgbClr val="17191B"/>
      </a:accent5>
      <a:accent6>
        <a:srgbClr val="CFD5D3"/>
      </a:accent6>
      <a:hlink>
        <a:srgbClr val="006B4F"/>
      </a:hlink>
      <a:folHlink>
        <a:srgbClr val="17283B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LLMOPS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942b07e776d489a" /><Relationship Type="http://schemas.openxmlformats.org/officeDocument/2006/relationships/notesMaster" Target="/ppt/notesMasters/notesMaster1.xml" Id="R68b878481012463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ffe01111dbc449a" /><Relationship Type="http://schemas.openxmlformats.org/officeDocument/2006/relationships/notesMaster" Target="/ppt/notesMasters/notesMaster1.xml" Id="Rb8829a27efc94f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8c3aa203f984782" /><Relationship Type="http://schemas.openxmlformats.org/officeDocument/2006/relationships/notesMaster" Target="/ppt/notesMasters/notesMaster1.xml" Id="R34c873d8e4894b3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0ec4717de984f8f" /><Relationship Type="http://schemas.openxmlformats.org/officeDocument/2006/relationships/notesMaster" Target="/ppt/notesMasters/notesMaster1.xml" Id="R1266119754fc40e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947c0df868b488d" /><Relationship Type="http://schemas.openxmlformats.org/officeDocument/2006/relationships/notesMaster" Target="/ppt/notesMasters/notesMaster1.xml" Id="R872c0b01e09d4c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bf2786512e34c1d" /><Relationship Type="http://schemas.openxmlformats.org/officeDocument/2006/relationships/notesMaster" Target="/ppt/notesMasters/notesMaster1.xml" Id="Rf1e41568df67461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297fcb917df4d50" /><Relationship Type="http://schemas.openxmlformats.org/officeDocument/2006/relationships/notesMaster" Target="/ppt/notesMasters/notesMaster1.xml" Id="Re86ffc8241ea453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6620ea1286f4abb" /><Relationship Type="http://schemas.openxmlformats.org/officeDocument/2006/relationships/notesMaster" Target="/ppt/notesMasters/notesMaster1.xml" Id="R3d23b99542c84c3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a77a804b3a94fa1" /><Relationship Type="http://schemas.openxmlformats.org/officeDocument/2006/relationships/notesMaster" Target="/ppt/notesMasters/notesMaster1.xml" Id="R48260ef77d864dd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c091d91dc464066" /><Relationship Type="http://schemas.openxmlformats.org/officeDocument/2006/relationships/notesMaster" Target="/ppt/notesMasters/notesMaster1.xml" Id="R6d41c91d5cde4c2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7466e0f389e4f6c" /><Relationship Type="http://schemas.openxmlformats.org/officeDocument/2006/relationships/notesMaster" Target="/ppt/notesMasters/notesMaster1.xml" Id="R209158b4a61f47c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d1ea296b4934ce7" /><Relationship Type="http://schemas.openxmlformats.org/officeDocument/2006/relationships/notesMaster" Target="/ppt/notesMasters/notesMaster1.xml" Id="R2d882f69024f402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2b1ddaab75645db" /><Relationship Type="http://schemas.openxmlformats.org/officeDocument/2006/relationships/notesMaster" Target="/ppt/notesMasters/notesMaster1.xml" Id="Rb5ad9ef0bc8d45c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3fa9aca5e8b4239" /><Relationship Type="http://schemas.openxmlformats.org/officeDocument/2006/relationships/notesMaster" Target="/ppt/notesMasters/notesMaster1.xml" Id="Re5f545f895f34e3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efe41919bb24078" /><Relationship Type="http://schemas.openxmlformats.org/officeDocument/2006/relationships/notesMaster" Target="/ppt/notesMasters/notesMaster1.xml" Id="R45f3a4883e584a7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47f16d8521b4203" /><Relationship Type="http://schemas.openxmlformats.org/officeDocument/2006/relationships/notesMaster" Target="/ppt/notesMasters/notesMaster1.xml" Id="Rb6d32039ed0d47d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8e20b7f380c4947" /><Relationship Type="http://schemas.openxmlformats.org/officeDocument/2006/relationships/notesMaster" Target="/ppt/notesMasters/notesMaster1.xml" Id="R4310534b9d8d416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4677e2e58ee4c78" /><Relationship Type="http://schemas.openxmlformats.org/officeDocument/2006/relationships/notesMaster" Target="/ppt/notesMasters/notesMaster1.xml" Id="R6e8c2e120b4b486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7bdda25a52b45b4" /><Relationship Type="http://schemas.openxmlformats.org/officeDocument/2006/relationships/notesMaster" Target="/ppt/notesMasters/notesMaster1.xml" Id="R921d8e5679dc4fe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f5b81924f0947be" /><Relationship Type="http://schemas.openxmlformats.org/officeDocument/2006/relationships/notesMaster" Target="/ppt/notesMasters/notesMaster1.xml" Id="R36c1a04d5a9249d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semester/02_AS-IS_주차별_강의_디자인_콘티.md</a:t>
            </a:r>
          </a:p>
          <a:p xmlns:a="http://schemas.openxmlformats.org/drawingml/2006/main">
            <a:r>
              <a:t>- repo:AS-IS 2025 2nd semester/practice/week06/06_lora_sft.ipynb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semester/02_AS-IS_주차별_강의_디자인_콘티.md</a:t>
            </a:r>
          </a:p>
          <a:p xmlns:a="http://schemas.openxmlformats.org/drawingml/2006/main">
            <a:r>
              <a:t>- repo:AS-IS 2025 2nd semester/practice/week06/06_lora_sft.ipynb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semester/02_AS-IS_주차별_강의_디자인_콘티.md</a:t>
            </a:r>
          </a:p>
          <a:p xmlns:a="http://schemas.openxmlformats.org/drawingml/2006/main">
            <a:r>
              <a:t>- repo:AS-IS 2025 2nd semester/practice/week06/06_lora_sft.ipynb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semester/02_AS-IS_주차별_강의_디자인_콘티.md</a:t>
            </a:r>
          </a:p>
          <a:p xmlns:a="http://schemas.openxmlformats.org/drawingml/2006/main">
            <a:r>
              <a:t>- repo:AS-IS 2025 2nd semester/practice/week06/06_lora_sft.ipynb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semester/02_AS-IS_주차별_강의_디자인_콘티.md</a:t>
            </a:r>
          </a:p>
          <a:p xmlns:a="http://schemas.openxmlformats.org/drawingml/2006/main">
            <a:r>
              <a:t>- repo:AS-IS 2025 2nd semester/practice/week06/06_lora_sft.ipynb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semester/02_AS-IS_주차별_강의_디자인_콘티.md</a:t>
            </a:r>
          </a:p>
          <a:p xmlns:a="http://schemas.openxmlformats.org/drawingml/2006/main">
            <a:r>
              <a:t>- repo:AS-IS 2025 2nd semester/practice/week06/06_lora_sft.ipynb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semester/02_AS-IS_주차별_강의_디자인_콘티.md</a:t>
            </a:r>
          </a:p>
          <a:p xmlns:a="http://schemas.openxmlformats.org/drawingml/2006/main">
            <a:r>
              <a:t>- repo:AS-IS 2025 2nd semester/practice/week06/06_lora_sft.ipynb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semester/02_AS-IS_주차별_강의_디자인_콘티.md</a:t>
            </a:r>
          </a:p>
          <a:p xmlns:a="http://schemas.openxmlformats.org/drawingml/2006/main">
            <a:r>
              <a:t>- repo:AS-IS 2025 2nd semester/practice/week06/06_lora_sft.ipynb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semester/02_AS-IS_주차별_강의_디자인_콘티.md</a:t>
            </a:r>
          </a:p>
          <a:p xmlns:a="http://schemas.openxmlformats.org/drawingml/2006/main">
            <a:r>
              <a:t>- repo:AS-IS 2025 2nd semester/practice/week06/06_lora_sft.ipynb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semester/02_AS-IS_주차별_강의_디자인_콘티.md</a:t>
            </a:r>
          </a:p>
          <a:p xmlns:a="http://schemas.openxmlformats.org/drawingml/2006/main">
            <a:r>
              <a:t>- repo:AS-IS 2025 2nd semester/practice/week06/06_lora_sft.ipynb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semester/02_AS-IS_주차별_강의_디자인_콘티.md</a:t>
            </a:r>
          </a:p>
          <a:p xmlns:a="http://schemas.openxmlformats.org/drawingml/2006/main">
            <a:r>
              <a:t>- repo:AS-IS 2025 2nd semester/practice/week06/06_lora_sft.ipynb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semester/02_AS-IS_주차별_강의_디자인_콘티.md</a:t>
            </a:r>
          </a:p>
          <a:p xmlns:a="http://schemas.openxmlformats.org/drawingml/2006/main">
            <a:r>
              <a:t>- repo:AS-IS 2025 2nd semester/practice/week06/06_lora_sft.ipynb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semester/02_AS-IS_주차별_강의_디자인_콘티.md</a:t>
            </a:r>
          </a:p>
          <a:p xmlns:a="http://schemas.openxmlformats.org/drawingml/2006/main">
            <a:r>
              <a:t>- repo:AS-IS 2025 2nd semester/practice/week06/06_lora_sft.ipynb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semester/02_AS-IS_주차별_강의_디자인_콘티.md</a:t>
            </a:r>
          </a:p>
          <a:p xmlns:a="http://schemas.openxmlformats.org/drawingml/2006/main">
            <a:r>
              <a:t>- repo:AS-IS 2025 2nd semester/practice/week06/06_lora_sft.ipynb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semester/02_AS-IS_주차별_강의_디자인_콘티.md</a:t>
            </a:r>
          </a:p>
          <a:p xmlns:a="http://schemas.openxmlformats.org/drawingml/2006/main">
            <a:r>
              <a:t>- repo:AS-IS 2025 2nd semester/practice/week06/06_lora_sft.ipynb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semester/02_AS-IS_주차별_강의_디자인_콘티.md</a:t>
            </a:r>
          </a:p>
          <a:p xmlns:a="http://schemas.openxmlformats.org/drawingml/2006/main">
            <a:r>
              <a:t>- repo:AS-IS 2025 2nd semester/practice/week06/06_lora_sft.ipynb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semester/02_AS-IS_주차별_강의_디자인_콘티.md</a:t>
            </a:r>
          </a:p>
          <a:p xmlns:a="http://schemas.openxmlformats.org/drawingml/2006/main">
            <a:r>
              <a:t>- repo:AS-IS 2025 2nd semester/practice/week06/06_lora_sft.ipynb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repo:AS-IS 2025 2nd semester/01_AS-IS_주차별_통합_강의안.md</a:t>
            </a:r>
          </a:p>
          <a:p xmlns:a="http://schemas.openxmlformats.org/drawingml/2006/main">
            <a:r>
              <a:t>- repo:AS-IS 2025 2nd semester/02_AS-IS_주차별_강의_디자인_콘티.md</a:t>
            </a:r>
          </a:p>
          <a:p xmlns:a="http://schemas.openxmlformats.org/drawingml/2006/main">
            <a:r>
              <a:t>- repo:AS-IS 2025 2nd semester/practice/week06/06_lora_sft.ipynb</a:t>
            </a:r>
          </a:p>
          <a:p xmlns:a="http://schemas.openxmlformats.org/drawingml/2006/main">
            <a:r>
              <a:t>- repo:curriculum/2026-2/00_운영_커리큘럼.md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a623d7a116440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4bce67509424ea4" /><Relationship Type="http://schemas.openxmlformats.org/officeDocument/2006/relationships/slideLayout" Target="/ppt/slideLayouts/slideLayout1.xml" Id="Re316463e176c475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16463e176c475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LLMOPS EDITORIAL">
      <a:dk1>
        <a:srgbClr val="0A0B0C"/>
      </a:dk1>
      <a:lt1>
        <a:srgbClr val="FFFFFF"/>
      </a:lt1>
      <a:dk2>
        <a:srgbClr val="17283B"/>
      </a:dk2>
      <a:lt2>
        <a:srgbClr val="F7F7F5"/>
      </a:lt2>
      <a:accent1>
        <a:srgbClr val="006B4F"/>
      </a:accent1>
      <a:accent2>
        <a:srgbClr val="17283B"/>
      </a:accent2>
      <a:accent3>
        <a:srgbClr val="52606B"/>
      </a:accent3>
      <a:accent4>
        <a:srgbClr val="EDF3EF"/>
      </a:accent4>
      <a:accent5>
        <a:srgbClr val="17191B"/>
      </a:accent5>
      <a:accent6>
        <a:srgbClr val="CFD5D3"/>
      </a:accent6>
      <a:hlink>
        <a:srgbClr val="006B4F"/>
      </a:hlink>
      <a:folHlink>
        <a:srgbClr val="17283B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LLMOPS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3a49300aaf48b3" /><Relationship Type="http://schemas.openxmlformats.org/officeDocument/2006/relationships/notesSlide" Target="/ppt/notesSlides/notesSlide1.xml" Id="Rb7b1537baf7544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922f169d0b4a8b" /><Relationship Type="http://schemas.openxmlformats.org/officeDocument/2006/relationships/notesSlide" Target="/ppt/notesSlides/notesSlide2.xml" Id="R34e7abfc3aa540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205dcc12214814" /><Relationship Type="http://schemas.openxmlformats.org/officeDocument/2006/relationships/notesSlide" Target="/ppt/notesSlides/notesSlide3.xml" Id="R94ddec5861c04d2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64344a7ad4fda" /><Relationship Type="http://schemas.openxmlformats.org/officeDocument/2006/relationships/notesSlide" Target="/ppt/notesSlides/notesSlide4.xml" Id="Rcbd2daac0b6c49b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16c35ec0764917" /><Relationship Type="http://schemas.openxmlformats.org/officeDocument/2006/relationships/notesSlide" Target="/ppt/notesSlides/notesSlide5.xml" Id="Rfb8ad86c19d744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06b2dbfe3f47f3" /><Relationship Type="http://schemas.openxmlformats.org/officeDocument/2006/relationships/notesSlide" Target="/ppt/notesSlides/notesSlide6.xml" Id="R9b6be76144514c8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879b58cabc4c7a" /><Relationship Type="http://schemas.openxmlformats.org/officeDocument/2006/relationships/notesSlide" Target="/ppt/notesSlides/notesSlide7.xml" Id="Rd6d754b2af14423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a1d658252449a7" /><Relationship Type="http://schemas.openxmlformats.org/officeDocument/2006/relationships/notesSlide" Target="/ppt/notesSlides/notesSlide8.xml" Id="Rf33301d0d15b4f8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4d62648baf470e" /><Relationship Type="http://schemas.openxmlformats.org/officeDocument/2006/relationships/notesSlide" Target="/ppt/notesSlides/notesSlide9.xml" Id="Rbab47965568d446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5a3949d34d4453" /><Relationship Type="http://schemas.openxmlformats.org/officeDocument/2006/relationships/notesSlide" Target="/ppt/notesSlides/notesSlide10.xml" Id="R110442436bb241a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a91a68a40b405a" /><Relationship Type="http://schemas.openxmlformats.org/officeDocument/2006/relationships/notesSlide" Target="/ppt/notesSlides/notesSlide11.xml" Id="R9e7b92b5ccfb497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2ab8c5c30c42c7" /><Relationship Type="http://schemas.openxmlformats.org/officeDocument/2006/relationships/notesSlide" Target="/ppt/notesSlides/notesSlide12.xml" Id="Rffdb4d01a074452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fd0f64fabc4fa7" /><Relationship Type="http://schemas.openxmlformats.org/officeDocument/2006/relationships/notesSlide" Target="/ppt/notesSlides/notesSlide13.xml" Id="R9299224df56c43e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747a30c0cd4161" /><Relationship Type="http://schemas.openxmlformats.org/officeDocument/2006/relationships/notesSlide" Target="/ppt/notesSlides/notesSlide14.xml" Id="R3a5807c5078f44d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63e898740c4fa0" /><Relationship Type="http://schemas.openxmlformats.org/officeDocument/2006/relationships/notesSlide" Target="/ppt/notesSlides/notesSlide15.xml" Id="R966d25d82f91458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5b26cfab3048c2" /><Relationship Type="http://schemas.openxmlformats.org/officeDocument/2006/relationships/notesSlide" Target="/ppt/notesSlides/notesSlide16.xml" Id="R2f37e1ebde284af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c7048fd32f4007" /><Relationship Type="http://schemas.openxmlformats.org/officeDocument/2006/relationships/notesSlide" Target="/ppt/notesSlides/notesSlide17.xml" Id="R633732284b524c6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eb8af4c8764c58" /><Relationship Type="http://schemas.openxmlformats.org/officeDocument/2006/relationships/notesSlide" Target="/ppt/notesSlides/notesSlide18.xml" Id="R046db1b1d18343e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88840f4484aa5" /><Relationship Type="http://schemas.openxmlformats.org/officeDocument/2006/relationships/notesSlide" Target="/ppt/notesSlides/notesSlide19.xml" Id="R8e3ef9ac14d5465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40a0459a6547dc" /><Relationship Type="http://schemas.openxmlformats.org/officeDocument/2006/relationships/notesSlide" Target="/ppt/notesSlides/notesSlide20.xml" Id="R24fa0a832b4d477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B0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B24DAF-6997-481F-85AD-40B5899B0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LLMOPS / WEEK 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3632AD-9C9D-45DA-9F8C-84E7804C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SFT · LoRA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191A4C-FE10-4F3D-914C-22AE9B1A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DA21B4-4CF9-4678-A7F1-7AE742A32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668000" cy="323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2025년 6주차 강의자료 재구성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5732EB-1111-423D-815B-F6401D6E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215"/>
            <a:ext cx="10668000" cy="323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2026.10.09 한글날 · 정규 수업·영상·신규 과제 없음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FBEC75-4150-491D-9F56-13A21BFD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0830"/>
            <a:ext cx="10668000" cy="3232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20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차성재 · LLMOps 통합 강좌</a:t>
            </a:r>
          </a:p>
        </p:txBody>
      </p:sp>
    </p:spTree>
    <p:extLst>
      <p:ext uri="{BB962C8B-B14F-4D97-AF65-F5344CB8AC3E}">
        <p14:creationId xmlns:p14="http://schemas.microsoft.com/office/powerpoint/2010/main" val="152870290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4D5EFE-E8B1-43F3-A90A-75D0EFA86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A1B22A-50E3-42D0-B124-31A23D13B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C1F43A-FC92-43CF-9AD7-C83F21A3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2026년 6주차 운영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4FC0BE-35BB-469B-8B04-E9A5DE10F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E97261-4374-4E89-9194-FC6DA650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2025 자료 재구성 · 2026년 6주차 정규 수업 아님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07B822-43CD-4A1D-AA88-8125BFA3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38225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4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한글날 휴일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F73D06-C1B5-4635-BD22-B5C50E47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571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AD2CE4-F8D3-4540-97E3-C648F778B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287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이 자료는 향후 강의 재사용을 위한 참고안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0FF854-CEA1-43DD-A8E9-FBE8939B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91329"/>
            <a:ext cx="10287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현행 7주차 강의 내용·과제 일정과 별개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EE7A55-725C-4612-AC37-9BE5E436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10월 9일 수업·녹화·신규 과제 없음</a:t>
            </a:r>
          </a:p>
        </p:txBody>
      </p:sp>
    </p:spTree>
    <p:extLst>
      <p:ext uri="{BB962C8B-B14F-4D97-AF65-F5344CB8AC3E}">
        <p14:creationId xmlns:p14="http://schemas.microsoft.com/office/powerpoint/2010/main" val="3389544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29A5B5-C2F9-4079-90C5-1EB3B43F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8781FB-FCD9-4504-A609-E064FE319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C38EDB-37E6-4573-8F46-CB82A0ABD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학습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2F316F-162B-41B2-8082-4943EED2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86D6CF-59CE-43A4-9C42-DE414EF2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2025 자료 재구성 · 2026년 6주차 정규 수업 아님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20540C-A62C-4E1E-8B75-FDB1FF12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006B4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006B4F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5F41E2-8FF6-4AC7-BEAA-7B7D8BBC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288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데이터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69C56E-9A0F-4009-8A04-B89B96E2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288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instruction·chat 형식, 분할, 누출 점검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774CF7-4D95-4B8A-B144-E240529BE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95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1892C9-8292-45FF-A098-1A4E20B71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006B4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006B4F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89E4F1-7492-429F-B61C-7B51AEBCE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6705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학습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C4FAE8-2474-4861-A0B6-10F00A25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6705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SFT의 목적과 LoRA 설정의 역할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F456CA-FAAA-4A5E-85F3-29A45DB3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781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D3BC98-3602-4DE9-94B9-337355B1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006B4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006B4F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54E193-2CFA-43B1-8E97-1F080AC9A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053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검증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6CBC3F-24AF-4C72-899C-8899E34C0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053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동일 입력에서 Base와 Adapter 비교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96D75A-E37D-4C5E-BA5C-46C471874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060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DA6A56-6785-4D06-9ACA-C6C2BE78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2025년 6주차 SFT·LoRA 내용을 20장으로 재구성</a:t>
            </a:r>
          </a:p>
        </p:txBody>
      </p:sp>
    </p:spTree>
    <p:extLst>
      <p:ext uri="{BB962C8B-B14F-4D97-AF65-F5344CB8AC3E}">
        <p14:creationId xmlns:p14="http://schemas.microsoft.com/office/powerpoint/2010/main" val="4683373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948AEE-9514-4416-8708-0F1145E6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431AC6-7994-45C7-BC8B-435DDDBCB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112CF8-C762-4690-8D1B-7DD8CF1A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모델 적응의 위치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A95EF2-3847-41BE-A798-49E413E7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0F2453-896A-4F24-AB0A-93451E47C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2025 자료 재구성 · 2026년 6주차 정규 수업 아님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00BC38-9799-4E43-B83B-AB0912EA2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23BCD5-6C14-4AAE-A263-B0AB31B3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5755A2-4EC3-42DF-8969-6C00A3AB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006B4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006B4F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39E69E-6795-4C97-B2E9-6D34982D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사전학습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0BBB1C-7822-484C-A0B2-62CB67C2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범용 언어 패턴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FDC546-E69E-4E9D-B27F-40CE4312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B683A9-27E2-41E7-B41A-0AE7D90F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006B4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006B4F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EC0C07-0EBE-41D8-96A0-524A71EC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지도 미세조정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20621B-2638-47CA-90A4-553C910B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입력과 기대 답변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13E836-497D-4BBA-B5E8-8665D441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CC3620-E233-4F13-9452-FD08EB09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006B4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006B4F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CA4BC8-11BE-4F4C-9A83-0C304D67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선호 최적화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7D3301-BD55-4C98-B29D-5139BE864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선택 기준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4B480F-EB2D-4CE0-9358-109C51D1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BB47AB-A7B6-44A6-BD6F-B89FE0D72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006B4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006B4F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A92BA0-EC76-48AE-859E-053682A4E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서빙·평가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79828B-91BB-45F5-A1D7-7848E64F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운영 조건 검증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0360F9-2E07-476D-B494-C91942A3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각 단계의 데이터와 판단 기준을 구분</a:t>
            </a:r>
          </a:p>
        </p:txBody>
      </p:sp>
    </p:spTree>
    <p:extLst>
      <p:ext uri="{BB962C8B-B14F-4D97-AF65-F5344CB8AC3E}">
        <p14:creationId xmlns:p14="http://schemas.microsoft.com/office/powerpoint/2010/main" val="15258203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4B7FB-CA1F-4171-ABD1-962D7F614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252DE1-9E89-4BA0-965C-37C9CA71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6AB3C9-76D1-49A3-B8B0-7CE7132BB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적응 방법의 선택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7BED13-C331-48A6-B3E1-BBFF221AF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880CD5-F069-4F62-83DF-9C986198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2025 자료 재구성 · 2026년 6주차 정규 수업 아님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9718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상황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3E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우선 검토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3E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확인할 한계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3E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지식 최신성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검색·근거 연결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자료의 버전·권한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출력 형식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프롬프트·검증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대표 입력의 일관성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반복 행동·문체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SFT·Adapter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학습 데이터·평가 비용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9E9BDF-7097-4A37-A238-E46EECF4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D082ED-7E55-4BC3-9B5A-7436EC17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D44900-E4E5-4486-84A1-3650A398E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C17359-C712-488E-BBCD-9B05825F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38A856-5713-482E-AFDE-FE415DF8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7415006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5374EA-9895-415D-BD90-C280A757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4C42CA-0642-482B-8BB2-817ADC67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1C9972-6E1B-40DE-AE18-108436FC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SFT의 학습 신호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EF4D64-6C93-40E3-9FD6-7C5A1AF0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81B739-A927-44BB-BC7F-687131DD7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2025 자료 재구성 · 2026년 6주차 정규 수업 아님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3F1D71-0D04-4A6C-ACF5-12CDB5BF5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CBB6C8-E2AD-4646-9054-3510E8BA5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사용자 입력과 기대 답변의 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876003-910F-4E0F-BE17-52A88A56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모델은 다음 토큰을 예측하도록 학습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93B9F8-A223-47CB-81DE-2A930160A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입력의 정답까지 무작정 외우게 하지 않도록 손실 범위 점검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E13C81-B5E8-4F0C-84EF-62A6AECB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SFT: Supervised Fine-Tuning · 지도 미세조정</a:t>
            </a:r>
          </a:p>
        </p:txBody>
      </p:sp>
    </p:spTree>
    <p:extLst>
      <p:ext uri="{BB962C8B-B14F-4D97-AF65-F5344CB8AC3E}">
        <p14:creationId xmlns:p14="http://schemas.microsoft.com/office/powerpoint/2010/main" val="16035484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FF1509-1533-4D1B-ADC8-D66CCC31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160DD9-EBDD-4521-B824-11E5A416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1BD8F1-ED3D-4AD7-81D1-F333976A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학습 데이터 한 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0B18A7-C18D-4BD5-A6C5-2B234458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72979A-D8B7-4011-8FA7-2B4A2F7FC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2025 자료 재구성 · 2026년 6주차 정규 수업 아님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182373-E050-4495-9D68-EA95EF4F9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70294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7CAAF8-0907-4735-8451-61373C952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6496050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{"instruction":"환불 기간 안내",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"input":"9월 주문, 반품 승인",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"response":"승인일 기준 안내 문서를 확인하세요."}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43AFA0-917F-49E6-BBCC-15F78A7F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42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업무 지식은 예시로만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D6ACED-0AC8-4F9F-9D1C-C2274A28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5280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07AB51-531B-4A15-9277-D68EC3BF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09975"/>
            <a:ext cx="3429000" cy="308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실제 고객 정보 대신 합성 사례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117B54-EB54-4133-B8A3-60D1DBC3C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80383"/>
            <a:ext cx="3429000" cy="308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문서 버전·근거는 별도 관리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90DAA0-A988-4FBD-8B79-241EF4A48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설명용 합성 자료 · 실제 정책 아님</a:t>
            </a:r>
          </a:p>
        </p:txBody>
      </p:sp>
    </p:spTree>
    <p:extLst>
      <p:ext uri="{BB962C8B-B14F-4D97-AF65-F5344CB8AC3E}">
        <p14:creationId xmlns:p14="http://schemas.microsoft.com/office/powerpoint/2010/main" val="465815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9FB046-B51B-4E07-A88B-BB8C8276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21EC76-D448-48F2-95B4-60E99D4E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331D3E-539B-4A09-95D0-668946F2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템플릿 일관성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325A2C-D52A-499C-976A-5922C59E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ECAD98-D57F-4E16-A6D3-61988743E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2025 자료 재구성 · 2026년 6주차 정규 수업 아님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1BA617-9601-4AA5-B08F-597241D64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006B4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006B4F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67F5B2-9A18-4EEE-AF1C-45FC6C45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288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학습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9C1480-CAF4-4445-A824-B45BA3C3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288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instruction·input·response 경계 고정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EC88F-7CEA-4911-B9D2-4F2F6B87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95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290F5F-C079-4001-A5D8-6A0F3935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006B4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006B4F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FF6BEC-D979-4E80-AD7B-FD823AB2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6705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추론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FBD2A4-B2BA-494F-9FAA-EFA1D22D6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6705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동일한 역할·종료 토큰 적용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835E97-C75C-4A21-B7CA-49105E202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781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9ADAE3-46EB-4CB8-804A-DA3345963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006B4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006B4F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ACC4A1-4A9D-4BC4-BEDE-471E0D81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053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ACA505-00CB-400C-BAB0-F369B490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053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Base와 Adapter에 같은 입력 적용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083AA0-5C47-47BC-8C30-063DCDF9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060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A5812F-733E-4844-B9C8-9C8714F3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학습·평가·서빙에서 형식 불일치 방지</a:t>
            </a:r>
          </a:p>
        </p:txBody>
      </p:sp>
    </p:spTree>
    <p:extLst>
      <p:ext uri="{BB962C8B-B14F-4D97-AF65-F5344CB8AC3E}">
        <p14:creationId xmlns:p14="http://schemas.microsoft.com/office/powerpoint/2010/main" val="5545346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3D83D6-6B08-46FD-8D5B-9C7F21226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F842DC-D660-4422-A231-0F93EBB0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943084-3429-4E0A-92A8-39BE9278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손실 마스킹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632572-1BB2-414B-9DB7-F5343591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F36A20-32DE-4E76-82FC-125EF3CBB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2025 자료 재구성 · 2026년 6주차 정규 수업 아님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AD7FAB-AE37-4AE9-AE7D-F10B27C4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입력까지 학습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CB1178-A82A-4FD2-A4A4-3351823D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733ABE-9B95-421D-B956-E231DEC28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질문 형식이 손실에 포함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2B3AE-327F-49B8-A7F6-0DC0CBE2A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답변 성능 평가가 흐려질 수 있음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7C09F8-25DD-4767-9F77-1AB6CD3C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57400"/>
            <a:ext cx="5295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9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답변 구간 중심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CD7A04-7E9F-492F-AE47-C3E14081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2A9A8C-2733-45CE-8F74-97B381BCA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기대 답변 토큰만 손실 계산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76F278-0738-4441-BFD3-A48B9148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39311"/>
            <a:ext cx="523875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설계한 템플릿과 마스킹 확인</a:t>
            </a:r>
          </a:p>
        </p:txBody>
      </p:sp>
    </p:spTree>
    <p:extLst>
      <p:ext uri="{BB962C8B-B14F-4D97-AF65-F5344CB8AC3E}">
        <p14:creationId xmlns:p14="http://schemas.microsoft.com/office/powerpoint/2010/main" val="21424165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894748-EA26-4AB3-846D-A341ECA03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6BE71A-309C-43FA-91EB-51F11EF0C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5B2D7D-185D-428A-B6C3-6806A5BAE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데이터 분할과 누출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2E3497-26BF-466D-A2BD-21433581A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61FAB2-356D-4069-87E1-A378A8E8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2025 자료 재구성 · 2026년 6주차 정규 수업 아님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3E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위험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3E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최소 확인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3E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문장 중복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검증 결과 과대평가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해시·유사 문장 점검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동일 사건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표현만 다른 사례의 누출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사건 단위 분할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시간 역전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미래 정보로 과거 평가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기준일 기록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길이 분포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잘림과 형식 붕괴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토큰 길이 요약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0B0C58-B4AC-42E8-9F62-F7B47C232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9FD8D8-05DF-498D-A20E-7133CB2E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280921-5CE4-4EE1-9429-EFFBAA2B2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3E640E-A747-4C36-8D5C-B98566B9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74CBB2-A3BE-4974-9928-CFEC9C585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1CFA54-DD56-4C9A-A5D1-5F889F277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9210430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728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B95553-124E-427E-852A-F84B2F52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BDC7C4"/>
                </a:solidFill>
                <a:latin typeface="AppleGothic"/>
                <a:ea typeface="AppleGothic"/>
                <a:cs typeface="AppleGothic"/>
              </a:rPr>
              <a:t>W06 / 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78C539-FA30-4234-A83A-DC9A8976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LoRA와 자원 선택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D22387-BDDF-4B1D-85AA-385B59BD2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9C4384-4BBF-4526-B210-80C27B12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전체 가중치 대신 작은 Adapter 학습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6EFD02-7973-4A49-B15A-16A3D2CC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9861"/>
            <a:ext cx="10972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300" b="0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품질·메모리·운영 복잡도의 교환</a:t>
            </a:r>
          </a:p>
        </p:txBody>
      </p:sp>
    </p:spTree>
    <p:extLst>
      <p:ext uri="{BB962C8B-B14F-4D97-AF65-F5344CB8AC3E}">
        <p14:creationId xmlns:p14="http://schemas.microsoft.com/office/powerpoint/2010/main" val="184536906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9CEE4D-C846-4E18-A387-765D2CB0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FF4CA1-9F3A-4A88-843C-E23DB0A2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A70365-580E-4788-9DA1-601B85C43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LoRA의 핵심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586841-9779-439A-91DD-1D67B1AEA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E24AAE-2004-4D1E-89C1-514F7187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2025 자료 재구성 · 2026년 6주차 정규 수업 아님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A9A5EE-3FB1-4F79-AC0A-C6DA62FD2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38225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4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기존 가중치는 고정, 변화량만 학습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4629FB-EA92-4FD7-9086-6E2B03DF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571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3F59B0-876A-443A-AA94-BD8E5A3A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287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낮은 rank의 두 행렬로 업데이트 표현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7EF4E0-4C5D-4DAC-8117-2DE3CD5E7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91329"/>
            <a:ext cx="10287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rank가 커질수록 학습 파라미터와 자원 증가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05D15F-3F48-4E7C-9318-9EFF0EB47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성능 향상은 데이터·평가 조건에 따라 별도 확인</a:t>
            </a:r>
          </a:p>
        </p:txBody>
      </p:sp>
    </p:spTree>
    <p:extLst>
      <p:ext uri="{BB962C8B-B14F-4D97-AF65-F5344CB8AC3E}">
        <p14:creationId xmlns:p14="http://schemas.microsoft.com/office/powerpoint/2010/main" val="195975218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220659-59A3-4D95-A899-E50E57C0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C7B912-C42B-45C3-88FA-B53D18B5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4A8FC8-35DB-420F-9889-B46A061C8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Adapter 적용 흐름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E582F2-294F-4282-8361-0B357023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DD6A3C-AB85-4259-8293-22287DB8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2025 자료 재구성 · 2026년 6주차 정규 수업 아님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D24B22-7704-4EB0-A828-68F8FAA43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5D0B89-AF64-4C4C-B270-B3AED7EC9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02FB51-19DB-42BD-A69B-AB9A8BD0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006B4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006B4F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96CC94-DD1C-4386-84FB-6C04CA98A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Base 모델 고정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E80929-34BA-4EC3-B9CD-A42FB71C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기존 가중치 유지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70E7D6-FEBF-4F21-89AF-F2D55CFD1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0C88B5-F2CB-43F3-920C-7F0FA523A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006B4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006B4F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9822A6-9959-4265-9FBD-E6D9D65C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대상 모듈 선택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73AA5D-BB3D-4C71-8BED-26F48E07B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모델 구조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009CA0-3478-4265-AFD6-BD6AF85D9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2BE10E-09F4-4DF3-9DB4-AF71B036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006B4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006B4F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4DFE0B-B687-4583-BADC-D6142A9E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LoRA 학습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957083-EFA4-4324-8F57-BFA60ABDE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작은 변화량 갱신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089651-9059-4970-84B9-D1F96CE0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57475"/>
            <a:ext cx="1524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92294F-A425-48A4-8174-0F9EA11D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9550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006B4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006B4F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D3F466-77F0-4C84-B755-FDF974522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6705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5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Adapter 보존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9202AD-0B15-46F8-A66C-7126FD6C8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029075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Base와 함께 버전 기록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A67575-CD65-4333-AFC6-64AE886D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추론 시 Base와 Adapter의 조합·버전 기록</a:t>
            </a:r>
          </a:p>
        </p:txBody>
      </p:sp>
    </p:spTree>
    <p:extLst>
      <p:ext uri="{BB962C8B-B14F-4D97-AF65-F5344CB8AC3E}">
        <p14:creationId xmlns:p14="http://schemas.microsoft.com/office/powerpoint/2010/main" val="29354216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43FF28-EBEA-4611-9ADF-7B1318E0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0FBF12-8625-45C7-B6CC-FA8B47962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1A61ED-4EDE-486E-A7A1-55F9727F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미세조정 방식 비교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94D43A-CD30-40D5-ABD3-E73EF4229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CBFB40-D2F8-4CDC-AE8B-073DC919E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2025 자료 재구성 · 2026년 6주차 정규 수업 아님</a:t>
            </a:r>
          </a:p>
        </p:txBody>
      </p:sp>
      <p:graphicFrame>
        <p:nvGraphicFramePr>
          <p:cNvPr id="17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29718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방식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3E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학습 대상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3E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실무 확인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3E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전체 미세조정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모델 가중치 다수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자원·저장 비용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LoRA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저차원 Adapter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rank·alpha·대상 모듈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QLoRA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양자화 Base + Adapter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지원 환경·정밀도·속도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D80A92-33A4-4B15-8A33-3B4C74A17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9EEDC8-FFC8-46F4-ADBA-6AF90D52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CB6669-CC08-4336-AC92-8517CE829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F19C37-909A-4C63-BD27-03CECFEB2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BBA185-E203-4609-8A24-9212C4F8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135274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4BD390-A1E1-4647-B86A-F63BF9BC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E8EA39-3F5D-453E-A268-CFA32B114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E1738D-E015-4F28-8138-D7C26E8E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LoRA 설정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D82F27-9BA8-4AB7-9D1E-6A080D3BA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27E1C2-48D9-4D91-836F-36E3DD662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2025 자료 재구성 · 2026년 6주차 정규 수업 아님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062DF0-4B40-4CCC-B47B-5F2845D0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70294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141517-892C-4AB3-9735-699A072D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6496050" cy="308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 = 8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lora_alpha = 16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target_modules = ["q_proj", "v_proj"]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seed = 42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4518DD-3E0D-447A-9EA4-564A199E5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42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설정값의 역할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279959-5FF6-4987-BE70-289B1823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5280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86311D-A379-4751-BE4D-9F941922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09975"/>
            <a:ext cx="3429000" cy="308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rank·alpha: 변화량의 크기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FC3466-3E8B-4BBA-A3B3-D7A46EE9C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80383"/>
            <a:ext cx="3429000" cy="308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target_modules: 적용 대상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431FF2-8485-4E9D-90B1-6D164843D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50791"/>
            <a:ext cx="3429000" cy="3084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9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seed: 재현 조건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E2D244-2497-40C7-9489-AFD69CFCE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2025 보존 실습의 예시 · 모델 구조에 맞게 대상 모듈 확인</a:t>
            </a:r>
          </a:p>
        </p:txBody>
      </p:sp>
    </p:spTree>
    <p:extLst>
      <p:ext uri="{BB962C8B-B14F-4D97-AF65-F5344CB8AC3E}">
        <p14:creationId xmlns:p14="http://schemas.microsoft.com/office/powerpoint/2010/main" val="166525506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010354-9DCB-4BCF-AAA0-63299D42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551E1E-D1D0-4515-A4B3-1ED735FE1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6434D1-E281-46FD-B5F8-559CFB047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재현성 기록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99D5FC-3E2A-4680-A10F-50260D8A7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462CAC-7CC0-4F73-82BF-6F41072A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2025 자료 재구성 · 2026년 6주차 정규 수업 아님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E0C7C5-CAE3-48F5-A49B-71988BDF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006B4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006B4F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1039EB-7AE9-4034-A13F-713F4824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8288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데이터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B88F12-3C18-4D5A-8A36-6C936CCE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8288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스키마·분할·해시·사용 허가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7D64DA-8E73-4418-B205-AE65D323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3295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3ADEFF-1637-40AA-8435-06B1F04D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006B4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006B4F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2E8C53-7812-4A31-B93F-50C172BE0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6705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33B5D7-228A-43E1-AE69-5FEFD961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6705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모델·토크나이저·설정·seed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A77B15-1E7A-4BC9-B5C3-A357E665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56781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EED8BB-1E98-4D40-9365-020892D1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800" b="0">
                <a:solidFill>
                  <a:srgbClr val="006B4F"/>
                </a:solidFill>
                <a:latin typeface="Menlo"/>
                <a:ea typeface="Menlo"/>
                <a:cs typeface="Menlo"/>
              </a:defRPr>
            </a:pPr>
            <a:r>
              <a:rPr sz="1800" b="0">
                <a:solidFill>
                  <a:srgbClr val="006B4F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CBFA18-4DAF-4AF1-A02C-C2279253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05300"/>
            <a:ext cx="3000375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산출물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E99DE7-D32D-489A-9CBF-9E9C2200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05300"/>
            <a:ext cx="6781800" cy="3674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Adapter·로그·평가표·실패 사례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81958D-861F-43F2-B70A-B76322E8C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06061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0B25E3-62FA-47F8-A4C0-675CB4D38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기록이 없으면 Base와 Adapter의 변화 원인을 분리하기 어려움</a:t>
            </a:r>
          </a:p>
        </p:txBody>
      </p:sp>
    </p:spTree>
    <p:extLst>
      <p:ext uri="{BB962C8B-B14F-4D97-AF65-F5344CB8AC3E}">
        <p14:creationId xmlns:p14="http://schemas.microsoft.com/office/powerpoint/2010/main" val="38459773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CE8138-21FF-4E76-9FDE-B6489D0DD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C2B3FD-C0B6-4A42-BA13-EC17BE5F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8EAA2C-E450-4CD3-9D74-E7C5C251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Base와 Adapter 평가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F2407A-574C-4D25-80A3-CB2E37AA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FE26CC-306A-443C-80B5-9A8F57B2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2025 자료 재구성 · 2026년 6주차 정규 수업 아님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09600" y="18097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4686300"/>
                <a:gridCol w="3429000"/>
              </a:tblGrid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검사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3E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동일 조건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3E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283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기록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EDF3E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대표 입력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프롬프트·온도·길이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응답 원문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형식 준수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출력 스키마·금지 항목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통과·실패 사유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근거 정확성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참조 자료·기준일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오류 유형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1">
                          <a:solidFill>
                            <a:srgbClr val="17191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운영 비용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환경·반복 횟수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133350" tIns="114300" rIns="133350" bIns="114300">
                      <a:noAutofit/>
                    </a:bodyPr>
                    <a:lstStyle/>
                    <a:p>
                      <a:r>
                        <a:rPr sz="1900" b="0">
                          <a:solidFill>
                            <a:srgbClr val="52606B"/>
                          </a:solidFill>
                          <a:latin typeface="AppleGothic"/>
                          <a:ea typeface="AppleGothic"/>
                          <a:cs typeface="AppleGothic"/>
                        </a:rPr>
                        <a:t>시간·메모리</a:t>
                      </a:r>
                    </a:p>
                  </a:txBody>
                  <a:tcPr marL="91440" marR="91440" marT="45720" marB="4572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DC0BBC-C43A-4A6F-9880-421FB5B7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DE4B0B-7D76-4898-B54C-F2BEFEAE6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888542-91AF-4664-9913-9E25C0049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200077-7B69-40CB-97F0-1BC10D466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A769D-9632-46AE-B8F5-73DB58A92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226F25-4C85-4CAA-84BA-037B3996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83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069978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6F0F7A-4A56-4CE7-97AA-BF422403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70CD79-A049-4ECF-ACEB-7901B8232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590B2E-005E-4310-AC73-881E37DD4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실패 유형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0077B5-D568-4478-B808-C8E93A7A7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477519-B782-42B5-8871-D2F5595F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2025 자료 재구성 · 2026년 6주차 정규 수업 아님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14157-180E-4687-AE62-6DB6C47C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4689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8B33E6-E12E-4DEB-99EC-C89E6505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42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학습 손실 감소만으로 사용 품질을 판단할 수 없음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1D9702-41E2-4F46-84F6-204EDEBC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3789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과적합·형식 붕괴·근거 없는 답변을 따로 분류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C1EF60-D67C-40D7-B2C0-053CFC6E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6536"/>
            <a:ext cx="10477500" cy="337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검증 입력을 바꾸지 않은 재실험은 독립 검증이 아님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647496-462E-4AFE-B91F-64D130714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정량 결과와 수작업 검토의 기록을 함께 보존</a:t>
            </a:r>
          </a:p>
        </p:txBody>
      </p:sp>
    </p:spTree>
    <p:extLst>
      <p:ext uri="{BB962C8B-B14F-4D97-AF65-F5344CB8AC3E}">
        <p14:creationId xmlns:p14="http://schemas.microsoft.com/office/powerpoint/2010/main" val="118648133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EE5B90-F23D-414D-B96D-1A5CE5C3F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EA511B-7BCE-4D7C-85B7-0D98071D6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408FEE-B631-4CBA-AF89-DC3C46D8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참고 실습의 산출물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114B59-EA33-4FE2-9EBE-7956F8274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AD094C-9766-4246-8339-EC8A3760F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2025 자료 재구성 · 2026년 6주차 정규 수업 아님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4ECB87-C7C6-47B6-9427-B1D41ABC0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38225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43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43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설정 파일 + Adapter + 비교표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6861E6-BC3D-4CEB-A7C2-1EF8F313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571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C4A5C4-93F7-4F31-895D-557DFAF9B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287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학습 실행은 GPU·모델 다운로드·의존성 확인 후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A53862-6B03-44E0-8846-47C24F62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91329"/>
            <a:ext cx="10287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본 참고안은 기존 2025 실습 파일을 수정하거나 재실행하지 않음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1FCDD7-9A35-42EB-982C-1F119C722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6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AS-IS 보존 자료의 실행 전 환경 검증 필요</a:t>
            </a:r>
          </a:p>
        </p:txBody>
      </p:sp>
    </p:spTree>
    <p:extLst>
      <p:ext uri="{BB962C8B-B14F-4D97-AF65-F5344CB8AC3E}">
        <p14:creationId xmlns:p14="http://schemas.microsoft.com/office/powerpoint/2010/main" val="83460709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5AFD5F-1150-4351-B82F-8184147F3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LLMOPS / W06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171A34-F127-49A3-B757-AB200F36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476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Menlo"/>
                <a:ea typeface="Menlo"/>
                <a:cs typeface="Menlo"/>
              </a:defRPr>
            </a:pPr>
            <a:r>
              <a:rPr sz="1400" b="0">
                <a:solidFill>
                  <a:srgbClr val="52606B"/>
                </a:solidFill>
                <a:latin typeface="Menlo"/>
                <a:ea typeface="Menlo"/>
                <a:cs typeface="Menlo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C24D10-2D2C-46B2-8CF3-8B32BDBA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34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근거 자료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8C33D5-24AF-4A50-87ED-CFCC0F64E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811A35-AF35-4921-AFD0-BA41DDF1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14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2025 자료 재구성 · 2026년 6주차 정규 수업 아님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2D2AD2-A450-45BB-8FA6-59A8A8ED5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7191B"/>
                </a:solidFill>
                <a:latin typeface="AppleGothic"/>
                <a:ea typeface="AppleGothic"/>
                <a:cs typeface="AppleGothic"/>
              </a:rPr>
              <a:t>2025년 6주차 SFT·LoRA 보존본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09B034-C073-43AD-9C9A-943212114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5D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9639CA-9DCB-4CBB-95CD-56BB610B4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통합 강의안 · 원본 슬라이드 콘티 · 실습 notebook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A59107-99F7-4E1A-8EEA-593C8671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304"/>
            <a:ext cx="10668000" cy="3526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defRPr>
            </a:pPr>
            <a:r>
              <a:rPr sz="2200" b="0">
                <a:solidFill>
                  <a:srgbClr val="52606B"/>
                </a:solidFill>
                <a:latin typeface="AppleGothic"/>
                <a:ea typeface="AppleGothic"/>
                <a:cs typeface="AppleGothic"/>
              </a:rPr>
              <a:t>2026년 2학기 일정은 별도 운영 커리큘럼 기준</a:t>
            </a:r>
          </a:p>
        </p:txBody>
      </p:sp>
    </p:spTree>
    <p:extLst>
      <p:ext uri="{BB962C8B-B14F-4D97-AF65-F5344CB8AC3E}">
        <p14:creationId xmlns:p14="http://schemas.microsoft.com/office/powerpoint/2010/main" val="1381759818"/>
      </p:ext>
    </p:extLst>
  </p:cSld>
</p:sld>
</file>

<file path=ppt/theme/theme1.xml><?xml version="1.0" encoding="utf-8"?>
<a:theme xmlns:a="http://schemas.openxmlformats.org/drawingml/2006/main" name="ChatGPT">
  <a:themeElements>
    <a:clrScheme name="LLMOPS EDITORIAL">
      <a:dk1>
        <a:srgbClr val="0A0B0C"/>
      </a:dk1>
      <a:lt1>
        <a:srgbClr val="FFFFFF"/>
      </a:lt1>
      <a:dk2>
        <a:srgbClr val="17283B"/>
      </a:dk2>
      <a:lt2>
        <a:srgbClr val="F7F7F5"/>
      </a:lt2>
      <a:accent1>
        <a:srgbClr val="006B4F"/>
      </a:accent1>
      <a:accent2>
        <a:srgbClr val="17283B"/>
      </a:accent2>
      <a:accent3>
        <a:srgbClr val="52606B"/>
      </a:accent3>
      <a:accent4>
        <a:srgbClr val="EDF3EF"/>
      </a:accent4>
      <a:accent5>
        <a:srgbClr val="17191B"/>
      </a:accent5>
      <a:accent6>
        <a:srgbClr val="CFD5D3"/>
      </a:accent6>
      <a:hlink>
        <a:srgbClr val="006B4F"/>
      </a:hlink>
      <a:folHlink>
        <a:srgbClr val="17283B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LLMOPS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2026-10-04T15:00:07.5010000Z</dcterms:created>
  <dcterms:modified xsi:type="dcterms:W3CDTF">2026-10-04T15:00:07.5010000Z</dcterms:modified>
</coreProperties>
</file>