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charts/chart1.xml" ContentType="application/vnd.openxmlformats-officedocument.drawingml.char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slides/charts/chart2.xml" ContentType="application/vnd.openxmlformats-officedocument.drawingml.chart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slides/charts/chart3.xml" ContentType="application/vnd.openxmlformats-officedocument.drawingml.chart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slides/charts/chart4.xml" ContentType="application/vnd.openxmlformats-officedocument.drawingml.chart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slides/charts/chart5.xml" ContentType="application/vnd.openxmlformats-officedocument.drawingml.chart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2396de271f4d0f" /><Relationship Type="http://schemas.openxmlformats.org/officeDocument/2006/relationships/extended-properties" Target="/docProps/app.xml" Id="R9a531d083ad64d63" /><Relationship Type="http://schemas.openxmlformats.org/officeDocument/2006/relationships/officeDocument" Target="/ppt/presentation.xml" Id="Rad6ac0dc9d4944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878d17e2334c6f"/>
  </p:sldMasterIdLst>
  <p:notesMasterIdLst>
    <p:notesMasterId xmlns:r="http://schemas.openxmlformats.org/officeDocument/2006/relationships" r:id="R8c9542753a274163"/>
  </p:notesMasterIdLst>
  <p:sldIdLst>
    <p:sldId xmlns:r="http://schemas.openxmlformats.org/officeDocument/2006/relationships" id="256" r:id="R707feff6b5d34846"/>
    <p:sldId xmlns:r="http://schemas.openxmlformats.org/officeDocument/2006/relationships" id="257" r:id="Rfadf9e0ebe4f4c23"/>
    <p:sldId xmlns:r="http://schemas.openxmlformats.org/officeDocument/2006/relationships" id="258" r:id="R29a003fe953d4862"/>
    <p:sldId xmlns:r="http://schemas.openxmlformats.org/officeDocument/2006/relationships" id="259" r:id="Rd9749a9617c84789"/>
    <p:sldId xmlns:r="http://schemas.openxmlformats.org/officeDocument/2006/relationships" id="260" r:id="Raef4cdba24444166"/>
    <p:sldId xmlns:r="http://schemas.openxmlformats.org/officeDocument/2006/relationships" id="261" r:id="Rfd9cbcdd9abf4183"/>
    <p:sldId xmlns:r="http://schemas.openxmlformats.org/officeDocument/2006/relationships" id="262" r:id="Rb3f113d02d804d42"/>
    <p:sldId xmlns:r="http://schemas.openxmlformats.org/officeDocument/2006/relationships" id="263" r:id="R67969138f4244e0a"/>
    <p:sldId xmlns:r="http://schemas.openxmlformats.org/officeDocument/2006/relationships" id="264" r:id="R48b1a23cf31e4406"/>
    <p:sldId xmlns:r="http://schemas.openxmlformats.org/officeDocument/2006/relationships" id="265" r:id="R3d4a7a6ef89541a3"/>
    <p:sldId xmlns:r="http://schemas.openxmlformats.org/officeDocument/2006/relationships" id="266" r:id="Rb00abc2440a749b0"/>
    <p:sldId xmlns:r="http://schemas.openxmlformats.org/officeDocument/2006/relationships" id="267" r:id="R2264c166c8c34272"/>
    <p:sldId xmlns:r="http://schemas.openxmlformats.org/officeDocument/2006/relationships" id="268" r:id="R6d5c82ea5bd0474b"/>
    <p:sldId xmlns:r="http://schemas.openxmlformats.org/officeDocument/2006/relationships" id="269" r:id="R219e41e32c6f48c9"/>
    <p:sldId xmlns:r="http://schemas.openxmlformats.org/officeDocument/2006/relationships" id="270" r:id="R105633b33a0c47fd"/>
    <p:sldId xmlns:r="http://schemas.openxmlformats.org/officeDocument/2006/relationships" id="271" r:id="Re34de631876f47d5"/>
    <p:sldId xmlns:r="http://schemas.openxmlformats.org/officeDocument/2006/relationships" id="272" r:id="R4b896107e0154ef0"/>
    <p:sldId xmlns:r="http://schemas.openxmlformats.org/officeDocument/2006/relationships" id="273" r:id="Ra2b9b10de049466e"/>
    <p:sldId xmlns:r="http://schemas.openxmlformats.org/officeDocument/2006/relationships" id="274" r:id="Rd3edab3516ae4d2d"/>
    <p:sldId xmlns:r="http://schemas.openxmlformats.org/officeDocument/2006/relationships" id="275" r:id="R9b1e25c74af44477"/>
    <p:sldId xmlns:r="http://schemas.openxmlformats.org/officeDocument/2006/relationships" id="276" r:id="R82e5fd8a5f744a66"/>
    <p:sldId xmlns:r="http://schemas.openxmlformats.org/officeDocument/2006/relationships" id="277" r:id="R281ce551d6564b4c"/>
    <p:sldId xmlns:r="http://schemas.openxmlformats.org/officeDocument/2006/relationships" id="278" r:id="R6594da20f146411e"/>
    <p:sldId xmlns:r="http://schemas.openxmlformats.org/officeDocument/2006/relationships" id="279" r:id="Rf0e5a32fb374464b"/>
    <p:sldId xmlns:r="http://schemas.openxmlformats.org/officeDocument/2006/relationships" id="280" r:id="Reb99b58070b2435a"/>
    <p:sldId xmlns:r="http://schemas.openxmlformats.org/officeDocument/2006/relationships" id="281" r:id="Rac7e2134d3804875"/>
    <p:sldId xmlns:r="http://schemas.openxmlformats.org/officeDocument/2006/relationships" id="282" r:id="R81f21c7ae4ec43cf"/>
    <p:sldId xmlns:r="http://schemas.openxmlformats.org/officeDocument/2006/relationships" id="283" r:id="Rbdcb1c60cc004c59"/>
    <p:sldId xmlns:r="http://schemas.openxmlformats.org/officeDocument/2006/relationships" id="284" r:id="R70ec2d9dae3c4cf0"/>
    <p:sldId xmlns:r="http://schemas.openxmlformats.org/officeDocument/2006/relationships" id="285" r:id="Rd5d0f94d1ef64a38"/>
    <p:sldId xmlns:r="http://schemas.openxmlformats.org/officeDocument/2006/relationships" id="286" r:id="R0be2318adddb4afa"/>
    <p:sldId xmlns:r="http://schemas.openxmlformats.org/officeDocument/2006/relationships" id="287" r:id="R0820e1aa3f254a7b"/>
    <p:sldId xmlns:r="http://schemas.openxmlformats.org/officeDocument/2006/relationships" id="288" r:id="R14c2dd5581ab471a"/>
    <p:sldId xmlns:r="http://schemas.openxmlformats.org/officeDocument/2006/relationships" id="289" r:id="R59e69cd463c142e7"/>
    <p:sldId xmlns:r="http://schemas.openxmlformats.org/officeDocument/2006/relationships" id="290" r:id="R3210eb0294e64743"/>
    <p:sldId xmlns:r="http://schemas.openxmlformats.org/officeDocument/2006/relationships" id="291" r:id="R8434258a853449bf"/>
    <p:sldId xmlns:r="http://schemas.openxmlformats.org/officeDocument/2006/relationships" id="292" r:id="R87f3bc9f2a044ba6"/>
    <p:sldId xmlns:r="http://schemas.openxmlformats.org/officeDocument/2006/relationships" id="293" r:id="R8d2f65bd201d4c8c"/>
    <p:sldId xmlns:r="http://schemas.openxmlformats.org/officeDocument/2006/relationships" id="294" r:id="Rb5e2758e83514a36"/>
    <p:sldId xmlns:r="http://schemas.openxmlformats.org/officeDocument/2006/relationships" id="295" r:id="R21a3d7e835fa4258"/>
    <p:sldId xmlns:r="http://schemas.openxmlformats.org/officeDocument/2006/relationships" id="296" r:id="R7339665726224f32"/>
    <p:sldId xmlns:r="http://schemas.openxmlformats.org/officeDocument/2006/relationships" id="297" r:id="R54931eb8a7da4e99"/>
    <p:sldId xmlns:r="http://schemas.openxmlformats.org/officeDocument/2006/relationships" id="298" r:id="R1568025eade44a9d"/>
    <p:sldId xmlns:r="http://schemas.openxmlformats.org/officeDocument/2006/relationships" id="299" r:id="Ref5e0d909e8545e9"/>
    <p:sldId xmlns:r="http://schemas.openxmlformats.org/officeDocument/2006/relationships" id="300" r:id="R861d6d17be2b4e1e"/>
    <p:sldId xmlns:r="http://schemas.openxmlformats.org/officeDocument/2006/relationships" id="301" r:id="R8446f34c9b1245e1"/>
    <p:sldId xmlns:r="http://schemas.openxmlformats.org/officeDocument/2006/relationships" id="302" r:id="Ra0044e78b8104a06"/>
    <p:sldId xmlns:r="http://schemas.openxmlformats.org/officeDocument/2006/relationships" id="303" r:id="R788bfa9571b04a2f"/>
    <p:sldId xmlns:r="http://schemas.openxmlformats.org/officeDocument/2006/relationships" id="304" r:id="Rf02a14f720c6409e"/>
    <p:sldId xmlns:r="http://schemas.openxmlformats.org/officeDocument/2006/relationships" id="305" r:id="Rb091db242997478b"/>
    <p:sldId xmlns:r="http://schemas.openxmlformats.org/officeDocument/2006/relationships" id="306" r:id="R62d71fbceac7401c"/>
    <p:sldId xmlns:r="http://schemas.openxmlformats.org/officeDocument/2006/relationships" id="307" r:id="R397e1ee78a254a39"/>
    <p:sldId xmlns:r="http://schemas.openxmlformats.org/officeDocument/2006/relationships" id="308" r:id="R42b4c5f4630647a3"/>
    <p:sldId xmlns:r="http://schemas.openxmlformats.org/officeDocument/2006/relationships" id="309" r:id="R5295ee7427ea40e2"/>
    <p:sldId xmlns:r="http://schemas.openxmlformats.org/officeDocument/2006/relationships" id="310" r:id="R206ac834626f4d59"/>
    <p:sldId xmlns:r="http://schemas.openxmlformats.org/officeDocument/2006/relationships" id="311" r:id="Ra7a8d81781514d66"/>
    <p:sldId xmlns:r="http://schemas.openxmlformats.org/officeDocument/2006/relationships" id="312" r:id="Rf790debcaaf34e28"/>
    <p:sldId xmlns:r="http://schemas.openxmlformats.org/officeDocument/2006/relationships" id="313" r:id="Rdc2693bac3c849ef"/>
    <p:sldId xmlns:r="http://schemas.openxmlformats.org/officeDocument/2006/relationships" id="314" r:id="R723a961384024271"/>
    <p:sldId xmlns:r="http://schemas.openxmlformats.org/officeDocument/2006/relationships" id="315" r:id="R682af59b2a9b46d8"/>
    <p:sldId xmlns:r="http://schemas.openxmlformats.org/officeDocument/2006/relationships" id="316" r:id="R806e87d733ff4549"/>
    <p:sldId xmlns:r="http://schemas.openxmlformats.org/officeDocument/2006/relationships" id="317" r:id="R90a8702e1ad340b8"/>
    <p:sldId xmlns:r="http://schemas.openxmlformats.org/officeDocument/2006/relationships" id="318" r:id="Rd9c3acf4689940e9"/>
    <p:sldId xmlns:r="http://schemas.openxmlformats.org/officeDocument/2006/relationships" id="319" r:id="Rcc2ef147baed4d44"/>
    <p:sldId xmlns:r="http://schemas.openxmlformats.org/officeDocument/2006/relationships" id="320" r:id="Rc9861fa111534d60"/>
    <p:sldId xmlns:r="http://schemas.openxmlformats.org/officeDocument/2006/relationships" id="321" r:id="R342d2156bb2b40e5"/>
    <p:sldId xmlns:r="http://schemas.openxmlformats.org/officeDocument/2006/relationships" id="322" r:id="R457bfd76557949df"/>
    <p:sldId xmlns:r="http://schemas.openxmlformats.org/officeDocument/2006/relationships" id="323" r:id="Re212635a493f4c9c"/>
    <p:sldId xmlns:r="http://schemas.openxmlformats.org/officeDocument/2006/relationships" id="324" r:id="Rd7f817e459c347a7"/>
    <p:sldId xmlns:r="http://schemas.openxmlformats.org/officeDocument/2006/relationships" id="325" r:id="R759c069ad11d459e"/>
    <p:sldId xmlns:r="http://schemas.openxmlformats.org/officeDocument/2006/relationships" id="326" r:id="R9ffd84626860499a"/>
    <p:sldId xmlns:r="http://schemas.openxmlformats.org/officeDocument/2006/relationships" id="327" r:id="R4827f53f88e74d55"/>
    <p:sldId xmlns:r="http://schemas.openxmlformats.org/officeDocument/2006/relationships" id="328" r:id="Rb10f7710f7264a56"/>
    <p:sldId xmlns:r="http://schemas.openxmlformats.org/officeDocument/2006/relationships" id="329" r:id="Rf75604c2db644220"/>
    <p:sldId xmlns:r="http://schemas.openxmlformats.org/officeDocument/2006/relationships" id="330" r:id="R2c53221d4c344378"/>
    <p:sldId xmlns:r="http://schemas.openxmlformats.org/officeDocument/2006/relationships" id="331" r:id="R335c57a766a74d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123f286842459e" /><Relationship Type="http://schemas.openxmlformats.org/officeDocument/2006/relationships/slideMaster" Target="/ppt/slideMasters/slideMaster1.xml" Id="Rf5878d17e2334c6f" /><Relationship Type="http://schemas.openxmlformats.org/officeDocument/2006/relationships/notesMaster" Target="/ppt/notesMasters/notesMaster1.xml" Id="R8c9542753a274163" /><Relationship Type="http://schemas.openxmlformats.org/officeDocument/2006/relationships/presProps" Target="/ppt/presProps.xml" Id="R72a5b9a930e94d74" /><Relationship Type="http://schemas.openxmlformats.org/officeDocument/2006/relationships/tableStyles" Target="/ppt/tableStyles.xml" Id="R2b9b6c6eb4cd4848" /><Relationship Type="http://schemas.openxmlformats.org/officeDocument/2006/relationships/slide" Target="/ppt/slides/slide1.xml" Id="R707feff6b5d34846" /><Relationship Type="http://schemas.openxmlformats.org/officeDocument/2006/relationships/slide" Target="/ppt/slides/slide2.xml" Id="Rfadf9e0ebe4f4c23" /><Relationship Type="http://schemas.openxmlformats.org/officeDocument/2006/relationships/slide" Target="/ppt/slides/slide3.xml" Id="R29a003fe953d4862" /><Relationship Type="http://schemas.openxmlformats.org/officeDocument/2006/relationships/slide" Target="/ppt/slides/slide4.xml" Id="Rd9749a9617c84789" /><Relationship Type="http://schemas.openxmlformats.org/officeDocument/2006/relationships/slide" Target="/ppt/slides/slide5.xml" Id="Raef4cdba24444166" /><Relationship Type="http://schemas.openxmlformats.org/officeDocument/2006/relationships/slide" Target="/ppt/slides/slide6.xml" Id="Rfd9cbcdd9abf4183" /><Relationship Type="http://schemas.openxmlformats.org/officeDocument/2006/relationships/slide" Target="/ppt/slides/slide7.xml" Id="Rb3f113d02d804d42" /><Relationship Type="http://schemas.openxmlformats.org/officeDocument/2006/relationships/slide" Target="/ppt/slides/slide8.xml" Id="R67969138f4244e0a" /><Relationship Type="http://schemas.openxmlformats.org/officeDocument/2006/relationships/slide" Target="/ppt/slides/slide9.xml" Id="R48b1a23cf31e4406" /><Relationship Type="http://schemas.openxmlformats.org/officeDocument/2006/relationships/slide" Target="/ppt/slides/slide10.xml" Id="R3d4a7a6ef89541a3" /><Relationship Type="http://schemas.openxmlformats.org/officeDocument/2006/relationships/slide" Target="/ppt/slides/slide11.xml" Id="Rb00abc2440a749b0" /><Relationship Type="http://schemas.openxmlformats.org/officeDocument/2006/relationships/slide" Target="/ppt/slides/slide12.xml" Id="R2264c166c8c34272" /><Relationship Type="http://schemas.openxmlformats.org/officeDocument/2006/relationships/slide" Target="/ppt/slides/slide13.xml" Id="R6d5c82ea5bd0474b" /><Relationship Type="http://schemas.openxmlformats.org/officeDocument/2006/relationships/slide" Target="/ppt/slides/slide14.xml" Id="R219e41e32c6f48c9" /><Relationship Type="http://schemas.openxmlformats.org/officeDocument/2006/relationships/slide" Target="/ppt/slides/slide15.xml" Id="R105633b33a0c47fd" /><Relationship Type="http://schemas.openxmlformats.org/officeDocument/2006/relationships/slide" Target="/ppt/slides/slide16.xml" Id="Re34de631876f47d5" /><Relationship Type="http://schemas.openxmlformats.org/officeDocument/2006/relationships/slide" Target="/ppt/slides/slide17.xml" Id="R4b896107e0154ef0" /><Relationship Type="http://schemas.openxmlformats.org/officeDocument/2006/relationships/slide" Target="/ppt/slides/slide18.xml" Id="Ra2b9b10de049466e" /><Relationship Type="http://schemas.openxmlformats.org/officeDocument/2006/relationships/slide" Target="/ppt/slides/slide19.xml" Id="Rd3edab3516ae4d2d" /><Relationship Type="http://schemas.openxmlformats.org/officeDocument/2006/relationships/slide" Target="/ppt/slides/slide20.xml" Id="R9b1e25c74af44477" /><Relationship Type="http://schemas.openxmlformats.org/officeDocument/2006/relationships/slide" Target="/ppt/slides/slide21.xml" Id="R82e5fd8a5f744a66" /><Relationship Type="http://schemas.openxmlformats.org/officeDocument/2006/relationships/slide" Target="/ppt/slides/slide22.xml" Id="R281ce551d6564b4c" /><Relationship Type="http://schemas.openxmlformats.org/officeDocument/2006/relationships/slide" Target="/ppt/slides/slide23.xml" Id="R6594da20f146411e" /><Relationship Type="http://schemas.openxmlformats.org/officeDocument/2006/relationships/slide" Target="/ppt/slides/slide24.xml" Id="Rf0e5a32fb374464b" /><Relationship Type="http://schemas.openxmlformats.org/officeDocument/2006/relationships/slide" Target="/ppt/slides/slide25.xml" Id="Reb99b58070b2435a" /><Relationship Type="http://schemas.openxmlformats.org/officeDocument/2006/relationships/slide" Target="/ppt/slides/slide26.xml" Id="Rac7e2134d3804875" /><Relationship Type="http://schemas.openxmlformats.org/officeDocument/2006/relationships/slide" Target="/ppt/slides/slide27.xml" Id="R81f21c7ae4ec43cf" /><Relationship Type="http://schemas.openxmlformats.org/officeDocument/2006/relationships/slide" Target="/ppt/slides/slide28.xml" Id="Rbdcb1c60cc004c59" /><Relationship Type="http://schemas.openxmlformats.org/officeDocument/2006/relationships/slide" Target="/ppt/slides/slide29.xml" Id="R70ec2d9dae3c4cf0" /><Relationship Type="http://schemas.openxmlformats.org/officeDocument/2006/relationships/slide" Target="/ppt/slides/slide30.xml" Id="Rd5d0f94d1ef64a38" /><Relationship Type="http://schemas.openxmlformats.org/officeDocument/2006/relationships/slide" Target="/ppt/slides/slide31.xml" Id="R0be2318adddb4afa" /><Relationship Type="http://schemas.openxmlformats.org/officeDocument/2006/relationships/slide" Target="/ppt/slides/slide32.xml" Id="R0820e1aa3f254a7b" /><Relationship Type="http://schemas.openxmlformats.org/officeDocument/2006/relationships/slide" Target="/ppt/slides/slide33.xml" Id="R14c2dd5581ab471a" /><Relationship Type="http://schemas.openxmlformats.org/officeDocument/2006/relationships/slide" Target="/ppt/slides/slide34.xml" Id="R59e69cd463c142e7" /><Relationship Type="http://schemas.openxmlformats.org/officeDocument/2006/relationships/slide" Target="/ppt/slides/slide35.xml" Id="R3210eb0294e64743" /><Relationship Type="http://schemas.openxmlformats.org/officeDocument/2006/relationships/slide" Target="/ppt/slides/slide36.xml" Id="R8434258a853449bf" /><Relationship Type="http://schemas.openxmlformats.org/officeDocument/2006/relationships/slide" Target="/ppt/slides/slide37.xml" Id="R87f3bc9f2a044ba6" /><Relationship Type="http://schemas.openxmlformats.org/officeDocument/2006/relationships/slide" Target="/ppt/slides/slide38.xml" Id="R8d2f65bd201d4c8c" /><Relationship Type="http://schemas.openxmlformats.org/officeDocument/2006/relationships/slide" Target="/ppt/slides/slide39.xml" Id="Rb5e2758e83514a36" /><Relationship Type="http://schemas.openxmlformats.org/officeDocument/2006/relationships/slide" Target="/ppt/slides/slide40.xml" Id="R21a3d7e835fa4258" /><Relationship Type="http://schemas.openxmlformats.org/officeDocument/2006/relationships/slide" Target="/ppt/slides/slide41.xml" Id="R7339665726224f32" /><Relationship Type="http://schemas.openxmlformats.org/officeDocument/2006/relationships/slide" Target="/ppt/slides/slide42.xml" Id="R54931eb8a7da4e99" /><Relationship Type="http://schemas.openxmlformats.org/officeDocument/2006/relationships/slide" Target="/ppt/slides/slide43.xml" Id="R1568025eade44a9d" /><Relationship Type="http://schemas.openxmlformats.org/officeDocument/2006/relationships/slide" Target="/ppt/slides/slide44.xml" Id="Ref5e0d909e8545e9" /><Relationship Type="http://schemas.openxmlformats.org/officeDocument/2006/relationships/slide" Target="/ppt/slides/slide45.xml" Id="R861d6d17be2b4e1e" /><Relationship Type="http://schemas.openxmlformats.org/officeDocument/2006/relationships/slide" Target="/ppt/slides/slide46.xml" Id="R8446f34c9b1245e1" /><Relationship Type="http://schemas.openxmlformats.org/officeDocument/2006/relationships/slide" Target="/ppt/slides/slide47.xml" Id="Ra0044e78b8104a06" /><Relationship Type="http://schemas.openxmlformats.org/officeDocument/2006/relationships/slide" Target="/ppt/slides/slide48.xml" Id="R788bfa9571b04a2f" /><Relationship Type="http://schemas.openxmlformats.org/officeDocument/2006/relationships/slide" Target="/ppt/slides/slide49.xml" Id="Rf02a14f720c6409e" /><Relationship Type="http://schemas.openxmlformats.org/officeDocument/2006/relationships/slide" Target="/ppt/slides/slide50.xml" Id="Rb091db242997478b" /><Relationship Type="http://schemas.openxmlformats.org/officeDocument/2006/relationships/slide" Target="/ppt/slides/slide51.xml" Id="R62d71fbceac7401c" /><Relationship Type="http://schemas.openxmlformats.org/officeDocument/2006/relationships/slide" Target="/ppt/slides/slide52.xml" Id="R397e1ee78a254a39" /><Relationship Type="http://schemas.openxmlformats.org/officeDocument/2006/relationships/slide" Target="/ppt/slides/slide53.xml" Id="R42b4c5f4630647a3" /><Relationship Type="http://schemas.openxmlformats.org/officeDocument/2006/relationships/slide" Target="/ppt/slides/slide54.xml" Id="R5295ee7427ea40e2" /><Relationship Type="http://schemas.openxmlformats.org/officeDocument/2006/relationships/slide" Target="/ppt/slides/slide55.xml" Id="R206ac834626f4d59" /><Relationship Type="http://schemas.openxmlformats.org/officeDocument/2006/relationships/slide" Target="/ppt/slides/slide56.xml" Id="Ra7a8d81781514d66" /><Relationship Type="http://schemas.openxmlformats.org/officeDocument/2006/relationships/slide" Target="/ppt/slides/slide57.xml" Id="Rf790debcaaf34e28" /><Relationship Type="http://schemas.openxmlformats.org/officeDocument/2006/relationships/slide" Target="/ppt/slides/slide58.xml" Id="Rdc2693bac3c849ef" /><Relationship Type="http://schemas.openxmlformats.org/officeDocument/2006/relationships/slide" Target="/ppt/slides/slide59.xml" Id="R723a961384024271" /><Relationship Type="http://schemas.openxmlformats.org/officeDocument/2006/relationships/slide" Target="/ppt/slides/slide60.xml" Id="R682af59b2a9b46d8" /><Relationship Type="http://schemas.openxmlformats.org/officeDocument/2006/relationships/slide" Target="/ppt/slides/slide61.xml" Id="R806e87d733ff4549" /><Relationship Type="http://schemas.openxmlformats.org/officeDocument/2006/relationships/slide" Target="/ppt/slides/slide62.xml" Id="R90a8702e1ad340b8" /><Relationship Type="http://schemas.openxmlformats.org/officeDocument/2006/relationships/slide" Target="/ppt/slides/slide63.xml" Id="Rd9c3acf4689940e9" /><Relationship Type="http://schemas.openxmlformats.org/officeDocument/2006/relationships/slide" Target="/ppt/slides/slide64.xml" Id="Rcc2ef147baed4d44" /><Relationship Type="http://schemas.openxmlformats.org/officeDocument/2006/relationships/slide" Target="/ppt/slides/slide65.xml" Id="Rc9861fa111534d60" /><Relationship Type="http://schemas.openxmlformats.org/officeDocument/2006/relationships/slide" Target="/ppt/slides/slide66.xml" Id="R342d2156bb2b40e5" /><Relationship Type="http://schemas.openxmlformats.org/officeDocument/2006/relationships/slide" Target="/ppt/slides/slide67.xml" Id="R457bfd76557949df" /><Relationship Type="http://schemas.openxmlformats.org/officeDocument/2006/relationships/slide" Target="/ppt/slides/slide68.xml" Id="Re212635a493f4c9c" /><Relationship Type="http://schemas.openxmlformats.org/officeDocument/2006/relationships/slide" Target="/ppt/slides/slide69.xml" Id="Rd7f817e459c347a7" /><Relationship Type="http://schemas.openxmlformats.org/officeDocument/2006/relationships/slide" Target="/ppt/slides/slide70.xml" Id="R759c069ad11d459e" /><Relationship Type="http://schemas.openxmlformats.org/officeDocument/2006/relationships/slide" Target="/ppt/slides/slide71.xml" Id="R9ffd84626860499a" /><Relationship Type="http://schemas.openxmlformats.org/officeDocument/2006/relationships/slide" Target="/ppt/slides/slide72.xml" Id="R4827f53f88e74d55" /><Relationship Type="http://schemas.openxmlformats.org/officeDocument/2006/relationships/slide" Target="/ppt/slides/slide73.xml" Id="Rb10f7710f7264a56" /><Relationship Type="http://schemas.openxmlformats.org/officeDocument/2006/relationships/slide" Target="/ppt/slides/slide74.xml" Id="Rf75604c2db644220" /><Relationship Type="http://schemas.openxmlformats.org/officeDocument/2006/relationships/slide" Target="/ppt/slides/slide75.xml" Id="R2c53221d4c344378" /><Relationship Type="http://schemas.openxmlformats.org/officeDocument/2006/relationships/slide" Target="/ppt/slides/slide76.xml" Id="R335c57a766a74d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8008d725c249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LLMOPS EDITORIAL">
      <a:dk1>
        <a:srgbClr val="0A0B0C"/>
      </a:dk1>
      <a:lt1>
        <a:srgbClr val="FFFFFF"/>
      </a:lt1>
      <a:dk2>
        <a:srgbClr val="17283B"/>
      </a:dk2>
      <a:lt2>
        <a:srgbClr val="F7F7F5"/>
      </a:lt2>
      <a:accent1>
        <a:srgbClr val="284B72"/>
      </a:accent1>
      <a:accent2>
        <a:srgbClr val="17283B"/>
      </a:accent2>
      <a:accent3>
        <a:srgbClr val="52606B"/>
      </a:accent3>
      <a:accent4>
        <a:srgbClr val="EDF1F6"/>
      </a:accent4>
      <a:accent5>
        <a:srgbClr val="17191B"/>
      </a:accent5>
      <a:accent6>
        <a:srgbClr val="CFD5D3"/>
      </a:accent6>
      <a:hlink>
        <a:srgbClr val="284B72"/>
      </a:hlink>
      <a:folHlink>
        <a:srgbClr val="17283B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LLMOPS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d8eddffb90415a" /><Relationship Type="http://schemas.openxmlformats.org/officeDocument/2006/relationships/notesMaster" Target="/ppt/notesMasters/notesMaster1.xml" Id="R18110b298fbc47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470824aa14493d" /><Relationship Type="http://schemas.openxmlformats.org/officeDocument/2006/relationships/notesMaster" Target="/ppt/notesMasters/notesMaster1.xml" Id="R3d9ed443c86f43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68e022a01b4011" /><Relationship Type="http://schemas.openxmlformats.org/officeDocument/2006/relationships/notesMaster" Target="/ppt/notesMasters/notesMaster1.xml" Id="R7959f60dd09a4e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93a3b674874268" /><Relationship Type="http://schemas.openxmlformats.org/officeDocument/2006/relationships/notesMaster" Target="/ppt/notesMasters/notesMaster1.xml" Id="R1a97b9f0648947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68fc0a518d48bc" /><Relationship Type="http://schemas.openxmlformats.org/officeDocument/2006/relationships/notesMaster" Target="/ppt/notesMasters/notesMaster1.xml" Id="Rd9670846190d41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a4c6c541e84b40" /><Relationship Type="http://schemas.openxmlformats.org/officeDocument/2006/relationships/notesMaster" Target="/ppt/notesMasters/notesMaster1.xml" Id="Ra72292e8e9414a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f50e2358844e0d" /><Relationship Type="http://schemas.openxmlformats.org/officeDocument/2006/relationships/notesMaster" Target="/ppt/notesMasters/notesMaster1.xml" Id="R13269fc7115940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4b8406d3a3456b" /><Relationship Type="http://schemas.openxmlformats.org/officeDocument/2006/relationships/notesMaster" Target="/ppt/notesMasters/notesMaster1.xml" Id="R2de1b726d21c41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b66b0638304972" /><Relationship Type="http://schemas.openxmlformats.org/officeDocument/2006/relationships/notesMaster" Target="/ppt/notesMasters/notesMaster1.xml" Id="R55a7b162f2614a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42f6119e95e491d" /><Relationship Type="http://schemas.openxmlformats.org/officeDocument/2006/relationships/notesMaster" Target="/ppt/notesMasters/notesMaster1.xml" Id="R0db388c7d861488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e17f9297346459f" /><Relationship Type="http://schemas.openxmlformats.org/officeDocument/2006/relationships/notesMaster" Target="/ppt/notesMasters/notesMaster1.xml" Id="Rd60e59a84614432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5405fb69ba4add" /><Relationship Type="http://schemas.openxmlformats.org/officeDocument/2006/relationships/notesMaster" Target="/ppt/notesMasters/notesMaster1.xml" Id="R0350baf55e33442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cfffe4e72d8426a" /><Relationship Type="http://schemas.openxmlformats.org/officeDocument/2006/relationships/notesMaster" Target="/ppt/notesMasters/notesMaster1.xml" Id="R4e571dabc1044a8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99b1b4d359949e8" /><Relationship Type="http://schemas.openxmlformats.org/officeDocument/2006/relationships/notesMaster" Target="/ppt/notesMasters/notesMaster1.xml" Id="R5eca8bc3d2ed4b5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4916515c9b1463e" /><Relationship Type="http://schemas.openxmlformats.org/officeDocument/2006/relationships/notesMaster" Target="/ppt/notesMasters/notesMaster1.xml" Id="R4c77871772ae447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8e1ff0c827246a2" /><Relationship Type="http://schemas.openxmlformats.org/officeDocument/2006/relationships/notesMaster" Target="/ppt/notesMasters/notesMaster1.xml" Id="Rf7219b52e184410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cb1b64aa6f048db" /><Relationship Type="http://schemas.openxmlformats.org/officeDocument/2006/relationships/notesMaster" Target="/ppt/notesMasters/notesMaster1.xml" Id="R1e4b4cc44f174e4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608e8bf94824b51" /><Relationship Type="http://schemas.openxmlformats.org/officeDocument/2006/relationships/notesMaster" Target="/ppt/notesMasters/notesMaster1.xml" Id="Rd8d88ba664bf487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5044e425b764506" /><Relationship Type="http://schemas.openxmlformats.org/officeDocument/2006/relationships/notesMaster" Target="/ppt/notesMasters/notesMaster1.xml" Id="R2d58609659af4c8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ef4caa2748d4366" /><Relationship Type="http://schemas.openxmlformats.org/officeDocument/2006/relationships/notesMaster" Target="/ppt/notesMasters/notesMaster1.xml" Id="R36d14138cb9949f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1bfeb83307a4d31" /><Relationship Type="http://schemas.openxmlformats.org/officeDocument/2006/relationships/notesMaster" Target="/ppt/notesMasters/notesMaster1.xml" Id="R3264a175be27467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6b0903904554485" /><Relationship Type="http://schemas.openxmlformats.org/officeDocument/2006/relationships/notesMaster" Target="/ppt/notesMasters/notesMaster1.xml" Id="R9c2e834248f84fb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25ee34d0dfa414c" /><Relationship Type="http://schemas.openxmlformats.org/officeDocument/2006/relationships/notesMaster" Target="/ppt/notesMasters/notesMaster1.xml" Id="R98ec0360f6a449b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df65f02d88f4c6e" /><Relationship Type="http://schemas.openxmlformats.org/officeDocument/2006/relationships/notesMaster" Target="/ppt/notesMasters/notesMaster1.xml" Id="Rf339df43ab1a484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fce04eca87d485e" /><Relationship Type="http://schemas.openxmlformats.org/officeDocument/2006/relationships/notesMaster" Target="/ppt/notesMasters/notesMaster1.xml" Id="R13c8e620ed03452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6ea6a38b21a413a" /><Relationship Type="http://schemas.openxmlformats.org/officeDocument/2006/relationships/notesMaster" Target="/ppt/notesMasters/notesMaster1.xml" Id="R04cd542d81f8488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a2d4ed4d4554d36" /><Relationship Type="http://schemas.openxmlformats.org/officeDocument/2006/relationships/notesMaster" Target="/ppt/notesMasters/notesMaster1.xml" Id="R48b6876b53474f3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e1798dd79ae44a1" /><Relationship Type="http://schemas.openxmlformats.org/officeDocument/2006/relationships/notesMaster" Target="/ppt/notesMasters/notesMaster1.xml" Id="R10be85fbfa904eb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ce010246d044f2b" /><Relationship Type="http://schemas.openxmlformats.org/officeDocument/2006/relationships/notesMaster" Target="/ppt/notesMasters/notesMaster1.xml" Id="R7f36bdd8ff7c4e5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153ddf05795423d" /><Relationship Type="http://schemas.openxmlformats.org/officeDocument/2006/relationships/notesMaster" Target="/ppt/notesMasters/notesMaster1.xml" Id="Rd7ba26132be4491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3cc7cfccf924503" /><Relationship Type="http://schemas.openxmlformats.org/officeDocument/2006/relationships/notesMaster" Target="/ppt/notesMasters/notesMaster1.xml" Id="Rc45470e9f1ad419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4c84c4546c74416" /><Relationship Type="http://schemas.openxmlformats.org/officeDocument/2006/relationships/notesMaster" Target="/ppt/notesMasters/notesMaster1.xml" Id="R5c99f0395e5c4af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2b587c55c7c4efb" /><Relationship Type="http://schemas.openxmlformats.org/officeDocument/2006/relationships/notesMaster" Target="/ppt/notesMasters/notesMaster1.xml" Id="Rb6bc1cbf57f440b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dbefac16ffa4875" /><Relationship Type="http://schemas.openxmlformats.org/officeDocument/2006/relationships/notesMaster" Target="/ppt/notesMasters/notesMaster1.xml" Id="R45e8d81544634d0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f95e66efb984e12" /><Relationship Type="http://schemas.openxmlformats.org/officeDocument/2006/relationships/notesMaster" Target="/ppt/notesMasters/notesMaster1.xml" Id="Rc4f45137adec455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ede9281dc6e41f0" /><Relationship Type="http://schemas.openxmlformats.org/officeDocument/2006/relationships/notesMaster" Target="/ppt/notesMasters/notesMaster1.xml" Id="R96d53cdfa67e4e4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9efb3d281624ead" /><Relationship Type="http://schemas.openxmlformats.org/officeDocument/2006/relationships/notesMaster" Target="/ppt/notesMasters/notesMaster1.xml" Id="Re7b7bfe8e67844b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aed6b73baa44042" /><Relationship Type="http://schemas.openxmlformats.org/officeDocument/2006/relationships/notesMaster" Target="/ppt/notesMasters/notesMaster1.xml" Id="R8ee69f21d173435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ca38e74693e4adc" /><Relationship Type="http://schemas.openxmlformats.org/officeDocument/2006/relationships/notesMaster" Target="/ppt/notesMasters/notesMaster1.xml" Id="Rd4cd5b6727854ab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539ce1fcd424f7b" /><Relationship Type="http://schemas.openxmlformats.org/officeDocument/2006/relationships/notesMaster" Target="/ppt/notesMasters/notesMaster1.xml" Id="Rb364d2751fb84fc2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b79d1944568434e" /><Relationship Type="http://schemas.openxmlformats.org/officeDocument/2006/relationships/notesMaster" Target="/ppt/notesMasters/notesMaster1.xml" Id="R644a342fd2004cb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2dbad60630b469f" /><Relationship Type="http://schemas.openxmlformats.org/officeDocument/2006/relationships/notesMaster" Target="/ppt/notesMasters/notesMaster1.xml" Id="R1d22f6357bf849a2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8e785a935c6b4788" /><Relationship Type="http://schemas.openxmlformats.org/officeDocument/2006/relationships/notesMaster" Target="/ppt/notesMasters/notesMaster1.xml" Id="R61b93bf6b0b94de0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6751b7226ae44125" /><Relationship Type="http://schemas.openxmlformats.org/officeDocument/2006/relationships/notesMaster" Target="/ppt/notesMasters/notesMaster1.xml" Id="R996c4db456164e89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1209d51923144d82" /><Relationship Type="http://schemas.openxmlformats.org/officeDocument/2006/relationships/notesMaster" Target="/ppt/notesMasters/notesMaster1.xml" Id="R4b0d862bc7914845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ced146d09d294800" /><Relationship Type="http://schemas.openxmlformats.org/officeDocument/2006/relationships/notesMaster" Target="/ppt/notesMasters/notesMaster1.xml" Id="R312767d1a63d4c7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3f35bb6b3f3c4100" /><Relationship Type="http://schemas.openxmlformats.org/officeDocument/2006/relationships/notesMaster" Target="/ppt/notesMasters/notesMaster1.xml" Id="R1b76bd97d2f3434c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f02ad3884f884928" /><Relationship Type="http://schemas.openxmlformats.org/officeDocument/2006/relationships/notesMaster" Target="/ppt/notesMasters/notesMaster1.xml" Id="R8665e159f61642a1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6e75939c149d4412" /><Relationship Type="http://schemas.openxmlformats.org/officeDocument/2006/relationships/notesMaster" Target="/ppt/notesMasters/notesMaster1.xml" Id="R3e7d306299e54907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aa7f9465bad74215" /><Relationship Type="http://schemas.openxmlformats.org/officeDocument/2006/relationships/notesMaster" Target="/ppt/notesMasters/notesMaster1.xml" Id="Rda9c27fdefd34f6b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14823776510a4715" /><Relationship Type="http://schemas.openxmlformats.org/officeDocument/2006/relationships/notesMaster" Target="/ppt/notesMasters/notesMaster1.xml" Id="Ra1f2c9d4a0f04088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917ec0d61e3e4c69" /><Relationship Type="http://schemas.openxmlformats.org/officeDocument/2006/relationships/notesMaster" Target="/ppt/notesMasters/notesMaster1.xml" Id="Rb106f39211404d0e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02295bd2ca3840f0" /><Relationship Type="http://schemas.openxmlformats.org/officeDocument/2006/relationships/notesMaster" Target="/ppt/notesMasters/notesMaster1.xml" Id="Rbe7bd202101d4def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17fa61287ef9400f" /><Relationship Type="http://schemas.openxmlformats.org/officeDocument/2006/relationships/notesMaster" Target="/ppt/notesMasters/notesMaster1.xml" Id="Re2e6d6c519834e2d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0837480694064783" /><Relationship Type="http://schemas.openxmlformats.org/officeDocument/2006/relationships/notesMaster" Target="/ppt/notesMasters/notesMaster1.xml" Id="Rc89c77bf515f4fe8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5c4ca14127df4025" /><Relationship Type="http://schemas.openxmlformats.org/officeDocument/2006/relationships/notesMaster" Target="/ppt/notesMasters/notesMaster1.xml" Id="R5582e8aaf1eb4984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a6501139e5e148d9" /><Relationship Type="http://schemas.openxmlformats.org/officeDocument/2006/relationships/notesMaster" Target="/ppt/notesMasters/notesMaster1.xml" Id="Ra631568b95cb4f2c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5db710e83a304b01" /><Relationship Type="http://schemas.openxmlformats.org/officeDocument/2006/relationships/notesMaster" Target="/ppt/notesMasters/notesMaster1.xml" Id="Rd3d9d22a746d4ab3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e5f57eaf4552412e" /><Relationship Type="http://schemas.openxmlformats.org/officeDocument/2006/relationships/notesMaster" Target="/ppt/notesMasters/notesMaster1.xml" Id="Rbebb9bfdf02e4ea4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76eb1a892a214ac6" /><Relationship Type="http://schemas.openxmlformats.org/officeDocument/2006/relationships/notesMaster" Target="/ppt/notesMasters/notesMaster1.xml" Id="R735a3b3836114364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9c30eba196bb494d" /><Relationship Type="http://schemas.openxmlformats.org/officeDocument/2006/relationships/notesMaster" Target="/ppt/notesMasters/notesMaster1.xml" Id="R3b23e435a60f4529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1a17763416d74088" /><Relationship Type="http://schemas.openxmlformats.org/officeDocument/2006/relationships/notesMaster" Target="/ppt/notesMasters/notesMaster1.xml" Id="R0718464dac9641db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3852051963fb4b0c" /><Relationship Type="http://schemas.openxmlformats.org/officeDocument/2006/relationships/notesMaster" Target="/ppt/notesMasters/notesMaster1.xml" Id="Rce8dd9806cf448aa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1daa389d8faa458a" /><Relationship Type="http://schemas.openxmlformats.org/officeDocument/2006/relationships/notesMaster" Target="/ppt/notesMasters/notesMaster1.xml" Id="R09fd76302e1d4cfc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e8a67d642449431c" /><Relationship Type="http://schemas.openxmlformats.org/officeDocument/2006/relationships/notesMaster" Target="/ppt/notesMasters/notesMaster1.xml" Id="R257f6baef83a47f7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61f5fdb118b04288" /><Relationship Type="http://schemas.openxmlformats.org/officeDocument/2006/relationships/notesMaster" Target="/ppt/notesMasters/notesMaster1.xml" Id="Re790d34dcf004aaf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8e15d0a28c764839" /><Relationship Type="http://schemas.openxmlformats.org/officeDocument/2006/relationships/notesMaster" Target="/ppt/notesMasters/notesMaster1.xml" Id="R35243a366ee045d8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d8d9c79077314b65" /><Relationship Type="http://schemas.openxmlformats.org/officeDocument/2006/relationships/notesMaster" Target="/ppt/notesMasters/notesMaster1.xml" Id="R390db8d0a8b74724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889af431526c4fe4" /><Relationship Type="http://schemas.openxmlformats.org/officeDocument/2006/relationships/notesMaster" Target="/ppt/notesMasters/notesMaster1.xml" Id="R136c3ee6881b411b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f70e8e2cfd034df5" /><Relationship Type="http://schemas.openxmlformats.org/officeDocument/2006/relationships/notesMaster" Target="/ppt/notesMasters/notesMaster1.xml" Id="Rf0c8bb86cb4e46a7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d6031bb9897840c7" /><Relationship Type="http://schemas.openxmlformats.org/officeDocument/2006/relationships/notesMaster" Target="/ppt/notesMasters/notesMaster1.xml" Id="Raed2a3cefdbb4f24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d9211799eace4744" /><Relationship Type="http://schemas.openxmlformats.org/officeDocument/2006/relationships/notesMaster" Target="/ppt/notesMasters/notesMaster1.xml" Id="R28cd3d91146c44a2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7ebf605ceb3f4635" /><Relationship Type="http://schemas.openxmlformats.org/officeDocument/2006/relationships/notesMaster" Target="/ppt/notesMasters/notesMaster1.xml" Id="Rc9730e854a5e4869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dd444b4c4c434f0e" /><Relationship Type="http://schemas.openxmlformats.org/officeDocument/2006/relationships/notesMaster" Target="/ppt/notesMasters/notesMaster1.xml" Id="R26c88d71add74a16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ea0aa83635c5407a" /><Relationship Type="http://schemas.openxmlformats.org/officeDocument/2006/relationships/notesMaster" Target="/ppt/notesMasters/notesMaster1.xml" Id="Re3bae873f8c54d58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c7c2d0ad7aa34985" /><Relationship Type="http://schemas.openxmlformats.org/officeDocument/2006/relationships/notesMaster" Target="/ppt/notesMasters/notesMaster1.xml" Id="Rd4c5f27016274d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https://huggingface.co/docs/trl/sft_trainer</a:t>
            </a:r>
          </a:p>
          <a:p xmlns:a="http://schemas.openxmlformats.org/drawingml/2006/main">
            <a:r>
              <a:t>- https://arxiv.org/abs/2106.09685</a:t>
            </a:r>
          </a:p>
          <a:p xmlns:a="http://schemas.openxmlformats.org/drawingml/2006/main">
            <a:r>
              <a:t>- https://arxiv.org/abs/2305.14314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이미 instruction tuning을 거친 모델도 특정 업무에 추가 SFT를 적용할 수 있다. 사전학습과 미세조정의 구분은 학습 단계와 데이터 목적의 차이다.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https://huggingface.co/docs/trl/sft_trainer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https://huggingface.co/docs/trl/sft_trainer</a:t>
            </a:r>
          </a:p>
          <a:p xmlns:a="http://schemas.openxmlformats.org/drawingml/2006/main">
            <a:r>
              <a:t>- https://arxiv.org/abs/2106.09685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각 위치에서 앞 문맥을 사용해 다음 토큰을 예측한다. 원본 도식에서 첫 label 및 마지막 예측의 제외 구간을 확인한다. logits는 확률 변환 전 점수다.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https://huggingface.co/docs/trl/sft_trainer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messages를 쓴다는 사실만으로 모든 모델의 학습 입력이 같아지지 않는다. 역할 구분자와 종료 토큰을 실제 tokenizer 출력에서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https://huggingface.co/docs/trl/sft_trainer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https://huggingface.co/docs/trl/sft_trainer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입력 10,11,12,20,21,22에서 첫 예측의 정답은 11이다. assistant 원본 label 위치 3,4,5는 shift 이후 예측 위치 2,3,4와 짝을 이룬다. labels를 두 번 shift하지 않도록 구현을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https://huggingface.co/docs/trl/sft_trainer</a:t>
            </a:r>
          </a:p>
          <a:p xmlns:a="http://schemas.openxmlformats.org/drawingml/2006/main">
            <a:r>
              <a:t>- repo:week06/lab/notebooks/01_loss_quantization.ipynb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https://huggingface.co/docs/trl/sft_trainer</a:t>
            </a:r>
          </a:p>
          <a:p xmlns:a="http://schemas.openxmlformats.org/drawingml/2006/main">
            <a:r>
              <a:t>- repo:week06/lab/notebooks/01_loss_quantization.ipynb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repo:week06/lab/notebooks/01_loss_quantization.ipynb</a:t>
            </a:r>
          </a:p>
          <a:p xmlns:a="http://schemas.openxmlformats.org/drawingml/2006/main">
            <a:r>
              <a:t>- https://huggingface.co/docs/trl/sft_trainer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repo:week06/lab/notebooks/01_loss_quantization.ipynb</a:t>
            </a:r>
          </a:p>
          <a:p xmlns:a="http://schemas.openxmlformats.org/drawingml/2006/main">
            <a:r>
              <a:t>- https://huggingface.co/docs/trl/sft_trainer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assistant_only_loss의 지원 여부와 마스크 생성은 사용 모델의 chat template 및 설치된 TRL 버전에 따라 검증한다.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https://huggingface.co/docs/trl/sft_trainer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https://huggingface.co/docs/trl/sft_trainer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repo:week06/lab/notebooks/01_loss_quantization.ipynb</a:t>
            </a:r>
          </a:p>
          <a:p xmlns:a="http://schemas.openxmlformats.org/drawingml/2006/main">
            <a:r>
              <a:t>- https://huggingface.co/docs/trl/sft_trainer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https://huggingface.co/docs/trl/sft_trainer</a:t>
            </a:r>
          </a:p>
          <a:p xmlns:a="http://schemas.openxmlformats.org/drawingml/2006/main">
            <a:r>
              <a:t>- repo:week06/lab/notebooks/01_loss_quantization.ipynb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https://huggingface.co/docs/trl/sft_trainer</a:t>
            </a:r>
          </a:p>
          <a:p xmlns:a="http://schemas.openxmlformats.org/drawingml/2006/main">
            <a:r>
              <a:t>- repo:week06/lab/notebooks/01_loss_quantization.ipynb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https://huggingface.co/docs/trl/sft_trainer</a:t>
            </a:r>
          </a:p>
          <a:p xmlns:a="http://schemas.openxmlformats.org/drawingml/2006/main">
            <a:r>
              <a:t>- https://github.com/huggingface/transformers/blob/v4.46.3/docs/source/en/perf_train_gpu_one.md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https://huggingface.co/docs/trl/sft_trainer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https://huggingface.co/docs/trl/sft_trainer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 논문에서는 A를 무작위로, B를 0으로 초기화하므로 시작 시 변화량은 0이다. 고정 가중치도 순전파 계산에는 참여한다.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https://arxiv.org/abs/2106.09685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https://arxiv.org/abs/2106.09685</a:t>
            </a:r>
          </a:p>
          <a:p xmlns:a="http://schemas.openxmlformats.org/drawingml/2006/main">
            <a:r>
              <a:t>- https://huggingface.co/docs/peft/developer_guides/lora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https://arxiv.org/abs/2106.09685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W를 고정해도 계산 경로는 남는다. A와 B만 학습하지만 실제 역전파에서 필요한 계산·활성값 비용이 모두 사라지는 것은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https://arxiv.org/abs/2106.09685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https://arxiv.org/abs/2106.09685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- https://arxiv.org/abs/2106.09685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https://arxiv.org/abs/2106.09685</a:t>
            </a:r>
          </a:p>
          <a:p xmlns:a="http://schemas.openxmlformats.org/drawingml/2006/main">
            <a:r>
              <a:t>- https://huggingface.co/docs/peft/developer_guides/lora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https://arxiv.org/abs/2106.09685</a:t>
            </a:r>
          </a:p>
          <a:p xmlns:a="http://schemas.openxmlformats.org/drawingml/2006/main">
            <a:r>
              <a:t>- https://huggingface.co/docs/peft/developer_guides/lora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https://huggingface.co/docs/peft/developer_guides/lora</a:t>
            </a:r>
          </a:p>
          <a:p xmlns:a="http://schemas.openxmlformats.org/drawingml/2006/main">
            <a:r>
              <a:t>- https://arxiv.org/abs/2106.09685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https://arxiv.org/abs/2106.09685</a:t>
            </a:r>
          </a:p>
          <a:p xmlns:a="http://schemas.openxmlformats.org/drawingml/2006/main">
            <a:r>
              <a:t>- repo:week06/lab/notebooks/01_loss_quantization.ipynb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https://arxiv.org/abs/2106.09685</a:t>
            </a:r>
          </a:p>
          <a:p xmlns:a="http://schemas.openxmlformats.org/drawingml/2006/main">
            <a:r>
              <a:t>- https://huggingface.co/docs/peft/developer_guides/lora</a:t>
            </a:r>
          </a:p>
          <a:p xmlns:a="http://schemas.openxmlformats.org/drawingml/2006/main">
            <a:r>
              <a:t>- https://huggingface.co/docs/trl/sft_trainer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https://huggingface.co/docs/peft/developer_guides/lora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https://huggingface.co/docs/peft/developer_guides/lora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도식 면적은 실측 메모리 비율이 아니다. 고정 모델을 통과한 gradient와 고정 가중치의 갱신을 구분한다. paging 화살표는 CPU/GPU 메모리 이동이다.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https://arxiv.org/abs/2305.14314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https://arxiv.org/abs/2305.14314</a:t>
            </a:r>
          </a:p>
          <a:p xmlns:a="http://schemas.openxmlformats.org/drawingml/2006/main">
            <a:r>
              <a:t>- https://huggingface.co/blog/4bit-transformers-bitsandbytes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repo:week06/lab/notebooks/01_loss_quantization.ipynb</a:t>
            </a:r>
          </a:p>
          <a:p xmlns:a="http://schemas.openxmlformats.org/drawingml/2006/main">
            <a:r>
              <a:t>- https://arxiv.org/abs/2305.14314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repo:week06/lab/notebooks/01_loss_quantization.ipynb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repo:week06/lab/notebooks/01_loss_quantization.ipynb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https://arxiv.org/abs/2305.14314</a:t>
            </a:r>
          </a:p>
          <a:p xmlns:a="http://schemas.openxmlformats.org/drawingml/2006/main">
            <a:r>
              <a:t>- repo:week06/lab/notebooks/01_loss_quantization.ipynb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도식은 개념 순서다. 블록 크기나 저장 bit의 세부 값은 구현별로 다르며 수업의 균등 양자화 코드에서는 구현하지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https://arxiv.org/abs/2305.14314</a:t>
            </a:r>
          </a:p>
          <a:p xmlns:a="http://schemas.openxmlformats.org/drawingml/2006/main">
            <a:r>
              <a:t>- https://huggingface.co/blog/4bit-transformers-bitsandbytes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https://arxiv.org/abs/2305.14314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repo:week06/lab/notebooks/01_loss_quantization.ipynb</a:t>
            </a:r>
          </a:p>
          <a:p xmlns:a="http://schemas.openxmlformats.org/drawingml/2006/main">
            <a:r>
              <a:t>- https://arxiv.org/abs/2305.14314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https://arxiv.org/abs/2305.14314</a:t>
            </a:r>
          </a:p>
          <a:p xmlns:a="http://schemas.openxmlformats.org/drawingml/2006/main">
            <a:r>
              <a:t>- https://github.com/huggingface/transformers/blob/v4.46.3/docs/source/en/perf_train_gpu_one.md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https://github.com/huggingface/transformers/blob/v4.46.3/docs/source/en/perf_train_gpu_one.md</a:t>
            </a:r>
          </a:p>
          <a:p xmlns:a="http://schemas.openxmlformats.org/drawingml/2006/main">
            <a:r>
              <a:t>- https://arxiv.org/abs/2305.14314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https://huggingface.co/docs/peft/developer_guides/lora</a:t>
            </a:r>
          </a:p>
          <a:p xmlns:a="http://schemas.openxmlformats.org/drawingml/2006/main">
            <a:r>
              <a:t>- https://arxiv.org/abs/2305.14314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저장소 루트를 연다. Notebook 커널은 Python 3.11의 .venv를 선택한다. Windows 활성화는 .venv\Scripts\activate다. 이미 있는 환경을 재생성하지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repo:week06/lab/notebooks/01_loss_quantization.ipynb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https://huggingface.co/docs/trl/sft_trainer</a:t>
            </a:r>
          </a:p>
          <a:p xmlns:a="http://schemas.openxmlformats.org/drawingml/2006/main">
            <a:r>
              <a:t>- https://arxiv.org/abs/2106.09685</a:t>
            </a:r>
          </a:p>
          <a:p xmlns:a="http://schemas.openxmlformats.org/drawingml/2006/main">
            <a:r>
              <a:t>- https://arxiv.org/abs/2305.14314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https://huggingface.co/docs/trl/sft_trainer</a:t>
            </a:r>
          </a:p>
          <a:p xmlns:a="http://schemas.openxmlformats.org/drawingml/2006/main">
            <a:r>
              <a:t>- https://arxiv.org/abs/2106.09685</a:t>
            </a:r>
          </a:p>
          <a:p xmlns:a="http://schemas.openxmlformats.org/drawingml/2006/main">
            <a:r>
              <a:t>- https://arxiv.org/abs/2305.14314</a:t>
            </a:r>
          </a:p>
          <a:p xmlns:a="http://schemas.openxmlformats.org/drawingml/2006/main">
            <a:r>
              <a:t>- https://huggingface.co/blog/4bit-transformers-bitsandbytes</a:t>
            </a:r>
          </a:p>
          <a:p xmlns:a="http://schemas.openxmlformats.org/drawingml/2006/main">
            <a:r>
              <a:t>- https://huggingface.co/docs/peft/developer_guides/lora</a:t>
            </a:r>
          </a:p>
          <a:p xmlns:a="http://schemas.openxmlformats.org/drawingml/2006/main">
            <a:r>
              <a:t>- https://github.com/huggingface/transformers/blob/v4.46.3/docs/source/en/perf_train_gpu_one.md</a:t>
            </a:r>
          </a:p>
          <a:p xmlns:a="http://schemas.openxmlformats.org/drawingml/2006/main">
            <a:r>
              <a:t>- repo:course_labs/adaptation.py</a:t>
            </a:r>
          </a:p>
          <a:p xmlns:a="http://schemas.openxmlformats.org/drawingml/2006/main">
            <a:r>
              <a:t>- repo:week06/lab/notebooks/01_loss_quantization.ipynb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b82b64262c4b8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2093585b0444b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147c8fed7346f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f382ad1fb240d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618b6b200f4be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7baa31cb3548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F01E47-ED32-47B5-AC4F-05AA764D2B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64420A9-8BC1-4B97-B31D-5B39D6C6478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C49C7E0-0D96-4C6C-AD18-2B936194C1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B261A2-3DC5-45C0-9D63-CC7059F17B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A4DEB44-79B1-447D-AF41-AB334CAAE2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0229F94-6DED-4A0F-86BD-4AE9D5C1B2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6564E5-9CA9-45A8-B3BD-1F785B6C8A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B9475FF-0210-4ADB-B495-4B128AD792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367197-BEBD-4FD8-9D5A-17286D286C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340DC4B-1509-4F76-B58F-2425DE3DF2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5e8136451e4428" /><Relationship Type="http://schemas.openxmlformats.org/officeDocument/2006/relationships/slideLayout" Target="/ppt/slideLayouts/slideLayout1.xml" Id="R26655cdb477c4d0d" /><Relationship Type="http://schemas.openxmlformats.org/officeDocument/2006/relationships/slideLayout" Target="/ppt/slideLayouts/slideLayout2.xml" Id="Ree8afebd0c904402" /><Relationship Type="http://schemas.openxmlformats.org/officeDocument/2006/relationships/slideLayout" Target="/ppt/slideLayouts/slideLayout3.xml" Id="R471d7226964c4969" /><Relationship Type="http://schemas.openxmlformats.org/officeDocument/2006/relationships/slideLayout" Target="/ppt/slideLayouts/slideLayout4.xml" Id="R37cb073f977443f8" /><Relationship Type="http://schemas.openxmlformats.org/officeDocument/2006/relationships/slideLayout" Target="/ppt/slideLayouts/slideLayout5.xml" Id="R9187cfaab312489f" /><Relationship Type="http://schemas.openxmlformats.org/officeDocument/2006/relationships/slideLayout" Target="/ppt/slideLayouts/slideLayout6.xml" Id="R8bc9bdc26eb24e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655cdb477c4d0d"/>
    <p:sldLayoutId xmlns:r="http://schemas.openxmlformats.org/officeDocument/2006/relationships" id="2147483650" r:id="Ree8afebd0c904402"/>
    <p:sldLayoutId xmlns:r="http://schemas.openxmlformats.org/officeDocument/2006/relationships" id="2147483651" r:id="R471d7226964c4969"/>
    <p:sldLayoutId xmlns:r="http://schemas.openxmlformats.org/officeDocument/2006/relationships" id="2147483652" r:id="R37cb073f977443f8"/>
    <p:sldLayoutId xmlns:r="http://schemas.openxmlformats.org/officeDocument/2006/relationships" id="2147483653" r:id="R9187cfaab312489f"/>
    <p:sldLayoutId xmlns:r="http://schemas.openxmlformats.org/officeDocument/2006/relationships" id="2147483654" r:id="R8bc9bdc26eb24e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LLMOPS EDITORIAL">
      <a:dk1>
        <a:srgbClr val="0A0B0C"/>
      </a:dk1>
      <a:lt1>
        <a:srgbClr val="FFFFFF"/>
      </a:lt1>
      <a:dk2>
        <a:srgbClr val="17283B"/>
      </a:dk2>
      <a:lt2>
        <a:srgbClr val="F7F7F5"/>
      </a:lt2>
      <a:accent1>
        <a:srgbClr val="284B72"/>
      </a:accent1>
      <a:accent2>
        <a:srgbClr val="17283B"/>
      </a:accent2>
      <a:accent3>
        <a:srgbClr val="52606B"/>
      </a:accent3>
      <a:accent4>
        <a:srgbClr val="EDF1F6"/>
      </a:accent4>
      <a:accent5>
        <a:srgbClr val="17191B"/>
      </a:accent5>
      <a:accent6>
        <a:srgbClr val="CFD5D3"/>
      </a:accent6>
      <a:hlink>
        <a:srgbClr val="284B72"/>
      </a:hlink>
      <a:folHlink>
        <a:srgbClr val="17283B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LLMOPS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8461c0bf864627" /><Relationship Type="http://schemas.openxmlformats.org/officeDocument/2006/relationships/notesSlide" Target="/ppt/notesSlides/notesSlide1.xml" Id="Rcf542ef229b249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ff3308809b419c" /><Relationship Type="http://schemas.openxmlformats.org/officeDocument/2006/relationships/notesSlide" Target="/ppt/notesSlides/notesSlide2.xml" Id="R9b951e97a8474d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989a4fa0a34219" /><Relationship Type="http://schemas.openxmlformats.org/officeDocument/2006/relationships/notesSlide" Target="/ppt/notesSlides/notesSlide3.xml" Id="R6f884578fa0d49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40c029e18640cd" /><Relationship Type="http://schemas.openxmlformats.org/officeDocument/2006/relationships/notesSlide" Target="/ppt/notesSlides/notesSlide4.xml" Id="R9042a324b80446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4a4a3e42a84e23" /><Relationship Type="http://schemas.openxmlformats.org/officeDocument/2006/relationships/notesSlide" Target="/ppt/notesSlides/notesSlide5.xml" Id="R79a26187926f44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8e2ff937c247fe" /><Relationship Type="http://schemas.openxmlformats.org/officeDocument/2006/relationships/notesSlide" Target="/ppt/notesSlides/notesSlide6.xml" Id="Rdadcbb1c0ae14c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d7a5c58fae42e4" /><Relationship Type="http://schemas.openxmlformats.org/officeDocument/2006/relationships/notesSlide" Target="/ppt/notesSlides/notesSlide7.xml" Id="R037e638f41374e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577d4e2db64c0d" /><Relationship Type="http://schemas.openxmlformats.org/officeDocument/2006/relationships/notesSlide" Target="/ppt/notesSlides/notesSlide8.xml" Id="Rdf986be7b7cc4f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7c9b275d374a3a" /><Relationship Type="http://schemas.openxmlformats.org/officeDocument/2006/relationships/notesSlide" Target="/ppt/notesSlides/notesSlide9.xml" Id="R0499ec5391e243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3937bb439e4fa4" /><Relationship Type="http://schemas.openxmlformats.org/officeDocument/2006/relationships/notesSlide" Target="/ppt/notesSlides/notesSlide10.xml" Id="R98483d0875df43b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06e82a594f4058" /><Relationship Type="http://schemas.openxmlformats.org/officeDocument/2006/relationships/notesSlide" Target="/ppt/notesSlides/notesSlide11.xml" Id="R8d07cdaf8274486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f0a3a421284e8e" /><Relationship Type="http://schemas.openxmlformats.org/officeDocument/2006/relationships/notesSlide" Target="/ppt/notesSlides/notesSlide12.xml" Id="R42c9325a6b31433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ba6aef5b594711" /><Relationship Type="http://schemas.openxmlformats.org/officeDocument/2006/relationships/notesSlide" Target="/ppt/notesSlides/notesSlide13.xml" Id="Ra272056b722e403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410de51f8b4162" /><Relationship Type="http://schemas.openxmlformats.org/officeDocument/2006/relationships/image" Target="/ppt/media/image.png" Id="R26b3d9a6341149b4" /><Relationship Type="http://schemas.openxmlformats.org/officeDocument/2006/relationships/notesSlide" Target="/ppt/notesSlides/notesSlide14.xml" Id="R7bb776652ef046e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3b6fc04f424ea9" /><Relationship Type="http://schemas.openxmlformats.org/officeDocument/2006/relationships/notesSlide" Target="/ppt/notesSlides/notesSlide15.xml" Id="Re65dd58d72a040d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607219decc4a54" /><Relationship Type="http://schemas.openxmlformats.org/officeDocument/2006/relationships/notesSlide" Target="/ppt/notesSlides/notesSlide16.xml" Id="R34688a09e73043c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0de4efb5de402f" /><Relationship Type="http://schemas.openxmlformats.org/officeDocument/2006/relationships/notesSlide" Target="/ppt/notesSlides/notesSlide17.xml" Id="Ra4c94895ed4f486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140da3a03b47be" /><Relationship Type="http://schemas.openxmlformats.org/officeDocument/2006/relationships/notesSlide" Target="/ppt/notesSlides/notesSlide18.xml" Id="Re5bc01b449e843c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82814b6eac40cd" /><Relationship Type="http://schemas.openxmlformats.org/officeDocument/2006/relationships/notesSlide" Target="/ppt/notesSlides/notesSlide19.xml" Id="R0561838153874b4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9f9f1fa2cb4849" /><Relationship Type="http://schemas.openxmlformats.org/officeDocument/2006/relationships/notesSlide" Target="/ppt/notesSlides/notesSlide20.xml" Id="Rf71fd567b43d4d9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a612423b294211" /><Relationship Type="http://schemas.openxmlformats.org/officeDocument/2006/relationships/chart" Target="/ppt/slides/charts/chart1.xml" Id="R99c2258849b441ad" /><Relationship Type="http://schemas.openxmlformats.org/officeDocument/2006/relationships/notesSlide" Target="/ppt/notesSlides/notesSlide21.xml" Id="R107302213fa549f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5545446e374eb8" /><Relationship Type="http://schemas.openxmlformats.org/officeDocument/2006/relationships/image" Target="/ppt/media/image2.png" Id="Rcadf85ad61f34c36" /><Relationship Type="http://schemas.openxmlformats.org/officeDocument/2006/relationships/notesSlide" Target="/ppt/notesSlides/notesSlide22.xml" Id="Rc83dc2c99f59482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6e3f0d3a294567" /><Relationship Type="http://schemas.openxmlformats.org/officeDocument/2006/relationships/image" Target="/ppt/media/image3.png" Id="R1f166dd46f334733" /><Relationship Type="http://schemas.openxmlformats.org/officeDocument/2006/relationships/notesSlide" Target="/ppt/notesSlides/notesSlide23.xml" Id="R61688d6630124fd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c9257bb2da4812" /><Relationship Type="http://schemas.openxmlformats.org/officeDocument/2006/relationships/notesSlide" Target="/ppt/notesSlides/notesSlide24.xml" Id="R6d18dda4414a441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8d6cf2fa894f7d" /><Relationship Type="http://schemas.openxmlformats.org/officeDocument/2006/relationships/notesSlide" Target="/ppt/notesSlides/notesSlide25.xml" Id="Ra15b948c2eb140a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9345b1c2d34733" /><Relationship Type="http://schemas.openxmlformats.org/officeDocument/2006/relationships/notesSlide" Target="/ppt/notesSlides/notesSlide26.xml" Id="Rc3e49a7c617b40a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24ccaa71864f75" /><Relationship Type="http://schemas.openxmlformats.org/officeDocument/2006/relationships/notesSlide" Target="/ppt/notesSlides/notesSlide27.xml" Id="R67aabbb78c414b7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b7343612ad4f17" /><Relationship Type="http://schemas.openxmlformats.org/officeDocument/2006/relationships/notesSlide" Target="/ppt/notesSlides/notesSlide28.xml" Id="R52dcc233f278467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05eb8a4b6a4778" /><Relationship Type="http://schemas.openxmlformats.org/officeDocument/2006/relationships/notesSlide" Target="/ppt/notesSlides/notesSlide29.xml" Id="Re9724cf858874dd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58935c665b4425" /><Relationship Type="http://schemas.openxmlformats.org/officeDocument/2006/relationships/notesSlide" Target="/ppt/notesSlides/notesSlide30.xml" Id="R15649676d46c4f9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ffc204293d4c84" /><Relationship Type="http://schemas.openxmlformats.org/officeDocument/2006/relationships/notesSlide" Target="/ppt/notesSlides/notesSlide31.xml" Id="R20d838ecb892403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aae5cfb73c4959" /><Relationship Type="http://schemas.openxmlformats.org/officeDocument/2006/relationships/notesSlide" Target="/ppt/notesSlides/notesSlide32.xml" Id="Rcdc6f94fa2d5416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8253bda9c145f9" /><Relationship Type="http://schemas.openxmlformats.org/officeDocument/2006/relationships/notesSlide" Target="/ppt/notesSlides/notesSlide33.xml" Id="Rb46ce3f3bb7147b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94bd503be44862" /><Relationship Type="http://schemas.openxmlformats.org/officeDocument/2006/relationships/notesSlide" Target="/ppt/notesSlides/notesSlide34.xml" Id="R5a273d66898b4be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5a0c0e2b1b4137" /><Relationship Type="http://schemas.openxmlformats.org/officeDocument/2006/relationships/notesSlide" Target="/ppt/notesSlides/notesSlide35.xml" Id="R12fbcfda7702468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63a2f564a04a74" /><Relationship Type="http://schemas.openxmlformats.org/officeDocument/2006/relationships/notesSlide" Target="/ppt/notesSlides/notesSlide36.xml" Id="Rbf8429c31041489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0e1139941348c8" /><Relationship Type="http://schemas.openxmlformats.org/officeDocument/2006/relationships/notesSlide" Target="/ppt/notesSlides/notesSlide37.xml" Id="R44cba31ac217469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a2aea1022143e4" /><Relationship Type="http://schemas.openxmlformats.org/officeDocument/2006/relationships/image" Target="/ppt/media/image4.png" Id="Rd14d7eb10f8c4b3c" /><Relationship Type="http://schemas.openxmlformats.org/officeDocument/2006/relationships/notesSlide" Target="/ppt/notesSlides/notesSlide38.xml" Id="Re8aea5a1477a446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1efbbe7f99484a" /><Relationship Type="http://schemas.openxmlformats.org/officeDocument/2006/relationships/notesSlide" Target="/ppt/notesSlides/notesSlide39.xml" Id="R634f12d2156b49d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fb52798010457f" /><Relationship Type="http://schemas.openxmlformats.org/officeDocument/2006/relationships/notesSlide" Target="/ppt/notesSlides/notesSlide40.xml" Id="Red436849013c49d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129498fadd4f96" /><Relationship Type="http://schemas.openxmlformats.org/officeDocument/2006/relationships/notesSlide" Target="/ppt/notesSlides/notesSlide41.xml" Id="R1278bbcb251c4c7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433e38f4734911" /><Relationship Type="http://schemas.openxmlformats.org/officeDocument/2006/relationships/notesSlide" Target="/ppt/notesSlides/notesSlide42.xml" Id="Rc4e8a584952f41fc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90401dcc9b4485" /><Relationship Type="http://schemas.openxmlformats.org/officeDocument/2006/relationships/notesSlide" Target="/ppt/notesSlides/notesSlide43.xml" Id="R47d336612e384298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554d337f994879" /><Relationship Type="http://schemas.openxmlformats.org/officeDocument/2006/relationships/chart" Target="/ppt/slides/charts/chart2.xml" Id="R2742451aed4a40e0" /><Relationship Type="http://schemas.openxmlformats.org/officeDocument/2006/relationships/notesSlide" Target="/ppt/notesSlides/notesSlide44.xml" Id="Rc1e2c5e3cd654698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dafaf89b59477c" /><Relationship Type="http://schemas.openxmlformats.org/officeDocument/2006/relationships/notesSlide" Target="/ppt/notesSlides/notesSlide45.xml" Id="Rb1bbbf41e6b04537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6dc24ee707414d" /><Relationship Type="http://schemas.openxmlformats.org/officeDocument/2006/relationships/chart" Target="/ppt/slides/charts/chart3.xml" Id="Rce9cc8faec504d0e" /><Relationship Type="http://schemas.openxmlformats.org/officeDocument/2006/relationships/notesSlide" Target="/ppt/notesSlides/notesSlide46.xml" Id="Rbcbce6e1c7194e79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5da23bb950483a" /><Relationship Type="http://schemas.openxmlformats.org/officeDocument/2006/relationships/notesSlide" Target="/ppt/notesSlides/notesSlide47.xml" Id="R51cd8fb0236242df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6863e0d2e640df" /><Relationship Type="http://schemas.openxmlformats.org/officeDocument/2006/relationships/notesSlide" Target="/ppt/notesSlides/notesSlide48.xml" Id="R2f98ea142e364cc2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207721141e4bb9" /><Relationship Type="http://schemas.openxmlformats.org/officeDocument/2006/relationships/notesSlide" Target="/ppt/notesSlides/notesSlide49.xml" Id="Rd1d7a2826902448f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6eda8b6ab14457" /><Relationship Type="http://schemas.openxmlformats.org/officeDocument/2006/relationships/notesSlide" Target="/ppt/notesSlides/notesSlide50.xml" Id="R98767ed389444f81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e12a2cdc934f6d" /><Relationship Type="http://schemas.openxmlformats.org/officeDocument/2006/relationships/notesSlide" Target="/ppt/notesSlides/notesSlide51.xml" Id="R993510c19d6a4719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38263642a0425b" /><Relationship Type="http://schemas.openxmlformats.org/officeDocument/2006/relationships/notesSlide" Target="/ppt/notesSlides/notesSlide52.xml" Id="R9cd492e7aab64a67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44cfd7e5cb42e7" /><Relationship Type="http://schemas.openxmlformats.org/officeDocument/2006/relationships/notesSlide" Target="/ppt/notesSlides/notesSlide53.xml" Id="Ra9eadeb146164c3f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f95d84107f4018" /><Relationship Type="http://schemas.openxmlformats.org/officeDocument/2006/relationships/notesSlide" Target="/ppt/notesSlides/notesSlide54.xml" Id="R99032a16a44c46c8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f8048ad8f945f8" /><Relationship Type="http://schemas.openxmlformats.org/officeDocument/2006/relationships/notesSlide" Target="/ppt/notesSlides/notesSlide55.xml" Id="Rea0038d2ed3740a8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349a9e76134d66" /><Relationship Type="http://schemas.openxmlformats.org/officeDocument/2006/relationships/image" Target="/ppt/media/image5.png" Id="R2325c4e698774721" /><Relationship Type="http://schemas.openxmlformats.org/officeDocument/2006/relationships/notesSlide" Target="/ppt/notesSlides/notesSlide56.xml" Id="R3121b3fda29e411a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e9ed134af54bf4" /><Relationship Type="http://schemas.openxmlformats.org/officeDocument/2006/relationships/notesSlide" Target="/ppt/notesSlides/notesSlide57.xml" Id="Rdc8362d3c1a24877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52041f4b384860" /><Relationship Type="http://schemas.openxmlformats.org/officeDocument/2006/relationships/notesSlide" Target="/ppt/notesSlides/notesSlide58.xml" Id="R3ff09da82dbc4ffc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61d76c28ef4728" /><Relationship Type="http://schemas.openxmlformats.org/officeDocument/2006/relationships/notesSlide" Target="/ppt/notesSlides/notesSlide59.xml" Id="Rbe25fc19669d438b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1f5a0cb7c5416c" /><Relationship Type="http://schemas.openxmlformats.org/officeDocument/2006/relationships/chart" Target="/ppt/slides/charts/chart4.xml" Id="R8a5e15590ecc4309" /><Relationship Type="http://schemas.openxmlformats.org/officeDocument/2006/relationships/notesSlide" Target="/ppt/notesSlides/notesSlide60.xml" Id="R1f8cbf40a237458d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b0b4dcb96841a8" /><Relationship Type="http://schemas.openxmlformats.org/officeDocument/2006/relationships/notesSlide" Target="/ppt/notesSlides/notesSlide61.xml" Id="R83b9f1f13dcc43fe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bd4bba46424487" /><Relationship Type="http://schemas.openxmlformats.org/officeDocument/2006/relationships/notesSlide" Target="/ppt/notesSlides/notesSlide62.xml" Id="R5dc5caaadb4e4d6b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271ac78ecb498e" /><Relationship Type="http://schemas.openxmlformats.org/officeDocument/2006/relationships/notesSlide" Target="/ppt/notesSlides/notesSlide63.xml" Id="Rb106f1244a1044d3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48dd4a8f774e0b" /><Relationship Type="http://schemas.openxmlformats.org/officeDocument/2006/relationships/chart" Target="/ppt/slides/charts/chart5.xml" Id="Rf119d1e454964acf" /><Relationship Type="http://schemas.openxmlformats.org/officeDocument/2006/relationships/notesSlide" Target="/ppt/notesSlides/notesSlide64.xml" Id="Rdea83c81cd724c99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4cbca4f5f74ac3" /><Relationship Type="http://schemas.openxmlformats.org/officeDocument/2006/relationships/notesSlide" Target="/ppt/notesSlides/notesSlide65.xml" Id="R69f60f0b1600472d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21bf89826143db" /><Relationship Type="http://schemas.openxmlformats.org/officeDocument/2006/relationships/notesSlide" Target="/ppt/notesSlides/notesSlide66.xml" Id="R791322a96b4d420b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a3bfbcb9e748b4" /><Relationship Type="http://schemas.openxmlformats.org/officeDocument/2006/relationships/notesSlide" Target="/ppt/notesSlides/notesSlide67.xml" Id="R7d7b569dbef7413a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9378dbcdab428b" /><Relationship Type="http://schemas.openxmlformats.org/officeDocument/2006/relationships/notesSlide" Target="/ppt/notesSlides/notesSlide68.xml" Id="Rf19e20cdb5aa4cb3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6848b818804e32" /><Relationship Type="http://schemas.openxmlformats.org/officeDocument/2006/relationships/notesSlide" Target="/ppt/notesSlides/notesSlide69.xml" Id="R64de76638afa4825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c63a6c67304b39" /><Relationship Type="http://schemas.openxmlformats.org/officeDocument/2006/relationships/notesSlide" Target="/ppt/notesSlides/notesSlide70.xml" Id="Re6ce319ba350407c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c5138cf9994922" /><Relationship Type="http://schemas.openxmlformats.org/officeDocument/2006/relationships/notesSlide" Target="/ppt/notesSlides/notesSlide71.xml" Id="R42e68c2b341f4fea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ac2b2b182c433f" /><Relationship Type="http://schemas.openxmlformats.org/officeDocument/2006/relationships/notesSlide" Target="/ppt/notesSlides/notesSlide72.xml" Id="R865790e217a046c6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65344e99e341ae" /><Relationship Type="http://schemas.openxmlformats.org/officeDocument/2006/relationships/notesSlide" Target="/ppt/notesSlides/notesSlide73.xml" Id="R611826f4868048dc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90ccf56c7b40a1" /><Relationship Type="http://schemas.openxmlformats.org/officeDocument/2006/relationships/notesSlide" Target="/ppt/notesSlides/notesSlide74.xml" Id="R2795d45a2add45e0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7bf9b2ebd243dd" /><Relationship Type="http://schemas.openxmlformats.org/officeDocument/2006/relationships/notesSlide" Target="/ppt/notesSlides/notesSlide75.xml" Id="R3f8f81b15d1d416f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b45306b9a14831" /><Relationship Type="http://schemas.openxmlformats.org/officeDocument/2006/relationships/notesSlide" Target="/ppt/notesSlides/notesSlide76.xml" Id="R314bf7f7b5954ac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정답 토큰 손실 (자연로그)</c:v>
          </c:tx>
          <c:spPr>
            <a:solidFill xmlns:a="http://schemas.openxmlformats.org/drawingml/2006/main">
              <a:srgbClr val="284B72"/>
            </a:solidFill>
            <a:ln xmlns:a="http://schemas.openxmlformats.org/drawingml/2006/main" w="19050">
              <a:solidFill>
                <a:srgbClr val="284B72"/>
              </a:solidFill>
            </a:ln>
          </c:spPr>
          <c:invertIfNegative val="0"/>
          <c:cat>
            <c:numRef>
              <c:f>'Chart Data'!$A$2:$A$4</c:f>
              <c:numCache>
                <c:formatCode>General</c:formatCode>
                <c:ptCount val="3"/>
                <c:pt idx="0">
                  <c:v>0.2</c:v>
                </c:pt>
                <c:pt idx="1">
                  <c:v>0.5</c:v>
                </c:pt>
                <c:pt idx="2">
                  <c:v>0.8</c:v>
                </c:pt>
              </c:numCache>
            </c:num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1.609438</c:v>
                </c:pt>
                <c:pt idx="1">
                  <c:v>0.693147</c:v>
                </c:pt>
                <c:pt idx="2">
                  <c:v>0.223144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06B"/>
                  </a:solidFill>
                  <a:latin typeface="AppleGothic"/>
                  <a:ea typeface="AppleGothic"/>
                  <a:cs typeface="Apple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전체 행렬</c:v>
          </c:tx>
          <c:spPr>
            <a:solidFill xmlns:a="http://schemas.openxmlformats.org/drawingml/2006/main">
              <a:srgbClr val="284B72"/>
            </a:solidFill>
            <a:ln xmlns:a="http://schemas.openxmlformats.org/drawingml/2006/main" w="19050">
              <a:solidFill>
                <a:srgbClr val="284B72"/>
              </a:solidFill>
            </a:ln>
          </c:spPr>
          <c:invertIfNegative val="0"/>
          <c:cat>
            <c:strRef>
              <c:f>'Chart Data'!$A$2:$A$5</c:f>
              <c:strCache>
                <c:ptCount val="4"/>
                <c:pt idx="0">
                  <c:v>rank1</c:v>
                </c:pt>
                <c:pt idx="1">
                  <c:v>rank2</c:v>
                </c:pt>
                <c:pt idx="2">
                  <c:v>rank4</c:v>
                </c:pt>
                <c:pt idx="3">
                  <c:v>rank8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96</c:v>
                </c:pt>
                <c:pt idx="1">
                  <c:v>96</c:v>
                </c:pt>
                <c:pt idx="2">
                  <c:v>96</c:v>
                </c:pt>
                <c:pt idx="3">
                  <c:v>96</c:v>
                </c:pt>
              </c:numCache>
            </c:numRef>
          </c:val>
        </c:ser>
        <c:ser>
          <c:idx val="1"/>
          <c:order val="1"/>
          <c:tx>
            <c:v>두 행렬 합계</c:v>
          </c:tx>
          <c:spPr>
            <a:solidFill xmlns:a="http://schemas.openxmlformats.org/drawingml/2006/main">
              <a:srgbClr val="17283B"/>
            </a:solidFill>
            <a:ln xmlns:a="http://schemas.openxmlformats.org/drawingml/2006/main" w="19050">
              <a:solidFill>
                <a:srgbClr val="17283B"/>
              </a:solidFill>
            </a:ln>
          </c:spPr>
          <c:invertIfNegative val="0"/>
          <c:cat>
            <c:strRef>
              <c:f>'Chart Data'!$C$2:$C$5</c:f>
              <c:strCache>
                <c:ptCount val="4"/>
                <c:pt idx="0">
                  <c:v>rank1</c:v>
                </c:pt>
                <c:pt idx="1">
                  <c:v>rank2</c:v>
                </c:pt>
                <c:pt idx="2">
                  <c:v>rank4</c:v>
                </c:pt>
                <c:pt idx="3">
                  <c:v>rank8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20</c:v>
                </c:pt>
                <c:pt idx="1">
                  <c:v>40</c:v>
                </c:pt>
                <c:pt idx="2">
                  <c:v>80</c:v>
                </c:pt>
                <c:pt idx="3">
                  <c:v>160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06B"/>
                  </a:solidFill>
                  <a:latin typeface="AppleGothic"/>
                  <a:ea typeface="AppleGothic"/>
                  <a:cs typeface="Apple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2606B"/>
              </a:solidFill>
              <a:latin typeface="AppleGothic"/>
              <a:ea typeface="AppleGothic"/>
              <a:cs typeface="AppleGothic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상대 행렬 오차</c:v>
          </c:tx>
          <c:spPr>
            <a:solidFill xmlns:a="http://schemas.openxmlformats.org/drawingml/2006/main">
              <a:srgbClr val="284B72"/>
            </a:solidFill>
            <a:ln xmlns:a="http://schemas.openxmlformats.org/drawingml/2006/main" w="19050">
              <a:solidFill>
                <a:srgbClr val="284B72"/>
              </a:solidFill>
            </a:ln>
          </c:spPr>
          <c:invertIfNegative val="0"/>
          <c:cat>
            <c:strRef>
              <c:f>'Chart Data'!$A$2:$A$5</c:f>
              <c:strCache>
                <c:ptCount val="4"/>
                <c:pt idx="0">
                  <c:v>rank1</c:v>
                </c:pt>
                <c:pt idx="1">
                  <c:v>rank2</c:v>
                </c:pt>
                <c:pt idx="2">
                  <c:v>rank4</c:v>
                </c:pt>
                <c:pt idx="3">
                  <c:v>rank8</c:v>
                </c:pt>
              </c:strCache>
            </c:strRef>
          </c:cat>
          <c:val>
            <c:numRef>
              <c:f>'Chart Data'!$B$2:$B$5</c:f>
              <c:numCache>
                <c:formatCode>0.000</c:formatCode>
                <c:ptCount val="4"/>
                <c:pt idx="0">
                  <c:v>0.829759</c:v>
                </c:pt>
                <c:pt idx="1">
                  <c:v>0.695374</c:v>
                </c:pt>
                <c:pt idx="2">
                  <c:v>0.442577</c:v>
                </c:pt>
                <c:pt idx="3">
                  <c:v>0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06B"/>
                  </a:solidFill>
                  <a:latin typeface="AppleGothic"/>
                  <a:ea typeface="AppleGothic"/>
                  <a:cs typeface="Apple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평균제곱오차</c:v>
          </c:tx>
          <c:spPr>
            <a:solidFill xmlns:a="http://schemas.openxmlformats.org/drawingml/2006/main">
              <a:srgbClr val="284B72"/>
            </a:solidFill>
            <a:ln xmlns:a="http://schemas.openxmlformats.org/drawingml/2006/main" w="19050">
              <a:solidFill>
                <a:srgbClr val="284B72"/>
              </a:solidFill>
            </a:ln>
          </c:spPr>
          <c:invertIfNegative val="0"/>
          <c:cat>
            <c:strRef>
              <c:f>'Chart Data'!$A$2:$A$5</c:f>
              <c:strCache>
                <c:ptCount val="4"/>
                <c:pt idx="0">
                  <c:v>2-bit</c:v>
                </c:pt>
                <c:pt idx="1">
                  <c:v>3-bit</c:v>
                </c:pt>
                <c:pt idx="2">
                  <c:v>4-bit</c:v>
                </c:pt>
                <c:pt idx="3">
                  <c:v>8-bit</c:v>
                </c:pt>
              </c:strCache>
            </c:strRef>
          </c:cat>
          <c:val>
            <c:numRef>
              <c:f>'Chart Data'!$B$2:$B$5</c:f>
              <c:numCache>
                <c:formatCode>0.00000</c:formatCode>
                <c:ptCount val="4"/>
                <c:pt idx="0">
                  <c:v>0.037</c:v>
                </c:pt>
                <c:pt idx="1">
                  <c:v>0.006796</c:v>
                </c:pt>
                <c:pt idx="2">
                  <c:v>0.00148</c:v>
                </c:pt>
                <c:pt idx="3">
                  <c:v>5E-06</c:v>
                </c:pt>
              </c:numCache>
            </c:numRef>
          </c:val>
        </c:ser>
        <c:dLbls>
          <c:numFmt formatCode="0.00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06B"/>
                  </a:solidFill>
                  <a:latin typeface="AppleGothic"/>
                  <a:ea typeface="AppleGothic"/>
                  <a:cs typeface="Apple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0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가중치 원시 저장량 GB</c:v>
          </c:tx>
          <c:spPr>
            <a:solidFill xmlns:a="http://schemas.openxmlformats.org/drawingml/2006/main">
              <a:srgbClr val="284B72"/>
            </a:solidFill>
            <a:ln xmlns:a="http://schemas.openxmlformats.org/drawingml/2006/main" w="19050">
              <a:solidFill>
                <a:srgbClr val="284B72"/>
              </a:solidFill>
            </a:ln>
          </c:spPr>
          <c:invertIfNegative val="0"/>
          <c:cat>
            <c:strRef>
              <c:f>'Chart Data'!$A$2:$A$4</c:f>
              <c:strCache>
                <c:ptCount val="3"/>
                <c:pt idx="0">
                  <c:v>16-bit</c:v>
                </c:pt>
                <c:pt idx="1">
                  <c:v>8-bit</c:v>
                </c:pt>
                <c:pt idx="2">
                  <c:v>4-bit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14</c:v>
                </c:pt>
                <c:pt idx="1">
                  <c:v>7</c:v>
                </c:pt>
                <c:pt idx="2">
                  <c:v>3.5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06B"/>
                  </a:solidFill>
                  <a:latin typeface="AppleGothic"/>
                  <a:ea typeface="AppleGothic"/>
                  <a:cs typeface="Apple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53ACC5-9CFD-419B-AAED-0DACAF58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rPr>
              <a:t>LLMOPS / WEEK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C6EDA-83F7-4FF8-A55F-435563ED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5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5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지도 미세조정과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5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5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메모리 효율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20BEF-4CD7-483F-A879-411008EF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EC32E3-6AF3-4D71-9DD8-4A55013E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0668000" cy="323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rPr>
              <a:t>SFT · LoRA · QLoRA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48765-6461-465D-8F5E-E06E84E8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215"/>
            <a:ext cx="10668000" cy="323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rPr>
              <a:t>6주차 학습 단원 · 7주차 통합 강의 복습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BDDDE3-6459-4942-B645-4F2C602A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0830"/>
            <a:ext cx="10668000" cy="323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BDC7C4"/>
                </a:solidFill>
                <a:latin typeface="AppleGothic"/>
                <a:ea typeface="AppleGothic"/>
                <a:cs typeface="AppleGothic"/>
              </a:rPr>
              <a:t>차성재 · 무신사 Core AI PM × AI 대학원 겸임교수</a:t>
            </a:r>
          </a:p>
        </p:txBody>
      </p:sp>
    </p:spTree>
    <p:extLst>
      <p:ext uri="{BB962C8B-B14F-4D97-AF65-F5344CB8AC3E}">
        <p14:creationId xmlns:p14="http://schemas.microsoft.com/office/powerpoint/2010/main" val="16131723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2D3BE-9647-4875-9F63-5BC2ED3F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1D4FF2-F150-44C0-A466-B8C254B3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478BAF-7656-409D-8587-1A6F1317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6–7주차 자료의 연결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626158-A6D4-495F-8876-F1977A92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96C3C2-54CE-4609-8B0F-A8E5EC0B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707E2-024D-4C7C-98CF-441A79B4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4689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1DE153-5656-491A-BC11-C1AB5FCD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477500" cy="426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10월 9일 휴일에는 수업·녹화·신규 과제 없음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5F26AF-C5F7-41D8-8C04-2C432AE6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3789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6주차 기술 내용은 10월 16일 통합 강의에서 진행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034651-279C-4E6E-8663-3F2390DE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6536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통합 녹화와 단계별 실습을 함께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9D7B2A-11F7-4368-9E46-B01A19FC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기획서 마감: 10.22(목) 23:59 한국시간 · 10.23은 제출물 평가</a:t>
            </a:r>
          </a:p>
        </p:txBody>
      </p:sp>
    </p:spTree>
    <p:extLst>
      <p:ext uri="{BB962C8B-B14F-4D97-AF65-F5344CB8AC3E}">
        <p14:creationId xmlns:p14="http://schemas.microsoft.com/office/powerpoint/2010/main" val="7323435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6311D7-7EEF-4B39-9653-7A402DC8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95F9B7-5E3F-4465-A725-92CD2EBF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F98D6C-C61A-4090-8557-50F1C244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학습 내용의 세 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F1E844-5221-4D3B-B0E3-D61B7263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85B89B-89D9-47CC-84D8-BA65131F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E779A-E1D5-4481-9E71-4D4847D6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7C76D9-E307-4FA8-B3AD-6A53CA2B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28800"/>
            <a:ext cx="3000375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SFT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90B914-8DE2-44AC-8F56-FF472223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828800"/>
            <a:ext cx="6781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어떤 입력과 기대 답변으로 학습하는가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8B4297-1A9A-4358-9A8C-4FB2605F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2956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62A1A4-8037-41D0-91FF-D9FDC7E5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899663-B4E9-448F-B0F6-C2553441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67050"/>
            <a:ext cx="3000375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LoRA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C3684E-F46C-4032-A83A-9B7C131D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67050"/>
            <a:ext cx="6781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어떤 파라미터를 갱신하는가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7EE823-5551-4DFF-8247-81D51407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781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A63197-7115-4EAF-804C-1B41237C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AD2CA0-814C-4925-8E58-7C296D31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05300"/>
            <a:ext cx="3000375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QLoRA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9967A6-790D-4864-9BA1-16160D68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305300"/>
            <a:ext cx="6781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고정 모델을 어떤 정밀도로 저장하는가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7625A3-3E4A-4835-9642-630A6559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0606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B8B7E6-6CE4-4771-AA3C-02F84392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지도 미세조정이라는 학습 목적에 LoRA 또는 QLoRA를 결합</a:t>
            </a:r>
          </a:p>
        </p:txBody>
      </p:sp>
    </p:spTree>
    <p:extLst>
      <p:ext uri="{BB962C8B-B14F-4D97-AF65-F5344CB8AC3E}">
        <p14:creationId xmlns:p14="http://schemas.microsoft.com/office/powerpoint/2010/main" val="14673994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551667-C097-49B0-B9A1-56F09553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C584BB-E101-413A-915D-583E573F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838000-D0B0-4D7B-92E0-4D75FBFB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100분 복습 진행 예시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8D2BE-FCD9-40DD-8663-E3AE8F27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31099-2BFC-4097-9039-DC7454B8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E6B74-E3D7-4E06-A933-75A75764EA74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4686300"/>
                <a:gridCol w="3429000"/>
              </a:tblGrid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구간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주요 내용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권장 시간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배경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문제와 기술 선택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10분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SFT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데이터·손실·마스킹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25분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LoRA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행렬·설정·비용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25분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QLoRA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정밀도·메모리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20분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실습 정리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실행·비교·평가 계획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20분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A5983B-332B-4E76-AF6F-AD8B90C2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E1E5ED-7216-4E57-A15D-5A8BB0A8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0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2E577A-5091-4A6A-B5C3-E0977E99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1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2CAE42-0623-471A-A659-9D67A00A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209DE1-B3F5-49A4-B7CE-2F3400F5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3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782614-757B-4460-AD94-28D35733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20488B-F4D7-4D29-9E32-BC65119A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C11F18-55B5-450F-BF1A-DD2B44DE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자가 복습용 시간 배분 · 코드 예시는 해당 개념을 읽으며 실행</a:t>
            </a:r>
          </a:p>
        </p:txBody>
      </p:sp>
    </p:spTree>
    <p:extLst>
      <p:ext uri="{BB962C8B-B14F-4D97-AF65-F5344CB8AC3E}">
        <p14:creationId xmlns:p14="http://schemas.microsoft.com/office/powerpoint/2010/main" val="2088171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28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3347A3-5C0E-4A5D-93B8-D0ADA652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rPr>
              <a:t>W06 /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EDF031-5277-4D49-A56C-CE177D94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모델 적응의 배경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058A5B-C55C-4174-880C-5ED575CD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2C9F1-9590-4263-A19E-FD660CD3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학습한 언어 패턴과 업무 규칙의 차이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9D22C-8600-4F78-B171-6D4CFB58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9861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먼저 실패 유형을 확인한 뒤 학습 범위 결정</a:t>
            </a:r>
          </a:p>
        </p:txBody>
      </p:sp>
    </p:spTree>
    <p:extLst>
      <p:ext uri="{BB962C8B-B14F-4D97-AF65-F5344CB8AC3E}">
        <p14:creationId xmlns:p14="http://schemas.microsoft.com/office/powerpoint/2010/main" val="16976431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C6D879-E05B-488B-9227-62F404B1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CE1944-94DD-41F9-A916-6ABF0170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9F170C-79AF-4400-8840-4CE1F38E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사전학습과 지도 미세조정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CD35C-DEF5-4D2D-A966-23CF9D41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881418-E0F9-4751-938E-28076833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75AC6C-F175-434C-A42E-95D27927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사전학습 모델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38B7E-E78F-45B7-923E-1D73910E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A36D0-B404-4DB3-B63A-45004584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대규모 텍스트의 통계적 패턴 학습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61E607-4339-423A-9677-F8C6ED20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업무별 출력 규칙은 추가 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7C29BD-3784-4F24-B463-CDAB8B09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지도 미세조정 모델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3EFCC1-CAA5-4D95-9DC1-A7951418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81D42B-99C7-451E-8164-E23F2692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입력과 기대 답변 쌍으로 추가 학습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021B82-FD48-49B9-9EA0-B900F8ED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반복 형식·행동의 적응에 활용</a:t>
            </a:r>
          </a:p>
        </p:txBody>
      </p:sp>
    </p:spTree>
    <p:extLst>
      <p:ext uri="{BB962C8B-B14F-4D97-AF65-F5344CB8AC3E}">
        <p14:creationId xmlns:p14="http://schemas.microsoft.com/office/powerpoint/2010/main" val="6686201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F7D718-7C10-43AA-969A-44A9AC99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C64AE-1D5A-4B68-B708-DF8D4439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7621CF-BD33-4512-B15A-28DBFB60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학습과 사용 단계의 차이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2EDD27-2907-4F75-9A4F-2CBAD037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69F89-6102-4E5F-B390-6F613136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CEC547-5470-408A-A581-DE0286BF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1EFC67-0957-4774-9883-4903464C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6CDB7A-35CC-4C10-955D-88330DDE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9DCA39-11F8-499E-A557-F2F33676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학습 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B15C88-C9F2-413A-A5AE-123175B1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기대 답변 포함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019C6A-B67A-4B42-B536-B85260A3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66CB98-0CC0-415C-8DA3-A58D836A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DAA33D-C063-4BF0-B6C8-2CBB7402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손실 계산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DDD622-BD82-4AD1-905D-4041788A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예측과 정답 비교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70CDD0-0A89-4D78-BE82-0D65EE39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BB80D3-568E-4BC3-A93B-EAD0EEF2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4E16E7-9B39-479F-9E8A-1F821DD7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가중치 갱신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26C824-7B41-4F5D-81DE-F905D504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학습 대상만 변경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575848-8928-4A29-99A3-7EC17061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149804-2BB1-44EB-99FA-7067F7B3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E17D5D-6928-46E9-B7B4-64787421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추론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52FB06-2167-45DB-90DD-542DEDE6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입력에서 답변 생성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8FE3C7-B69F-4270-B09E-630015EE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일반적인 추론 요청은 모델 가중치를 갱신하지 않음</a:t>
            </a:r>
          </a:p>
        </p:txBody>
      </p:sp>
    </p:spTree>
    <p:extLst>
      <p:ext uri="{BB962C8B-B14F-4D97-AF65-F5344CB8AC3E}">
        <p14:creationId xmlns:p14="http://schemas.microsoft.com/office/powerpoint/2010/main" val="14445652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3F796A-FA73-4176-9DE2-C12B85DB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DCC07-0399-4E73-AA4D-E38A906B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CC8754-05AA-4C7D-8197-41953CC0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프롬프트·검색·미세조정의 비교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52623-3C44-4B02-A196-F7EC75F8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6EF45F-E349-47A2-BAC2-A11D21E0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381D6-8093-4B80-A65B-DECA2E977DC4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971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4686300"/>
                <a:gridCol w="3429000"/>
              </a:tblGrid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방법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바꾸는 대상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먼저 확인할 조건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프롬프트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요청의 지시·예시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같은 입력의 오류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검색 증강 생성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요청에 제공할 문서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최신성·접근 권한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지도 미세조정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모델의 응답 패턴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허가된 예시·평가셋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070D0E-AFCB-4335-94DA-318F6C10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A3D28-3ADA-4D43-8DA6-AB821AD8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4951EB-A241-45B6-8528-8D843D86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6A8D6A-653D-4DF9-8AD9-077BC248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F6F623-6BAD-4260-82F7-556FBE51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6FCD26-0DE6-4C59-9725-A9394C38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검색 증강 생성: Retrieval-Augmented Generation, RAG · 함께 적용 가능</a:t>
            </a:r>
          </a:p>
        </p:txBody>
      </p:sp>
    </p:spTree>
    <p:extLst>
      <p:ext uri="{BB962C8B-B14F-4D97-AF65-F5344CB8AC3E}">
        <p14:creationId xmlns:p14="http://schemas.microsoft.com/office/powerpoint/2010/main" val="18285304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B618B-964E-434D-B830-649214A6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AA928A-5CA4-464E-BAF5-ECC83E12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84CA93-FA23-4B6A-BDD7-47232654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사례 A · 바뀐 정책의 오답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42486E-E3B5-4B56-ACF1-DCE9A08D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58B01-CF8F-4600-86D9-33594160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D55B3D-F92D-47F8-8892-7F560A09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4689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4DB44-2F4A-4433-ADFB-EF5ED064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477500" cy="426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정책은 바뀌었지만 모델은 이전 조건으로 답변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5B1B3B-2249-4582-8D2C-6D9C26E7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3789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먼저 문서 버전·검색 결과·적용일 점검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F4B377-B374-4BA5-8EE7-E032009D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6536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정책 원문을 학습에만 넣으면 갱신·삭제가 어려움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23EFAA-E528-4BD9-B512-F31D75D1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합성 사례 · 최신 지식 제공과 반복 행동 학습의 구분</a:t>
            </a:r>
          </a:p>
        </p:txBody>
      </p:sp>
    </p:spTree>
    <p:extLst>
      <p:ext uri="{BB962C8B-B14F-4D97-AF65-F5344CB8AC3E}">
        <p14:creationId xmlns:p14="http://schemas.microsoft.com/office/powerpoint/2010/main" val="2953186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B58575-8B9D-4647-98A4-6A60C33E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BF158-3B3F-4667-A7E0-B35709B9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ED1B40-0263-49FA-A6A5-E04B689F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사례 B · 반복되는 형식 오류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46EA1E-7361-4C5E-8A98-A72EECB1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FFC9AE-91AA-42BA-9DA6-32173047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882CE1-553C-4FB6-8A8C-8920134A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현재 대안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8369F2-FC83-4974-A05D-6F6F3EAB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9A4918-F609-4276-8299-EA08ED24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프롬프트에 JSON 예시 제공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B72B50-75F2-4431-ABD3-95D87FB5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필수 키 검사와 재시도 적용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2F77A3-0DAC-4794-9830-1E8DE885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미세조정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EA7D7D-3927-4C69-A448-AB233557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33025E-0D2F-4FFC-9287-4700E5D5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동일한 실패가 반복되는지 기록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54F95F-ADF2-41CD-AC2B-2B3B85D8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정상·예외·보류 답변을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743252-2BDD-4A36-8CFB-10E54002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JSON: JavaScript Object Notation · 데이터 교환 형식</a:t>
            </a:r>
          </a:p>
        </p:txBody>
      </p:sp>
    </p:spTree>
    <p:extLst>
      <p:ext uri="{BB962C8B-B14F-4D97-AF65-F5344CB8AC3E}">
        <p14:creationId xmlns:p14="http://schemas.microsoft.com/office/powerpoint/2010/main" val="2725211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58313C-FD32-4DD2-B74C-01E22F15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93BE92-A72D-44F2-B025-11F9E1A0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A4F8D-1EC6-443E-ABFB-75D90F10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미세조정 검토 순서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E6252D-1FAD-4E54-90EE-72C843EA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30979C-E5C2-4045-8843-350C2A69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EC4736-CD09-4872-B3A8-D6EB996D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23AD5E-9054-4D2E-B117-5437543B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1D7323-CCEF-4BEF-911E-90F36999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FF5D30-C2FF-4125-9C72-FCFFBAFA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실패 수집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C75E02-7640-4B73-8A01-19F168AD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입력·원문 보존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FFAA7F-57D5-42B3-B0E3-B1EAD71D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4839C0-4C95-46D1-B4D6-32C21334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75976C-7AD0-48DE-9599-4A4384E2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기준선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B81645-6AA1-4EC9-BEA6-D61C6992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프롬프트 대안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1545CD-A8BC-4BC6-A4F8-624316AF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6140B-6FCA-4806-ABB7-B1AEC939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55E64D-8B8C-48C2-AD9D-75C590FA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자료 준비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82CE43-88CB-4432-91EC-E5192159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허가·분할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E3EAE6-86B1-47BB-826E-3F2864D1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B51264-E2A0-4DC1-BF3D-4B81C7B6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136A00-124E-4970-886F-749EDF65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비교 평가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9D5E2A-FBF4-41D9-A3C0-DF4FC32C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품질·운영 비용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5E60F4-C024-4B33-9219-30916777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변경할 대상과 성공 조건을 먼저 정한 뒤 실행</a:t>
            </a:r>
          </a:p>
        </p:txBody>
      </p:sp>
    </p:spTree>
    <p:extLst>
      <p:ext uri="{BB962C8B-B14F-4D97-AF65-F5344CB8AC3E}">
        <p14:creationId xmlns:p14="http://schemas.microsoft.com/office/powerpoint/2010/main" val="1668449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DE4EE7-6FEF-4D6A-9C0F-7C96E649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D92231-F67D-4F22-A08E-FC6828E1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F73853-E694-4F1B-A2CF-92B77658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실험 가설의 기록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544B6-633C-40C6-83E8-C31DB9D2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2EF87-612E-468D-945B-0F522B54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C77EA-FBBA-46CD-A501-2CA098077DD1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항목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수업용 제안 예시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고칠 문제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필수 JSON 키가 반복 누락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변경 범위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동일 Base에 LoRA 적용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비교 조건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동일 입력·문서·생성 설정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성공·중단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형식 개선과 근거 오류를 함께 검토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DA1096-8DDD-4E8C-BD39-EB6E99AF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F7274D-BB4C-4387-8AEA-B67D78EC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D7E203-FD8D-4C19-9BA6-674F81F9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86371-F345-4DE3-BB3D-31568923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1205D4-2964-4DC9-99C6-9978ECBD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F0BFFF-F7A9-4C4C-9C1C-686D9414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7BC0A9-7A4A-4578-9BF7-AD7F4831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목표와 가설 예시 · 이미 달성한 결과를 뜻하지 않음</a:t>
            </a:r>
          </a:p>
        </p:txBody>
      </p:sp>
    </p:spTree>
    <p:extLst>
      <p:ext uri="{BB962C8B-B14F-4D97-AF65-F5344CB8AC3E}">
        <p14:creationId xmlns:p14="http://schemas.microsoft.com/office/powerpoint/2010/main" val="21174018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728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ECCF9-8DD1-403A-9C1E-CA1B7841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rPr>
              <a:t>W06 /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DCB0BF-7F1B-46B1-AA90-EFAD9DE7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지도 미세조정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6E4833-DB07-44AC-BE56-EE12E28C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442E51-C724-4F98-98BD-131DC424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Supervised Fine-Tuning · SFT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9E895-B0CB-4A4F-8DB7-FA5B3FA5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9861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업무 입력과 기대 답변으로 다음 토큰 예측 학습</a:t>
            </a:r>
          </a:p>
        </p:txBody>
      </p:sp>
    </p:spTree>
    <p:extLst>
      <p:ext uri="{BB962C8B-B14F-4D97-AF65-F5344CB8AC3E}">
        <p14:creationId xmlns:p14="http://schemas.microsoft.com/office/powerpoint/2010/main" val="882298502"/>
      </p:ext>
    </p:extLst>
  </p:cSld>
</p:sld>
</file>

<file path=ppt/slides/slide1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7F7F5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4" name="">
            <ns1:extLst>
              <ns1:ext uri="{FF2B5EF4-FFF2-40B4-BE49-F238E27FC236}">
                <ns2:creationId id="{2A7B04E6-88FD-49BD-9AB4-8DDA88A185FF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247650"/>
            <ns1:ext cx="9525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LLMOPS / W06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C09B6289-BC4E-43B6-87DB-97474C85E0E7}"/>
              </ns1:ext>
            </ns1:extLst>
          </ns0:cNvPr>
          <ns0:cNvSpPr>
            <ns1:spLocks noGrp="1"/>
          </ns0:cNvSpPr>
          <ns0:nvPr/>
        </ns0:nvSpPr>
        <ns0:spPr>
          <ns1:xfrm>
            <ns1:off x="10858500" y="247650"/>
            <ns1:ext cx="7239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r">
              <ns1:defRPr sz="1400" b="0">
                <ns1:solidFill>
                  <ns1:srgbClr val="52606B"/>
                </ns1:solidFill>
                <ns1:latin typeface="Menlo"/>
                <ns1:ea typeface="Menlo"/>
                <ns1:cs typeface="Menlo"/>
              </ns1:defRPr>
            </ns1:defPPr>
          </ns1:lstStyle>
          <ns1:p>
            <ns1:pPr algn="r">
              <ns1:lnSpc>
                <ns1:spcPct val="116000"/>
              </ns1:lnSpc>
              <ns1:buNone/>
              <ns1:defRPr sz="1400" b="0">
                <ns1:solidFill>
                  <ns1:srgbClr val="52606B"/>
                </ns1:solidFill>
                <ns1:latin typeface="Menlo"/>
                <ns1:ea typeface="Menlo"/>
                <ns1:cs typeface="Menlo"/>
              </ns1:defRPr>
            </ns1:pPr>
            <ns1:r>
              <ns1:rPr sz="1400" b="0">
                <ns1:solidFill>
                  <ns1:srgbClr val="52606B"/>
                </ns1:solidFill>
                <ns1:latin typeface="Menlo"/>
                <ns1:ea typeface="Menlo"/>
                <ns1:cs typeface="Menlo"/>
              </ns1:rPr>
              <ns1:t>14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4400629E-6842-4313-9A5B-D9A7AD1B3409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723900"/>
            <ns1:ext cx="10972800" cy="666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34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34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34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rPr>
              <ns1:t>SFT의 토큰 예측과 손실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F3AC01E0-0382-49DA-B1BA-14D53B8DCB90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315075"/>
            <ns1:ext cx="10972800" cy="9525"/>
          </ns1:xfrm>
          <ns1:prstGeom prst="rect">
            <ns1:avLst/>
          </ns1:prstGeom>
          <ns1:solidFill>
            <ns1:srgbClr val="CFD5D3"/>
          </ns1:solidFill>
          <ns1:ln w="0">
            <ns1:noFill/>
            <ns1:prstDash val="solid"/>
          </ns1:ln>
        </ns0:spPr>
      </ns0:sp>
      <ns0:sp>
        <ns0:nvSpPr>
          <ns0:cNvPr id="5" name="">
            <ns1:extLst>
              <ns1:ext uri="{FF2B5EF4-FFF2-40B4-BE49-F238E27FC236}">
                <ns2:creationId id="{EEBCBC29-640C-4045-97D5-BFA0176C8A73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477000"/>
            <ns1:ext cx="109728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SFT · LoRA · QLoRA · 데이터와 평가</ns1:t>
            </ns1:r>
          </ns1:p>
        </ns0:txBody>
      </ns0:sp>
      <ns0:pic>
        <ns0:nvPicPr>
          <ns0:cNvPr id="6" name="">
            <ns1:extLst>
              <ns1:ext uri="{FF2B5EF4-FFF2-40B4-BE49-F238E27FC236}">
                <ns2:creationId id="{1108B235-DCAD-49AA-88B3-149EF64F6AD5}"/>
              </ns1:ext>
            </ns1:extLst>
          </ns0:cNvPr>
          <ns0:cNvPicPr>
            <ns1:picLocks noChangeAspect="1"/>
          </ns0:cNvPicPr>
          <ns0:nvPr/>
        </ns0:nvPicPr>
        <ns0:blipFill>
          <ns1:blip ns3:embed="R26b3d9a6341149b4">
            <ns1:grayscl/>
          </ns1:blip>
          <ns1:stretch/>
        </ns0:blipFill>
        <ns0:spPr>
          <ns1:xfrm>
            <ns1:off x="609600" y="1623599"/>
            <ns1:ext cx="7810500" cy="3991803"/>
          </ns1:xfrm>
          <ns1:prstGeom prst="rect">
            <ns1:avLst/>
          </ns1:prstGeom>
        </ns0:spPr>
      </ns0:pic>
      <ns0:sp>
        <ns0:nvSpPr>
          <ns0:cNvPr id="7" name="">
            <ns1:extLst>
              <ns1:ext uri="{FF2B5EF4-FFF2-40B4-BE49-F238E27FC236}">
                <ns2:creationId id="{BBB5D8BD-A92B-4BEF-955F-1B6E5FF0D954}"/>
              </ns1:ext>
            </ns1:extLst>
          </ns0:cNvPr>
          <ns0:cNvSpPr>
            <ns1:spLocks noGrp="1"/>
          </ns0:cNvSpPr>
          <ns0:nvPr/>
        </ns0:nvSpPr>
        <ns0:spPr>
          <ns1:xfrm>
            <ns1:off x="8858250" y="1771650"/>
            <ns1:ext cx="272415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22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22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22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rPr>
              <ns1:t>입력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9830303A-CA88-453B-81C5-79AC49BBACC5}"/>
              </ns1:ext>
            </ns1:extLst>
          </ns0:cNvPr>
          <ns0:cNvSpPr>
            <ns1:spLocks noGrp="1"/>
          </ns0:cNvSpPr>
          <ns0:nvPr/>
        </ns0:nvSpPr>
        <ns0:spPr>
          <ns1:xfrm>
            <ns1:off x="8858250" y="2228850"/>
            <ns1:ext cx="2724150" cy="685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input_ids: 토큰 ID의 나열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F7502CE5-ECF2-43F4-AC7B-2EA87C6C8F4A}"/>
              </ns1:ext>
            </ns1:extLst>
          </ns0:cNvPr>
          <ns0:cNvSpPr>
            <ns1:spLocks noGrp="1"/>
          </ns0:cNvSpPr>
          <ns0:nvPr/>
        </ns0:nvSpPr>
        <ns0:spPr>
          <ns1:xfrm>
            <ns1:off x="8858250" y="3009900"/>
            <ns1:ext cx="272415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22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22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22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rPr>
              <ns1:t>예측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490BCD1D-0007-4245-B3F5-56F7F58245D0}"/>
              </ns1:ext>
            </ns1:extLst>
          </ns0:cNvPr>
          <ns0:cNvSpPr>
            <ns1:spLocks noGrp="1"/>
          </ns0:cNvSpPr>
          <ns0:nvPr/>
        </ns0:nvSpPr>
        <ns0:spPr>
          <ns1:xfrm>
            <ns1:off x="8858250" y="3467100"/>
            <ns1:ext cx="2724150" cy="685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logits: 다음 토큰의 점수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C9414CE1-806F-4829-B010-FF5481DE7FD0}"/>
              </ns1:ext>
            </ns1:extLst>
          </ns0:cNvPr>
          <ns0:cNvSpPr>
            <ns1:spLocks noGrp="1"/>
          </ns0:cNvSpPr>
          <ns0:nvPr/>
        </ns0:nvSpPr>
        <ns0:spPr>
          <ns1:xfrm>
            <ns1:off x="8858250" y="4248150"/>
            <ns1:ext cx="272415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22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22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22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rPr>
              <ns1:t>비교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0206BCC8-53BD-409F-AA52-C207E6047A7B}"/>
              </ns1:ext>
            </ns1:extLst>
          </ns0:cNvPr>
          <ns0:cNvSpPr>
            <ns1:spLocks noGrp="1"/>
          </ns0:cNvSpPr>
          <ns0:nvPr/>
        </ns0:nvSpPr>
        <ns0:spPr>
          <ns1:xfrm>
            <ns1:off x="8858250" y="4705350"/>
            <ns1:ext cx="2724150" cy="685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labels와 교차 엔트로피</ns1:t>
            </ns1:r>
          </ns1:p>
          <ns1:p>
            <ns1:pPr algn="l">
              <ns1:lnSpc>
                <ns1:spcPct val="116000"/>
              </ns1:lnSpc>
              <ns1:buNone/>
              <ns1:def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손실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EFDFAB43-AF7C-4B42-88E4-2816248610DC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5791200"/>
            <ns1:ext cx="1097280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6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6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6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Hugging Face TRL 공식 도식 · 원본 이미지의 흑백 표시</ns1:t>
            </ns1:r>
          </ns1:p>
        </ns0:txBody>
      </ns0:sp>
    </ns0:spTree>
    <ns0:extLst>
      <ns0:ext uri="{BB962C8B-B14F-4D97-AF65-F5344CB8AC3E}">
        <ns4:creationId val="634283486"/>
      </ns0:ext>
    </ns0:extLst>
  </ns0:cSld>
</ns0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60C3DF-54A8-4474-BC63-E3991A74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1B70A2-1A22-464B-9D21-9803F509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EF8CF-C2ED-438C-800C-6FD20478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학습 데이터 한 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B45D7-B4D1-408F-B74A-861422D6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2BF7A-BC0F-45BD-B816-43CC93C9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EB3B4C-AB5D-4B3D-AC68-7E7D8920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70294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70900D-DBD2-4A13-A369-57A17B00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649605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instruction: 문의 상태 정리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input: 합성 사례 DEMO-01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response: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status: review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source: DEMO-01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5FFE82-025A-42A8-B1DB-FBFF062F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95500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입력과 기대 출력의 경계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1EF29A-AC75-4561-98EC-884F1A48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52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C0759B-CABE-425E-ACBB-1756D119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09975"/>
            <a:ext cx="3429000" cy="3084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합성 사례만 사용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25D4DC-CFDF-47E0-810B-48755C48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80383"/>
            <a:ext cx="3429000" cy="3084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형식과 내용의 정확성 별도 검토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FCD9A5-4E0A-46F3-9FC0-AB42C546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실제 고객·정책 정보가 아닌 교육용 예시</a:t>
            </a:r>
          </a:p>
        </p:txBody>
      </p:sp>
    </p:spTree>
    <p:extLst>
      <p:ext uri="{BB962C8B-B14F-4D97-AF65-F5344CB8AC3E}">
        <p14:creationId xmlns:p14="http://schemas.microsoft.com/office/powerpoint/2010/main" val="7728049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85BE9D-191A-4B72-8853-E73960AE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DE8682-C80F-4112-9160-CE022340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CA52AC-91D5-436B-A8C3-1202C010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대화 형식과 템플릿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9E05AF-6BEF-4B08-BB22-666D61D2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0F942-8ADF-40D7-A449-01075E4C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495074-BE9C-4F42-B65A-B475A015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9CEA3-63DB-45B0-BE6B-CB924369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DA702-2398-40A9-87C8-83FB4F10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33CFD9-7212-4B07-B387-D6B7BA75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역할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84965F-45E5-431E-85D7-98D49E8B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user·assistant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144CB1-CCD2-403C-9BFB-2BDF60BA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77BBE7-3660-493B-A95C-0AFE53D4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002F71-EA01-48DF-8031-6B14EE63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직렬화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663B65-BB56-4965-AEB3-8C1B89FA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모델별 구분자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B3B3B1-857C-416D-A2F9-75179AF4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0A13E8-9664-44B4-B281-DEE93907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1A9F4C-58A9-416E-9D3F-7E075F2B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토큰화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A85C64-33D7-48EA-99CF-C6A6A437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문자열을 ID로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F5AEE8-2EF3-4110-A5C2-0CCBB8F2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D26DDE-E19B-4BC5-AAD5-DA0DFCB2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2FEB79-1792-4DB3-8812-C2754C12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학습 경계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93E026-ED70-4104-A1BE-D55FA3E9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답변·종료 토큰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46B8BE-7E14-4A8D-8E65-B1697545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Chat template: 대화를 해당 모델의 입력 문자열로 바꾸는 규칙</a:t>
            </a:r>
          </a:p>
        </p:txBody>
      </p:sp>
    </p:spTree>
    <p:extLst>
      <p:ext uri="{BB962C8B-B14F-4D97-AF65-F5344CB8AC3E}">
        <p14:creationId xmlns:p14="http://schemas.microsoft.com/office/powerpoint/2010/main" val="97968327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30AEB2-A799-4A9B-A7AD-762F248B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88929-D111-45AA-9E6F-D4E49A1A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A8518B-17E5-47FF-98EF-58634302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토큰과 문자 길이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F6D1F-2743-4E24-A68B-591F34E7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CA25B6-1B19-49A4-909F-1012F8AB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3EBEDF-6813-4E0B-837A-4E790AA2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문자 길이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C2D2E9-4035-44E7-A235-5AA7710E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5E4AB4-63A3-44A6-AB31-29B3703C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공백·한글·기호의 문자 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1AA64-D7AF-4C0B-8E72-44DB73C7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len(text)로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448D3A-59B4-49A3-A8E9-6EA186E9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토큰 길이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1D1A6B-1AE7-4DF8-8052-D78AD702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06944C-D120-451E-B4B3-5C09F0DE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모델 토크나이저의 분할 결과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9F345F-4815-44F6-B72D-F35F12BF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같은 문장도 모델에 따라 달라짐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76522C-7A9B-4855-A4D7-7326EADE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수업용 가상 ID를 실제 tokenizer 결과로 해석하지 않음</a:t>
            </a:r>
          </a:p>
        </p:txBody>
      </p:sp>
    </p:spTree>
    <p:extLst>
      <p:ext uri="{BB962C8B-B14F-4D97-AF65-F5344CB8AC3E}">
        <p14:creationId xmlns:p14="http://schemas.microsoft.com/office/powerpoint/2010/main" val="13318591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9D435D-3C08-47F7-9845-5348754D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74F35-AF5C-4CFF-BF2A-A3ABE2E7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E7BB91-A2D3-49A0-AB0A-53C966AE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다음 토큰의 정답 정렬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AE399-3502-4097-9420-94E6C4ED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A4898-7020-44EC-BAFB-9B93E915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585CDB-C73A-49EC-A491-E383C0E2AE48}"/>
              </a:ext>
            </a:extLst>
          </p:cNvPr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1242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81300"/>
                <a:gridCol w="1638300"/>
                <a:gridCol w="1638300"/>
                <a:gridCol w="1638300"/>
                <a:gridCol w="1638300"/>
                <a:gridCol w="1638300"/>
              </a:tblGrid>
              <a:tr h="781050">
                <a:tc>
                  <a:txBody>
                    <a:bodyPr lIns="171450" tIns="152400" rIns="171450" bIns="152400"/>
                    <a:lstStyle/>
                    <a:p>
                      <a:pPr algn="l"/>
                      <a:r>
                        <a:rPr sz="2025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예측 위치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lIns="171450" tIns="152400" rIns="171450" bIns="152400"/>
                    <a:lstStyle/>
                    <a:p>
                      <a:pPr algn="ctr"/>
                      <a:r>
                        <a:rPr sz="2025" b="1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lIns="171450" tIns="152400" rIns="171450" bIns="152400"/>
                    <a:lstStyle/>
                    <a:p>
                      <a:pPr algn="ctr"/>
                      <a:r>
                        <a:rPr sz="2025" b="1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lIns="171450" tIns="152400" rIns="171450" bIns="152400"/>
                    <a:lstStyle/>
                    <a:p>
                      <a:pPr algn="ctr"/>
                      <a:r>
                        <a:rPr sz="2025" b="1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lIns="171450" tIns="152400" rIns="171450" bIns="152400"/>
                    <a:lstStyle/>
                    <a:p>
                      <a:pPr algn="ctr"/>
                      <a:r>
                        <a:rPr sz="2025" b="1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lIns="171450" tIns="152400" rIns="171450" bIns="152400"/>
                    <a:lstStyle/>
                    <a:p>
                      <a:pPr algn="ctr"/>
                      <a:r>
                        <a:rPr sz="2025" b="1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81050">
                <a:tc>
                  <a:txBody>
                    <a:bodyPr lIns="171450" tIns="152400" rIns="171450" bIns="152400"/>
                    <a:lstStyle/>
                    <a:p>
                      <a:pPr algn="l"/>
                      <a:r>
                        <a:rPr sz="2025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 토큰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52400" rIns="171450" bIns="152400"/>
                    <a:lstStyle/>
                    <a:p>
                      <a:pPr algn="ctr"/>
                      <a:r>
                        <a:rPr sz="2025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52400" rIns="171450" bIns="152400"/>
                    <a:lstStyle/>
                    <a:p>
                      <a:pPr algn="ctr"/>
                      <a:r>
                        <a:rPr sz="2025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11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52400" rIns="171450" bIns="152400"/>
                    <a:lstStyle/>
                    <a:p>
                      <a:pPr algn="ctr"/>
                      <a:r>
                        <a:rPr sz="2025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52400" rIns="171450" bIns="152400"/>
                    <a:lstStyle/>
                    <a:p>
                      <a:pPr algn="ctr"/>
                      <a:r>
                        <a:rPr sz="2025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52400" rIns="171450" bIns="152400"/>
                    <a:lstStyle/>
                    <a:p>
                      <a:pPr algn="ctr"/>
                      <a:r>
                        <a:rPr sz="2025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21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71450" tIns="152400" rIns="171450" bIns="152400"/>
                    <a:lstStyle/>
                    <a:p>
                      <a:pPr algn="l"/>
                      <a:r>
                        <a:rPr sz="2025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다음 정답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52400" rIns="171450" bIns="152400"/>
                    <a:lstStyle/>
                    <a:p>
                      <a:pPr algn="ctr"/>
                      <a:r>
                        <a:rPr sz="2025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11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52400" rIns="171450" bIns="152400"/>
                    <a:lstStyle/>
                    <a:p>
                      <a:pPr algn="ctr"/>
                      <a:r>
                        <a:rPr sz="2025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52400" rIns="171450" bIns="152400"/>
                    <a:lstStyle/>
                    <a:p>
                      <a:pPr algn="ctr"/>
                      <a:r>
                        <a:rPr sz="2025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52400" rIns="171450" bIns="152400"/>
                    <a:lstStyle/>
                    <a:p>
                      <a:pPr algn="ctr"/>
                      <a:r>
                        <a:rPr sz="2025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21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52400" rIns="171450" bIns="152400"/>
                    <a:lstStyle/>
                    <a:p>
                      <a:pPr algn="ctr"/>
                      <a:r>
                        <a:rPr sz="2025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71450" tIns="152400" rIns="171450" bIns="152400"/>
                    <a:lstStyle/>
                    <a:p>
                      <a:pPr algn="l"/>
                      <a:r>
                        <a:rPr sz="2025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답변 학습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52400" rIns="171450" bIns="152400"/>
                    <a:lstStyle/>
                    <a:p>
                      <a:pPr algn="ctr"/>
                      <a:r>
                        <a:rPr sz="2025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제외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52400" rIns="171450" bIns="152400"/>
                    <a:lstStyle/>
                    <a:p>
                      <a:pPr algn="ctr"/>
                      <a:r>
                        <a:rPr sz="2025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제외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52400" rIns="171450" bIns="152400"/>
                    <a:lstStyle/>
                    <a:p>
                      <a:pPr algn="ctr"/>
                      <a:r>
                        <a:rPr sz="2025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52400" rIns="171450" bIns="152400"/>
                    <a:lstStyle/>
                    <a:p>
                      <a:pPr algn="ctr"/>
                      <a:r>
                        <a:rPr sz="2025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52400" rIns="171450" bIns="152400"/>
                    <a:lstStyle/>
                    <a:p>
                      <a:pPr algn="ctr"/>
                      <a:r>
                        <a:rPr sz="2025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8A2A4-3B1B-4372-BFD4-E4B3AA38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E397D-2BD9-4731-B937-7C41719A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B41871-8949-4206-9A69-4C7BC6FF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835A55-C631-42A7-8026-1D17259A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C05A1F-2807-44C8-9CA6-764A4490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649C0E-E4DE-486E-853D-C3E2B3AA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원본 label의 3·4·5번 위치가 예측 2·3·4번 위치와 대응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7F592D-9F4A-4213-848C-42EFBD73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가상 토큰 ID · 예측 위치 t의 정답은 입력 위치 t+1</a:t>
            </a:r>
          </a:p>
        </p:txBody>
      </p:sp>
    </p:spTree>
    <p:extLst>
      <p:ext uri="{BB962C8B-B14F-4D97-AF65-F5344CB8AC3E}">
        <p14:creationId xmlns:p14="http://schemas.microsoft.com/office/powerpoint/2010/main" val="54461329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EC961E-933F-4A52-8E4D-7671389D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DC88D3-1859-484C-B210-5FAE039A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030C8D-9A9E-408F-BBBE-78CD29C0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토큰 하나의 교차 엔트로피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3927D1-1F47-44C5-8691-0A2B6AE2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3F47B6-4A3E-43B7-A002-70328035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5C8ECB-D71E-4B08-9199-F1987F53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8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8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손실 = −ln p(정답 토큰)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20A5AB-2590-4948-AB92-0BE71B0B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B245D-051A-4CFA-90B4-2770E9EE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668000" cy="35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정답에 낮은 확률을 주면 더 큰 손실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CF3F13-77DA-442B-95D9-79D00DCC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479"/>
            <a:ext cx="10668000" cy="35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여러 학습 위치의 손실을 모아 평균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22A418-99B4-4C4A-B000-E4C25630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자연로그 기준 · 여기서는 토큰별 가중치를 동일하게 둔 설명용 계산</a:t>
            </a:r>
          </a:p>
        </p:txBody>
      </p:sp>
    </p:spTree>
    <p:extLst>
      <p:ext uri="{BB962C8B-B14F-4D97-AF65-F5344CB8AC3E}">
        <p14:creationId xmlns:p14="http://schemas.microsoft.com/office/powerpoint/2010/main" val="129679878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B491D3-88AC-4754-9F68-79E7BA92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839CC-78EF-4EE5-B07D-A760B682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66816-12D2-43CA-89AF-83DE1467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정답 확률과 손실의 수치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9272AB-F1FE-4198-BF46-E84B543C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62E861-63CF-4222-A684-6181D82E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07C78-66B5-4F9E-B94C-B52575B73FB4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971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4686300"/>
                <a:gridCol w="3429000"/>
              </a:tblGrid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정답 토큰 확률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−ln p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해석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0.80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0.2231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정답에 높은 확률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0.50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0.6931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중간 확률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0.20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1.6094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정답에 낮은 확률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F9316E-E178-48A9-ACF7-46958243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D7ACB3-631B-4886-9933-DDAA85A7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57C691-6F4F-4AA2-B873-D796B3B5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BF9AE9-F4AD-4AE4-B4A3-0E92CA00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B69A92-F387-4350-80E5-4D54591F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0782F5-66B9-476D-A85F-7C85085C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가상 확률의 계산값 · 실제 모델 측정 결과 아님</a:t>
            </a:r>
          </a:p>
        </p:txBody>
      </p:sp>
    </p:spTree>
    <p:extLst>
      <p:ext uri="{BB962C8B-B14F-4D97-AF65-F5344CB8AC3E}">
        <p14:creationId xmlns:p14="http://schemas.microsoft.com/office/powerpoint/2010/main" val="78472538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B47FB-65AC-4740-A12A-6893E6B7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6D4709-FBED-4779-A082-E144B8B1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243C4-EBB5-40B6-AC20-C815CF3B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정답 확률별 손실 비교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D2D384-AA16-4BC2-AEA1-0079F8F0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923C1-54D1-4491-A581-C279A39F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4359EE50-02CD-42EE-811A-15F61EB0509E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9c2258849b441ad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57999D-5CA6-4F87-ADE3-2409BB6C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가상 정답 확률 0.2·0.5·0.8 · 자연로그 손실 · 낮을수록 해당 정답 예측에 유리</a:t>
            </a:r>
          </a:p>
        </p:txBody>
      </p:sp>
    </p:spTree>
    <p:extLst>
      <p:ext uri="{BB962C8B-B14F-4D97-AF65-F5344CB8AC3E}">
        <p14:creationId xmlns:p14="http://schemas.microsoft.com/office/powerpoint/2010/main" val="1396225888"/>
      </p:ext>
    </p:extLst>
  </p:cSld>
</p:sld>
</file>

<file path=ppt/slides/slide2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7F7F5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4" name="">
            <ns1:extLst>
              <ns1:ext uri="{FF2B5EF4-FFF2-40B4-BE49-F238E27FC236}">
                <ns2:creationId id="{BB15E251-A952-4E0A-A7C3-D6AEA7C85ACA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247650"/>
            <ns1:ext cx="9525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LLMOPS / W06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88E13B45-41DA-4991-AADE-255051951C9D}"/>
              </ns1:ext>
            </ns1:extLst>
          </ns0:cNvPr>
          <ns0:cNvSpPr>
            <ns1:spLocks noGrp="1"/>
          </ns0:cNvSpPr>
          <ns0:nvPr/>
        </ns0:nvSpPr>
        <ns0:spPr>
          <ns1:xfrm>
            <ns1:off x="10858500" y="247650"/>
            <ns1:ext cx="7239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r">
              <ns1:defRPr sz="1400" b="0">
                <ns1:solidFill>
                  <ns1:srgbClr val="52606B"/>
                </ns1:solidFill>
                <ns1:latin typeface="Menlo"/>
                <ns1:ea typeface="Menlo"/>
                <ns1:cs typeface="Menlo"/>
              </ns1:defRPr>
            </ns1:defPPr>
          </ns1:lstStyle>
          <ns1:p>
            <ns1:pPr algn="r">
              <ns1:lnSpc>
                <ns1:spcPct val="116000"/>
              </ns1:lnSpc>
              <ns1:buNone/>
              <ns1:defRPr sz="1400" b="0">
                <ns1:solidFill>
                  <ns1:srgbClr val="52606B"/>
                </ns1:solidFill>
                <ns1:latin typeface="Menlo"/>
                <ns1:ea typeface="Menlo"/>
                <ns1:cs typeface="Menlo"/>
              </ns1:defRPr>
            </ns1:pPr>
            <ns1:r>
              <ns1:rPr sz="1400" b="0">
                <ns1:solidFill>
                  <ns1:srgbClr val="52606B"/>
                </ns1:solidFill>
                <ns1:latin typeface="Menlo"/>
                <ns1:ea typeface="Menlo"/>
                <ns1:cs typeface="Menlo"/>
              </ns1:rPr>
              <ns1:t>22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3028819C-CD9A-4252-B9C1-6DD7C9FF57BB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723900"/>
            <ns1:ext cx="10972800" cy="666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34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34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34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rPr>
              <ns1:t>답변 구간의 손실 마스킹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F70334C7-E955-48D1-AF2E-DF122892AB1B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315075"/>
            <ns1:ext cx="10972800" cy="9525"/>
          </ns1:xfrm>
          <ns1:prstGeom prst="rect">
            <ns1:avLst/>
          </ns1:prstGeom>
          <ns1:solidFill>
            <ns1:srgbClr val="CFD5D3"/>
          </ns1:solidFill>
          <ns1:ln w="0">
            <ns1:noFill/>
            <ns1:prstDash val="solid"/>
          </ns1:ln>
        </ns0:spPr>
      </ns0:sp>
      <ns0:sp>
        <ns0:nvSpPr>
          <ns0:cNvPr id="5" name="">
            <ns1:extLst>
              <ns1:ext uri="{FF2B5EF4-FFF2-40B4-BE49-F238E27FC236}">
                <ns2:creationId id="{5728835B-A7A5-473E-9121-3D9067FCD44B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477000"/>
            <ns1:ext cx="109728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SFT · LoRA · QLoRA · 데이터와 평가</ns1:t>
            </ns1:r>
          </ns1:p>
        </ns0:txBody>
      </ns0:sp>
      <ns0:pic>
        <ns0:nvPicPr>
          <ns0:cNvPr id="6" name="">
            <ns1:extLst>
              <ns1:ext uri="{FF2B5EF4-FFF2-40B4-BE49-F238E27FC236}">
                <ns2:creationId id="{DD61F52B-3907-4B6D-A240-C711B632E2E0}"/>
              </ns1:ext>
            </ns1:extLst>
          </ns0:cNvPr>
          <ns0:cNvPicPr>
            <ns1:picLocks noChangeAspect="1"/>
          </ns0:cNvPicPr>
          <ns0:nvPr/>
        </ns0:nvPicPr>
        <ns0:blipFill>
          <ns1:blip ns3:embed="Rcadf85ad61f34c36">
            <ns1:grayscl/>
          </ns1:blip>
          <ns1:stretch/>
        </ns0:blipFill>
        <ns0:spPr>
          <ns1:xfrm>
            <ns1:off x="609600" y="1715842"/>
            <ns1:ext cx="10972800" cy="2550017"/>
          </ns1:xfrm>
          <ns1:prstGeom prst="rect">
            <ns1:avLst/>
          </ns1:prstGeom>
        </ns0:spPr>
      </ns0:pic>
      <ns0:sp>
        <ns0:nvSpPr>
          <ns0:cNvPr id="7" name="">
            <ns1:extLst>
              <ns1:ext uri="{FF2B5EF4-FFF2-40B4-BE49-F238E27FC236}">
                <ns2:creationId id="{3007FC1F-D641-4902-9CF3-C6919B08BD11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4581525"/>
            <ns1:ext cx="348615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21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21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21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rPr>
              <ns1:t>user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CF7E1EB7-DE40-4FB2-8FA6-3CAF6FC68067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5048250"/>
            <ns1:ext cx="3486150" cy="590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사용자 입력은 참고 문맥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B7C1BCCC-9CDF-4C49-A8F9-5DB1CED346E6}"/>
              </ns1:ext>
            </ns1:extLst>
          </ns0:cNvPr>
          <ns0:cNvSpPr>
            <ns1:spLocks noGrp="1"/>
          </ns0:cNvSpPr>
          <ns0:nvPr/>
        </ns0:nvSpPr>
        <ns0:spPr>
          <ns1:xfrm>
            <ns1:off x="4324350" y="4581525"/>
            <ns1:ext cx="348615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21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21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21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rPr>
              <ns1:t>assistant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5DB96EC9-0053-4FE9-B84E-170120094BE5}"/>
              </ns1:ext>
            </ns1:extLst>
          </ns0:cNvPr>
          <ns0:cNvSpPr>
            <ns1:spLocks noGrp="1"/>
          </ns0:cNvSpPr>
          <ns0:nvPr/>
        </ns0:nvSpPr>
        <ns0:spPr>
          <ns1:xfrm>
            <ns1:off x="4324350" y="5048250"/>
            <ns1:ext cx="3486150" cy="590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선택한 답변 토큰에 학습 신호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F7969E02-2893-4373-8B78-AA1040A68D41}"/>
              </ns1:ext>
            </ns1:extLst>
          </ns0:cNvPr>
          <ns0:cNvSpPr>
            <ns1:spLocks noGrp="1"/>
          </ns0:cNvSpPr>
          <ns0:nvPr/>
        </ns0:nvSpPr>
        <ns0:spPr>
          <ns1:xfrm>
            <ns1:off x="8039100" y="4581525"/>
            <ns1:ext cx="348615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21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21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21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rPr>
              <ns1:t>빗금 구간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F2314792-5724-43C3-B005-0BC4C3EFC46F}"/>
              </ns1:ext>
            </ns1:extLst>
          </ns0:cNvPr>
          <ns0:cNvSpPr>
            <ns1:spLocks noGrp="1"/>
          </ns0:cNvSpPr>
          <ns0:nvPr/>
        </ns0:nvSpPr>
        <ns0:spPr>
          <ns1:xfrm>
            <ns1:off x="8039100" y="5048250"/>
            <ns1:ext cx="3486150" cy="590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손실 계산에서 제외한 위치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6F64B869-BD0B-40B4-92FC-F86CCA335AC7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5791200"/>
            <ns1:ext cx="1097280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6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6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6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Hugging Face TRL · assistant-only loss · 모델별 템플릿 확인</ns1:t>
            </ns1:r>
          </ns1:p>
        </ns0:txBody>
      </ns0:sp>
    </ns0:spTree>
    <ns0:extLst>
      <ns0:ext uri="{BB962C8B-B14F-4D97-AF65-F5344CB8AC3E}">
        <ns4:creationId val="1434425936"/>
      </ns0:ext>
    </ns0:extLst>
  </ns0:cSld>
</ns0:sld>
</file>

<file path=ppt/slides/slide2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7F7F5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4" name="">
            <ns1:extLst>
              <ns1:ext uri="{FF2B5EF4-FFF2-40B4-BE49-F238E27FC236}">
                <ns2:creationId id="{393CEAFC-A49D-4472-BEB4-62445BDB892A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247650"/>
            <ns1:ext cx="9525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LLMOPS / W06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1E25EFFE-D647-4715-A529-92D2741E1792}"/>
              </ns1:ext>
            </ns1:extLst>
          </ns0:cNvPr>
          <ns0:cNvSpPr>
            <ns1:spLocks noGrp="1"/>
          </ns0:cNvSpPr>
          <ns0:nvPr/>
        </ns0:nvSpPr>
        <ns0:spPr>
          <ns1:xfrm>
            <ns1:off x="10858500" y="247650"/>
            <ns1:ext cx="7239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r">
              <ns1:defRPr sz="1400" b="0">
                <ns1:solidFill>
                  <ns1:srgbClr val="52606B"/>
                </ns1:solidFill>
                <ns1:latin typeface="Menlo"/>
                <ns1:ea typeface="Menlo"/>
                <ns1:cs typeface="Menlo"/>
              </ns1:defRPr>
            </ns1:defPPr>
          </ns1:lstStyle>
          <ns1:p>
            <ns1:pPr algn="r">
              <ns1:lnSpc>
                <ns1:spcPct val="116000"/>
              </ns1:lnSpc>
              <ns1:buNone/>
              <ns1:defRPr sz="1400" b="0">
                <ns1:solidFill>
                  <ns1:srgbClr val="52606B"/>
                </ns1:solidFill>
                <ns1:latin typeface="Menlo"/>
                <ns1:ea typeface="Menlo"/>
                <ns1:cs typeface="Menlo"/>
              </ns1:defRPr>
            </ns1:pPr>
            <ns1:r>
              <ns1:rPr sz="1400" b="0">
                <ns1:solidFill>
                  <ns1:srgbClr val="52606B"/>
                </ns1:solidFill>
                <ns1:latin typeface="Menlo"/>
                <ns1:ea typeface="Menlo"/>
                <ns1:cs typeface="Menlo"/>
              </ns1:rPr>
              <ns1:t>23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4763A94B-0FB7-4CEC-B15D-1BEF58C3F234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723900"/>
            <ns1:ext cx="10972800" cy="666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34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34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34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rPr>
              <ns1:t>Prompt와 Completion의 분리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728DB8F9-5550-41F4-B3CE-665A672545F5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315075"/>
            <ns1:ext cx="10972800" cy="9525"/>
          </ns1:xfrm>
          <ns1:prstGeom prst="rect">
            <ns1:avLst/>
          </ns1:prstGeom>
          <ns1:solidFill>
            <ns1:srgbClr val="CFD5D3"/>
          </ns1:solidFill>
          <ns1:ln w="0">
            <ns1:noFill/>
            <ns1:prstDash val="solid"/>
          </ns1:ln>
        </ns0:spPr>
      </ns0:sp>
      <ns0:sp>
        <ns0:nvSpPr>
          <ns0:cNvPr id="5" name="">
            <ns1:extLst>
              <ns1:ext uri="{FF2B5EF4-FFF2-40B4-BE49-F238E27FC236}">
                <ns2:creationId id="{A91E0DE3-8F6E-4614-89AF-032002664435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477000"/>
            <ns1:ext cx="109728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SFT · LoRA · QLoRA · 데이터와 평가</ns1:t>
            </ns1:r>
          </ns1:p>
        </ns0:txBody>
      </ns0:sp>
      <ns0:pic>
        <ns0:nvPicPr>
          <ns0:cNvPr id="6" name="">
            <ns1:extLst>
              <ns1:ext uri="{FF2B5EF4-FFF2-40B4-BE49-F238E27FC236}">
                <ns2:creationId id="{739E0DAD-9BF4-49B2-89F7-33858E2E5A48}"/>
              </ns1:ext>
            </ns1:extLst>
          </ns0:cNvPr>
          <ns0:cNvPicPr>
            <ns1:picLocks noChangeAspect="1"/>
          </ns0:cNvPicPr>
          <ns0:nvPr/>
        </ns0:nvPicPr>
        <ns0:blipFill>
          <ns1:blip ns3:embed="R1f166dd46f334733">
            <ns1:grayscl/>
          </ns1:blip>
          <ns1:stretch/>
        </ns0:blipFill>
        <ns0:spPr>
          <ns1:xfrm>
            <ns1:off x="609600" y="1715842"/>
            <ns1:ext cx="10972800" cy="2550017"/>
          </ns1:xfrm>
          <ns1:prstGeom prst="rect">
            <ns1:avLst/>
          </ns1:prstGeom>
        </ns0:spPr>
      </ns0:pic>
      <ns0:sp>
        <ns0:nvSpPr>
          <ns0:cNvPr id="7" name="">
            <ns1:extLst>
              <ns1:ext uri="{FF2B5EF4-FFF2-40B4-BE49-F238E27FC236}">
                <ns2:creationId id="{08879AE9-9967-4617-82D7-ED79A634D002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4581525"/>
            <ns1:ext cx="348615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21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21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21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rPr>
              <ns1:t>prompt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572B0C8E-9204-4C62-A375-E6D063E56A4F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5048250"/>
            <ns1:ext cx="3486150" cy="590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질문·지시·참고 문맥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9686C676-DB55-478C-AE21-061DD5F2D027}"/>
              </ns1:ext>
            </ns1:extLst>
          </ns0:cNvPr>
          <ns0:cNvSpPr>
            <ns1:spLocks noGrp="1"/>
          </ns0:cNvSpPr>
          <ns0:nvPr/>
        </ns0:nvSpPr>
        <ns0:spPr>
          <ns1:xfrm>
            <ns1:off x="4324350" y="4581525"/>
            <ns1:ext cx="348615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21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21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21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rPr>
              <ns1:t>completion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6631EB4C-39D3-477B-A9D9-FE1793844ADC}"/>
              </ns1:ext>
            </ns1:extLst>
          </ns0:cNvPr>
          <ns0:cNvSpPr>
            <ns1:spLocks noGrp="1"/>
          </ns0:cNvSpPr>
          <ns0:nvPr/>
        </ns0:nvSpPr>
        <ns0:spPr>
          <ns1:xfrm>
            <ns1:off x="4324350" y="5048250"/>
            <ns1:ext cx="3486150" cy="590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기대 답변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763C8A3A-D7D9-4B30-AB8A-4D349EF646AC}"/>
              </ns1:ext>
            </ns1:extLst>
          </ns0:cNvPr>
          <ns0:cNvSpPr>
            <ns1:spLocks noGrp="1"/>
          </ns0:cNvSpPr>
          <ns0:nvPr/>
        </ns0:nvSpPr>
        <ns0:spPr>
          <ns1:xfrm>
            <ns1:off x="8039100" y="4581525"/>
            <ns1:ext cx="348615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21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21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21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rPr>
              <ns1:t>확인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559A868D-8CB6-41DC-9835-4DD4A36D6CA7}"/>
              </ns1:ext>
            </ns1:extLst>
          </ns0:cNvPr>
          <ns0:cNvSpPr>
            <ns1:spLocks noGrp="1"/>
          </ns0:cNvSpPr>
          <ns0:nvPr/>
        </ns0:nvSpPr>
        <ns0:spPr>
          <ns1:xfrm>
            <ns1:off x="8039100" y="5048250"/>
            <ns1:ext cx="3486150" cy="590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답변 경계·종료 토큰·잘림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07EE23E4-D8E3-411E-A601-7120EBAB44FD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5791200"/>
            <ns1:ext cx="1097280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6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6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6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Hugging Face TRL · completion-only loss · 대화 역할 선택과 입력 형식 구분</ns1:t>
            </ns1:r>
          </ns1:p>
        </ns0:txBody>
      </ns0:sp>
    </ns0:spTree>
    <ns0:extLst>
      <ns0:ext uri="{BB962C8B-B14F-4D97-AF65-F5344CB8AC3E}">
        <ns4:creationId val="1840430551"/>
      </ns0:ext>
    </ns0:extLst>
  </ns0:cSld>
</ns0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89D5E7-E193-45D1-A284-A2181A6F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63256-54FC-47BF-AF0F-489DF8F3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DA9468-2FCC-46EF-9467-39F94621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마스킹과 Shift의 실행 예시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4B4895-E3AF-4564-96E3-848C244E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FEDDD-1D21-46C7-9086-B9BB77AB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97B0F-002E-4155-AA42-A9FCE78F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20612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AC8137-11F3-4CBD-A3B7-D188F0D8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148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ids = np.array([10, 11, 12, 20, 21, 22])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labels = np.array([-100, -100, -100, 20, 21, 22])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targets = labels[1:]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active = targets != -100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targets[active].tolist() == [20, 21, 22]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B2FAEA-4C3B-4AC8-B617-6B34ACAF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6주차 Notebook · 가상 ID · -100은 손실에서 제외할 위치</a:t>
            </a:r>
          </a:p>
        </p:txBody>
      </p:sp>
    </p:spTree>
    <p:extLst>
      <p:ext uri="{BB962C8B-B14F-4D97-AF65-F5344CB8AC3E}">
        <p14:creationId xmlns:p14="http://schemas.microsoft.com/office/powerpoint/2010/main" val="103356186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E5C214-B8FD-4D2D-8E8A-FFD9FD34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8CF541-B122-4408-8F98-F6704325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10F936-3F9D-4BA3-9377-A7767699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마스킹 실패의 두 경우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C0B6B-E0A5-418A-956D-A6899FC5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063DA8-BED2-4BDC-85EB-2E9BA6D8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F19CD2-1432-4E02-8765-ED5F1F83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입력까지 모두 학습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ED670-0587-40D0-939D-5839A4E6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A3F863-37D0-4C76-8C1D-91277CD8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질문·문서 토큰의 손실까지 반영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CA37C1-EF2C-4FA7-81EC-36299217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목표와 데이터 형식에 맞는지 점검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59F2DC-328B-4F69-85B6-908AB180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답변까지 모두 제외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A77879-2C19-4008-B62A-56621339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B1624E-C307-45D2-A27E-D50DADC3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학습할 정답 위치가 0개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842111-E97F-4BDD-8C60-9C7A93BA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배치 손실과 마스크 수 사전 검사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2D89AC-E988-4BA9-8995-8A887492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어떤 마스크가 적절한지는 학습 목적·입력 형식에 따라 판단</a:t>
            </a:r>
          </a:p>
        </p:txBody>
      </p:sp>
    </p:spTree>
    <p:extLst>
      <p:ext uri="{BB962C8B-B14F-4D97-AF65-F5344CB8AC3E}">
        <p14:creationId xmlns:p14="http://schemas.microsoft.com/office/powerpoint/2010/main" val="27854860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A3C193-7A9B-4FEA-883F-F2C02E11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9DF5E1-8635-4F8A-B616-441FB5FE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30984-7CC5-49C9-AEBA-C6166C2F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길이 제한과 답변 누락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5B860-FC24-4FAD-882A-4678370C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9B285D-15A0-48C8-B943-2128CC52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1894B-D977-4E25-B219-E5631862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4689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A2026-B7FD-4829-85E9-90BC023C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477500" cy="426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긴 문맥 때문에 정답 답변이 잘리는 사례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F924D0-1E36-4B72-93F0-4CD485C4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3789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자른 뒤 남은 답변 토큰 수를 다시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808B61-570A-454E-9D58-C6053758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6536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긴 사례·짧은 사례·경계 사례를 따로 점검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68F320-0427-4443-8F8D-11E04BB1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6주차 Notebook · 길이를 3·4·6으로 바꾸며 남은 학습 위치 비교</a:t>
            </a:r>
          </a:p>
        </p:txBody>
      </p:sp>
    </p:spTree>
    <p:extLst>
      <p:ext uri="{BB962C8B-B14F-4D97-AF65-F5344CB8AC3E}">
        <p14:creationId xmlns:p14="http://schemas.microsoft.com/office/powerpoint/2010/main" val="23608275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728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A2B093-EF1B-4A94-ACBC-28AEBA2F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rPr>
              <a:t>W06 / 27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D0B0A6-7B03-41CF-837E-E33BF542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학습 데이터와 검증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535310-7C0F-424D-A01E-CD52F814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4A9887-2A03-4DBD-8A80-AE41EC32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허가된 자료와 명확한 기대 답변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AC3E58-3335-4C3E-8CE7-B884A5C3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9861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동일 사건의 표현을 한 분할에 모으는 원칙</a:t>
            </a:r>
          </a:p>
        </p:txBody>
      </p:sp>
    </p:spTree>
    <p:extLst>
      <p:ext uri="{BB962C8B-B14F-4D97-AF65-F5344CB8AC3E}">
        <p14:creationId xmlns:p14="http://schemas.microsoft.com/office/powerpoint/2010/main" val="63378802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C351D3-F8DD-4490-8687-D5E64404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74EB33-7B1D-4CAB-BDF6-5612B7B6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FEDA62-5C71-47A4-92E1-7CC6B6D8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데이터 품질의 검사 항목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E90B59-4243-46A9-AA36-24B09C7D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1EE034-70ED-4E98-A60D-A1DB2C54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4824FE-6702-4967-B23B-F1F494055507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4686300"/>
                <a:gridCol w="3429000"/>
              </a:tblGrid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검사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확인 대상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실패 예시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필드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입력·답변·사건 ID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빈 instruction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출력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구문과 필수 키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answer 키만 존재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중복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ID·내용·같은 사건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표현만 바꾼 복사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권한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사용·보존·삭제 범위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고객 원문 무단 사용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165D1E-37E2-4B2B-9F37-E78789CB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7176E3-56B4-445D-807E-E2FCEAB0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90FBC8-FEBE-46A9-9CCA-F337DF04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F7874-4189-4F1F-A41F-97E151E6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FB2FED-732D-42DC-8555-3505D44F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51E8B9-0039-4CEF-9691-8554528A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B0288C-ADE4-4D93-9CB3-7BCDB7F1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형식 검사 통과 뒤에도 내용 검토와 사용 허가 필요</a:t>
            </a:r>
          </a:p>
        </p:txBody>
      </p:sp>
    </p:spTree>
    <p:extLst>
      <p:ext uri="{BB962C8B-B14F-4D97-AF65-F5344CB8AC3E}">
        <p14:creationId xmlns:p14="http://schemas.microsoft.com/office/powerpoint/2010/main" val="18450515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DFCFEB-0E26-4C04-9C8C-4711FD12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50E873-3944-4195-8508-05D70A2D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AAA465-BF05-45E3-9266-30E7CC50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데이터 오류 주입과 탐지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1106F-D8F9-4618-A50D-02C8EE20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49C207-A2E5-48E5-95B5-5BAAEC53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628AC7-89D3-412E-86D5-B350A567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20612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CBEA67-920B-43BF-83F1-CB38633C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148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data = examples()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bad = [dict(r) for r in data]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bad[0]["response"] = "{broken}"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report = audit(bad)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report["issues"][0]["kind"] == "invalid_output"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B50F8-F16D-483C-9A88-8915DE1D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7주차 Notebook 01 · 정상 48건에 잘못된 JSON 한 건 주입</a:t>
            </a:r>
          </a:p>
        </p:txBody>
      </p:sp>
    </p:spTree>
    <p:extLst>
      <p:ext uri="{BB962C8B-B14F-4D97-AF65-F5344CB8AC3E}">
        <p14:creationId xmlns:p14="http://schemas.microsoft.com/office/powerpoint/2010/main" val="70573543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7B6C3F-EE35-4AA6-964F-D86055F2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FF142-C414-4C4D-B13F-7BC46E5E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B4EFA4-0765-49E3-BC95-7D131DB0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중복과 유사 사례의 차이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AE318E-3248-470A-9E4C-110E8B4A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2D8EAF-75C7-4F41-B74C-2FDB157C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8E57EE-6D7A-42E4-A1E0-30ECE52C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완전 중복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088039-0D5B-487E-9B8B-01411CE0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77123D-357F-40B5-A2B9-4EE34573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ID 또는 내용 해시로 탐지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9D2C4F-81AF-4254-A338-99565BDA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중복 제거 기준과 이력 보존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33798-2C16-4DA0-81D1-79CAD25A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동일 사건의 다른 표현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422745-E5A5-42A7-9118-9E4DBB38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04CA29-41EF-48CD-9012-D122FCF0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문자열이 달라도 같은 정보 포함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1FA53D-F8EB-4278-A7B9-92585D05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사건 ID로 묶어 분할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73B027-02E9-4C9F-8974-7F464BC8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정보 누출: 평가 대상 정보가 학습·설정 선택 과정에 섞이는 문제</a:t>
            </a:r>
          </a:p>
        </p:txBody>
      </p:sp>
    </p:spTree>
    <p:extLst>
      <p:ext uri="{BB962C8B-B14F-4D97-AF65-F5344CB8AC3E}">
        <p14:creationId xmlns:p14="http://schemas.microsoft.com/office/powerpoint/2010/main" val="102057963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0AE2FD-7FB6-4AF2-84BD-C135FCEF943A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172450" y="4362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06B"/>
            </a:solidFill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F4298C-897D-47E7-AE06-3FD53FF8F895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048250" y="4362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06B"/>
            </a:solidFill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80D426-99DE-4FE4-A8B7-64B5B1E5962E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172450" y="25908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06B"/>
            </a:solidFill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250F9C-E61A-4693-9C67-D26F045BEDE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048250" y="25908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06B"/>
            </a:solidFill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29BD38-EEF7-44DD-B93A-8DF4478B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90B17-22FB-4BBB-B7D8-53E0EE6D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60C8D6-07FA-4CE0-A488-810D8C8F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문장 분할과 사건 분할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0116C-D67C-4453-858C-573E4E82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A74DB-ECBB-4913-ADC7-8E42D399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CA15CD-43C2-4EB1-8DC5-F9600E52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문장별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D1B7CA-491B-4845-B64A-5F5ECE0D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0025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3A7C3E-B6FF-40AD-8147-6AD353F4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34315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사건 A 표현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F3A39-DDDD-4E3B-B6AB-F882C88C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0025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AA78-3E4C-4838-991E-6C97B85F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4315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train 배치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8D6E7C-B920-4C3F-98FB-05997010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0025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8AC91A-E2AE-46A2-86C3-D9DB640C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4315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표현 2는 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E485CA-4C13-4496-8B9D-74EF4374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사건별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B20FEA-0002-4E9E-8178-9EC60FFF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7190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55CA3D-8D29-4057-92EE-FB68D5A6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11480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사건 A의 모든 표현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E57E8B-FB1E-4243-8A70-A0EE0225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77190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B0CE97-188B-4394-8261-4A059450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한 분할에 유지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AFE430-9CFF-47BA-B661-9F440E8F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7190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78BE83-22A7-4C5A-A7CF-4B4AB568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1480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사건 B로 평가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2A0AA2-0F9B-4CEA-8005-C2A3338D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train: 학습용 · test: 최종 평가용 · 표현 암기와 새 사건 일반화의 구분</a:t>
            </a:r>
          </a:p>
        </p:txBody>
      </p:sp>
    </p:spTree>
    <p:extLst>
      <p:ext uri="{BB962C8B-B14F-4D97-AF65-F5344CB8AC3E}">
        <p14:creationId xmlns:p14="http://schemas.microsoft.com/office/powerpoint/2010/main" val="202918293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A7AC74-1781-4558-B922-AD38B59F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D6ACD-AAF2-4F97-B1B4-1EBFF05E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365880-7C19-40B1-8CF7-336D7CD1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분할 이후의 누출 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36309-75F3-4CDF-8DA9-74932ABB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759206-1416-433B-9BE9-9962B04D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2C2D1E-ED32-42B5-9CC5-81F4AF9A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17823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A62ED0-C3F1-459B-9022-E4E108A8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splits = split_groups(data, seed=42)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not leakage(splits)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splits["test"].append(splits["train"][0])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leakage(splits)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19F8EF-0CEF-4C76-B556-6CF3C388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7주차 Notebook 01 · 분할 이후 자료 추가 시에도 검사 반복</a:t>
            </a:r>
          </a:p>
        </p:txBody>
      </p:sp>
    </p:spTree>
    <p:extLst>
      <p:ext uri="{BB962C8B-B14F-4D97-AF65-F5344CB8AC3E}">
        <p14:creationId xmlns:p14="http://schemas.microsoft.com/office/powerpoint/2010/main" val="76376597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435146-AC84-49B3-87DD-97F51C1A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30F03E-B9AD-4784-A4F6-7BE9DC64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33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E3ECD-4BCC-4878-A4DE-1BFC6A95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합성 사례 48건의 분할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72B96-61E6-4029-BC16-228C80E8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C8C87-C64D-40E5-A9BE-48E45998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E6DD99-B4EB-47CC-9508-86BE96E16257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971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4686300"/>
                <a:gridCol w="3429000"/>
              </a:tblGrid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분할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사건 수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문장 수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train · 학습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16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32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dev · 설정 선택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8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test · 최종 보류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8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C3D54-01FC-4C8A-9CBE-9D0DA654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C1BE0-2786-49DA-B40F-E8E4A454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B94B35-5F99-4E74-B791-7EFCC6CF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EE04C-E521-4A5D-B6AB-C7531FEE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985694-CEF7-4B50-BDDD-0049264E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F61C6F-9D1C-4096-AADE-BBA2A226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24사건 × 2표현 · seed=42 · 실제 고객 분포를 대표하지 않는 수업 자료</a:t>
            </a:r>
          </a:p>
        </p:txBody>
      </p:sp>
    </p:spTree>
    <p:extLst>
      <p:ext uri="{BB962C8B-B14F-4D97-AF65-F5344CB8AC3E}">
        <p14:creationId xmlns:p14="http://schemas.microsoft.com/office/powerpoint/2010/main" val="159876609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F2C8E0-5CE8-4546-B0F6-0D07AB2F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A3BF8-D01B-418E-9009-7EEB76DB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F0BAE-0859-4FE3-9881-055C06E4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학습 설정과 관찰할 변화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0869C5-F158-4213-86F8-B116F237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5D89B4-9293-4B69-B77E-229EBEC0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7A0EC5-C808-4167-AA96-D9EB8C05A63F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971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4686300"/>
                <a:gridCol w="3429000"/>
              </a:tblGrid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설정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의미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점검할 현상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Learning rate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한 번 갱신할 변화 크기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불안정·과도한 변화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Epoch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자료를 읽는 반복 횟수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학습 예시 편중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Batch size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한 번에 처리할 사례 수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메모리·학습 변동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829FB-E49B-432C-9902-3FAA7587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E9DE53-D7C4-4663-B878-6D36EB03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0A85D1-0EC0-4927-9D06-14C7F12E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6D6B5F-5D90-43CF-B80C-3D6E93C3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379555-AE9C-4318-BC5E-5300D0D7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3C5DD4-6150-406B-9D8E-FFB8EDD9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단일 권장값보다 모델·자료·환경을 고정한 비교가 우선</a:t>
            </a:r>
          </a:p>
        </p:txBody>
      </p:sp>
    </p:spTree>
    <p:extLst>
      <p:ext uri="{BB962C8B-B14F-4D97-AF65-F5344CB8AC3E}">
        <p14:creationId xmlns:p14="http://schemas.microsoft.com/office/powerpoint/2010/main" val="186402821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2D890C-99FB-48D6-9105-9E991B57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8A95E-B347-4A15-8A5F-AF7C9F40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35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5762E-3911-4B8D-84B3-039A369C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학습 손실과 일반화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E206B-4350-4272-B412-AB952674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615C7-E238-4D93-B466-2603A15C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F81C4-C666-4CB1-B10F-4A216FBF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학습 데이터의 손실 감소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97B1CB-ECA0-4C4E-8B73-ABBCF28D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261E58-3263-4A98-9EA3-53C44124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본 예시를 더 잘 예측하는 신호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5C5ECA-FC59-4FB8-A8C4-DCABBC13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외운 예시에 편중될 가능성 점검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78EF45-8071-442E-95F7-D7D7A756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보류 입력의 업무 품질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388916-5017-44AC-82D4-5E81859A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3BB637-BFC7-4800-9E9B-60EB453A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새 사건의 근거·형식·보류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D5797C-BE5E-42AB-B16C-8D6A0790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학습·설정 선택에 쓰지 않은 입력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22757D-03DC-4053-9E1E-8285D728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오류 유형별 응답 원문과 실패 이유를 함께 보존</a:t>
            </a:r>
          </a:p>
        </p:txBody>
      </p:sp>
    </p:spTree>
    <p:extLst>
      <p:ext uri="{BB962C8B-B14F-4D97-AF65-F5344CB8AC3E}">
        <p14:creationId xmlns:p14="http://schemas.microsoft.com/office/powerpoint/2010/main" val="86887347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4BE2D5-1DE2-4171-A3A9-79CEB1F5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4EACD5-9FB4-4DF8-9859-D94C94DE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C56F07-596B-471E-B1D1-171606C2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SFT 준비의 완료 조건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EF86E-C6A9-4A88-B487-963997DA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216389-B4C4-457D-B23D-F4277F60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43436-76DA-4FE9-98CD-248F7A8E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BC61A6-BE0C-456D-96C6-ECA6A7A3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28800"/>
            <a:ext cx="3000375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자료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6DDD8-969D-4CE7-9160-2BCB53E2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828800"/>
            <a:ext cx="6781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허가·기대 답변·사건 단위 분할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4DC266-47AA-4F30-8522-DBCD085E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2956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0032D8-A617-4C79-AA27-1CDFC344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75D6D8-9217-45C0-9ADC-13887F69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67050"/>
            <a:ext cx="3000375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A6F40E-ED42-43AF-9EFE-E29E95E3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67050"/>
            <a:ext cx="6781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역할·종료 토큰·마스킹·잘림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7860FA-863B-403F-909D-56D4AC61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781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2A1F1B-00D1-486A-88D6-9724FED6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C9752B-E061-473F-9E40-9216A56D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05300"/>
            <a:ext cx="3000375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비교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F4C6CC-E196-4396-B056-31FD5BB5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305300"/>
            <a:ext cx="6781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기준선과 보류 평가 계획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02767F-E3C5-4173-BB86-79AF3206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0606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84F0E5-F447-453E-8134-4137EC48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실제 GPU 학습 전 점검 목록 · 자동 검사와 내용 검토 병행</a:t>
            </a:r>
          </a:p>
        </p:txBody>
      </p:sp>
    </p:spTree>
    <p:extLst>
      <p:ext uri="{BB962C8B-B14F-4D97-AF65-F5344CB8AC3E}">
        <p14:creationId xmlns:p14="http://schemas.microsoft.com/office/powerpoint/2010/main" val="144843240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1728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1C841A-9CAF-4D29-A22C-8270B13B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rPr>
              <a:t>W06 / 37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EE2CB-4FA6-481B-A281-FBAD4673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LoRA의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BC1FF4-6A54-47DF-B875-E59FD8C2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26BB40-04F1-4C7C-8BD8-6CB25412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Low-Rank Adaptation · 저차원 행렬 기반 모델 적응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65B59-8567-44E8-9C69-A1D30E7F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9861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기존 가중치는 고정하고 작은 두 행렬을 학습</a:t>
            </a:r>
          </a:p>
        </p:txBody>
      </p:sp>
    </p:spTree>
    <p:extLst>
      <p:ext uri="{BB962C8B-B14F-4D97-AF65-F5344CB8AC3E}">
        <p14:creationId xmlns:p14="http://schemas.microsoft.com/office/powerpoint/2010/main" val="668063108"/>
      </p:ext>
    </p:extLst>
  </p:cSld>
</p:sld>
</file>

<file path=ppt/slides/slide3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7F7F5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4" name="">
            <ns1:extLst>
              <ns1:ext uri="{FF2B5EF4-FFF2-40B4-BE49-F238E27FC236}">
                <ns2:creationId id="{AA74F7AB-5D20-47D7-A8D5-4377DA52CACE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247650"/>
            <ns1:ext cx="9525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LLMOPS / W06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E6FB0978-AC9B-439A-90C7-537BCFB84595}"/>
              </ns1:ext>
            </ns1:extLst>
          </ns0:cNvPr>
          <ns0:cNvSpPr>
            <ns1:spLocks noGrp="1"/>
          </ns0:cNvSpPr>
          <ns0:nvPr/>
        </ns0:nvSpPr>
        <ns0:spPr>
          <ns1:xfrm>
            <ns1:off x="10858500" y="247650"/>
            <ns1:ext cx="7239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r">
              <ns1:defRPr sz="1400" b="0">
                <ns1:solidFill>
                  <ns1:srgbClr val="52606B"/>
                </ns1:solidFill>
                <ns1:latin typeface="Menlo"/>
                <ns1:ea typeface="Menlo"/>
                <ns1:cs typeface="Menlo"/>
              </ns1:defRPr>
            </ns1:defPPr>
          </ns1:lstStyle>
          <ns1:p>
            <ns1:pPr algn="r">
              <ns1:lnSpc>
                <ns1:spcPct val="116000"/>
              </ns1:lnSpc>
              <ns1:buNone/>
              <ns1:defRPr sz="1400" b="0">
                <ns1:solidFill>
                  <ns1:srgbClr val="52606B"/>
                </ns1:solidFill>
                <ns1:latin typeface="Menlo"/>
                <ns1:ea typeface="Menlo"/>
                <ns1:cs typeface="Menlo"/>
              </ns1:defRPr>
            </ns1:pPr>
            <ns1:r>
              <ns1:rPr sz="1400" b="0">
                <ns1:solidFill>
                  <ns1:srgbClr val="52606B"/>
                </ns1:solidFill>
                <ns1:latin typeface="Menlo"/>
                <ns1:ea typeface="Menlo"/>
                <ns1:cs typeface="Menlo"/>
              </ns1:rPr>
              <ns1:t>38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B69ABAE2-E978-4F1F-94FC-7136DB03BD5C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723900"/>
            <ns1:ext cx="10972800" cy="666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34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34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34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rPr>
              <ns1:t>LoRA 원 논문의 두 경로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EA8949EB-0C75-463F-B05C-0DC6145A1117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315075"/>
            <ns1:ext cx="10972800" cy="9525"/>
          </ns1:xfrm>
          <ns1:prstGeom prst="rect">
            <ns1:avLst/>
          </ns1:prstGeom>
          <ns1:solidFill>
            <ns1:srgbClr val="CFD5D3"/>
          </ns1:solidFill>
          <ns1:ln w="0">
            <ns1:noFill/>
            <ns1:prstDash val="solid"/>
          </ns1:ln>
        </ns0:spPr>
      </ns0:sp>
      <ns0:sp>
        <ns0:nvSpPr>
          <ns0:cNvPr id="5" name="">
            <ns1:extLst>
              <ns1:ext uri="{FF2B5EF4-FFF2-40B4-BE49-F238E27FC236}">
                <ns2:creationId id="{54E4F65E-2898-4718-AFFA-D8A3807A2E19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477000"/>
            <ns1:ext cx="109728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SFT · LoRA · QLoRA · 데이터와 평가</ns1:t>
            </ns1:r>
          </ns1:p>
        </ns0:txBody>
      </ns0:sp>
      <ns0:pic>
        <ns0:nvPicPr>
          <ns0:cNvPr id="6" name="">
            <ns1:extLst>
              <ns1:ext uri="{FF2B5EF4-FFF2-40B4-BE49-F238E27FC236}">
                <ns2:creationId id="{E2213C5D-8538-4060-889B-4F212FDC807F}"/>
              </ns1:ext>
            </ns1:extLst>
          </ns0:cNvPr>
          <ns0:cNvPicPr>
            <ns1:picLocks noChangeAspect="1"/>
          </ns0:cNvPicPr>
          <ns0:nvPr/>
        </ns0:nvPicPr>
        <ns0:blipFill>
          <ns1:blip ns3:embed="Rd14d7eb10f8c4b3c">
            <ns1:grayscl/>
          </ns1:blip>
          <ns1:stretch/>
        </ns0:blipFill>
        <ns0:spPr>
          <ns1:xfrm>
            <ns1:off x="1409417" y="1628775"/>
            <ns1:ext cx="3943916" cy="3905250"/>
          </ns1:xfrm>
          <ns1:prstGeom prst="rect">
            <ns1:avLst/>
          </ns1:prstGeom>
        </ns0:spPr>
      </ns0:pic>
      <ns0:sp>
        <ns0:nvSpPr>
          <ns0:cNvPr id="7" name="">
            <ns1:extLst>
              <ns1:ext uri="{FF2B5EF4-FFF2-40B4-BE49-F238E27FC236}">
                <ns2:creationId id="{FF2AAA9E-2C3A-4809-85DE-1647D504A62C}"/>
              </ns1:ext>
            </ns1:extLst>
          </ns0:cNvPr>
          <ns0:cNvSpPr>
            <ns1:spLocks noGrp="1"/>
          </ns0:cNvSpPr>
          <ns0:nvPr/>
        </ns0:nvSpPr>
        <ns0:spPr>
          <ns1:xfrm>
            <ns1:off x="6800850" y="1714500"/>
            <ns1:ext cx="464820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23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23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23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rPr>
              <ns1:t>고정 경로 W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834A0E31-2417-45A9-8CF6-80473378C09C}"/>
              </ns1:ext>
            </ns1:extLst>
          </ns0:cNvPr>
          <ns0:cNvSpPr>
            <ns1:spLocks noGrp="1"/>
          </ns0:cNvSpPr>
          <ns0:nvPr/>
        </ns0:nvSpPr>
        <ns0:spPr>
          <ns1:xfrm>
            <ns1:off x="6800850" y="2200275"/>
            <ns1:ext cx="4648200" cy="647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20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20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20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기존 모델의 계산 유지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9D69A750-4C23-4CC9-9FCD-B5BC27E2513E}"/>
              </ns1:ext>
            </ns1:extLst>
          </ns0:cNvPr>
          <ns0:cNvSpPr>
            <ns1:spLocks noGrp="1"/>
          </ns0:cNvSpPr>
          <ns0:nvPr/>
        </ns0:nvSpPr>
        <ns0:spPr>
          <ns1:xfrm>
            <ns1:off x="6800850" y="2952750"/>
            <ns1:ext cx="464820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23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23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23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rPr>
              <ns1:t>학습 경로 A·B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08568378-0232-4F6C-B270-EA93ED32FD36}"/>
              </ns1:ext>
            </ns1:extLst>
          </ns0:cNvPr>
          <ns0:cNvSpPr>
            <ns1:spLocks noGrp="1"/>
          </ns0:cNvSpPr>
          <ns0:nvPr/>
        </ns0:nvSpPr>
        <ns0:spPr>
          <ns1:xfrm>
            <ns1:off x="6800850" y="3438525"/>
            <ns1:ext cx="4648200" cy="647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20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20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20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작은 변화량을 학습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50E0793F-D185-4411-8C30-52649183286B}"/>
              </ns1:ext>
            </ns1:extLst>
          </ns0:cNvPr>
          <ns0:cNvSpPr>
            <ns1:spLocks noGrp="1"/>
          </ns0:cNvSpPr>
          <ns0:nvPr/>
        </ns0:nvSpPr>
        <ns0:spPr>
          <ns1:xfrm>
            <ns1:off x="6800850" y="4191000"/>
            <ns1:ext cx="464820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23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23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23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rPr>
              <ns1:t>합산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8C93DA8B-BC42-4994-9A60-5F197B00BF5F}"/>
              </ns1:ext>
            </ns1:extLst>
          </ns0:cNvPr>
          <ns0:cNvSpPr>
            <ns1:spLocks noGrp="1"/>
          </ns0:cNvSpPr>
          <ns0:nvPr/>
        </ns0:nvSpPr>
        <ns0:spPr>
          <ns1:xfrm>
            <ns1:off x="6800850" y="4676775"/>
            <ns1:ext cx="4648200" cy="647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20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20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20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두 경로의 출력 결합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FB4E3770-1C42-49D1-8EDB-D71B360F4F1B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5791200"/>
            <ns1:ext cx="1097280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6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6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6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Hu et al., 2021, Figure 1 · 원본 도식 발췌·흑백 렌더링</ns1:t>
            </ns1:r>
          </ns1:p>
        </ns0:txBody>
      </ns0:sp>
    </ns0:spTree>
    <ns0:extLst>
      <ns0:ext uri="{BB962C8B-B14F-4D97-AF65-F5344CB8AC3E}">
        <ns4:creationId val="1135618915"/>
      </ns0:ext>
    </ns0:extLst>
  </ns0:cSld>
</ns0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8FD048-7753-4A85-905A-DD90478C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2B8D4-A761-4382-B18B-D1EC1864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8ADB44-62FD-4F8C-9E10-C19B0609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가중치 변화의 표현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F4F50-70E2-44F4-B602-27319F2A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685BD-8748-4FE8-ABE7-395FD1B2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65AF3E-FC0C-459C-B218-A71E5D11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8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8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W′ = W + (α/r) · BA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7B4983-841C-4E7D-949B-454872C5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0BB08-836F-4A2E-B84B-1D6850CB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668000" cy="35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W: 고정 가중치 · A와 B: 학습 행렬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373D90-5E8F-441D-A75A-049B3BE4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479"/>
            <a:ext cx="10668000" cy="35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r: rank · α: 변화량 배율 설정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AE222F-E3AB-4982-82EC-2CE8D0AA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일반 LoRA scaling 기준 · rsLoRA 등 변형은 별도 설정 확인</a:t>
            </a:r>
          </a:p>
        </p:txBody>
      </p:sp>
    </p:spTree>
    <p:extLst>
      <p:ext uri="{BB962C8B-B14F-4D97-AF65-F5344CB8AC3E}">
        <p14:creationId xmlns:p14="http://schemas.microsoft.com/office/powerpoint/2010/main" val="35162057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6EA673-6091-48E6-9689-ECCDAD52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1810C4-314C-4205-9AE1-A8811287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1B6938-2815-4880-853D-AB2A582C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입력과 행렬의 차원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AE78F-8859-4CAD-83E8-8C2FEBC1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E320E9-0BF5-4216-93AB-FEF34928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16417B-1A71-4703-ABBF-1C208C64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050E2B-CB74-4A01-BE69-840CD16E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734537-0574-476E-BC04-FC8ABB05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77906F-A851-47CA-A204-4EE6A846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입력 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79CABC-85AD-4F4D-9812-E6B03886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8 ×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D9B46B-91E1-4990-9264-A5F773D7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A55D7C-35D1-4260-A832-C6A8FB22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D48232-CAE3-45DA-B93E-CEE40D52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435C1C-5D56-404B-905F-144E1D68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2 × 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97E07D-D462-4024-A432-1AADB79A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28ABA1-7482-4B51-9788-259EE753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06BAE8-BB22-4798-A6CC-602CD5A9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EDBDB3-C9E8-40B1-9CF7-F1BDC50D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12 ×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D02F1F-CE0B-4A3F-876E-60BBB952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C1C7FC-6BAD-424D-97A1-DA4F881C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EA7B8B-8A60-4C27-B5AC-77670950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출력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84B6C1-6C60-4886-99C8-BB72A975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12 × 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B843BE-494F-4521-9F23-04BFE4A1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r=2 예시 · BA는 12×8 · 기존 W와 동일한 차원</a:t>
            </a:r>
          </a:p>
        </p:txBody>
      </p:sp>
    </p:spTree>
    <p:extLst>
      <p:ext uri="{BB962C8B-B14F-4D97-AF65-F5344CB8AC3E}">
        <p14:creationId xmlns:p14="http://schemas.microsoft.com/office/powerpoint/2010/main" val="128379909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267A32-8B3E-48C4-9DD7-39CDD56E7D26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7334250" y="3667125"/>
            <a:ext cx="2171700" cy="1104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84B72"/>
            </a:solidFill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BC493B-1F95-4C30-9F04-A67B6CC3363B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334250" y="2428875"/>
            <a:ext cx="2171700" cy="1238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84B72"/>
            </a:solidFill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511529-026C-43C5-A817-04795A78677A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048250" y="477202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4B72"/>
            </a:solidFill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7DB35E-1A06-4EC9-A1F3-760D2840C37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190750" y="3667125"/>
            <a:ext cx="1047750" cy="1104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84B72"/>
            </a:solidFill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A69F04-5B0B-4410-B293-85995EDC4D9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2190750" y="2428875"/>
            <a:ext cx="1047750" cy="1238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84B72"/>
            </a:solidFill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233EFB-0F7D-4288-96D2-4D7C760E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20767-E7C7-4307-8FB7-37FF81E9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41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7B1AB-F2FE-4BE3-B4F4-64719C76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고정 경로와 학습 경로의 합산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5BE51-380D-4765-8D95-E6035946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E718A-5889-4EB9-908B-A6E0158C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662DA0-2904-4B96-9C44-7BDF5D5B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581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2728CA-188C-4300-AFBC-08284152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0517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입력 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BBDC22-AD9F-4B41-982D-43D1203E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814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7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7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8 ×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8CF139-5891-41A2-B0EE-F8F2D64B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24050"/>
            <a:ext cx="4095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D0A617-6632-4720-A5D1-9E967127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66925"/>
            <a:ext cx="3752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W 고정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3625E-C33D-4CDB-9223-CD90DC98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43175"/>
            <a:ext cx="3752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7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7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12 × 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A44CC6-B497-4F30-8810-6415049E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67200"/>
            <a:ext cx="1809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4527BC-E9D5-499E-80AB-C5490FCE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410075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A 학습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F28E19-DF0F-4926-B22A-4CAA8740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886325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7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7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2 × 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6650FB-9215-4C45-93AA-83BF50E9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267200"/>
            <a:ext cx="17335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FBC1DB-6102-4FB5-A27C-A3B0DD75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410075"/>
            <a:ext cx="139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B 학습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D5F642-6D1A-4C0D-AB37-53B2CBCD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886325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7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7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12 ×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171FBC-A899-4A8B-A406-380950FB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62300"/>
            <a:ext cx="20764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341EF8-9B62-40F8-8967-59F17056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305175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출력 합산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E0D4CB-8A10-4687-A6C5-17C113A3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8142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7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7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12 × 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676EEB-0F33-449B-9B20-23366D79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2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Wx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49B9F7-83C4-40A1-A661-6EBF7840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38750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(α/r)BAx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F09FC4-63D8-4605-9F93-096C8113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동일 입력 x를 두 경로에 제공 · y = Wx + (α/r)BAx</a:t>
            </a:r>
          </a:p>
        </p:txBody>
      </p:sp>
    </p:spTree>
    <p:extLst>
      <p:ext uri="{BB962C8B-B14F-4D97-AF65-F5344CB8AC3E}">
        <p14:creationId xmlns:p14="http://schemas.microsoft.com/office/powerpoint/2010/main" val="18589840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20296A-1853-4748-88C3-1C1028E7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EDB657-A1BB-4336-9035-443CC513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42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B5BF5-2958-4A3F-A9EE-B82A2E7F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LoRA 파라미터 수의 계산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74E8B3-E910-4A93-844C-006DC04C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605E39-3CBC-43E3-9EF4-78011EA2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31670-7D81-4DFF-895C-365CFBB8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8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8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전체: d_out × d_in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1E1CD-4FDD-44DE-A35F-19CFDFEB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153DEA-AE87-4A4B-979F-B14CB29F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668000" cy="35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LoRA: r × (d_in + d_out)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05E372-830F-4042-8706-22FFBEBE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479"/>
            <a:ext cx="10668000" cy="35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12×8, r=2이면 96개와 40개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5B0D9F-9AD4-4A4A-8604-75BB601E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선형 층 하나의 A·B만 계산 · bias·다른 모듈·optimizer 비용 제외</a:t>
            </a:r>
          </a:p>
        </p:txBody>
      </p:sp>
    </p:spTree>
    <p:extLst>
      <p:ext uri="{BB962C8B-B14F-4D97-AF65-F5344CB8AC3E}">
        <p14:creationId xmlns:p14="http://schemas.microsoft.com/office/powerpoint/2010/main" val="211685054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3C2F2D-CAE1-45DC-9971-F9147304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4E8138-9704-4056-A396-5F042163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43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AE7057-4CF5-46A6-B4A9-AE29BEA2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작은 행렬의 rank별 비용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C5E20-7EF5-41CC-9860-FA9CC8EA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165DA-DCD5-48E2-BAE5-B229DB6B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25B654-CB65-4083-964E-1651C45BF417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4686300"/>
                <a:gridCol w="3429000"/>
              </a:tblGrid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rank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전체 행렬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A·B 합계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96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96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40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96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80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8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96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160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D9F052-7F7C-4824-916D-8FDC0684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F0563D-2C88-4B8D-AA97-6CD09A08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D257E3-B7F4-4FDF-BD47-CCB368F4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55B8F3-B030-4B29-BAD6-1F8427A8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074568-BBB4-49AE-8977-48E34C0C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DC8F05-ED8C-4C15-97A0-89BFDE81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1DC67A-F322-47E2-ACCB-F808EC21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12×8 수업용 행렬 · 큰 rank에서는 두 행렬이 더 커질 수도 있음</a:t>
            </a:r>
          </a:p>
        </p:txBody>
      </p:sp>
    </p:spTree>
    <p:extLst>
      <p:ext uri="{BB962C8B-B14F-4D97-AF65-F5344CB8AC3E}">
        <p14:creationId xmlns:p14="http://schemas.microsoft.com/office/powerpoint/2010/main" val="34230547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6AB2BE-F596-4A87-86E3-C060F921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6DA7A-61B1-48B6-BD20-9B78AEAB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44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6EB4B7-7074-4B7F-B31C-6079A51F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rank별 학습 파라미터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0DBF30-49B7-4DBC-AC08-B544BE19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E500F-7720-4585-B73F-2B6F7A4E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15768533-3BAA-4712-89C6-287AB9738389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742451aed4a40e0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1CA117-8CAD-41CB-A6AC-7742478C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12×8 합성 행렬 · 전체 96개와 r(12+8)개 비교 · 메모리 실측 아님</a:t>
            </a:r>
          </a:p>
        </p:txBody>
      </p:sp>
    </p:spTree>
    <p:extLst>
      <p:ext uri="{BB962C8B-B14F-4D97-AF65-F5344CB8AC3E}">
        <p14:creationId xmlns:p14="http://schemas.microsoft.com/office/powerpoint/2010/main" val="194274257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5BDA47-7FC2-464D-B8EE-D6A82251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83948C-EE7D-40DE-B846-8C4AD774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45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4F3E8B-70CF-4CD3-95DA-B44D5E1E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4096차원 선형 층의 예시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FFCF3-0A8E-42CA-B010-504EAECF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02CFA5-6588-41A1-A81B-A608205E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57692-D31D-4D06-86A3-74581AE27B48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971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4686300"/>
                <a:gridCol w="3429000"/>
              </a:tblGrid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rank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A·B 파라미터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전체 대비 비율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8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65,536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0.3906%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16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131,072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0.7813%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32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262,144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1.5625%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A26659-9DF8-4B70-BD3E-0D746F2D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E50540-14D2-4C68-8E7D-123B8765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72D72A-46CA-4927-A1B3-6E7A7F4C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BE708B-6A6C-4667-8885-7F60BACE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6EF6F6-DF14-4B8C-9AF4-39C24BDD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160D7A-8A32-4F84-9799-CC310955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전체 4096×4096 = 16,777,216개 · 층 하나의 계산값 · 전체 모델과 구분</a:t>
            </a:r>
          </a:p>
        </p:txBody>
      </p:sp>
    </p:spTree>
    <p:extLst>
      <p:ext uri="{BB962C8B-B14F-4D97-AF65-F5344CB8AC3E}">
        <p14:creationId xmlns:p14="http://schemas.microsoft.com/office/powerpoint/2010/main" val="1681346822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089E15-F081-4D1A-A038-6997A691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36B0D-DA74-4093-AC44-132F0D90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46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E01EDE-7480-4561-933C-1312A82C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rank별 행렬 근사 오차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713E8-5A70-49ED-9954-2DF0646D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7A2C9-85D2-417E-9070-E91453DC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955C9931-A950-4D9C-B1E7-1FED1A5287E4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9cc8faec504d0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015C5C-F669-43E9-B129-CED1E12D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7주차 Notebook 02 · 상대 Frobenius 오차 · 실제 LoRA 학습 결과 아님</a:t>
            </a:r>
          </a:p>
        </p:txBody>
      </p:sp>
    </p:spTree>
    <p:extLst>
      <p:ext uri="{BB962C8B-B14F-4D97-AF65-F5344CB8AC3E}">
        <p14:creationId xmlns:p14="http://schemas.microsoft.com/office/powerpoint/2010/main" val="130367659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A8C41D-F2AC-482B-9A3D-19947960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FC604-FFCD-4F49-A8C0-CA87F792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0FD58-CDBD-44D0-83FC-C577F297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SVD 근사와 LoRA 학습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4050EB-DDA9-4765-A3E4-3C038C16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B6ADB-BD38-4914-BC74-FB5AB848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98C62-4261-424D-BFC1-15B9BA91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특이값 분해 실험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B022D-190B-447B-BA30-AD38D8F2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4DD888-354A-4467-BFC8-CEC32ED2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SVD: Singular Value Decomposition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BEE606-7119-4378-8D9C-C1F2A69D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완성된 행렬을 저차원으로 근사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7C286D-709B-4950-9348-B93EF449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실제 LoRA 학습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BC7EB2-D9CA-4438-BFE6-8E0EA184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78BF22-1BC3-4AE1-B449-5B4EECC9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업무 데이터와 손실에서 A·B 갱신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0446A4-A53A-4E59-94DD-76F24DE9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새 입력의 서비스 품질을 별도 평가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1BB5EB-BD88-41E2-9D8A-D944B152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행렬 복원 오차 감소를 언어 모델 품질 향상으로 해석하지 않음</a:t>
            </a:r>
          </a:p>
        </p:txBody>
      </p:sp>
    </p:spTree>
    <p:extLst>
      <p:ext uri="{BB962C8B-B14F-4D97-AF65-F5344CB8AC3E}">
        <p14:creationId xmlns:p14="http://schemas.microsoft.com/office/powerpoint/2010/main" val="2060484517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2B9233-E477-4851-AD35-71DF5F41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260350-909C-4E7B-8E77-37874607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48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ACC90-C962-49E8-BC49-EC651C8A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rank 선택의 실무 기준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64E67-DF4F-4953-9BFE-3196518F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3DC296-A228-488C-AD20-7D0E00A0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F46C93-A51B-4DAE-9DD3-AE776E6C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4689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47F39-BB18-4C0C-83BD-0BDB6038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477500" cy="426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동일 입력과 데이터로 후보 rank 비교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77EBA-7C41-472B-BFFD-20EFE947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3789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개발용 평가에서 품질·비용을 함께 기록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AF08A7-E153-4915-A288-22C3B978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6536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선택이 끝난 뒤 보류 평가셋으로 최종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C77F43-F65B-4798-8A27-5544ADD4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큰 rank가 항상 더 좋은 업무 품질을 보장하지 않음</a:t>
            </a:r>
          </a:p>
        </p:txBody>
      </p:sp>
    </p:spTree>
    <p:extLst>
      <p:ext uri="{BB962C8B-B14F-4D97-AF65-F5344CB8AC3E}">
        <p14:creationId xmlns:p14="http://schemas.microsoft.com/office/powerpoint/2010/main" val="469910614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906418-B1F7-438E-8B4C-07867C0C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8AE44E-38A6-44B1-A41E-87CBEA46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3EAF7-31C3-46A0-9AA4-E5A4CDB1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rank와 Alpha의 관계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4BC65D-9B75-4F5F-BE5A-7A5CB739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A23A97-E0B7-4E3C-B879-4A9C2F53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DCD3F0-87E9-44AF-890D-D8E788109071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971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4686300"/>
                <a:gridCol w="3429000"/>
              </a:tblGrid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설정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α/r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해석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r=8, α=16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같은 BA에 2배 배율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r=16, α=16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rank와 배율이 함께 변경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r=16, α=32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배율 유지, 용량은 변경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6AE32-9FF2-4CA7-B00D-F47BB7A2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7586B2-0113-4DEC-82B5-B70BBAB4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EFF92F-F9A1-4E8E-B90F-DEF7F325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5DD773-3F5E-4DBD-8FC8-782CF861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71E2A8-3C73-4473-A88D-BDD74997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7DCBAC-B680-454D-A4DE-37398E1A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일반 scaling 수식의 비교 · 학습된 BA 자체도 달라질 수 있음</a:t>
            </a:r>
          </a:p>
        </p:txBody>
      </p:sp>
    </p:spTree>
    <p:extLst>
      <p:ext uri="{BB962C8B-B14F-4D97-AF65-F5344CB8AC3E}">
        <p14:creationId xmlns:p14="http://schemas.microsoft.com/office/powerpoint/2010/main" val="91521782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C57EA1-D234-4A6E-A2BE-9FF234B7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7AEF5-F8A8-4818-BAD7-2F4CD188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1228D-DDDF-4107-900A-70C3C9AF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대상 모듈의 설정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02611-999D-4DA2-B54C-4B176BD4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1C139F-F262-4016-89DD-3C5AEC14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D27592-1A6A-41EF-BFB7-D25E1D45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70294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C12DD-9F0C-4BB9-B4E6-312D559D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649605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 = 8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lora_alpha = 16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target_modules = ["q_proj", "v_proj"]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seed = 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23A20-5530-4B7B-A9ED-1C429207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95500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적용 위치와 실험 범위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8B97E4-89C6-49B3-8DE1-C488EAE6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52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35005B-E030-478A-94EA-D937FE95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09975"/>
            <a:ext cx="3429000" cy="3084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대상 모듈 이름은 모델별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1D3CA-D015-42B9-A247-86F0E642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80383"/>
            <a:ext cx="3429000" cy="3084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다른 설정·환경도 함께 기록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737DCB-1448-461A-9D86-F507DFB2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설명용 설정 · 실제 모델 실행 전 구조와 구현 버전 재확인</a:t>
            </a:r>
          </a:p>
        </p:txBody>
      </p:sp>
    </p:spTree>
    <p:extLst>
      <p:ext uri="{BB962C8B-B14F-4D97-AF65-F5344CB8AC3E}">
        <p14:creationId xmlns:p14="http://schemas.microsoft.com/office/powerpoint/2010/main" val="1258795970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A4C0DE-AB82-48D8-BEE9-C83AB763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78F27-DB23-45D7-A73A-CE527624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51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E97777-FC75-49BA-BAEB-74679DAD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초기 변화량과 원본 고정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24A44-1AF5-472F-803C-C1C60F5F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93B74D-D842-43BF-A9B9-646D1EA5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C55359-460A-41F6-B118-6E3BE9AE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23401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4A7C35-23BB-4A91-A8E5-99969935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176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 = rng.normal(size=(2, 8))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B = np.zeros((12, 2))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np.allclose(B @ A, 0)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before = W.copy()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adapted = W + B @ A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np.array_equal(W, before)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F84CB4-1C1E-42E6-806D-158F9813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6주차 Notebook · A 무작위·B=0 초기화의 수치 확인</a:t>
            </a:r>
          </a:p>
        </p:txBody>
      </p:sp>
    </p:spTree>
    <p:extLst>
      <p:ext uri="{BB962C8B-B14F-4D97-AF65-F5344CB8AC3E}">
        <p14:creationId xmlns:p14="http://schemas.microsoft.com/office/powerpoint/2010/main" val="1069498755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FC21B8-0851-4B16-BB41-1C3D370B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F1EF35-2D20-4112-9E24-AC9099C7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52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48B32D-6730-43ED-9967-33359D22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Adapter 학습의 실행 흐름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BA53F9-9E2A-48B6-8DD7-0AE876BE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DD299B-3CB2-4B1B-B642-E6812E10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D468F9-3354-4B14-BE82-C4657210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8ADBF-8301-4594-8142-207B0AA9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198BF2-BB79-4883-B0B0-C65D998F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7CA39-C5F3-4F42-B3A2-2ED8960A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Base 로드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4F7ACB-C1DC-4A89-9CA8-65122839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가중치 고정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D9B78F-52E3-425D-85FD-8BC1EC13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0A4B64-DF23-4122-B9B5-4AA7B40F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2123C9-1247-40D8-8275-2BE46A11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A·B 추가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D37486-9FBE-4475-BDBB-AD4E9C10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학습 대상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D5108E-8A27-4F77-B72D-7ADA002E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A9CB9C-7CC1-4E14-AC43-A1541CC0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77EE06-40F0-4CFB-93B1-05B29588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손실·갱신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9BA579-407A-4F02-A711-CBE33457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데이터로 최적화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450FA2-52E9-4A4F-B11E-B31D83E0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F263AE-F701-4630-A350-703C0295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E14106-0F6C-4A90-AF17-DF902A2B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검증·저장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483D42-3B0B-42F6-86D2-57B28EFB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비교 후 보존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A5186E-CE37-4AB9-A7E1-B0BD572B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Adapter: Base 모델에 추가하는 학습 가능한 파라미터 묶음</a:t>
            </a:r>
          </a:p>
        </p:txBody>
      </p:sp>
    </p:spTree>
    <p:extLst>
      <p:ext uri="{BB962C8B-B14F-4D97-AF65-F5344CB8AC3E}">
        <p14:creationId xmlns:p14="http://schemas.microsoft.com/office/powerpoint/2010/main" val="1596148566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C1C6D8-687E-407E-A93B-7BFA5FB7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E64340-2349-415E-9F94-05A4D062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53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CD6723-A1D2-4822-BFFA-8B864B0C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재현 가능한 Adapter 묶음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FC11B4-CB45-47B0-9398-61DC5315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371F4-4AF2-46AD-BD9C-815FB606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2A0A3-CC4F-4F24-A783-C2A24DEF7875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구성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남길 정보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Base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모델 ID·revision·사용 조건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Tokenizer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버전·대화 템플릿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Adapter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가중치·rank·대상 모듈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실험 기록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자료 해시·설정·평가 원문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F66F49-B482-4EC5-95BE-27B15687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637321-031C-4B44-917B-2732EACD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29D669-D8BD-49F1-BFF5-A5E301D2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2EC20D-F42F-42E9-A4BE-1610537C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88A1EF-3B97-4C80-94B4-421B3E0D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0537BD-352C-457B-89EA-FF44629A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242015-10CA-4051-A812-16BF2235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Adapter 파일만으로는 모든 재현 조건을 복원하기 어려움</a:t>
            </a:r>
          </a:p>
        </p:txBody>
      </p:sp>
    </p:spTree>
    <p:extLst>
      <p:ext uri="{BB962C8B-B14F-4D97-AF65-F5344CB8AC3E}">
        <p14:creationId xmlns:p14="http://schemas.microsoft.com/office/powerpoint/2010/main" val="2017985328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80E2B1-CD3A-4C9C-927A-DEDD82D4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822696-05D1-466C-9AE4-190C2D5D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54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3EE253-64DE-4A33-A938-CE1E4FA8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분리 로드와 병합 배포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927F5-468D-4D66-BB81-12A44E4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6C51E5-54AD-4FE4-BED6-D26EB166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7435F7-2776-4937-8142-29522547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Base와 Adapter 분리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CC9C7A-EA29-4F83-A92F-F2DF219F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4EB75F-441A-42B2-A7A5-E013927D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같은 Base에 Adapter를 선택해 적용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E76C2-6C48-477E-9F41-E784DC92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조합 버전과 로딩 경로 관리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8D5FD9-9CF8-47EA-B106-3C2E326E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가중치 병합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98A190-306C-43FD-AD2F-C062A103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89CBD0-F675-40E8-848D-31D9746D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지원하는 방식에서 변화량을 통합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FE3073-A8BE-415B-A8C1-792E480E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양자화·정밀도 호환성과 결과 재평가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FF7AD8-D9D9-4F4E-A5F4-A12DB5F7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분리·병합 중 선택 · 속도 개선이나 수치 동일성을 미리 보장하지 않음</a:t>
            </a:r>
          </a:p>
        </p:txBody>
      </p:sp>
    </p:spTree>
    <p:extLst>
      <p:ext uri="{BB962C8B-B14F-4D97-AF65-F5344CB8AC3E}">
        <p14:creationId xmlns:p14="http://schemas.microsoft.com/office/powerpoint/2010/main" val="713036315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1728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84F3DB-DE6A-490D-88C4-536DF4B2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rPr>
              <a:t>W06 / 55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37AD3C-6E46-4728-B638-6D223050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QLoRA의 메모리 절약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A36F7-64D3-41BB-B120-700FA32E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55B7FD-DC43-4F87-A065-20D5C1FB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Quantized Low-Rank Adaptation · 양자화 기반 LoRA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83AEA0-955B-42CC-AE01-3DC9D9D4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9861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고정 모델의 저장 비용까지 줄이는 접근</a:t>
            </a:r>
          </a:p>
        </p:txBody>
      </p:sp>
    </p:spTree>
    <p:extLst>
      <p:ext uri="{BB962C8B-B14F-4D97-AF65-F5344CB8AC3E}">
        <p14:creationId xmlns:p14="http://schemas.microsoft.com/office/powerpoint/2010/main" val="2141674329"/>
      </p:ext>
    </p:extLst>
  </p:cSld>
</p:sld>
</file>

<file path=ppt/slides/slide5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7F7F5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1" name="">
            <ns1:extLst>
              <ns1:ext uri="{FF2B5EF4-FFF2-40B4-BE49-F238E27FC236}">
                <ns2:creationId id="{09728861-B91E-4EC4-80B3-E5D37A341B37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247650"/>
            <ns1:ext cx="95250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LLMOPS / W06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81BB49F8-6E36-4097-962E-3EBDE4F8F969}"/>
              </ns1:ext>
            </ns1:extLst>
          </ns0:cNvPr>
          <ns0:cNvSpPr>
            <ns1:spLocks noGrp="1"/>
          </ns0:cNvSpPr>
          <ns0:nvPr/>
        </ns0:nvSpPr>
        <ns0:spPr>
          <ns1:xfrm>
            <ns1:off x="10858500" y="247650"/>
            <ns1:ext cx="7239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r">
              <ns1:defRPr sz="1400" b="0">
                <ns1:solidFill>
                  <ns1:srgbClr val="52606B"/>
                </ns1:solidFill>
                <ns1:latin typeface="Menlo"/>
                <ns1:ea typeface="Menlo"/>
                <ns1:cs typeface="Menlo"/>
              </ns1:defRPr>
            </ns1:defPPr>
          </ns1:lstStyle>
          <ns1:p>
            <ns1:pPr algn="r">
              <ns1:lnSpc>
                <ns1:spcPct val="116000"/>
              </ns1:lnSpc>
              <ns1:buNone/>
              <ns1:defRPr sz="1400" b="0">
                <ns1:solidFill>
                  <ns1:srgbClr val="52606B"/>
                </ns1:solidFill>
                <ns1:latin typeface="Menlo"/>
                <ns1:ea typeface="Menlo"/>
                <ns1:cs typeface="Menlo"/>
              </ns1:defRPr>
            </ns1:pPr>
            <ns1:r>
              <ns1:rPr sz="1400" b="0">
                <ns1:solidFill>
                  <ns1:srgbClr val="52606B"/>
                </ns1:solidFill>
                <ns1:latin typeface="Menlo"/>
                <ns1:ea typeface="Menlo"/>
                <ns1:cs typeface="Menlo"/>
              </ns1:rPr>
              <ns1:t>56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7CB1B30B-DA60-415E-836F-F36BA27BE2D8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723900"/>
            <ns1:ext cx="10972800" cy="666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34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34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3400" b="1">
                <ns1:solidFill>
                  <ns1:srgbClr val="17191B"/>
                </ns1:solidFill>
                <ns1:latin typeface="AppleGothic"/>
                <ns1:ea typeface="AppleGothic"/>
                <ns1:cs typeface="AppleGothic"/>
              </ns1:rPr>
              <ns1:t>전체 미세조정·LoRA·QLoRA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908D7359-923F-4C19-BDB6-5A42AF18B96D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315075"/>
            <ns1:ext cx="10972800" cy="9525"/>
          </ns1:xfrm>
          <ns1:prstGeom prst="rect">
            <ns1:avLst/>
          </ns1:prstGeom>
          <ns1:solidFill>
            <ns1:srgbClr val="CFD5D3"/>
          </ns1:solidFill>
          <ns1:ln w="0">
            <ns1:noFill/>
            <ns1:prstDash val="solid"/>
          </ns1:ln>
        </ns0:spPr>
      </ns0:sp>
      <ns0:sp>
        <ns0:nvSpPr>
          <ns0:cNvPr id="5" name="">
            <ns1:extLst>
              <ns1:ext uri="{FF2B5EF4-FFF2-40B4-BE49-F238E27FC236}">
                <ns2:creationId id="{93425387-D0C6-4522-828F-C88339C63BE4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477000"/>
            <ns1:ext cx="109728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SFT · LoRA · QLoRA · 데이터와 평가</ns1:t>
            </ns1:r>
          </ns1:p>
        </ns0:txBody>
      </ns0:sp>
      <ns0:pic>
        <ns0:nvPicPr>
          <ns0:cNvPr id="6" name="">
            <ns1:extLst>
              <ns1:ext uri="{FF2B5EF4-FFF2-40B4-BE49-F238E27FC236}">
                <ns2:creationId id="{BB652700-FC99-46D5-9778-E60671D8C373}"/>
              </ns1:ext>
            </ns1:extLst>
          </ns0:cNvPr>
          <ns0:cNvPicPr>
            <ns1:picLocks noChangeAspect="1"/>
          </ns0:cNvPicPr>
          <ns0:nvPr/>
        </ns0:nvPicPr>
        <ns0:blipFill>
          <ns1:blip ns3:embed="R2325c4e698774721">
            <ns1:grayscl/>
          </ns1:blip>
          <ns1:stretch/>
        </ns0:blipFill>
        <ns0:spPr>
          <ns1:xfrm>
            <ns1:off x="1331595" y="1562100"/>
            <ns1:ext cx="9528810" cy="3905250"/>
          </ns1:xfrm>
          <ns1:prstGeom prst="rect">
            <ns1:avLst/>
          </ns1:prstGeom>
        </ns0:spPr>
      </ns0:pic>
      <ns0:sp>
        <ns0:nvSpPr>
          <ns0:cNvPr id="7" name="">
            <ns1:extLst>
              <ns1:ext uri="{FF2B5EF4-FFF2-40B4-BE49-F238E27FC236}">
                <ns2:creationId id="{3C5587EE-33C7-4736-BB8F-2D9D08902684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5553075"/>
            <ns1:ext cx="348615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모델 가중치와 optimizer 상태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A3392028-7CF6-4628-BE48-1FC53ECB89C0}"/>
              </ns1:ext>
            </ns1:extLst>
          </ns0:cNvPr>
          <ns0:cNvSpPr>
            <ns1:spLocks noGrp="1"/>
          </ns0:cNvSpPr>
          <ns0:nvPr/>
        </ns0:nvSpPr>
        <ns0:spPr>
          <ns1:xfrm>
            <ns1:off x="4324350" y="5553075"/>
            <ns1:ext cx="348615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고정 모델과 학습 Adapter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33D3BE32-88B5-4167-B67D-5F780C0ED811}"/>
              </ns1:ext>
            </ns1:extLst>
          </ns0:cNvPr>
          <ns0:cNvSpPr>
            <ns1:spLocks noGrp="1"/>
          </ns0:cNvSpPr>
          <ns0:nvPr/>
        </ns0:nvSpPr>
        <ns0:spPr>
          <ns1:xfrm>
            <ns1:off x="8039100" y="5553075"/>
            <ns1:ext cx="348615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8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4-bit 고정 모델과 Adapter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C2254CA0-072D-4E3E-9248-2A357ED62016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6019800"/>
            <ns1:ext cx="1097280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defPPr>
          </ns1:lstStyle>
          <ns1:p>
            <ns1:pPr algn="l">
              <ns1:lnSpc>
                <ns1:spcPct val="116000"/>
              </ns1:lnSpc>
              <ns1:buNone/>
              <ns1:def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defRPr>
            </ns1:pPr>
            <ns1:r>
              <ns1:rPr sz="1400" b="0">
                <ns1:solidFill>
                  <ns1:srgbClr val="52606B"/>
                </ns1:solidFill>
                <ns1:latin typeface="AppleGothic"/>
                <ns1:ea typeface="AppleGothic"/>
                <ns1:cs typeface="AppleGothic"/>
              </ns1:rPr>
              <ns1:t>QLoRA Figure 1 · CC BY 4.0 · 흑백 발췌</ns1:t>
            </ns1:r>
          </ns1:p>
        </ns0:txBody>
      </ns0:sp>
    </ns0:spTree>
    <ns0:extLst>
      <ns0:ext uri="{BB962C8B-B14F-4D97-AF65-F5344CB8AC3E}">
        <ns4:creationId val="1213927738"/>
      </ns0:ext>
    </ns0:extLst>
  </ns0:cSld>
</ns0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F334BA-68BC-4B69-879D-CE1E9AA2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C25B24-7AA2-4A69-9693-2F55018A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57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A86EB-479A-4144-A55D-09473861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저장 정밀도와 계산 정밀도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F2DF1-062F-4BA0-938D-00A385A4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D3B39-860F-4B70-B2F6-AC58B5DA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D54B97-CE6D-4291-9844-02A02350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저장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27BB37-3D2B-4C1F-90F5-CEE731EE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8F9187-6FF3-4660-9AB6-47526061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고정 가중치를 낮은 bit로 압축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EEFED1-DB71-432E-9245-0C1955E1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스케일·자료형 등 추가 정보 필요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E4D8A9-2226-4969-9442-8C832D67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계산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CCBD69-BB5A-4C7E-B8E7-2098D709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73F499-614E-4204-BFAC-8E31E03F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필요한 연산에서 복원해 계산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0F844F-9A94-45B9-B5D5-8AC93480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Adapter는 높은 정밀도로 학습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D8CA2F-FF21-4220-82CE-F7144937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4-bit 저장만으로 모든 연산·활성값·optimizer가 4-bit가 되지는 않음</a:t>
            </a:r>
          </a:p>
        </p:txBody>
      </p:sp>
    </p:spTree>
    <p:extLst>
      <p:ext uri="{BB962C8B-B14F-4D97-AF65-F5344CB8AC3E}">
        <p14:creationId xmlns:p14="http://schemas.microsoft.com/office/powerpoint/2010/main" val="360816964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2FF34C-59A6-4A89-9927-142E60E7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89080-1102-4F30-AA9D-DA9F60EB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58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601E56-C4F5-45B3-9059-F0A3F48D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양자화의 작은 수치 예시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B7E78-E434-426B-A750-8CAE31C0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7F96FF-86C4-46F2-A873-25238939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AD06AD-1475-45EE-A5B8-07B74736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04F28A-177F-46D4-94E5-FBBC5CE4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53EA19-B586-49D7-951E-F08F6FD5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FF1EDA-7310-474A-B377-E26AB8E9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원래 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B4D89-A4CA-402F-9E3F-EBD48A37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−1.0부터 1.0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3B218E-A072-4172-92D9-DD05D8EE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957D62-E4FA-4992-A3E1-DA4BA7D1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54931A-CA1D-4366-907D-43630D25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코드 선택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8C3222-3B5E-479E-B402-3DED8A28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가까운 단계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102E85-77CD-4FDC-810C-D9D770A3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55FD61-8F33-4790-9F27-EA67722F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08C348-7931-4200-9CCC-A5E7855F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압축 표현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52B7D8-AB4B-4BE6-9317-8392D814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코드와 스케일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42DBCA-0213-42C0-A1D7-40431FDC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D7A43D-68F7-47A8-B236-8342A4BA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3FA3FD-DA5F-4E52-9611-A3E28C32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복원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CD1237-060F-4273-9B9C-4F4EBCF8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근삿값·오차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1FCEB4-8938-4D7B-BBBA-AB8FB7BA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교육용 균등 양자화 · 실제 NF4 구현과 구분</a:t>
            </a:r>
          </a:p>
        </p:txBody>
      </p:sp>
    </p:spTree>
    <p:extLst>
      <p:ext uri="{BB962C8B-B14F-4D97-AF65-F5344CB8AC3E}">
        <p14:creationId xmlns:p14="http://schemas.microsoft.com/office/powerpoint/2010/main" val="1487039754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07C26F-80A7-4887-8F1F-0C9F0A57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9FD15-25F5-4813-B3E1-DA513A88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59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05A505-0C23-4113-AF14-4CEED5A4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균등 양자화와 복원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6B8D89-271A-424E-B8F9-BD723655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E8D82-8F06-4DAA-B0FE-84E7FC54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AB3112-2036-4746-B312-60EDAC88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20612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ED1AE1-AC60-436D-87FD-075BAAD6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148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x = np.array([-1.0, -0.4, 0.2, 1.0])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levels = 2**2 - 1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q = np.rint((x + 1) * levels / 2)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restored = q * 2 / levels - 1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print(np.round(restored, 4))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9D542-2B74-474B-873E-53C54B45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6주차 Notebook · [-1,1] 범위의 2-bit 수업용 계산</a:t>
            </a:r>
          </a:p>
        </p:txBody>
      </p:sp>
    </p:spTree>
    <p:extLst>
      <p:ext uri="{BB962C8B-B14F-4D97-AF65-F5344CB8AC3E}">
        <p14:creationId xmlns:p14="http://schemas.microsoft.com/office/powerpoint/2010/main" val="1770468936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E1B6DB-9A5C-4B1E-B036-34DAD7C6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5014DD-6F51-4485-B946-BDF6E3B1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82D4D8-9119-475B-BF09-1D241452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bit 수와 균등 양자화 오차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05D95-6FC7-43E3-A16D-8D48F121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64EAA-900A-4487-92EB-B68D6E54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45A4136C-6799-4579-9FA9-007FC5DD5720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5e15590ecc430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986BAD-BEF4-4202-8595-85A80CB6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고정된 1,001개 값 [-1,1] · 평균제곱오차 · NF4·모델 품질 측정 아님</a:t>
            </a:r>
          </a:p>
        </p:txBody>
      </p:sp>
    </p:spTree>
    <p:extLst>
      <p:ext uri="{BB962C8B-B14F-4D97-AF65-F5344CB8AC3E}">
        <p14:creationId xmlns:p14="http://schemas.microsoft.com/office/powerpoint/2010/main" val="1361246399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3468C0-A0A6-4B88-9541-ED1968B2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B2C6E-C470-47D9-A22B-A5A5CE0F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61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BBB90-82A9-4CF9-A6C3-8A001F21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NF4와 균등 양자화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6DE66-DE3B-4F74-81D2-04D6021F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C25A9-B18C-4009-B700-D94F8767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4404FE-1D6C-4CE2-9D97-E9212AD9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이번 수치 실험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81F139-D35B-40E2-92A3-E7DAACAA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C774D5-580D-4765-B26E-66CBC8A3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일정 간격의 코드값 사용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6F14A2-3BD9-4372-8C57-6077265B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bit 수와 복원 오차 관찰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071764-1A94-413D-AF2A-89B1C69E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NF4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98AAB4-5680-4806-9DDB-5C997E73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933EE0-D9E9-4064-ADD3-8ABF48CA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4-bit NormalFloat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BD734F-DF3E-4507-B8A6-DFF8DF49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정규분포 가중치를 고려한 코드값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193126-82A6-4435-AB9C-6A2085C8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균등 양자화 실험을 NF4 성능 실험으로 표시하지 않음</a:t>
            </a:r>
          </a:p>
        </p:txBody>
      </p:sp>
    </p:spTree>
    <p:extLst>
      <p:ext uri="{BB962C8B-B14F-4D97-AF65-F5344CB8AC3E}">
        <p14:creationId xmlns:p14="http://schemas.microsoft.com/office/powerpoint/2010/main" val="1782634916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8E781A-65C2-417A-A787-108AB2B5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F1CD9B-B016-4AD2-9AD6-62C82566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62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5F4DF-57FD-479A-BA73-FFCC35AC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Double Quantization의 대상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6DE40-F27B-4BB5-A86C-E8B0D254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5923EB-B77D-439F-B0B7-7A409B89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97437-B3BB-4625-9748-E50B8442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9C579-9121-4D32-96CF-E26FFAD0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6C32D3-2584-4FE7-863F-F552FB9E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1F0826-EDBC-4375-8D7D-6E18B41D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가중치 블록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B5079-EFF0-4EF1-B9D0-F5494A48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값의 묶음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4655B7-69D8-4AA1-9D5C-55CA322A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7154AC-794E-4CF8-B822-92B54810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BA0F18-86FA-44C6-8A87-C4217803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1차 양자화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217477-7C75-4316-8A26-AC89191B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코드·스케일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AD880C-D9ED-4B19-B515-1C30E5AC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736E7D-8AE1-426B-BA3E-3D683E9D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46CC9A-980E-4A84-B8DD-9DFFB913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추가 양자화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6C423D-B892-4775-BBAE-F251F00E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스케일도 압축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102FB6-9B89-4FE8-BE4B-8F600013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57475"/>
            <a:ext cx="1524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2E8F85-5DDD-45F0-9CAB-3FC37513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95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A10A87-0C20-4361-95CE-2100F875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67050"/>
            <a:ext cx="2495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복원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01E965-6081-48CD-A951-008ABD58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29075"/>
            <a:ext cx="2495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두 단계 정보 사용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70A02A-C441-4BE1-9864-54A337FA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양자화 상수의 부가 저장량을 줄이는 방법</a:t>
            </a:r>
          </a:p>
        </p:txBody>
      </p:sp>
    </p:spTree>
    <p:extLst>
      <p:ext uri="{BB962C8B-B14F-4D97-AF65-F5344CB8AC3E}">
        <p14:creationId xmlns:p14="http://schemas.microsoft.com/office/powerpoint/2010/main" val="1070605320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104E06-0BEB-4A84-812D-8FC2E9A4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4CD10A-045B-41D4-AAF7-8CF9BC92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63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3C6910-6D3D-4523-A07B-AB033EED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Paged Optimizer의 역할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C04CD8-9B6B-48D9-9DDA-1AA65BFD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82333-4AA0-4BD0-B9BC-B6120FC6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87B7B-BA00-4934-8C84-636BEC98FA9A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항목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읽는 방법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관리 대상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optimizer 상태와 메모리 급증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접근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CPU/GPU 메모리 이동 활용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남는 비용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이동 시간·하드웨어 지원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실행 확인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최대 메모리·처리 시간 동시 측정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1B8C38-B20E-4022-906D-8134FD4F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9419A2-1D35-4C85-8E0F-E2DF3960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62FBE2-1823-470A-9A06-A0FB69D5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441E8A-4FBC-4A1E-B933-1B9027F8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0DB259-E3D3-4785-8AD7-130C8570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2FEE1F-0CB3-4812-9D4D-B76C8204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106429-E48A-41C7-8C8C-FECFD538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운영체제 수준의 paging 개념과 연결 · 항상 빠른 학습을 보장하지 않음</a:t>
            </a:r>
          </a:p>
        </p:txBody>
      </p:sp>
    </p:spTree>
    <p:extLst>
      <p:ext uri="{BB962C8B-B14F-4D97-AF65-F5344CB8AC3E}">
        <p14:creationId xmlns:p14="http://schemas.microsoft.com/office/powerpoint/2010/main" val="271334027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E4D938-E33B-47B7-87BB-3C328B1F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5EF88B-8213-4C6A-8031-5877D018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64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F15D5B-1769-4517-A40B-5356F8D4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7B 가중치의 원시 저장량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391E77-D28C-4AC6-9C36-EF377853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DB4832-DBA9-40FC-9B88-3F3B20FD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97D2328F-45AF-4A1F-9953-A013958FF053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119d1e454964acf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935BC2-F957-4520-9FA0-ACD4A379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70억 파라미터 × bit/8 · 십진 GB · 메타데이터와 모든 학습 추가 비용 제외</a:t>
            </a:r>
          </a:p>
        </p:txBody>
      </p:sp>
    </p:spTree>
    <p:extLst>
      <p:ext uri="{BB962C8B-B14F-4D97-AF65-F5344CB8AC3E}">
        <p14:creationId xmlns:p14="http://schemas.microsoft.com/office/powerpoint/2010/main" val="716834058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0F5E71-D678-45C6-8613-0A5F9072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CF0C32-0CCE-4DE9-929E-A87EBBD8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65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7741AA-9DA9-41F3-8EB7-96358C7F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총 학습 메모리의 구성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24C2DE-B9E4-41A3-9E07-40BC84BA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323887-E04C-4CB0-B783-8CC43A9B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BF590-9E2E-40BC-8A7D-7A0D940F9F2E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구성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QLoRA에서 확인할 비용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고정 모델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양자화 가중치·스케일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학습 상태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Adapter·gradient·optimizer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활성값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 길이·batch·저장 방식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추가 공간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임시 버퍼·메모리 할당 여유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1CD3D-3105-4D69-A90C-B5504079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67EAE0-0167-4448-A007-E5CFA4AF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60356A-7B15-4FF6-A6D1-E49D794D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4BF596-ECB5-45C0-A7EF-2551DF1A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6001CE-4E79-42AC-B11B-77038BF7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FCBF33-292D-4F3F-B70C-02946416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4E10B9-6801-4CE8-BCEE-77603DF2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4-bit 가중치 3.5 GB 계산만으로 GPU 용량을 결정하지 않음</a:t>
            </a:r>
          </a:p>
        </p:txBody>
      </p:sp>
    </p:spTree>
    <p:extLst>
      <p:ext uri="{BB962C8B-B14F-4D97-AF65-F5344CB8AC3E}">
        <p14:creationId xmlns:p14="http://schemas.microsoft.com/office/powerpoint/2010/main" val="1244967904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E569A8-0822-4FD4-875C-69ACC3D8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9D87B-B1A7-41E7-934F-E5411841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66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24591-0C9C-40EF-897F-BCB50A88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메모리 부족의 대응 순서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C19666-71B6-4CFF-91A8-4FC232AD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9EB245-BD2D-46F3-892A-C4597EE0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40C73-B91E-4F25-ADCC-A30FF701E5A5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조정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관찰·주의할 점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 길이·batch 축소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잘림·학습 조건도 함께 변경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Gradient accumulation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작은 batch를 여러 번 누적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Gradient checkpointing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활성값 재계산과 시간 비용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양자화·paging 검토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지원 환경·품질·처리량 재확인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7A5DB0-93CB-49A1-AF00-FF2D9DC3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1C320C-1C2B-4714-89FA-A0347194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83C6F7-6AA6-4AEE-896C-87A953EA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DDF648-0483-4CD8-ACBB-CE860EC9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71E57-892E-4A3C-9E37-455E8393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512A87-5F64-402D-953D-98C98A24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0041BF-EEEF-425A-85B1-E51D8013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Out of Memory, OOM: 메모리 부족 오류 · 한 번에 한 조건을 변경</a:t>
            </a:r>
          </a:p>
        </p:txBody>
      </p:sp>
    </p:spTree>
    <p:extLst>
      <p:ext uri="{BB962C8B-B14F-4D97-AF65-F5344CB8AC3E}">
        <p14:creationId xmlns:p14="http://schemas.microsoft.com/office/powerpoint/2010/main" val="1756946959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45105C-0B38-446B-AEF0-5E328146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C7CC8-0BA7-450A-866C-B9AA1AE9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67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4C4CBF-2F00-4E14-866B-3753D02B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공통 실습과 GPU 학습 환경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46809-6C63-4715-8655-13206C9F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C45573-578A-4EA8-8A66-1D51A126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A1D7D9-9C8F-4A90-9C79-135C24E3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공통 실습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90F675-8427-445B-AD3F-D3682412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C42342-3500-4F9A-9385-62D21B80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Python 3.11 · 기존 NumPy 환경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15E9DC-55F7-4DE2-A6C4-4C5B0B83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모델·GPU·API 키 없이 개념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0C5900-3002-4F99-940B-0B5BE669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실제 모델 학습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6BCA91-E0E1-4C0F-A899-F3FF9FA4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C98BFA-14FB-4CEA-A071-B5BCDCB0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하드웨어·커널·의존성 별도 검증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A3A55C-3067-4F95-B442-1BA44249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보존용 legacy 환경을 공통 .venv와 분리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E4E4A0-D2F1-4035-9C6A-5BCDE2DC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이번 강의의 수치 실험은 실제 QLoRA 학습 성공을 의미하지 않음</a:t>
            </a:r>
          </a:p>
        </p:txBody>
      </p:sp>
    </p:spTree>
    <p:extLst>
      <p:ext uri="{BB962C8B-B14F-4D97-AF65-F5344CB8AC3E}">
        <p14:creationId xmlns:p14="http://schemas.microsoft.com/office/powerpoint/2010/main" val="911974953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1728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1E33D-73A9-4333-81A5-729092BA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BDC7C4"/>
                </a:solidFill>
                <a:latin typeface="AppleGothic"/>
                <a:ea typeface="AppleGothic"/>
                <a:cs typeface="AppleGothic"/>
              </a:rPr>
              <a:t>W06 / 68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3E0BA-6095-4613-8F37-4551ACC1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실습과 비교 평가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16CBB-E80F-4D06-9F4B-F13FEE3E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8052D8-EE24-4F50-AF46-FFE2622A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계산 결과와 업무 품질을 나누어 기록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4DE0C7-F18A-4847-8080-778C2750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9861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실행 근거를 기획서의 기술 선택으로 연결</a:t>
            </a:r>
          </a:p>
        </p:txBody>
      </p:sp>
    </p:spTree>
    <p:extLst>
      <p:ext uri="{BB962C8B-B14F-4D97-AF65-F5344CB8AC3E}">
        <p14:creationId xmlns:p14="http://schemas.microsoft.com/office/powerpoint/2010/main" val="2008124497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2FFDCC-C380-4EB6-B3B8-FFA9E5E7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5088F-91D6-47CA-B2E1-A2689CBC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7580F-4F4C-4F10-846D-51B2E50B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VS Code 실습 준비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C33AF-4A66-457E-8353-FE5C6D4E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9307EC-9CD4-4816-8923-77967D73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87463D-82EF-4406-8BD9-6C61C4F8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15034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AEE20F-3037-441E-A207-B50616E5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-m pip check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code 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74628-21C9-488A-8AFB-EDD1D957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기존 .venv가 없으면 lab/README.md의 설치 안내부터 진행</a:t>
            </a:r>
          </a:p>
        </p:txBody>
      </p:sp>
    </p:spTree>
    <p:extLst>
      <p:ext uri="{BB962C8B-B14F-4D97-AF65-F5344CB8AC3E}">
        <p14:creationId xmlns:p14="http://schemas.microsoft.com/office/powerpoint/2010/main" val="2029132401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180810-6B82-4467-83C6-C0A986B5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B5993-3E6B-4869-AD87-91A58B34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70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7FD828-BF79-4F05-A94B-8E756BA2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실습 파일과 장표의 연결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F3184-1822-42C2-874C-BAAC777C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CAA7C-8051-4D96-B24B-A673E9CC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BC6D4E-96A2-4B32-8662-82D7EC51F45B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971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4686300"/>
                <a:gridCol w="3429000"/>
              </a:tblGrid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파일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실행할 내용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연결 장표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6주차 Notebook 01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손실·마스킹·양자화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18–26, 51, 58–64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7주차 Notebook 01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오류·사건 분할·누출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28–33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7주차 Notebook 02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rank·오차·파라미터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40–49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B6F565-D0B7-4B34-A1B6-9EE279CC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782E9E-6E27-47C1-A733-9160C5DA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597FFC-79A0-4EEF-81C6-DF4359CA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E79D2C-A41D-4B1B-B738-11BA52F7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D6FDA8-755B-4E0C-BF30-3D9FE0EC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E1CF3A-2541-4C5B-B03B-E0E16747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위에서 아래로 실행 · 예상값을 적고 한 변수 변경 · 산출물은 로컬 보관</a:t>
            </a:r>
          </a:p>
        </p:txBody>
      </p:sp>
    </p:spTree>
    <p:extLst>
      <p:ext uri="{BB962C8B-B14F-4D97-AF65-F5344CB8AC3E}">
        <p14:creationId xmlns:p14="http://schemas.microsoft.com/office/powerpoint/2010/main" val="1890566910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CF73F5-7122-469E-95C8-F4C5448F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801A6-7CEA-44FD-8804-25394110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71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9DDAD-6C8A-44B0-90B5-D3D89339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통합 사례 · 문의 분류 서비스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B26EC3-2425-4564-A420-F77D5448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93D904-FE75-4AFE-998B-A00FD6E0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7365E-E809-49F4-BB10-2B7BB654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591759-BC08-45AD-9DE8-AB808FD6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28800"/>
            <a:ext cx="3000375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관찰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D456DF-4F60-48FF-A17A-AEF80410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828800"/>
            <a:ext cx="6781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JSON 누락과 근거 없는 단정을 따로 기록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121974-5E91-46FB-BDFE-ABADEDA1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2956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057BA-C58F-4416-81C3-8AC829A6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AA214F-345E-452E-A89F-B6A49424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67050"/>
            <a:ext cx="3000375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가설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780C5D-F921-4313-9F06-7FF28231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67050"/>
            <a:ext cx="6781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형식 반복 오류는 SFT 후보로 검토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F980C7-B2C3-40C6-8845-FBADF306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781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49B96A-81FB-4F76-B5AF-C54BDBE6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5E4B05-D62C-426C-9E5F-1B6EB5F6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05300"/>
            <a:ext cx="3000375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검증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F8763C-4349-4597-A813-26FBCE0B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305300"/>
            <a:ext cx="6781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정상·예외·보류 사례를 같은 기준으로 비교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261B44-5196-48FD-A9D4-87598BBE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0606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9AAF07-4876-4776-B964-B623CF17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합성 기획 예시 · 최신 정책은 문서 검색·버전 관리와 함께 설계</a:t>
            </a:r>
          </a:p>
        </p:txBody>
      </p:sp>
    </p:spTree>
    <p:extLst>
      <p:ext uri="{BB962C8B-B14F-4D97-AF65-F5344CB8AC3E}">
        <p14:creationId xmlns:p14="http://schemas.microsoft.com/office/powerpoint/2010/main" val="1562823850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5CECE4-7DB6-48D6-82EB-C4360D8A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89D72B-C39A-4D48-B4A6-5F643FC8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72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0CC1B-2FC5-4998-9BB8-E70149A5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Base와 Adapter의 평가표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0876EB-BEE4-40ED-9BEE-F6E7373B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46CF4F-88FC-4127-92A4-2751AEAA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58B2D5-3C36-4858-AB6C-2BB546C47D00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971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4686300"/>
                <a:gridCol w="3429000"/>
              </a:tblGrid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차원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같게 유지할 조건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남길 결과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형식·근거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입력·문서·출력 규칙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응답 원문·실패 이유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비용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기기·길이·반복·예열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시간·최대 메모리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재현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모델·Tokenizer·생성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버전·Adapter·자료 해시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16FAD-9154-4CA5-A6BD-0A7EEA98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505A3C-6A67-4E25-BFC9-CF160186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4626EA-FD2B-4A47-9A8D-AEEE7530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2E5754-DAAD-434E-9517-1FE4120A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964620-A346-4511-A548-27EA8626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5E20FD-5C09-4C5E-B063-5817C726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train loss 하나로 배포 결정 불가 · 보류 입력과 오류 유형별 비교</a:t>
            </a:r>
          </a:p>
        </p:txBody>
      </p:sp>
    </p:spTree>
    <p:extLst>
      <p:ext uri="{BB962C8B-B14F-4D97-AF65-F5344CB8AC3E}">
        <p14:creationId xmlns:p14="http://schemas.microsoft.com/office/powerpoint/2010/main" val="1133249499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81EDB2-10D0-4E7A-9D8E-8B9B4EA9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50E65E-5401-48A5-94A3-3EDF92FF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73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DCD37-5583-459A-AAD0-287D4E85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비교 결과와 채택 판단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9FC008-8A82-4AC8-B35A-0260288E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51CC3F-E7D8-415F-91DD-9FDE390C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191BBC-A0CD-4EB0-80E3-67252C02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169EFC-0CA0-48E0-8729-29D98236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28800"/>
            <a:ext cx="3000375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분리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7CDF76-461D-4362-A5FB-46E91220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828800"/>
            <a:ext cx="6781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형식·근거·보류·운영 비용을 각각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9467DE-1430-4BF9-8607-8F35D755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2956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86F8DB-44CC-4FE0-8A1D-ACA5CF5A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9B5ABE-41BB-4EC3-B843-4665E195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67050"/>
            <a:ext cx="3000375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검토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DAF69B-09F4-451A-8019-1DD29FA0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67050"/>
            <a:ext cx="6781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평균뿐 아니라 실패 사례와 표본 수 검토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FE706C-4F5F-4567-9B34-BBFBA5D9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781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5C0F4F-2481-4548-BB14-08F369E9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284B7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284B72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213FDE-7279-46B6-8518-B3A75279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05300"/>
            <a:ext cx="3000375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결정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F4C045-3BBF-4C9C-AA16-139585CC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305300"/>
            <a:ext cx="6781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개선 근거·남은 위험·되돌릴 조건 기록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E69DCE-52ED-47A9-89E8-F35D8522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0606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202CE-C14F-45CA-913B-9E5134D0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정해진 업무 평가를 실행하기 전에는 개선 성과를 단정하지 않음</a:t>
            </a:r>
          </a:p>
        </p:txBody>
      </p:sp>
    </p:spTree>
    <p:extLst>
      <p:ext uri="{BB962C8B-B14F-4D97-AF65-F5344CB8AC3E}">
        <p14:creationId xmlns:p14="http://schemas.microsoft.com/office/powerpoint/2010/main" val="1923688407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11C302-0FDE-4249-812A-18DDAB37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E8EFFD-59EF-4BEC-BC1A-60DBB8E4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74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09E542-98E1-405A-905B-D04611F9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형식 개선 이후의 회귀 오류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70DC35-87A1-455B-A5DE-3CEB9236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BD2E95-ED12-406D-B7C2-6DFA14C9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14BCA-BF5E-486E-A7B2-CF783307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좋아진 부분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C61D93-0267-4140-973D-E630AF76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49D658-90D1-4F6C-B967-E835D998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JSON 필수 키 누락 감소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56B3B8-1BEF-4194-A457-7A9B3E54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동일 입력에서 형식 기준 통과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7BBEE2-6C07-4D68-B697-4D02A475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9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29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나빠진 부분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E9F8F4-5865-4638-B5AE-AAEB0B8E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03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7D3CC5-C50F-458F-AC8B-7E2EF43A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근거 없는 답변이나 과도한 거절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BD5154-0FCD-4EB9-B3B7-BF7E42EC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9311"/>
            <a:ext cx="523875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실패 원문 검토 후 학습·자료 재점검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8FC77F-E09E-4E74-B194-F3B6766D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가상 결과 시나리오 · 실제 실행 측정값이 아닌 판단 연습</a:t>
            </a:r>
          </a:p>
        </p:txBody>
      </p:sp>
    </p:spTree>
    <p:extLst>
      <p:ext uri="{BB962C8B-B14F-4D97-AF65-F5344CB8AC3E}">
        <p14:creationId xmlns:p14="http://schemas.microsoft.com/office/powerpoint/2010/main" val="374064718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31D7E5-93F4-4DF5-ACCE-3183E1E2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7E13D-9103-499D-B5D6-100734A9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75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03699E-5F49-4075-B64A-611D9FD7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핵심 확인 질문과 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AE14B2-26F4-4F70-8F3A-FC129538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FDFD28-A8ED-4DB5-9963-E0D6753C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F2D694-4BCE-4ABF-A218-1CA728DB001C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질문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확인할 답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SFT와 LoRA는 대안인가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학습 목적과 갱신 방법으로 결합 가능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4-bit면 메모리도 1/4?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활성값·학습 상태·부가 정보는 별도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SVD 오차와 서비스 품질?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행렬 실험과 업무 평가를 분리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손실만으로 배포 가능한가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보류 입력·실패·비용·복구 검토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2358F-9ADC-4C67-97F4-F8F155E8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D6210-0670-41A6-9C6A-5D7B0205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EE5A74-B5DC-43C1-AEF1-39AD3109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88D593-8A7C-45F5-B775-173E619A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4FE7DA-7D4F-4AF2-996E-4446DC1B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A0AF56-07A0-4D81-A99B-F9F8A2B3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C8E81A-A77C-462B-86EB-72666262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기획서에는 기술명보다 해결할 오류와 확인할 실험을 명시</a:t>
            </a:r>
          </a:p>
        </p:txBody>
      </p:sp>
    </p:spTree>
    <p:extLst>
      <p:ext uri="{BB962C8B-B14F-4D97-AF65-F5344CB8AC3E}">
        <p14:creationId xmlns:p14="http://schemas.microsoft.com/office/powerpoint/2010/main" val="586591883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FB6E0C-ACA7-4682-862A-D93962CE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LLMOPS / W06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9B5E7D-88BF-4778-BC27-E85C7662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2606B"/>
                </a:solidFill>
                <a:latin typeface="Menlo"/>
                <a:ea typeface="Menlo"/>
                <a:cs typeface="Menlo"/>
              </a:rPr>
              <a:t>76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DCA36-151C-46A3-9DE9-A4BD3A7F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7191B"/>
                </a:solidFill>
                <a:latin typeface="AppleGothic"/>
                <a:ea typeface="AppleGothic"/>
                <a:cs typeface="AppleGothic"/>
              </a:rPr>
              <a:t>출처와 복습 경로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AE9658-3C89-48DB-9015-1AB18C42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0B681-29EB-41CA-BCEE-9F9242EE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SFT · LoRA · QLoRA · 데이터와 평가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A5343C-FBFD-4F5B-A749-5E714399195F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자료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283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원문·실행 위치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F1F6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SFT 공식 도식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https://huggingface.co/docs/trl/sft_trainer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LoRA 원 논문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https://arxiv.org/abs/2106.09685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QLoRA 원 논문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https://arxiv.org/abs/2305.14314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7191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수치·데이터·행렬 실습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52606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week06/lab/notebooks · week07/lab/notebooks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1F1478-04A1-455D-94E0-F859E1C0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CA2393-C86E-48D7-80F7-39A93EC8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B35E94-4178-43C6-A0AC-20FD8F30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BA8846-359A-4610-A061-D2AE24A4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DDFC78-E8D8-4623-94FB-3ED2D2E3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919CAF-4814-41B4-9FBC-E913F061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50655C-432A-4ECC-8781-96749F9C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2606B"/>
                </a:solidFill>
                <a:latin typeface="AppleGothic"/>
                <a:ea typeface="AppleGothic"/>
                <a:cs typeface="AppleGothic"/>
              </a:rPr>
              <a:t>추가 URL·외부 이미지 이용 범위: lecture/assets/SOURCES.md</a:t>
            </a:r>
          </a:p>
        </p:txBody>
      </p:sp>
    </p:spTree>
    <p:extLst>
      <p:ext uri="{BB962C8B-B14F-4D97-AF65-F5344CB8AC3E}">
        <p14:creationId xmlns:p14="http://schemas.microsoft.com/office/powerpoint/2010/main" val="1565271507"/>
      </p:ext>
    </p:extLst>
  </p:cSld>
</p:sld>
</file>

<file path=ppt/theme/theme1.xml><?xml version="1.0" encoding="utf-8"?>
<a:theme xmlns:a="http://schemas.openxmlformats.org/drawingml/2006/main" name="ChatGPT">
  <a:themeElements>
    <a:clrScheme name="LLMOPS EDITORIAL">
      <a:dk1>
        <a:srgbClr val="0A0B0C"/>
      </a:dk1>
      <a:lt1>
        <a:srgbClr val="FFFFFF"/>
      </a:lt1>
      <a:dk2>
        <a:srgbClr val="17283B"/>
      </a:dk2>
      <a:lt2>
        <a:srgbClr val="F7F7F5"/>
      </a:lt2>
      <a:accent1>
        <a:srgbClr val="284B72"/>
      </a:accent1>
      <a:accent2>
        <a:srgbClr val="17283B"/>
      </a:accent2>
      <a:accent3>
        <a:srgbClr val="52606B"/>
      </a:accent3>
      <a:accent4>
        <a:srgbClr val="EDF1F6"/>
      </a:accent4>
      <a:accent5>
        <a:srgbClr val="17191B"/>
      </a:accent5>
      <a:accent6>
        <a:srgbClr val="CFD5D3"/>
      </a:accent6>
      <a:hlink>
        <a:srgbClr val="284B72"/>
      </a:hlink>
      <a:folHlink>
        <a:srgbClr val="17283B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LLMOPS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2026-10-16T16:08:35.6500000Z</dcterms:created>
  <dcterms:modified xsi:type="dcterms:W3CDTF">2026-10-16T16:08:35.6500000Z</dcterms:modified>
</coreProperties>
</file>