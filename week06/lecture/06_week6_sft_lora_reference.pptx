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1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5066ddc1a64cf5" /><Relationship Type="http://schemas.openxmlformats.org/officeDocument/2006/relationships/extended-properties" Target="/docProps/app.xml" Id="Re9d6e0db6f6a4184" /><Relationship Type="http://schemas.openxmlformats.org/officeDocument/2006/relationships/officeDocument" Target="/ppt/presentation.xml" Id="Rd1be756965764c8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1088edfa054286"/>
  </p:sldMasterIdLst>
  <p:notesMasterIdLst>
    <p:notesMasterId xmlns:r="http://schemas.openxmlformats.org/officeDocument/2006/relationships" r:id="R335fe7cb1c7f4863"/>
  </p:notesMasterIdLst>
  <p:sldIdLst>
    <p:sldId xmlns:r="http://schemas.openxmlformats.org/officeDocument/2006/relationships" id="256" r:id="R7f410c39e90c44fd"/>
    <p:sldId xmlns:r="http://schemas.openxmlformats.org/officeDocument/2006/relationships" id="257" r:id="R0e6dfa7adc7549e0"/>
    <p:sldId xmlns:r="http://schemas.openxmlformats.org/officeDocument/2006/relationships" id="258" r:id="R90fea3d48d064b90"/>
    <p:sldId xmlns:r="http://schemas.openxmlformats.org/officeDocument/2006/relationships" id="259" r:id="Rcb03bdde22314acc"/>
    <p:sldId xmlns:r="http://schemas.openxmlformats.org/officeDocument/2006/relationships" id="260" r:id="Rb30f83e6fef546c5"/>
    <p:sldId xmlns:r="http://schemas.openxmlformats.org/officeDocument/2006/relationships" id="261" r:id="R0e016f0238464c63"/>
    <p:sldId xmlns:r="http://schemas.openxmlformats.org/officeDocument/2006/relationships" id="262" r:id="Rdcf9c2af9fa4414c"/>
    <p:sldId xmlns:r="http://schemas.openxmlformats.org/officeDocument/2006/relationships" id="263" r:id="R5b0e1f8cd04d4df4"/>
    <p:sldId xmlns:r="http://schemas.openxmlformats.org/officeDocument/2006/relationships" id="264" r:id="R726e0a89181f4f5c"/>
    <p:sldId xmlns:r="http://schemas.openxmlformats.org/officeDocument/2006/relationships" id="265" r:id="R2d5cbdd2960f46b6"/>
    <p:sldId xmlns:r="http://schemas.openxmlformats.org/officeDocument/2006/relationships" id="266" r:id="R83925a3b4e9e47c4"/>
    <p:sldId xmlns:r="http://schemas.openxmlformats.org/officeDocument/2006/relationships" id="267" r:id="R428193697bc54f53"/>
    <p:sldId xmlns:r="http://schemas.openxmlformats.org/officeDocument/2006/relationships" id="268" r:id="R02e106a3e7c54381"/>
    <p:sldId xmlns:r="http://schemas.openxmlformats.org/officeDocument/2006/relationships" id="269" r:id="R2407265070804b44"/>
    <p:sldId xmlns:r="http://schemas.openxmlformats.org/officeDocument/2006/relationships" id="270" r:id="R10e7e0751ec947e2"/>
    <p:sldId xmlns:r="http://schemas.openxmlformats.org/officeDocument/2006/relationships" id="271" r:id="Re8e8721bc8fd443f"/>
    <p:sldId xmlns:r="http://schemas.openxmlformats.org/officeDocument/2006/relationships" id="272" r:id="R12e927a4dfdb4dbf"/>
    <p:sldId xmlns:r="http://schemas.openxmlformats.org/officeDocument/2006/relationships" id="273" r:id="R565fa20c1f8d4774"/>
    <p:sldId xmlns:r="http://schemas.openxmlformats.org/officeDocument/2006/relationships" id="274" r:id="R85fcdcba636e4fb7"/>
    <p:sldId xmlns:r="http://schemas.openxmlformats.org/officeDocument/2006/relationships" id="275" r:id="R36bd8b331e3d425b"/>
    <p:sldId xmlns:r="http://schemas.openxmlformats.org/officeDocument/2006/relationships" id="276" r:id="R21837d8024d44d4f"/>
    <p:sldId xmlns:r="http://schemas.openxmlformats.org/officeDocument/2006/relationships" id="277" r:id="R370f1384b3954d7d"/>
    <p:sldId xmlns:r="http://schemas.openxmlformats.org/officeDocument/2006/relationships" id="278" r:id="R3198db8655e444a3"/>
    <p:sldId xmlns:r="http://schemas.openxmlformats.org/officeDocument/2006/relationships" id="279" r:id="R6d8578a1c5aa4dc1"/>
    <p:sldId xmlns:r="http://schemas.openxmlformats.org/officeDocument/2006/relationships" id="280" r:id="R2bc2ade25b934b05"/>
    <p:sldId xmlns:r="http://schemas.openxmlformats.org/officeDocument/2006/relationships" id="281" r:id="R733228f734814222"/>
    <p:sldId xmlns:r="http://schemas.openxmlformats.org/officeDocument/2006/relationships" id="282" r:id="Rd8e7300e31104001"/>
    <p:sldId xmlns:r="http://schemas.openxmlformats.org/officeDocument/2006/relationships" id="283" r:id="R7cdc53dfd9bd479a"/>
    <p:sldId xmlns:r="http://schemas.openxmlformats.org/officeDocument/2006/relationships" id="284" r:id="R9036342aaa1e4b89"/>
    <p:sldId xmlns:r="http://schemas.openxmlformats.org/officeDocument/2006/relationships" id="285" r:id="R658bd30946984de7"/>
    <p:sldId xmlns:r="http://schemas.openxmlformats.org/officeDocument/2006/relationships" id="286" r:id="Rd911da0589284275"/>
    <p:sldId xmlns:r="http://schemas.openxmlformats.org/officeDocument/2006/relationships" id="287" r:id="R900d2e4aa17843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3725e80e0643dc" /><Relationship Type="http://schemas.openxmlformats.org/officeDocument/2006/relationships/slideMaster" Target="/ppt/slideMasters/slideMaster1.xml" Id="Re21088edfa054286" /><Relationship Type="http://schemas.openxmlformats.org/officeDocument/2006/relationships/notesMaster" Target="/ppt/notesMasters/notesMaster1.xml" Id="R335fe7cb1c7f4863" /><Relationship Type="http://schemas.openxmlformats.org/officeDocument/2006/relationships/presProps" Target="/ppt/presProps.xml" Id="R976b5926c4b04dcd" /><Relationship Type="http://schemas.openxmlformats.org/officeDocument/2006/relationships/tableStyles" Target="/ppt/tableStyles.xml" Id="R446c268506de4c86" /><Relationship Type="http://schemas.openxmlformats.org/officeDocument/2006/relationships/slide" Target="/ppt/slides/slide1.xml" Id="R7f410c39e90c44fd" /><Relationship Type="http://schemas.openxmlformats.org/officeDocument/2006/relationships/slide" Target="/ppt/slides/slide2.xml" Id="R0e6dfa7adc7549e0" /><Relationship Type="http://schemas.openxmlformats.org/officeDocument/2006/relationships/slide" Target="/ppt/slides/slide3.xml" Id="R90fea3d48d064b90" /><Relationship Type="http://schemas.openxmlformats.org/officeDocument/2006/relationships/slide" Target="/ppt/slides/slide4.xml" Id="Rcb03bdde22314acc" /><Relationship Type="http://schemas.openxmlformats.org/officeDocument/2006/relationships/slide" Target="/ppt/slides/slide5.xml" Id="Rb30f83e6fef546c5" /><Relationship Type="http://schemas.openxmlformats.org/officeDocument/2006/relationships/slide" Target="/ppt/slides/slide6.xml" Id="R0e016f0238464c63" /><Relationship Type="http://schemas.openxmlformats.org/officeDocument/2006/relationships/slide" Target="/ppt/slides/slide7.xml" Id="Rdcf9c2af9fa4414c" /><Relationship Type="http://schemas.openxmlformats.org/officeDocument/2006/relationships/slide" Target="/ppt/slides/slide8.xml" Id="R5b0e1f8cd04d4df4" /><Relationship Type="http://schemas.openxmlformats.org/officeDocument/2006/relationships/slide" Target="/ppt/slides/slide9.xml" Id="R726e0a89181f4f5c" /><Relationship Type="http://schemas.openxmlformats.org/officeDocument/2006/relationships/slide" Target="/ppt/slides/slide10.xml" Id="R2d5cbdd2960f46b6" /><Relationship Type="http://schemas.openxmlformats.org/officeDocument/2006/relationships/slide" Target="/ppt/slides/slide11.xml" Id="R83925a3b4e9e47c4" /><Relationship Type="http://schemas.openxmlformats.org/officeDocument/2006/relationships/slide" Target="/ppt/slides/slide12.xml" Id="R428193697bc54f53" /><Relationship Type="http://schemas.openxmlformats.org/officeDocument/2006/relationships/slide" Target="/ppt/slides/slide13.xml" Id="R02e106a3e7c54381" /><Relationship Type="http://schemas.openxmlformats.org/officeDocument/2006/relationships/slide" Target="/ppt/slides/slide14.xml" Id="R2407265070804b44" /><Relationship Type="http://schemas.openxmlformats.org/officeDocument/2006/relationships/slide" Target="/ppt/slides/slide15.xml" Id="R10e7e0751ec947e2" /><Relationship Type="http://schemas.openxmlformats.org/officeDocument/2006/relationships/slide" Target="/ppt/slides/slide16.xml" Id="Re8e8721bc8fd443f" /><Relationship Type="http://schemas.openxmlformats.org/officeDocument/2006/relationships/slide" Target="/ppt/slides/slide17.xml" Id="R12e927a4dfdb4dbf" /><Relationship Type="http://schemas.openxmlformats.org/officeDocument/2006/relationships/slide" Target="/ppt/slides/slide18.xml" Id="R565fa20c1f8d4774" /><Relationship Type="http://schemas.openxmlformats.org/officeDocument/2006/relationships/slide" Target="/ppt/slides/slide19.xml" Id="R85fcdcba636e4fb7" /><Relationship Type="http://schemas.openxmlformats.org/officeDocument/2006/relationships/slide" Target="/ppt/slides/slide20.xml" Id="R36bd8b331e3d425b" /><Relationship Type="http://schemas.openxmlformats.org/officeDocument/2006/relationships/slide" Target="/ppt/slides/slide21.xml" Id="R21837d8024d44d4f" /><Relationship Type="http://schemas.openxmlformats.org/officeDocument/2006/relationships/slide" Target="/ppt/slides/slide22.xml" Id="R370f1384b3954d7d" /><Relationship Type="http://schemas.openxmlformats.org/officeDocument/2006/relationships/slide" Target="/ppt/slides/slide23.xml" Id="R3198db8655e444a3" /><Relationship Type="http://schemas.openxmlformats.org/officeDocument/2006/relationships/slide" Target="/ppt/slides/slide24.xml" Id="R6d8578a1c5aa4dc1" /><Relationship Type="http://schemas.openxmlformats.org/officeDocument/2006/relationships/slide" Target="/ppt/slides/slide25.xml" Id="R2bc2ade25b934b05" /><Relationship Type="http://schemas.openxmlformats.org/officeDocument/2006/relationships/slide" Target="/ppt/slides/slide26.xml" Id="R733228f734814222" /><Relationship Type="http://schemas.openxmlformats.org/officeDocument/2006/relationships/slide" Target="/ppt/slides/slide27.xml" Id="Rd8e7300e31104001" /><Relationship Type="http://schemas.openxmlformats.org/officeDocument/2006/relationships/slide" Target="/ppt/slides/slide28.xml" Id="R7cdc53dfd9bd479a" /><Relationship Type="http://schemas.openxmlformats.org/officeDocument/2006/relationships/slide" Target="/ppt/slides/slide29.xml" Id="R9036342aaa1e4b89" /><Relationship Type="http://schemas.openxmlformats.org/officeDocument/2006/relationships/slide" Target="/ppt/slides/slide30.xml" Id="R658bd30946984de7" /><Relationship Type="http://schemas.openxmlformats.org/officeDocument/2006/relationships/slide" Target="/ppt/slides/slide31.xml" Id="Rd911da0589284275" /><Relationship Type="http://schemas.openxmlformats.org/officeDocument/2006/relationships/slide" Target="/ppt/slides/slide32.xml" Id="R900d2e4aa17843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56c31e28e145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62603bb7ee4a50" /><Relationship Type="http://schemas.openxmlformats.org/officeDocument/2006/relationships/notesMaster" Target="/ppt/notesMasters/notesMaster1.xml" Id="R69033817363e4d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446f268cf54987" /><Relationship Type="http://schemas.openxmlformats.org/officeDocument/2006/relationships/notesMaster" Target="/ppt/notesMasters/notesMaster1.xml" Id="R5bd37416abc841b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1530ec7ded41c3" /><Relationship Type="http://schemas.openxmlformats.org/officeDocument/2006/relationships/notesMaster" Target="/ppt/notesMasters/notesMaster1.xml" Id="R12314d2e92114f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b9557527504903" /><Relationship Type="http://schemas.openxmlformats.org/officeDocument/2006/relationships/notesMaster" Target="/ppt/notesMasters/notesMaster1.xml" Id="R9565073485484f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010518b3844495" /><Relationship Type="http://schemas.openxmlformats.org/officeDocument/2006/relationships/notesMaster" Target="/ppt/notesMasters/notesMaster1.xml" Id="R1fab55b12b7943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c2be3758714b14" /><Relationship Type="http://schemas.openxmlformats.org/officeDocument/2006/relationships/notesMaster" Target="/ppt/notesMasters/notesMaster1.xml" Id="R9fee9707a12e418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81cd2380374dbf" /><Relationship Type="http://schemas.openxmlformats.org/officeDocument/2006/relationships/notesMaster" Target="/ppt/notesMasters/notesMaster1.xml" Id="Rc0b886c86f3843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fe44cdb4684ee6" /><Relationship Type="http://schemas.openxmlformats.org/officeDocument/2006/relationships/notesMaster" Target="/ppt/notesMasters/notesMaster1.xml" Id="R1a2f725969c943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7e07027f624c7d" /><Relationship Type="http://schemas.openxmlformats.org/officeDocument/2006/relationships/notesMaster" Target="/ppt/notesMasters/notesMaster1.xml" Id="R7fb74fbc8b8e419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792bcd6a89413e" /><Relationship Type="http://schemas.openxmlformats.org/officeDocument/2006/relationships/notesMaster" Target="/ppt/notesMasters/notesMaster1.xml" Id="R32917947de384c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5638dec62244ff" /><Relationship Type="http://schemas.openxmlformats.org/officeDocument/2006/relationships/notesMaster" Target="/ppt/notesMasters/notesMaster1.xml" Id="R8ddc5ebce23643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3fce7952c942c4" /><Relationship Type="http://schemas.openxmlformats.org/officeDocument/2006/relationships/notesMaster" Target="/ppt/notesMasters/notesMaster1.xml" Id="R9189e02aaaa640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d59a11d7e5548b0" /><Relationship Type="http://schemas.openxmlformats.org/officeDocument/2006/relationships/notesMaster" Target="/ppt/notesMasters/notesMaster1.xml" Id="R9fa90ed3ad6249a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3f85129ba047a9" /><Relationship Type="http://schemas.openxmlformats.org/officeDocument/2006/relationships/notesMaster" Target="/ppt/notesMasters/notesMaster1.xml" Id="Ra867634196bf46c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bb6d2e921c24065" /><Relationship Type="http://schemas.openxmlformats.org/officeDocument/2006/relationships/notesMaster" Target="/ppt/notesMasters/notesMaster1.xml" Id="R3a0726fbda944b7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0337282a16b4a38" /><Relationship Type="http://schemas.openxmlformats.org/officeDocument/2006/relationships/notesMaster" Target="/ppt/notesMasters/notesMaster1.xml" Id="R4534949a29474da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86361b2bbe548c3" /><Relationship Type="http://schemas.openxmlformats.org/officeDocument/2006/relationships/notesMaster" Target="/ppt/notesMasters/notesMaster1.xml" Id="R77ddc9931fa045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8a3c8890b5a4c16" /><Relationship Type="http://schemas.openxmlformats.org/officeDocument/2006/relationships/notesMaster" Target="/ppt/notesMasters/notesMaster1.xml" Id="R564835cbe174462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bafc772d6ed49c7" /><Relationship Type="http://schemas.openxmlformats.org/officeDocument/2006/relationships/notesMaster" Target="/ppt/notesMasters/notesMaster1.xml" Id="Rba4d0a102deb4bf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db188baf03e4ec2" /><Relationship Type="http://schemas.openxmlformats.org/officeDocument/2006/relationships/notesMaster" Target="/ppt/notesMasters/notesMaster1.xml" Id="Racbeaae067a7474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28c5d13a2a94f17" /><Relationship Type="http://schemas.openxmlformats.org/officeDocument/2006/relationships/notesMaster" Target="/ppt/notesMasters/notesMaster1.xml" Id="Ree3572b13d1e4ea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5287fb9fcf24ba3" /><Relationship Type="http://schemas.openxmlformats.org/officeDocument/2006/relationships/notesMaster" Target="/ppt/notesMasters/notesMaster1.xml" Id="R9acf43cec7fb440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c82d5b1a5ab4d77" /><Relationship Type="http://schemas.openxmlformats.org/officeDocument/2006/relationships/notesMaster" Target="/ppt/notesMasters/notesMaster1.xml" Id="R8cfaa30b1724448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f25fd8cc4784d7f" /><Relationship Type="http://schemas.openxmlformats.org/officeDocument/2006/relationships/notesMaster" Target="/ppt/notesMasters/notesMaster1.xml" Id="R535400306078475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ccb20edb74b4d85" /><Relationship Type="http://schemas.openxmlformats.org/officeDocument/2006/relationships/notesMaster" Target="/ppt/notesMasters/notesMaster1.xml" Id="Rd5b81197f057465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1417d17400c41f1" /><Relationship Type="http://schemas.openxmlformats.org/officeDocument/2006/relationships/notesMaster" Target="/ppt/notesMasters/notesMaster1.xml" Id="R575921bb448e4e1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c05744ce37f4eb8" /><Relationship Type="http://schemas.openxmlformats.org/officeDocument/2006/relationships/notesMaster" Target="/ppt/notesMasters/notesMaster1.xml" Id="Rc18d23ec87a2420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7e25f392cfb41a3" /><Relationship Type="http://schemas.openxmlformats.org/officeDocument/2006/relationships/notesMaster" Target="/ppt/notesMasters/notesMaster1.xml" Id="Ra047cb515506415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e3e96955fe64102" /><Relationship Type="http://schemas.openxmlformats.org/officeDocument/2006/relationships/notesMaster" Target="/ppt/notesMasters/notesMaster1.xml" Id="Rdaa177f72dba44b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c18ca0f54214c41" /><Relationship Type="http://schemas.openxmlformats.org/officeDocument/2006/relationships/notesMaster" Target="/ppt/notesMasters/notesMaster1.xml" Id="R979598c0e656441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a2ccd2d9fcc420c" /><Relationship Type="http://schemas.openxmlformats.org/officeDocument/2006/relationships/notesMaster" Target="/ppt/notesMasters/notesMaster1.xml" Id="R8c0a0942ce464a0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4cf91654c1a4c51" /><Relationship Type="http://schemas.openxmlformats.org/officeDocument/2006/relationships/notesMaster" Target="/ppt/notesMasters/notesMaster1.xml" Id="Rd7ac78a9d87b43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입력의 각 위치에서 다음 토큰을 예측한다. 마지막 예측 위치와 첫 label의 제외 구간을 원본 도식에서 확인한다. logits는 확률 변환 전 점수다. 실제 trainer 구현의 label shift와 loss mask를 별도로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그림은 여러 대화 턴 가운데 assistant 답변의 label만 남기는 구조다. assistant_only_loss의 실제 지원 여부와 마스크 생성은 사용 모델의 chat template에 달려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 논문에서는 A를 무작위로, B를 0으로 초기화하므로 초기 변화량은 0이다. 그림의 좌우 경로를 차례로 읽는다. 고정 가중치도 순전파 계산에는 참여한다.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https://huggingface.co/docs/peft/developer_guides/lora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https://huggingface.co/docs/peft/developer_guides/lora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https://huggingface.co/docs/peft/developer_guides/lora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그림의 면적은 실측 메모리 막대가 아니다. 위쪽 optimizer state, 가운데 adapter, 아래 base model을 비교한다. paging 화살표는 CPU/GPU 메모리 이동이며, 고정 모델의 학습 갱신을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https://huggingface.co/blog/4bit-transformers-bitsandbytes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https://huggingface.co/blog/4bit-transformers-bitsandbytes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- https://huggingface.co/docs/peft/developer_guides/lora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https://huggingface.co/docs/trl/sft_trainer</a:t>
            </a:r>
          </a:p>
          <a:p xmlns:a="http://schemas.openxmlformats.org/drawingml/2006/main">
            <a:r>
              <a:t>- https://arxiv.org/abs/2106.09685</a:t>
            </a:r>
          </a:p>
          <a:p xmlns:a="http://schemas.openxmlformats.org/drawingml/2006/main">
            <a:r>
              <a:t>- https://arxiv.org/abs/2305.14314</a:t>
            </a:r>
          </a:p>
          <a:p xmlns:a="http://schemas.openxmlformats.org/drawingml/2006/main">
            <a:r>
              <a:t>- https://huggingface.co/blog/4bit-transformers-bitsandbytes</a:t>
            </a:r>
          </a:p>
          <a:p xmlns:a="http://schemas.openxmlformats.org/drawingml/2006/main">
            <a:r>
              <a:t>- https://huggingface.co/docs/peft/developer_guides/lora</a:t>
            </a:r>
          </a:p>
          <a:p xmlns:a="http://schemas.openxmlformats.org/drawingml/2006/main">
            <a:r>
              <a:t>- repo:course_labs/adaptation.py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2a38efcff84c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3cefd621b04a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47271bdc2041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9e5972510346c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cfae65d3f142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a702ad48914f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5453A9-84DF-4C54-90F8-B1A2CB4DD3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B178E37-F081-4D79-B441-13D4ABE1E3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4C8738C-C0D3-4FB9-AEA5-4105C209F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5E2328-7D3D-40D5-A55F-FD26944614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AFE078B-4E85-4536-9F24-D448908BE5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31FE737-5028-4D64-9CC3-EB29B29316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4B1D549-9450-428B-9422-8A5434C5F9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506A1E6-4923-44EB-BC58-0202222C71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4C40E4-F36A-4FDD-9113-E715C8AA16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09F1736-F488-4987-B394-5E56715ED3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5bbbe6bd8942db" /><Relationship Type="http://schemas.openxmlformats.org/officeDocument/2006/relationships/slideLayout" Target="/ppt/slideLayouts/slideLayout1.xml" Id="Ra09fa74e8d9248d9" /><Relationship Type="http://schemas.openxmlformats.org/officeDocument/2006/relationships/slideLayout" Target="/ppt/slideLayouts/slideLayout2.xml" Id="Rbba40145017f4225" /><Relationship Type="http://schemas.openxmlformats.org/officeDocument/2006/relationships/slideLayout" Target="/ppt/slideLayouts/slideLayout3.xml" Id="Re03ea4a6354e4ee5" /><Relationship Type="http://schemas.openxmlformats.org/officeDocument/2006/relationships/slideLayout" Target="/ppt/slideLayouts/slideLayout4.xml" Id="R04fa407b3d72467b" /><Relationship Type="http://schemas.openxmlformats.org/officeDocument/2006/relationships/slideLayout" Target="/ppt/slideLayouts/slideLayout5.xml" Id="Ra32f2c837a144a43" /><Relationship Type="http://schemas.openxmlformats.org/officeDocument/2006/relationships/slideLayout" Target="/ppt/slideLayouts/slideLayout6.xml" Id="Rfa2fb0daec0444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9fa74e8d9248d9"/>
    <p:sldLayoutId xmlns:r="http://schemas.openxmlformats.org/officeDocument/2006/relationships" id="2147483650" r:id="Rbba40145017f4225"/>
    <p:sldLayoutId xmlns:r="http://schemas.openxmlformats.org/officeDocument/2006/relationships" id="2147483651" r:id="Re03ea4a6354e4ee5"/>
    <p:sldLayoutId xmlns:r="http://schemas.openxmlformats.org/officeDocument/2006/relationships" id="2147483652" r:id="R04fa407b3d72467b"/>
    <p:sldLayoutId xmlns:r="http://schemas.openxmlformats.org/officeDocument/2006/relationships" id="2147483653" r:id="Ra32f2c837a144a43"/>
    <p:sldLayoutId xmlns:r="http://schemas.openxmlformats.org/officeDocument/2006/relationships" id="2147483654" r:id="Rfa2fb0daec0444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503fd74b8f482c" /><Relationship Type="http://schemas.openxmlformats.org/officeDocument/2006/relationships/notesSlide" Target="/ppt/notesSlides/notesSlide1.xml" Id="R89403f2937694df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59277027ed4486" /><Relationship Type="http://schemas.openxmlformats.org/officeDocument/2006/relationships/notesSlide" Target="/ppt/notesSlides/notesSlide2.xml" Id="R250db626c3d54f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c408b8ec02496c" /><Relationship Type="http://schemas.openxmlformats.org/officeDocument/2006/relationships/notesSlide" Target="/ppt/notesSlides/notesSlide3.xml" Id="Ra1ad1a8ed3484c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5c882714844ccd" /><Relationship Type="http://schemas.openxmlformats.org/officeDocument/2006/relationships/notesSlide" Target="/ppt/notesSlides/notesSlide4.xml" Id="R6090285c955740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dc2271eb8a4f72" /><Relationship Type="http://schemas.openxmlformats.org/officeDocument/2006/relationships/notesSlide" Target="/ppt/notesSlides/notesSlide5.xml" Id="Rc40d46e46e7e401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5abe1ec2cd4451" /><Relationship Type="http://schemas.openxmlformats.org/officeDocument/2006/relationships/image" Target="/ppt/media/image.png" Id="R8fd8883291a44b19" /><Relationship Type="http://schemas.openxmlformats.org/officeDocument/2006/relationships/notesSlide" Target="/ppt/notesSlides/notesSlide6.xml" Id="Ra1bdb27e71284f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18afac4c064436" /><Relationship Type="http://schemas.openxmlformats.org/officeDocument/2006/relationships/notesSlide" Target="/ppt/notesSlides/notesSlide7.xml" Id="Re98ac506d6f64b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bcd3dddb5145bf" /><Relationship Type="http://schemas.openxmlformats.org/officeDocument/2006/relationships/notesSlide" Target="/ppt/notesSlides/notesSlide8.xml" Id="Recd777a5fdb64f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67c695b66c479b" /><Relationship Type="http://schemas.openxmlformats.org/officeDocument/2006/relationships/image" Target="/ppt/media/image2.png" Id="R4d120572d21647d0" /><Relationship Type="http://schemas.openxmlformats.org/officeDocument/2006/relationships/notesSlide" Target="/ppt/notesSlides/notesSlide9.xml" Id="Rf4f957fbd2ec46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82d1315ce44cde" /><Relationship Type="http://schemas.openxmlformats.org/officeDocument/2006/relationships/image" Target="/ppt/media/image3.png" Id="Re711b0f7460a4500" /><Relationship Type="http://schemas.openxmlformats.org/officeDocument/2006/relationships/notesSlide" Target="/ppt/notesSlides/notesSlide10.xml" Id="Ra6f804f624b141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523afbef4443aa" /><Relationship Type="http://schemas.openxmlformats.org/officeDocument/2006/relationships/notesSlide" Target="/ppt/notesSlides/notesSlide11.xml" Id="R2e6ac0b4a18640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09b600f07741d5" /><Relationship Type="http://schemas.openxmlformats.org/officeDocument/2006/relationships/notesSlide" Target="/ppt/notesSlides/notesSlide12.xml" Id="Rf3760b9896af4a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ce59a91e014e54" /><Relationship Type="http://schemas.openxmlformats.org/officeDocument/2006/relationships/notesSlide" Target="/ppt/notesSlides/notesSlide13.xml" Id="R9d82ef7e0ece4b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cceae9d7e54f50" /><Relationship Type="http://schemas.openxmlformats.org/officeDocument/2006/relationships/image" Target="/ppt/media/image4.png" Id="Rd5db30b1d0e04bd4" /><Relationship Type="http://schemas.openxmlformats.org/officeDocument/2006/relationships/notesSlide" Target="/ppt/notesSlides/notesSlide14.xml" Id="Rae08b3383131432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6f1cfdbad84485" /><Relationship Type="http://schemas.openxmlformats.org/officeDocument/2006/relationships/notesSlide" Target="/ppt/notesSlides/notesSlide15.xml" Id="R2744b8c7ce52423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f8dc0e305549fc" /><Relationship Type="http://schemas.openxmlformats.org/officeDocument/2006/relationships/notesSlide" Target="/ppt/notesSlides/notesSlide16.xml" Id="R4f96c0ba98bf4e8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b3d61761824510" /><Relationship Type="http://schemas.openxmlformats.org/officeDocument/2006/relationships/chart" Target="/ppt/slides/charts/chart1.xml" Id="Rd111eee199464558" /><Relationship Type="http://schemas.openxmlformats.org/officeDocument/2006/relationships/notesSlide" Target="/ppt/notesSlides/notesSlide17.xml" Id="R222edfee3e3e4bf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77255faa3644a1" /><Relationship Type="http://schemas.openxmlformats.org/officeDocument/2006/relationships/notesSlide" Target="/ppt/notesSlides/notesSlide18.xml" Id="Ra9c3cc8174ef4a5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15dcde86d14856" /><Relationship Type="http://schemas.openxmlformats.org/officeDocument/2006/relationships/notesSlide" Target="/ppt/notesSlides/notesSlide19.xml" Id="Rf272c84f1bea4b6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ec9ca597f44e3b" /><Relationship Type="http://schemas.openxmlformats.org/officeDocument/2006/relationships/notesSlide" Target="/ppt/notesSlides/notesSlide20.xml" Id="R17a07a5f10f24c7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d0e42643c94711" /><Relationship Type="http://schemas.openxmlformats.org/officeDocument/2006/relationships/image" Target="/ppt/media/image5.png" Id="Rde53bb3d305f45d3" /><Relationship Type="http://schemas.openxmlformats.org/officeDocument/2006/relationships/notesSlide" Target="/ppt/notesSlides/notesSlide21.xml" Id="R322505b14a204ad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2f35e7f6bf4902" /><Relationship Type="http://schemas.openxmlformats.org/officeDocument/2006/relationships/notesSlide" Target="/ppt/notesSlides/notesSlide22.xml" Id="R6dc588ecc6e74b4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5f8602cc9d48c9" /><Relationship Type="http://schemas.openxmlformats.org/officeDocument/2006/relationships/notesSlide" Target="/ppt/notesSlides/notesSlide23.xml" Id="Rbf10c813904f4fa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61d0ff43434a8d" /><Relationship Type="http://schemas.openxmlformats.org/officeDocument/2006/relationships/notesSlide" Target="/ppt/notesSlides/notesSlide24.xml" Id="Rb7d906fe778a4ed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fead37493e45cb" /><Relationship Type="http://schemas.openxmlformats.org/officeDocument/2006/relationships/notesSlide" Target="/ppt/notesSlides/notesSlide25.xml" Id="R6e9f99c790924d4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38e2c66d3c400d" /><Relationship Type="http://schemas.openxmlformats.org/officeDocument/2006/relationships/notesSlide" Target="/ppt/notesSlides/notesSlide26.xml" Id="Rec64efaab4fb4f7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97ee7de59a4980" /><Relationship Type="http://schemas.openxmlformats.org/officeDocument/2006/relationships/notesSlide" Target="/ppt/notesSlides/notesSlide27.xml" Id="R7d487378eeb148b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58f0a573df4407" /><Relationship Type="http://schemas.openxmlformats.org/officeDocument/2006/relationships/notesSlide" Target="/ppt/notesSlides/notesSlide28.xml" Id="R4a9790e7b08c4a6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a342b63aaf41fd" /><Relationship Type="http://schemas.openxmlformats.org/officeDocument/2006/relationships/notesSlide" Target="/ppt/notesSlides/notesSlide29.xml" Id="R14f68e5bc897425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449e2575f74166" /><Relationship Type="http://schemas.openxmlformats.org/officeDocument/2006/relationships/notesSlide" Target="/ppt/notesSlides/notesSlide30.xml" Id="R0f638ab3fcc04c7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06c3c972314140" /><Relationship Type="http://schemas.openxmlformats.org/officeDocument/2006/relationships/notesSlide" Target="/ppt/notesSlides/notesSlide31.xml" Id="R0046e5b74a694c2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0614e58ba34b50" /><Relationship Type="http://schemas.openxmlformats.org/officeDocument/2006/relationships/notesSlide" Target="/ppt/notesSlides/notesSlide32.xml" Id="Rbc25fa78d90a4df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전체 행렬</c:v>
          </c:tx>
          <c:spPr>
            <a:solidFill xmlns:a="http://schemas.openxmlformats.org/drawingml/2006/main">
              <a:srgbClr val="284B72"/>
            </a:solidFill>
            <a:ln xmlns:a="http://schemas.openxmlformats.org/drawingml/2006/main" w="19050">
              <a:solidFill>
                <a:srgbClr val="284B72"/>
              </a:solidFill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96</c:v>
                </c:pt>
                <c:pt idx="1">
                  <c:v>96</c:v>
                </c:pt>
                <c:pt idx="2">
                  <c:v>96</c:v>
                </c:pt>
                <c:pt idx="3">
                  <c:v>96</c:v>
                </c:pt>
              </c:numCache>
            </c:numRef>
          </c:val>
        </c:ser>
        <c:ser>
          <c:idx val="1"/>
          <c:order val="1"/>
          <c:tx>
            <c:v>두 행렬 합계</c:v>
          </c:tx>
          <c:spPr>
            <a:solidFill xmlns:a="http://schemas.openxmlformats.org/drawingml/2006/main">
              <a:srgbClr val="17283B"/>
            </a:solidFill>
            <a:ln xmlns:a="http://schemas.openxmlformats.org/drawingml/2006/main" w="19050">
              <a:solidFill>
                <a:srgbClr val="17283B"/>
              </a:solidFill>
            </a:ln>
          </c:spPr>
          <c:invertIfNegative val="0"/>
          <c:cat>
            <c:strRef>
              <c:f>'Chart Data'!$C$2:$C$5</c:f>
              <c:strCache>
                <c:ptCount val="4"/>
                <c:pt idx="0">
                  <c:v>rank1</c:v>
                </c:pt>
                <c:pt idx="1">
                  <c:v>rank2</c:v>
                </c:pt>
                <c:pt idx="2">
                  <c:v>rank4</c:v>
                </c:pt>
                <c:pt idx="3">
                  <c:v>rank8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20</c:v>
                </c:pt>
                <c:pt idx="1">
                  <c:v>40</c:v>
                </c:pt>
                <c:pt idx="2">
                  <c:v>80</c:v>
                </c:pt>
                <c:pt idx="3">
                  <c:v>160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2606B"/>
                  </a:solidFill>
                  <a:latin typeface="AppleGothic"/>
                  <a:ea typeface="AppleGothic"/>
                  <a:cs typeface="Apple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52606B"/>
              </a:solidFill>
              <a:latin typeface="AppleGothic"/>
              <a:ea typeface="AppleGothic"/>
              <a:cs typeface="AppleGothic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32C06-13A5-423C-B2A1-6B3176D7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LLMOPS / WEEK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9080C-4461-4067-9009-F483C65D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미세조정과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메모리 효율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00EA3-A694-4FFA-AF98-1C896670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F74E97-B471-43C1-BE50-24D1E9B8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SFT · LoRA · QLoRA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7AEDF8-0181-45D7-A78D-3DE5BABD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215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6주차 학습 단원 보충 · 7주차 통합 강의 복습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645C14-6D0E-4D1E-8ECD-BD8014A3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083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차성재 · 무신사 Core AI PM × AI 대학원 겸임교수</a:t>
            </a:r>
          </a:p>
        </p:txBody>
      </p:sp>
    </p:spTree>
    <p:extLst>
      <p:ext uri="{BB962C8B-B14F-4D97-AF65-F5344CB8AC3E}">
        <p14:creationId xmlns:p14="http://schemas.microsoft.com/office/powerpoint/2010/main" val="16270596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EA10F-AD1F-4CF9-8F80-F9C1E7AA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93072D-FCC8-44AA-BAF5-B1DCB543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1FC78-02B4-495E-B86D-BF4B6A8D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6–7주차 자료의 연결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5AD27-ED11-45C5-AABF-80EE9E23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5E2295-2FFA-4647-BF1D-BC088E02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E8A05-12A3-4D52-AA1B-3C060143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AF636-BF2B-4872-9952-1B1865FB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10월 9일 휴일에는 수업·녹화·신규 과제 없음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95ECA-3C82-4DD1-8779-46EB944A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6주차 기술 내용은 10월 16일 7주차에서 함께 진행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BCF4E-FAB9-48D5-9CCA-34455C96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통합 녹화 영상과 이번 시각 자료로 복습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C6E1CF-5365-4621-BA3E-73663C1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기획서 마감: 10.22(목) 23:59 한국시간 · 10.23은 제출물 평가</a:t>
            </a:r>
          </a:p>
        </p:txBody>
      </p:sp>
    </p:spTree>
    <p:extLst>
      <p:ext uri="{BB962C8B-B14F-4D97-AF65-F5344CB8AC3E}">
        <p14:creationId xmlns:p14="http://schemas.microsoft.com/office/powerpoint/2010/main" val="15297431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A15F01-6F2E-4A99-8C70-F45A01EC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77B7A-3DD1-4B51-920F-2FE579E0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C82F5E-0601-4F31-9610-8DF84BBC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오늘의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F57C2-F13D-43D5-9667-75D3D330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560AAB-A11B-4E9E-9063-8D6D801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7B8A7-E696-4F45-B659-63D64EE3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0F3AE-DCE3-4ABC-A060-A705662A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AE9B3-08F8-4FCD-AFBC-18D87D80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어떤 입력과 기대 답변으로 학습하는가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28A74-B6BB-444A-B761-3497FFA6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2B63B-1429-4D74-B13D-A9653432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36DB7-A342-489D-88F8-705853AC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6B7F7F-D3D8-4711-88DC-E43916F8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어떤 파라미터를 갱신하는가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AA09BA-7E33-4130-84E3-55D64737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CC889B-277D-4327-BD92-EEDF4526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1392C-B734-4A65-813E-2837616F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QLoRA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44C971-58E0-4926-A20C-0265037D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모델을 어떤 정밀도로 저장하는가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AD3B20-2E05-4A0B-8ED4-798336A3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D5443D-C941-465D-BD77-75E17688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SFT라는 학습 목적에 LoRA 또는 QLoRA를 결합할 수 있음</a:t>
            </a:r>
          </a:p>
        </p:txBody>
      </p:sp>
    </p:spTree>
    <p:extLst>
      <p:ext uri="{BB962C8B-B14F-4D97-AF65-F5344CB8AC3E}">
        <p14:creationId xmlns:p14="http://schemas.microsoft.com/office/powerpoint/2010/main" val="20952121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029B9F-4866-47D2-8F03-30C1F266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4EEA9F-3B4D-4CA4-8486-CB91761A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3AAFFE-A996-4261-A97F-397C6852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학습보다 먼저 확인할 문제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CCF4D6-B621-4747-9B76-82AF3F27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C273C-ED7B-4A49-9574-A0CC4323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EEC81C-F03D-4543-B81B-2ADA52887EF3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첫 비교 대상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확인할 근거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최신 정책 오류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검색·문서 버전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적용일·출처·권한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 형식 오류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프롬프트·출력 검사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같은 입력의 반복 실패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반복 행동 불안정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SFT·Adapter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허가된 예시·보류 평가셋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050A8-077D-45F9-9701-4E1951EAE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790458-2C04-45A6-AA80-88D628A4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27B75-4164-4747-823F-FD92E4D9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DC5C07-8605-4A2F-BC7E-C340C7CE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7A721F-16F4-4DCB-989A-CC4DC38F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62148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B2FAB-7831-4290-BA97-1156CD73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W06 /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9E386F-ABF6-4B71-B561-FBF4A7FF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6E53D0-FBED-4440-8F98-7BFD84FC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84776-8E9D-40B7-AAC2-196AF0DF3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Supervised Fine-Tuning · SFT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5A306-48A7-44C3-806B-0BB46AB3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업무 입력과 기대 답변으로 다음 토큰 예측 학습</a:t>
            </a:r>
          </a:p>
        </p:txBody>
      </p:sp>
    </p:spTree>
    <p:extLst>
      <p:ext uri="{BB962C8B-B14F-4D97-AF65-F5344CB8AC3E}">
        <p14:creationId xmlns:p14="http://schemas.microsoft.com/office/powerpoint/2010/main" val="1481471567"/>
      </p:ext>
    </p:extLst>
  </p:cSld>
</p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4" name="">
            <ns1:extLst>
              <ns1:ext uri="{FF2B5EF4-FFF2-40B4-BE49-F238E27FC236}">
                <ns2:creationId id="{7477E530-6CAC-47C9-ACAA-922B1ED304D2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W06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12C7C2F9-A4BE-458B-BFA3-CE52EB338876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06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19ED03C-0705-49C1-AC1F-E534B55F4920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SFT의 토큰 예측과 손실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27B86B65-ADFA-4662-9356-C479E00CFC55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C1729B7E-6BFE-4EEA-87E6-66A574E65204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SFT · LoRA · QLoRA · 데이터와 평가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D3A9924D-A0C7-4F3A-80AE-8B675D112608}"/>
              </ns1:ext>
            </ns1:extLst>
          </ns0:cNvPr>
          <ns0:cNvPicPr>
            <ns1:picLocks noChangeAspect="1"/>
          </ns0:cNvPicPr>
          <ns0:nvPr/>
        </ns0:nvPicPr>
        <ns0:blipFill>
          <ns1:blip ns3:embed="R8fd8883291a44b19">
            <ns1:grayscl/>
          </ns1:blip>
          <ns1:stretch/>
        </ns0:blipFill>
        <ns0:spPr>
          <ns1:xfrm>
            <ns1:off x="609600" y="1623599"/>
            <ns1:ext cx="7810500" cy="3991803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B9D44004-D378-4141-A3CB-6225776FF594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1771650"/>
            <ns1:ext cx="2724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입력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C8C70258-816B-4850-8AED-A91FBC11D303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2228850"/>
            <ns1:ext cx="272415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input_ids: 토큰 ID의 나열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4351FE42-331F-4AA6-B413-88D6ACF9E0F7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3009900"/>
            <ns1:ext cx="2724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예측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347D819F-3EEE-4483-AAC4-F5E3ADD36C60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3467100"/>
            <ns1:ext cx="272415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logits: 다음 토큰의 점수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0D0EA3E4-B1A7-4FE8-8E44-F4822EAE3CD1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4248150"/>
            <ns1:ext cx="2724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2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비교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D7B09883-5F8B-421F-A383-06E189C63D51}"/>
              </ns1:ext>
            </ns1:extLst>
          </ns0:cNvPr>
          <ns0:cNvSpPr>
            <ns1:spLocks noGrp="1"/>
          </ns0:cNvSpPr>
          <ns0:nvPr/>
        </ns0:nvSpPr>
        <ns0:spPr>
          <ns1:xfrm>
            <ns1:off x="8858250" y="4705350"/>
            <ns1:ext cx="272415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labels와 교차 엔트로피</ns1:t>
            </ns1:r>
          </ns1:p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손실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4767CF4C-4CF0-4911-8DEC-CECBD685719E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791200"/>
            <ns1:ext cx="10972800" cy="457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Hugging Face TRL 공식 도식 · 원본 이미지의 흑백 표시</ns1:t>
            </ns1:r>
          </ns1:p>
        </ns0:txBody>
      </ns0:sp>
    </ns0:spTree>
    <ns0:extLst>
      <ns0:ext uri="{BB962C8B-B14F-4D97-AF65-F5344CB8AC3E}">
        <ns4:creationId val="717927676"/>
      </ns0:ext>
    </ns0:extLst>
  </ns0:cSld>
</ns0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12EDA-E775-448F-A9E6-083B819C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00CD93-994A-4403-91F1-45F380D7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3D541-D815-4F93-AC82-36D87DF3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데이터 한 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9C0F1-3B6D-4C21-BF65-D37F52B3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E6B19-0690-465B-95EE-8A3BDB69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EB490-EF06-48F7-8F64-4AFF704F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0294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11071-D8CF-4663-86F5-443D48AE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64960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instruction: 문의 상태 정리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input: 합성 사례 DEMO-01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response: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status: review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source: DEMO-01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ABCDC-6334-43AD-935A-ECC64E28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입력과 기대 출력의 경계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34DFD-418E-4649-857A-79E9E0B2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275610-6F9F-417E-B0E6-6ADF6818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합성 사례만 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B0042-542F-4410-983E-035CD405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80383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형식·정확성 별도 검토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28AFF-B5C9-4062-AEAF-3BBFD491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상태·출처를 정리하는 설명용 예시 · 실제 정책 아님</a:t>
            </a:r>
          </a:p>
        </p:txBody>
      </p:sp>
    </p:spTree>
    <p:extLst>
      <p:ext uri="{BB962C8B-B14F-4D97-AF65-F5344CB8AC3E}">
        <p14:creationId xmlns:p14="http://schemas.microsoft.com/office/powerpoint/2010/main" val="19477842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D46746-3E62-4B73-8C45-5285F723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E26575-3DB9-491C-90C3-A2A7E32F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AE88B-1A71-497C-AED2-DF18BC33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자료 준비와 평가 분리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A8FD8-FB9F-4361-8C77-9DAF8475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DE7EA-B5C2-47B3-BF82-37A5F872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D03D8-1C91-4A72-BB5B-8A37E227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12DDF-6018-4000-A724-D1D9B670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9B42E1-5BBF-4177-9473-A66532F2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E58D26-6903-430B-8B31-E217760A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수집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1294CA-E0AE-430C-AAD6-9992290D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사용 허가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DCAC65-F68D-4FBB-B700-20399AF2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09FFB-C1D5-4A88-80F0-63573619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C4B87-BC64-4111-A6A6-EFDF5289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89C85-D9A8-4874-97CE-386A54DCA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필드·중복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9C1EEC-260F-42CE-9644-EA39AE6A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D9287-0F48-42E7-AA76-D4553D05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82724-3966-4C0B-A6F6-2E7FC1F8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분할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87534B-5F8F-41A3-8259-74CC1E98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사건·시간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D6115-9F96-49E0-8669-990A00C7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94130F-DD6E-435E-93DA-B63F108B0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C34DB4-0D01-4528-925E-2E7AFC56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보류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BCCBB4-4C09-4CA8-862D-5393DE9A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최종 평가셋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04EF9A-B86A-479C-AE27-D02F6D31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같은 사건의 표현을 train과 test에 나누면 평가가 낙관적으로 보일 수 있음</a:t>
            </a:r>
          </a:p>
        </p:txBody>
      </p:sp>
    </p:spTree>
    <p:extLst>
      <p:ext uri="{BB962C8B-B14F-4D97-AF65-F5344CB8AC3E}">
        <p14:creationId xmlns:p14="http://schemas.microsoft.com/office/powerpoint/2010/main" val="1336737314"/>
      </p:ext>
    </p:extLst>
  </p:cSld>
</p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4" name="">
            <ns1:extLst>
              <ns1:ext uri="{FF2B5EF4-FFF2-40B4-BE49-F238E27FC236}">
                <ns2:creationId id="{5E640CF1-E1F2-4B83-AEC5-E3EA32517978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W06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2D684F31-7172-4480-898E-9B024CD8D485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09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66EA7837-A9DD-49D0-AE81-F125A1D5F850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답변 구간의 손실 마스킹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0E187FB8-E97A-4B1B-8A55-FA7C33D5B8A5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4DA9574C-4687-4A70-8AD1-8861A9CDDF79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SFT · LoRA · QLoRA · 데이터와 평가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6A05BA8C-9BAD-4DB4-AD3B-4A79C7991241}"/>
              </ns1:ext>
            </ns1:extLst>
          </ns0:cNvPr>
          <ns0:cNvPicPr>
            <ns1:picLocks noChangeAspect="1"/>
          </ns0:cNvPicPr>
          <ns0:nvPr/>
        </ns0:nvPicPr>
        <ns0:blipFill>
          <ns1:blip ns3:embed="R4d120572d21647d0">
            <ns1:grayscl/>
          </ns1:blip>
          <ns1:stretch/>
        </ns0:blipFill>
        <ns0:spPr>
          <ns1:xfrm>
            <ns1:off x="609600" y="1715842"/>
            <ns1:ext cx="10972800" cy="2550017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D04E00A9-0DA3-4F67-9371-78249732431C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user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1D27E3D0-B361-44ED-A3D9-1E0211B767DE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사용자 입력은 참고 문맥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889A1A02-3AD9-4742-A0C3-77EDA143CD9F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assistant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67663C6A-FBB7-43A3-BB3B-29B6DDFF3326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선택한 답변 토큰에 학습 신호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21F55BA6-081C-4F66-B90C-759290BA7C64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빗금 구간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B3E167A0-4979-4819-81EB-693AEA62FCD5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손실 계산에서 제외한 위치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1ADF9A7F-7F62-4B33-A65F-149FC412016C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791200"/>
            <ns1:ext cx="10972800" cy="457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Hugging Face TRL · assistant-only loss · 모델별 템플릿 확인</ns1:t>
            </ns1:r>
          </ns1:p>
        </ns0:txBody>
      </ns0:sp>
    </ns0:spTree>
    <ns0:extLst>
      <ns0:ext uri="{BB962C8B-B14F-4D97-AF65-F5344CB8AC3E}">
        <ns4:creationId val="1266282465"/>
      </ns0:ext>
    </ns0:extLst>
  </ns0:cSld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4" name="">
            <ns1:extLst>
              <ns1:ext uri="{FF2B5EF4-FFF2-40B4-BE49-F238E27FC236}">
                <ns2:creationId id="{2A1D7255-056E-4722-B17E-39B91736FEE7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W06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CEA8542A-8360-44BF-8770-35F927EDFE96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10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6B634E64-CEB0-4727-A6EA-C7FC3D81FBF5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Prompt와 Completion의 분리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94CD9BDB-897C-4E96-86B0-B204E53A65EB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9A61590F-D42C-42CC-A627-F05BF142D9B5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SFT · LoRA · QLoRA · 데이터와 평가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ABD15B7A-8205-4461-BDFE-A96400FDA28E}"/>
              </ns1:ext>
            </ns1:extLst>
          </ns0:cNvPr>
          <ns0:cNvPicPr>
            <ns1:picLocks noChangeAspect="1"/>
          </ns0:cNvPicPr>
          <ns0:nvPr/>
        </ns0:nvPicPr>
        <ns0:blipFill>
          <ns1:blip ns3:embed="Re711b0f7460a4500">
            <ns1:grayscl/>
          </ns1:blip>
          <ns1:stretch/>
        </ns0:blipFill>
        <ns0:spPr>
          <ns1:xfrm>
            <ns1:off x="609600" y="1715842"/>
            <ns1:ext cx="10972800" cy="2550017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DBF0B3E2-E2E2-41DC-94E2-E54DFD838019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prompt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020FBAE9-20C9-42F2-B458-F84326BC16AC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질문·지시·참고 문맥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4501BD01-AF99-4975-B871-045AAFB45445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completion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F439818-879D-4F4C-86ED-5F5F47B67A3D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기대 답변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839FA701-FEA8-436F-B5C9-69B55AF0D9F4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4581525"/>
            <ns1:ext cx="3486150" cy="3429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1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확인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373EBCD1-3ED6-45A2-8385-E24B6A80B9CE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5048250"/>
            <ns1:ext cx="3486150" cy="5905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답변 경계·종료 토큰·잘림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63978CCB-589F-4705-9EAF-D5E5695A1243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791200"/>
            <ns1:ext cx="10972800" cy="457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Hugging Face TRL · completion-only loss · assistant-only와 입력 형식 구분</ns1:t>
            </ns1:r>
          </ns1:p>
        </ns0:txBody>
      </ns0:sp>
    </ns0:spTree>
    <ns0:extLst>
      <ns0:ext uri="{BB962C8B-B14F-4D97-AF65-F5344CB8AC3E}">
        <ns4:creationId val="289089835"/>
      </ns0:ext>
    </ns0:extLst>
  </ns0:cSld>
</ns0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BE2E3-E5A0-471C-B590-6FC6C58C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C4060-60AE-4AB9-AC35-3643F782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DBD4C-69EC-4241-B280-BBD3362D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마스킹의 최소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5696E-4EC0-4D02-9148-9B0BC620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2E70A5-DE47-4997-A84B-40A74E4F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32234-269D-4E50-BCC0-00BB0531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15034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A3CEFF-5F6B-4245-BEBE-6564FAAD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77500" cy="9319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token_ids = [10, 11, 12, 20, 21, 22]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labels = [-100, -100, -100, 20, 21, 22]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sum(x != -100 for x in labels) ==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3B4EF-8FE3-44BB-944A-06AD76A7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가상 토큰 ID · 실제 모델 tokenizer 실행과 구분</a:t>
            </a:r>
          </a:p>
        </p:txBody>
      </p:sp>
    </p:spTree>
    <p:extLst>
      <p:ext uri="{BB962C8B-B14F-4D97-AF65-F5344CB8AC3E}">
        <p14:creationId xmlns:p14="http://schemas.microsoft.com/office/powerpoint/2010/main" val="4611746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43B4E2-7F3A-4D2E-8AE2-0599EAA5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3BD8A-6059-4024-8810-D7920965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893C4-9812-4546-BE1B-CB4BB3CF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길이 제한과 답변 누락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46A61-E7C2-4AD1-BE81-0FD54DE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38FD6-5654-4FB8-97E2-52A118DE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84D40-27EF-4125-8DDC-9480E27A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E6AEA7-9250-4753-B320-B74B01C6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긴 문맥이 답변 구간을 밀어내는 문제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691131-D5DD-4468-89C9-C3213B175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문자 길이 대신 해당 모델의 토큰 길이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58350-0EA7-4265-B1D1-F0C77B271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긴 사례·짧은 사례·경계 사례를 따로 점검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2317A1-7ED3-4DE8-B820-EEAE9938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답변 정답이 잘린 데이터로 학습하지 않도록 사전 검사</a:t>
            </a:r>
          </a:p>
        </p:txBody>
      </p:sp>
    </p:spTree>
    <p:extLst>
      <p:ext uri="{BB962C8B-B14F-4D97-AF65-F5344CB8AC3E}">
        <p14:creationId xmlns:p14="http://schemas.microsoft.com/office/powerpoint/2010/main" val="14853981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03639-B957-4A81-B390-F9F03291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W06 / 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7B46C-425A-4A9F-BB6C-1EBA1AAB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LoRA의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4FF6D-ADA9-4F7D-A50C-C0AAD4BA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F4C0EB-5934-4E65-BEB3-9A30E2F8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Low-Rank Adaptation · 저차원 행렬 기반 모델 적응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C223A-C052-4FF9-A973-D3C6DF4D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기존 가중치는 고정하고 작은 두 행렬을 학습</a:t>
            </a:r>
          </a:p>
        </p:txBody>
      </p:sp>
    </p:spTree>
    <p:extLst>
      <p:ext uri="{BB962C8B-B14F-4D97-AF65-F5344CB8AC3E}">
        <p14:creationId xmlns:p14="http://schemas.microsoft.com/office/powerpoint/2010/main" val="1831448412"/>
      </p:ext>
    </p:extLst>
  </p:cSld>
</p:sld>
</file>

<file path=ppt/slides/slide1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4" name="">
            <ns1:extLst>
              <ns1:ext uri="{FF2B5EF4-FFF2-40B4-BE49-F238E27FC236}">
                <ns2:creationId id="{1076DA72-F13F-4DF3-A998-4395FAC35D7A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W06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15A6733C-5AC8-48BB-897F-9E7478185735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14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8C698642-9ABE-45EC-A939-0E8BA4DD3C84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LoRA 원 논문의 두 경로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E0C81F88-84D2-4F79-B3A4-9586A59F28EA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B1C4B233-7FA2-4FBB-8155-5A83E06B8F2A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SFT · LoRA · QLoRA · 데이터와 평가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04A42805-C3BE-4973-B7CB-E85D61ED8D2A}"/>
              </ns1:ext>
            </ns1:extLst>
          </ns0:cNvPr>
          <ns0:cNvPicPr>
            <ns1:picLocks noChangeAspect="1"/>
          </ns0:cNvPicPr>
          <ns0:nvPr/>
        </ns0:nvPicPr>
        <ns0:blipFill>
          <ns1:blip ns3:embed="Rd5db30b1d0e04bd4">
            <ns1:grayscl/>
          </ns1:blip>
          <ns1:stretch/>
        </ns0:blipFill>
        <ns0:spPr>
          <ns1:xfrm>
            <ns1:off x="1409417" y="1628775"/>
            <ns1:ext cx="3943916" cy="3905250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0FF440A9-776C-4E7D-B9EB-BF8BB1BEF839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1714500"/>
            <ns1:ext cx="4648200" cy="4000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고정 경로 W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F215C767-1139-4F05-AFCD-C8A669AB3E77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2200275"/>
            <ns1:ext cx="4648200" cy="6477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기존 모델의 계산 유지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8DD5225A-FDD3-4FB5-A30E-63DC5422BE5C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2952750"/>
            <ns1:ext cx="4648200" cy="4000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학습 경로 A·B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E18B9FE5-679E-4853-862A-46AB0065149E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3438525"/>
            <ns1:ext cx="4648200" cy="6477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작은 변화량을 학습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0B0D4005-4034-4CF1-AE97-ADE0B5040AA2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4191000"/>
            <ns1:ext cx="4648200" cy="4000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3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합산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BEB35353-3626-43AC-80D1-8E936E0DF489}"/>
              </ns1:ext>
            </ns1:extLst>
          </ns0:cNvPr>
          <ns0:cNvSpPr>
            <ns1:spLocks noGrp="1"/>
          </ns0:cNvSpPr>
          <ns0:nvPr/>
        </ns0:nvSpPr>
        <ns0:spPr>
          <ns1:xfrm>
            <ns1:off x="6800850" y="4676775"/>
            <ns1:ext cx="4648200" cy="6477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20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두 경로의 출력 결합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3E8254EC-DEDF-450C-8788-33D64CCD8970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791200"/>
            <ns1:ext cx="10972800" cy="457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6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Hu et al., 2021, Figure 1 · 원본 도식 발췌·흑백 렌더링</ns1:t>
            </ns1:r>
          </ns1:p>
        </ns0:txBody>
      </ns0:sp>
    </ns0:spTree>
    <ns0:extLst>
      <ns0:ext uri="{BB962C8B-B14F-4D97-AF65-F5344CB8AC3E}">
        <ns4:creationId val="1721282213"/>
      </ns0:ext>
    </ns0:extLst>
  </ns0:cSld>
</ns0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32125B-34A8-4E09-A002-F26A10D7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B7944-7E52-42C2-AB48-07660070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C2E9E-AFE1-4144-A638-F1EFAD52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가중치 변화의 표현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404D91-C4C6-4BEF-A146-FCDE3B05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A2B74D-4708-44B5-8C2A-A414E48F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1878C-3257-49B2-8AA4-0388EE5A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8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W′ = W + (α/r) · BA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4D279-20D5-4EE5-A393-92F81C0B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08ECC-EA87-4D08-88E2-FDA5410D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W: 고정 모델 가중치 · A와 B: 학습 행렬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86CAA-C337-4674-8284-5AC0443F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479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r: rank · α: 변화량의 배율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C3CF1-2C4E-4C7B-91FB-175CFEDE1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일반 LoRA scaling 기준 · rsLoRA 등 다른 변형은 설정을 구분</a:t>
            </a:r>
          </a:p>
        </p:txBody>
      </p:sp>
    </p:spTree>
    <p:extLst>
      <p:ext uri="{BB962C8B-B14F-4D97-AF65-F5344CB8AC3E}">
        <p14:creationId xmlns:p14="http://schemas.microsoft.com/office/powerpoint/2010/main" val="5508130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126DE4-A486-46BF-953C-EC057C8F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2D5D69-CC81-4B2D-9A87-6C570A5B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9852E-8BDE-4F61-8676-C47B9EAC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작은 행렬의 차원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57145-E0DF-4431-B5D0-5740AC48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6E1FF-42AB-4E7B-9B6A-F7A0C897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D7CDD1-5989-4391-8D24-7BFC9B74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567E8-96CD-4990-A203-C31371BD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F595A5-C315-4386-A203-029ECB316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DFD201-BF5C-4103-934E-52DB5134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B25A8E-8319-42CC-A3D9-23902B20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8차원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7CDD13-21FF-436C-945F-C789290A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ECD3C-0362-4EFD-AF07-BEC14369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88C95C-8065-4B32-87C0-F484491B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46BA5-0B3A-462D-BB4C-947CBE48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 × 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FFB7E-6E88-474A-BCCF-63EC7AE6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FB9A7F-9168-4826-B3C7-7D9B2FF8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092F05-8A8A-4BAB-8AA6-CD4E4DE2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F59D81-CB57-4CC9-826E-C437AC12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 ×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1B491E-1408-40A3-AAF9-9E5F8ADD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85462D-C1B5-4A6E-AAC5-FC248CB8E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E7B720-2434-4FD9-8E7B-FC5FF24A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출력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ECBA96-F8EC-4440-A703-723F4D58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12차원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E066B8-16BF-4563-B5E9-C566781C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예시 r=2 · BA는 12×8 · 7주차 Notebook 02와 연결</a:t>
            </a:r>
          </a:p>
        </p:txBody>
      </p:sp>
    </p:spTree>
    <p:extLst>
      <p:ext uri="{BB962C8B-B14F-4D97-AF65-F5344CB8AC3E}">
        <p14:creationId xmlns:p14="http://schemas.microsoft.com/office/powerpoint/2010/main" val="15687852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90C59-A6CF-4E3A-8214-24C56279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01CC56-EC09-4800-A958-5243D1606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539D9-51E1-49E7-88F2-6FB12E51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rank별 학습 파라미터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C2EADD-F7A9-4F09-9C7B-71DE867B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1F5971-C383-4350-AC6F-06308E5B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0E519275-E33D-4227-905F-4BCD39EF32CC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11eee199464558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AA0BE-CC1F-41D8-9DC2-B594789E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12×8 합성 행렬 · 전체 96개 · 두 행렬 r(12+8) · 실제 GPU 측정 아님</a:t>
            </a:r>
          </a:p>
        </p:txBody>
      </p:sp>
    </p:spTree>
    <p:extLst>
      <p:ext uri="{BB962C8B-B14F-4D97-AF65-F5344CB8AC3E}">
        <p14:creationId xmlns:p14="http://schemas.microsoft.com/office/powerpoint/2010/main" val="44597929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A320C-B682-4FBD-993E-40EF1657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69E01A-B10F-4759-A439-7948C29B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4C6EA-02F9-4027-BC9C-FBEEDA9E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rank 선택의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8F6D0-DD42-4962-A378-0BB7AB7A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97AB7-5CC2-4A5C-85A1-C495F994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68B30-7627-42D0-865F-5B2BF643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3B9A9-6D46-4768-9B7A-C229A9C9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작은 rank는 적은 파라미터로 변화량을 표현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A79B2-DBE9-45F4-9FF2-360196E0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큰 rank가 항상 더 좋은 업무 품질을 보장하지 않음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DC73D-ADE8-4200-A2A6-54D60CBB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고정된 평가 입력과 비용으로 후보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8F4DC0-D98D-4E85-BD91-86A1E84B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작은 12×8 예시에서는 rank 8의 두 행렬이 원본보다 큼</a:t>
            </a:r>
          </a:p>
        </p:txBody>
      </p:sp>
    </p:spTree>
    <p:extLst>
      <p:ext uri="{BB962C8B-B14F-4D97-AF65-F5344CB8AC3E}">
        <p14:creationId xmlns:p14="http://schemas.microsoft.com/office/powerpoint/2010/main" val="369578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537FF-0A4E-4383-BAEF-3D73721B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E00C4-900E-4890-9080-72F59420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0C59C5-2EF6-435C-82C9-F9E6E83A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 설정의 역할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4F063-B84C-49B8-A96B-8D36F6A9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3CE24-259A-44A8-AFEC-6B2BD97E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485AB-A7A9-44EC-AA13-3C68A627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0294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F6E66-9F59-4EBF-831D-33EA4DFF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64960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 = 8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lora_alpha = 16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target_modules = ["q_proj", "v_proj"]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seed = 42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99D1BC-7141-4878-A44C-E6D7E09B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설정과 실행 결과의 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DB549C-A337-4828-8900-66047295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22A0F-1255-4F66-B185-EC089CA2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rank·alpha: 용량과 배율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904BDB-EF4B-4A0F-8735-3FE18E2D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80383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target_modules: 적용할 모듈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88775-A787-4644-A0FE-F28D5496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0791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seed 외 환경도 함께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7B7688-44C6-4DDC-9F5D-611D83E1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설정 설명용 예시 · 모델 구조·구현 버전에 따라 재검증</a:t>
            </a:r>
          </a:p>
        </p:txBody>
      </p:sp>
    </p:spTree>
    <p:extLst>
      <p:ext uri="{BB962C8B-B14F-4D97-AF65-F5344CB8AC3E}">
        <p14:creationId xmlns:p14="http://schemas.microsoft.com/office/powerpoint/2010/main" val="120301710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C7B10-1082-4E81-B787-8961BC62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W06 /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B1CAEB-3079-4455-93F0-1FE218E8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QLoRA의 메모리 절약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68078-BC79-44E1-B46C-9637A5B3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C1A9B-F9FB-4CAE-BE7D-5011D9F71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Quantized Low-Rank Adaptation · 양자화 기반 LoRA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ACD9DB-9613-46D4-9139-059B76E5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고정 모델의 저장 비용까지 줄이는 접근</a:t>
            </a:r>
          </a:p>
        </p:txBody>
      </p:sp>
    </p:spTree>
    <p:extLst>
      <p:ext uri="{BB962C8B-B14F-4D97-AF65-F5344CB8AC3E}">
        <p14:creationId xmlns:p14="http://schemas.microsoft.com/office/powerpoint/2010/main" val="318288006"/>
      </p:ext>
    </p:extLst>
  </p:cSld>
</p:sld>
</file>

<file path=ppt/slides/slide2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7F5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1" name="">
            <ns1:extLst>
              <ns1:ext uri="{FF2B5EF4-FFF2-40B4-BE49-F238E27FC236}">
                <ns2:creationId id="{442BE961-3280-4901-A3D8-A0961BFE2E38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247650"/>
            <ns1:ext cx="95250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LLMOPS / W06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43205A10-E684-4E86-BAFD-5E3E4D2F2EF0}"/>
              </ns1:ext>
            </ns1:extLst>
          </ns0:cNvPr>
          <ns0:cNvSpPr>
            <ns1:spLocks noGrp="1"/>
          </ns0:cNvSpPr>
          <ns0:nvPr/>
        </ns0:nvSpPr>
        <ns0:spPr>
          <ns1:xfrm>
            <ns1:off x="10858500" y="247650"/>
            <ns1:ext cx="7239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r"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defPPr>
          </ns1:lstStyle>
          <ns1:p>
            <ns1:pPr algn="r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defRPr>
            </ns1:pPr>
            <ns1:r>
              <ns1:rPr sz="1400" b="0">
                <ns1:solidFill>
                  <ns1:srgbClr val="52606B"/>
                </ns1:solidFill>
                <ns1:latin typeface="Menlo"/>
                <ns1:ea typeface="Menlo"/>
                <ns1:cs typeface="Menlo"/>
              </ns1:rPr>
              <ns1:t>21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B9AA9583-7B21-4824-8DEA-07CBEBA7AB76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723900"/>
            <ns1:ext cx="10972800" cy="666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3400" b="1">
                <ns1:solidFill>
                  <ns1:srgbClr val="17191B"/>
                </ns1:solidFill>
                <ns1:latin typeface="AppleGothic"/>
                <ns1:ea typeface="AppleGothic"/>
                <ns1:cs typeface="AppleGothic"/>
              </ns1:rPr>
              <ns1:t>전체 미세조정·LoRA·QLoRA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26B6D741-E838-465E-9110-783EDED21463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315075"/>
            <ns1:ext cx="10972800" cy="9525"/>
          </ns1:xfrm>
          <ns1:prstGeom prst="rect">
            <ns1:avLst/>
          </ns1:prstGeom>
          <ns1:solidFill>
            <ns1:srgbClr val="CFD5D3"/>
          </ns1:solidFill>
          <ns1:ln w="0">
            <ns1:noFill/>
            <ns1:prstDash val="solid"/>
          </ns1:ln>
        </ns0:spPr>
      </ns0:sp>
      <ns0:sp>
        <ns0:nvSpPr>
          <ns0:cNvPr id="5" name="">
            <ns1:extLst>
              <ns1:ext uri="{FF2B5EF4-FFF2-40B4-BE49-F238E27FC236}">
                <ns2:creationId id="{1E25C4BF-DDD6-441B-B0F7-9E3297B4F023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477000"/>
            <ns1:ext cx="10972800" cy="2286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SFT · LoRA · QLoRA · 데이터와 평가</ns1:t>
            </ns1:r>
          </ns1:p>
        </ns0:txBody>
      </ns0:sp>
      <ns0:pic>
        <ns0:nvPicPr>
          <ns0:cNvPr id="6" name="">
            <ns1:extLst>
              <ns1:ext uri="{FF2B5EF4-FFF2-40B4-BE49-F238E27FC236}">
                <ns2:creationId id="{4B5B76E7-0071-45D2-BDBA-5E6127CF353E}"/>
              </ns1:ext>
            </ns1:extLst>
          </ns0:cNvPr>
          <ns0:cNvPicPr>
            <ns1:picLocks noChangeAspect="1"/>
          </ns0:cNvPicPr>
          <ns0:nvPr/>
        </ns0:nvPicPr>
        <ns0:blipFill>
          <ns1:blip ns3:embed="Rde53bb3d305f45d3">
            <ns1:grayscl/>
          </ns1:blip>
          <ns1:stretch/>
        </ns0:blipFill>
        <ns0:spPr>
          <ns1:xfrm>
            <ns1:off x="1331595" y="1562100"/>
            <ns1:ext cx="9528810" cy="3905250"/>
          </ns1:xfrm>
          <ns1:prstGeom prst="rect">
            <ns1:avLst/>
          </ns1:prstGeom>
        </ns0:spPr>
      </ns0:pic>
      <ns0:sp>
        <ns0:nvSpPr>
          <ns0:cNvPr id="7" name="">
            <ns1:extLst>
              <ns1:ext uri="{FF2B5EF4-FFF2-40B4-BE49-F238E27FC236}">
                <ns2:creationId id="{AFCA09E5-DBE4-456B-9742-9227C9F47F8E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5553075"/>
            <ns1:ext cx="3486150" cy="3619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모델 가중치와 optimizer 상태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A364CFD2-67C9-4683-A58A-095550280A16}"/>
              </ns1:ext>
            </ns1:extLst>
          </ns0:cNvPr>
          <ns0:cNvSpPr>
            <ns1:spLocks noGrp="1"/>
          </ns0:cNvSpPr>
          <ns0:nvPr/>
        </ns0:nvSpPr>
        <ns0:spPr>
          <ns1:xfrm>
            <ns1:off x="4324350" y="5553075"/>
            <ns1:ext cx="3486150" cy="3619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고정 모델과 학습 Adapter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E078292C-3970-44B6-AD26-BE1B8680D254}"/>
              </ns1:ext>
            </ns1:extLst>
          </ns0:cNvPr>
          <ns0:cNvSpPr>
            <ns1:spLocks noGrp="1"/>
          </ns0:cNvSpPr>
          <ns0:nvPr/>
        </ns0:nvSpPr>
        <ns0:spPr>
          <ns1:xfrm>
            <ns1:off x="8039100" y="5553075"/>
            <ns1:ext cx="3486150" cy="3619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8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4-bit 고정 모델과 Adapter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C3FB37C3-1FD0-49D3-B34D-70D691077B67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6019800"/>
            <ns1:ext cx="10972800" cy="2476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wrap="none" lIns="0" tIns="0" rIns="0" bIns="0" anchor="t">
            <ns1:noAutofit/>
          </ns1:bodyPr>
          <ns1:lstStyle>
            <ns1:defPPr algn="l"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defPPr>
          </ns1:lstStyle>
          <ns1:p>
            <ns1:pPr algn="l">
              <ns1:lnSpc>
                <ns1:spcPct val="116000"/>
              </ns1:lnSpc>
              <ns1:buNone/>
              <ns1:def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defRPr>
            </ns1:pPr>
            <ns1:r>
              <ns1:rPr sz="1400" b="0">
                <ns1:solidFill>
                  <ns1:srgbClr val="52606B"/>
                </ns1:solidFill>
                <ns1:latin typeface="AppleGothic"/>
                <ns1:ea typeface="AppleGothic"/>
                <ns1:cs typeface="AppleGothic"/>
              </ns1:rPr>
              <ns1:t>QLoRA Figure 1 · CC BY 4.0 · 흑백 발췌</ns1:t>
            </ns1:r>
          </ns1:p>
        </ns0:txBody>
      </ns0:sp>
    </ns0:spTree>
    <ns0:extLst>
      <ns0:ext uri="{BB962C8B-B14F-4D97-AF65-F5344CB8AC3E}">
        <ns4:creationId val="459026843"/>
      </ns0:ext>
    </ns0:extLst>
  </ns0:cSld>
</ns0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5DBA25-0259-4BCD-82EE-99EFC36AF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1AE778-D958-46CF-9EA1-BAD5A895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CEA598-F739-4AAC-8824-D4000334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저장 정밀도와 계산 정밀도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4D19B-FAAB-42D2-9BC7-842697B9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8DE63-9DE3-4769-B56A-20EFB8B5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1DDF1E-9E99-43BC-AC01-7E40DA80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저장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F790B-9EDB-49FB-8A97-9F615F91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C508C-7D65-463C-93FF-7B2CABC4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고정 모델의 주 가중치를 4-bit로 압축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64DCB-9770-4B74-8F45-9E9EAD48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블록별 스케일 등 추가 정보 보존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5EA33-06A0-4F40-BF39-E814D89E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계산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CD9A08-C32E-4B01-A4A0-C7F46ABC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BB8A30-8E7F-46C6-8EC5-4F5509C9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필요한 연산에서 복원해 계산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990894-8110-4E0E-8890-52DC1D4B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Adapter는 높은 정밀도로 학습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B70CEB-BF2F-490D-BD74-4757C539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4-bit 저장은 모든 연산·활성값·optimizer가 4-bit라는 뜻이 아님</a:t>
            </a:r>
          </a:p>
        </p:txBody>
      </p:sp>
    </p:spTree>
    <p:extLst>
      <p:ext uri="{BB962C8B-B14F-4D97-AF65-F5344CB8AC3E}">
        <p14:creationId xmlns:p14="http://schemas.microsoft.com/office/powerpoint/2010/main" val="42363702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5BAA9-5B9B-45CF-BDBF-AD567426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94ABD0-A6CE-4B0E-A3E8-1E54C9A2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9BBE05-30A0-4AFE-81F7-584A00D6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QLoRA의 세 가지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97CC4-BBEA-4AC8-89DD-56EF793D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C82A3-A528-4173-8443-1D7F85D5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103D2-7A10-4E3D-9886-70885B82EEF4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7343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역할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NF4 · 4-bit NormalFloat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정규분포 가중치를 고려한 양자화 표현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Double Quantization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양자화 상수도 양자화해 부가 저장량 절약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Paged Optimizers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메모리 급증 시 CPU/GPU 메모리 관리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EE33D7-3F8B-4814-AB9A-039D36C5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D23D69-85C9-4B9C-9626-2C685446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5C2328-3EB8-406E-9793-6C9AA24C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FBBE6-6314-412E-B687-CA7E920C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C8DF9A-5852-49D2-B566-D932AC86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7FDEC-8441-4C07-8F43-E4E280A7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실제 지원 하드웨어·커널·학습 설정은 별도 확인</a:t>
            </a:r>
          </a:p>
        </p:txBody>
      </p:sp>
    </p:spTree>
    <p:extLst>
      <p:ext uri="{BB962C8B-B14F-4D97-AF65-F5344CB8AC3E}">
        <p14:creationId xmlns:p14="http://schemas.microsoft.com/office/powerpoint/2010/main" val="22022556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744A3E-274A-4456-934C-209EB70C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E32278-7CD5-4C50-BC22-A0425347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394691-C749-4BEA-AACF-9320DE81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가중치 저장량의 계산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B2DB8-045D-4EC4-A021-B5C72DB2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0FC98-099A-42FE-B822-CFD6485C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4DE93-D8B6-43EC-B902-FDED0212B177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7B × bit/8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읽는 방법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16-bit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14.0 GB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가중치 원시 저장량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8-bit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7.0 GB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추가 메타데이터 제외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4-bit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3.5 GB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총 학습 메모리가 아님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7E5224-1939-48EC-8FD5-0F226AB8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627881-1FC3-44D6-9EAC-DE688DD8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B8469B-EB41-4367-8BF1-8473A33B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60592-7BE1-4570-AFE7-991C5C8E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C7B992-45A0-4A4B-8AC0-A2BE4816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62643-DECF-4FA3-BF8D-E8643AD9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7B=70억 파라미터 가정 · 십진 GB · scale·Adapter·activation·optimizer 제외</a:t>
            </a:r>
          </a:p>
        </p:txBody>
      </p:sp>
    </p:spTree>
    <p:extLst>
      <p:ext uri="{BB962C8B-B14F-4D97-AF65-F5344CB8AC3E}">
        <p14:creationId xmlns:p14="http://schemas.microsoft.com/office/powerpoint/2010/main" val="72868671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AC9BB6-08BF-4243-B998-A95A32B3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F92606-D735-4D9D-B9EE-B456C7F1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B16EE6-B092-4FEF-A173-582833C6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총 학습 메모리의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A7E71-6B06-45EB-AB0A-615D5788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48F4C-B15A-495E-9B4B-F1FF91B0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76FB1-5BA5-474B-A0B1-A13421E1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D0003-B4EF-40C8-9B45-A7107BED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압축한 모델 가중치 외의 추가 비용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3272A-F72B-473B-8029-84A3DF51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Adapter·gradient·optimizer state·activation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D13928-CD0E-4F83-89E9-80B22239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 길이·batch·체크포인팅·버퍼도 영향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17EDE-E2E0-4794-A148-E127570E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같은 모델·길이·batch에서 최대 사용량을 측정해 판단</a:t>
            </a:r>
          </a:p>
        </p:txBody>
      </p:sp>
    </p:spTree>
    <p:extLst>
      <p:ext uri="{BB962C8B-B14F-4D97-AF65-F5344CB8AC3E}">
        <p14:creationId xmlns:p14="http://schemas.microsoft.com/office/powerpoint/2010/main" val="142853911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C6063-13C9-4EFA-992B-EB3653D9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6C29A-03FB-4977-AE59-A5ED6565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41BCC-C199-47F0-AA46-97833025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환경의 사전 점검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57AB33-1D94-43B9-A1BD-9487338C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80FA2-1E05-4279-A734-1DEAAEB8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82591-A920-4DCC-9A13-F46378FB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121ED-AA81-4368-B316-A98C19B4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지원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EF05A1-4D46-47CB-9039-4CAC69C8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하드웨어·정밀도·라이브러리 조합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349B0-7082-461D-AA89-F85A843E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831CDD-D110-4DFB-B675-58DEF48D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0B0042-A070-4ED4-87F2-232A31E7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작은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A06BAA-833A-4308-A27C-BA48B164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짧은 길이·작은 batch로 점검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184D1-196F-406F-80D5-2A05DE9C7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132B3-1736-4C68-A390-F051B5EE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4A4D28-7239-4895-A186-079FCC54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8CCA18-9FB2-429B-AC55-6EAB5CC5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정답·형식·비용의 기준선 확보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85CBB7-5D4C-4198-B5BB-5D3ACC88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D4EDF9-C1B9-4CB9-B607-C8F5A3B9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공통 Notebook은 GPU·모델 다운로드 없는 개념 실험으로 진행</a:t>
            </a:r>
          </a:p>
        </p:txBody>
      </p:sp>
    </p:spTree>
    <p:extLst>
      <p:ext uri="{BB962C8B-B14F-4D97-AF65-F5344CB8AC3E}">
        <p14:creationId xmlns:p14="http://schemas.microsoft.com/office/powerpoint/2010/main" val="6895955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CAFA2D-7896-4D90-B6CD-5B96033A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W06 / 27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6DAF2-072C-4D9C-AB34-58DFEEC5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Base와 Adapter의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363D71-3B2C-4AA2-B3DE-663EB8AD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32166-8B1E-476A-9F83-B3B44DCD6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동일 입력에서 답변 품질과 운영 비용을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727161-5BF8-4B9E-B4D9-EB3990B6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학습 손실과 실제 사용 품질의 구분</a:t>
            </a:r>
          </a:p>
        </p:txBody>
      </p:sp>
    </p:spTree>
    <p:extLst>
      <p:ext uri="{BB962C8B-B14F-4D97-AF65-F5344CB8AC3E}">
        <p14:creationId xmlns:p14="http://schemas.microsoft.com/office/powerpoint/2010/main" val="190328399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B1169-B2FA-497F-9A0D-49F67A25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15ADF8-A1B6-4028-8B12-C22445BC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2A042C-AF91-4BA2-8DE7-EC61CEBD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 조건과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E8CBA-3EDA-491D-ADFD-D8980C93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56101A-9685-44F2-9597-1509D94F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2EBD6-BAF2-4172-B5FE-D0B7282D9997}"/>
              </a:ext>
            </a:extLst>
          </p:cNvPr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같게 유지할 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남길 결과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1F6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업무 품질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입력·근거·출력 규칙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통과·실패와 응답 원문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기기·길이·반복·예열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시간·최대 메모리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재현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모델·토크나이저·Adapter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버전·설정·데이터 해시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4A4C0-145B-44E6-A2B9-530DF65B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67A32-DF99-4CC3-BDA4-3909A03E7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5CD78B-D21B-43C6-944C-801FCBE1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6A2B4-9462-4AF5-B43C-57A1C89F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2298C-C599-49C1-9AE8-7A9822B2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4255035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D29CC4-2273-40E0-BF03-577BEEA2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CDB6B-1B48-4DEC-A10B-4325E74B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154E8-41BB-45EF-945E-11042CC6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손실 감소 이후의 실패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4C4D5B-FDA9-48BB-A827-E889D322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210D6-55D4-45B8-8D1F-A66D9E3C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AB7E88-03FB-41D2-AF23-FE422F25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4CFF67-9635-4776-8D55-E58A9E53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출력 형식은 좋아졌지만 근거 없는 답변 증가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2E92D-B905-4152-B444-FED3B2F6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사례에는 정확하지만 새 사건에는 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959A4-D38F-4E29-A7DB-19F5FA0D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형식·근거·보류·일반화를 분리해서 검토</a:t>
            </a:r>
          </a:p>
        </p:txBody>
      </p:sp>
    </p:spTree>
    <p:extLst>
      <p:ext uri="{BB962C8B-B14F-4D97-AF65-F5344CB8AC3E}">
        <p14:creationId xmlns:p14="http://schemas.microsoft.com/office/powerpoint/2010/main" val="2169421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1595C9-3415-4117-8415-032659A2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F3334-D36A-4027-B58B-F9B72ACE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C1F84-2B38-445F-8DCD-FBA178E4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Adapter의 보존과 복구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AC124-1630-4404-87CB-3C3AD775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BF5AC0-AF01-48EE-80D4-C6A8923B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A36A4-8806-4650-A429-0ECF9302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21E6E-D7AF-4CA4-A7BD-0A3DBF10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329E28-F5DA-4611-B62F-458AE17D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DE371-4217-4FD6-9D74-B63D4823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FE2C1-EB8C-4605-9CBB-A111E759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 revision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92456E-280E-49C9-9827-4EADC524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10FE1A-E7CF-44A0-9DCA-DB6D5899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E47C3-52A6-4666-B6EE-F431D67B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Tokenizer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21A3E-BA54-43FD-8113-365AB224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chat template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2C1706-B5C8-41B1-B47D-67A3D7FC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E18A4-BE23-4185-8115-90BB976E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A6C7D7-7AB4-4370-A741-44686E34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FED3F-551D-4110-9BB5-39BFA68E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가중치·설정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B6DFC3-8EAE-4AE0-AE41-448519AB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B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1F6B94-5040-4A73-B790-D4FA17BE4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F19EE-84A0-42CD-B303-1ED6C781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FC643A-75F1-4388-92DF-9E6558FD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입력·원문·결정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1AEFBA-4690-4EFF-9538-BBE2B65C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Adapter 파일만 저장하면 재현과 복구에 필요한 정보가 빠짐</a:t>
            </a:r>
          </a:p>
        </p:txBody>
      </p:sp>
    </p:spTree>
    <p:extLst>
      <p:ext uri="{BB962C8B-B14F-4D97-AF65-F5344CB8AC3E}">
        <p14:creationId xmlns:p14="http://schemas.microsoft.com/office/powerpoint/2010/main" val="121992894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E0AB0E-9740-4CAF-B3B5-89781C38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751AE-C57B-499A-80B0-02BAE0E4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84C3D7-888B-483D-AA01-1EC794DD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실습 연결과 확인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59496D-BA86-4F65-9222-9A5B993C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2C56E-0DF3-425D-88F6-EAE0D62E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E0DFB-FDC2-41AC-9F86-9A17D152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7C8AA8-8F81-4F9D-A769-CF2CA05D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Notebook 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3F670-58C2-4138-BEB0-FD12E7EF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사건이 분할을 넘는 데이터 누출 탐지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F02BC-96EC-4EE4-AC7C-F1961723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2A7DA8-58B4-4168-9CAD-A04B3A86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FF2E4-60D6-4DB3-AE36-016F39FC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Notebook 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BE3BE-5B83-40FA-A765-CEAFFA0B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rank·행렬 오차·파라미터 수 비교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12369-6039-449C-A45A-4B8597AF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6FA9-DCAA-4B40-9BC5-F413D99C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284B72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284B72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00D3B8-0158-4814-BD9D-0995DE17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확인 질문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E7BB6A-6356-4BE3-B78A-9C9BDCA3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실제 모델 학습과 이번 수치 실험의 차이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44194D-F7DD-4E79-9ED9-0085ACD0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E7F4A-53BB-4FE4-9118-03BB1762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7주차 lab/notebooks · 기존 실습 파일과 공통 requirements 유지</a:t>
            </a:r>
          </a:p>
        </p:txBody>
      </p:sp>
    </p:spTree>
    <p:extLst>
      <p:ext uri="{BB962C8B-B14F-4D97-AF65-F5344CB8AC3E}">
        <p14:creationId xmlns:p14="http://schemas.microsoft.com/office/powerpoint/2010/main" val="179438573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058532-AC03-4AC0-A600-83BD4037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6FBD22-5851-47B3-9998-4DE5C55C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defPPr>
          </a:lstStyle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A149A-0951-4C58-90E7-3379AD8E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참고 자료와 복습 경로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108B3-3E5C-4298-B2CA-55AC4567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147A6F-2780-4C44-B3E8-9C39AA3E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 · LoRA · QLoRA · 데이터와 평가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BB15C1-EA83-4D0A-89B3-69344F5B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Hugging Face TRL · SFT Trainer 공식 도식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FAE1E-180D-4673-8B54-0330BAF1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66C59C-9C81-4EDD-8AFC-819C80B8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LoRA 원 논문 · QLoRA 원 논문과 공식 해설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4E784A-2C80-4B16-9AA8-2FC8ACE54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304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7주차 통합 녹화 · Notebook 01·02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68CF8D-9DE9-44F8-A175-0FB3D7DD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defPPr>
          </a:lstStyle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원본 이미지 출처·이용 범위: lecture/assets/SOURCES.md</a:t>
            </a:r>
          </a:p>
        </p:txBody>
      </p:sp>
    </p:spTree>
    <p:extLst>
      <p:ext uri="{BB962C8B-B14F-4D97-AF65-F5344CB8AC3E}">
        <p14:creationId xmlns:p14="http://schemas.microsoft.com/office/powerpoint/2010/main" val="1025605182"/>
      </p:ext>
    </p:extLst>
  </p:cSld>
</p:sld>
</file>

<file path=ppt/theme/theme1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284B72"/>
      </a:accent1>
      <a:accent2>
        <a:srgbClr val="17283B"/>
      </a:accent2>
      <a:accent3>
        <a:srgbClr val="52606B"/>
      </a:accent3>
      <a:accent4>
        <a:srgbClr val="EDF1F6"/>
      </a:accent4>
      <a:accent5>
        <a:srgbClr val="17191B"/>
      </a:accent5>
      <a:accent6>
        <a:srgbClr val="CFD5D3"/>
      </a:accent6>
      <a:hlink>
        <a:srgbClr val="284B72"/>
      </a:hlink>
      <a:folHlink>
        <a:srgbClr val="17283B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2026-10-16T15:21:03.3060000Z</dcterms:created>
  <dcterms:modified xsi:type="dcterms:W3CDTF">2026-10-16T15:21:03.3060000Z</dcterms:modified>
</coreProperties>
</file>