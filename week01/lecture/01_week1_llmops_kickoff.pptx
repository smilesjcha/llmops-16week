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d2cc0cd4c94e67" /><Relationship Type="http://schemas.openxmlformats.org/officeDocument/2006/relationships/extended-properties" Target="/docProps/app.xml" Id="Refd9461e45d64209" /><Relationship Type="http://schemas.openxmlformats.org/officeDocument/2006/relationships/officeDocument" Target="/ppt/presentation.xml" Id="R2bfdd90b03394a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2b08fdf2cc478d"/>
  </p:sldMasterIdLst>
  <p:notesMasterIdLst>
    <p:notesMasterId xmlns:r="http://schemas.openxmlformats.org/officeDocument/2006/relationships" r:id="R85159adf71c34658"/>
  </p:notesMasterIdLst>
  <p:sldIdLst>
    <p:sldId xmlns:r="http://schemas.openxmlformats.org/officeDocument/2006/relationships" id="256" r:id="R222812bef2c24e30"/>
    <p:sldId xmlns:r="http://schemas.openxmlformats.org/officeDocument/2006/relationships" id="257" r:id="R54c78b0f90494e27"/>
    <p:sldId xmlns:r="http://schemas.openxmlformats.org/officeDocument/2006/relationships" id="258" r:id="R5dcc0c6b4cac4280"/>
    <p:sldId xmlns:r="http://schemas.openxmlformats.org/officeDocument/2006/relationships" id="259" r:id="R0604c082308548ca"/>
    <p:sldId xmlns:r="http://schemas.openxmlformats.org/officeDocument/2006/relationships" id="260" r:id="R74b4fa11874e4c89"/>
    <p:sldId xmlns:r="http://schemas.openxmlformats.org/officeDocument/2006/relationships" id="261" r:id="R1b00064f764d4232"/>
    <p:sldId xmlns:r="http://schemas.openxmlformats.org/officeDocument/2006/relationships" id="262" r:id="Ra8cf58f24cd74467"/>
    <p:sldId xmlns:r="http://schemas.openxmlformats.org/officeDocument/2006/relationships" id="263" r:id="R847d91a3f2194431"/>
    <p:sldId xmlns:r="http://schemas.openxmlformats.org/officeDocument/2006/relationships" id="264" r:id="R02bdce098aef49d2"/>
    <p:sldId xmlns:r="http://schemas.openxmlformats.org/officeDocument/2006/relationships" id="265" r:id="R0c9f94bf12644b25"/>
    <p:sldId xmlns:r="http://schemas.openxmlformats.org/officeDocument/2006/relationships" id="266" r:id="Rcd187f83ea5647eb"/>
    <p:sldId xmlns:r="http://schemas.openxmlformats.org/officeDocument/2006/relationships" id="267" r:id="R60a8fc102b924ff7"/>
    <p:sldId xmlns:r="http://schemas.openxmlformats.org/officeDocument/2006/relationships" id="268" r:id="R90375e74d1a042af"/>
    <p:sldId xmlns:r="http://schemas.openxmlformats.org/officeDocument/2006/relationships" id="269" r:id="R06131e9fcad2492d"/>
    <p:sldId xmlns:r="http://schemas.openxmlformats.org/officeDocument/2006/relationships" id="270" r:id="R36e3d73ebf0f4be5"/>
    <p:sldId xmlns:r="http://schemas.openxmlformats.org/officeDocument/2006/relationships" id="271" r:id="R25e0ff8ac4174b81"/>
    <p:sldId xmlns:r="http://schemas.openxmlformats.org/officeDocument/2006/relationships" id="272" r:id="Rd897a025d21346e8"/>
    <p:sldId xmlns:r="http://schemas.openxmlformats.org/officeDocument/2006/relationships" id="273" r:id="Rc2b98b160f55472b"/>
    <p:sldId xmlns:r="http://schemas.openxmlformats.org/officeDocument/2006/relationships" id="274" r:id="Rb4e84b1cd52b4850"/>
    <p:sldId xmlns:r="http://schemas.openxmlformats.org/officeDocument/2006/relationships" id="275" r:id="R0d4265cc10094289"/>
    <p:sldId xmlns:r="http://schemas.openxmlformats.org/officeDocument/2006/relationships" id="276" r:id="R10e5270a08b64935"/>
    <p:sldId xmlns:r="http://schemas.openxmlformats.org/officeDocument/2006/relationships" id="277" r:id="R64505e91560645f1"/>
    <p:sldId xmlns:r="http://schemas.openxmlformats.org/officeDocument/2006/relationships" id="278" r:id="R434bb112d5c2407d"/>
    <p:sldId xmlns:r="http://schemas.openxmlformats.org/officeDocument/2006/relationships" id="279" r:id="Rfc0c50fb1d2742ad"/>
    <p:sldId xmlns:r="http://schemas.openxmlformats.org/officeDocument/2006/relationships" id="280" r:id="R72805db2bd414be6"/>
    <p:sldId xmlns:r="http://schemas.openxmlformats.org/officeDocument/2006/relationships" id="281" r:id="R5aeef13c32ac4664"/>
    <p:sldId xmlns:r="http://schemas.openxmlformats.org/officeDocument/2006/relationships" id="282" r:id="R208d526415134b4c"/>
    <p:sldId xmlns:r="http://schemas.openxmlformats.org/officeDocument/2006/relationships" id="283" r:id="R43bc347af8994688"/>
    <p:sldId xmlns:r="http://schemas.openxmlformats.org/officeDocument/2006/relationships" id="284" r:id="R8db173c8afcf49cf"/>
    <p:sldId xmlns:r="http://schemas.openxmlformats.org/officeDocument/2006/relationships" id="285" r:id="R5a19ecac650b4cb4"/>
    <p:sldId xmlns:r="http://schemas.openxmlformats.org/officeDocument/2006/relationships" id="286" r:id="Ra357e0e7e0954138"/>
    <p:sldId xmlns:r="http://schemas.openxmlformats.org/officeDocument/2006/relationships" id="287" r:id="Rbfc84f83986a41aa"/>
    <p:sldId xmlns:r="http://schemas.openxmlformats.org/officeDocument/2006/relationships" id="288" r:id="Rafd3659901ed42ef"/>
    <p:sldId xmlns:r="http://schemas.openxmlformats.org/officeDocument/2006/relationships" id="289" r:id="R6526e7d383744819"/>
    <p:sldId xmlns:r="http://schemas.openxmlformats.org/officeDocument/2006/relationships" id="290" r:id="Rcb69e011d94c4768"/>
    <p:sldId xmlns:r="http://schemas.openxmlformats.org/officeDocument/2006/relationships" id="291" r:id="Raec196592b5f4411"/>
    <p:sldId xmlns:r="http://schemas.openxmlformats.org/officeDocument/2006/relationships" id="292" r:id="Rb7199056dac84142"/>
    <p:sldId xmlns:r="http://schemas.openxmlformats.org/officeDocument/2006/relationships" id="293" r:id="Racb52fdaf9e54c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a55581e33c4ce8" /><Relationship Type="http://schemas.openxmlformats.org/officeDocument/2006/relationships/slideMaster" Target="/ppt/slideMasters/slideMaster1.xml" Id="R8c2b08fdf2cc478d" /><Relationship Type="http://schemas.openxmlformats.org/officeDocument/2006/relationships/notesMaster" Target="/ppt/notesMasters/notesMaster1.xml" Id="R85159adf71c34658" /><Relationship Type="http://schemas.openxmlformats.org/officeDocument/2006/relationships/presProps" Target="/ppt/presProps.xml" Id="R6c346442ba984a8d" /><Relationship Type="http://schemas.openxmlformats.org/officeDocument/2006/relationships/tableStyles" Target="/ppt/tableStyles.xml" Id="R581c838759dc4d20" /><Relationship Type="http://schemas.openxmlformats.org/officeDocument/2006/relationships/slide" Target="/ppt/slides/slide1.xml" Id="R222812bef2c24e30" /><Relationship Type="http://schemas.openxmlformats.org/officeDocument/2006/relationships/slide" Target="/ppt/slides/slide2.xml" Id="R54c78b0f90494e27" /><Relationship Type="http://schemas.openxmlformats.org/officeDocument/2006/relationships/slide" Target="/ppt/slides/slide3.xml" Id="R5dcc0c6b4cac4280" /><Relationship Type="http://schemas.openxmlformats.org/officeDocument/2006/relationships/slide" Target="/ppt/slides/slide4.xml" Id="R0604c082308548ca" /><Relationship Type="http://schemas.openxmlformats.org/officeDocument/2006/relationships/slide" Target="/ppt/slides/slide5.xml" Id="R74b4fa11874e4c89" /><Relationship Type="http://schemas.openxmlformats.org/officeDocument/2006/relationships/slide" Target="/ppt/slides/slide6.xml" Id="R1b00064f764d4232" /><Relationship Type="http://schemas.openxmlformats.org/officeDocument/2006/relationships/slide" Target="/ppt/slides/slide7.xml" Id="Ra8cf58f24cd74467" /><Relationship Type="http://schemas.openxmlformats.org/officeDocument/2006/relationships/slide" Target="/ppt/slides/slide8.xml" Id="R847d91a3f2194431" /><Relationship Type="http://schemas.openxmlformats.org/officeDocument/2006/relationships/slide" Target="/ppt/slides/slide9.xml" Id="R02bdce098aef49d2" /><Relationship Type="http://schemas.openxmlformats.org/officeDocument/2006/relationships/slide" Target="/ppt/slides/slide10.xml" Id="R0c9f94bf12644b25" /><Relationship Type="http://schemas.openxmlformats.org/officeDocument/2006/relationships/slide" Target="/ppt/slides/slide11.xml" Id="Rcd187f83ea5647eb" /><Relationship Type="http://schemas.openxmlformats.org/officeDocument/2006/relationships/slide" Target="/ppt/slides/slide12.xml" Id="R60a8fc102b924ff7" /><Relationship Type="http://schemas.openxmlformats.org/officeDocument/2006/relationships/slide" Target="/ppt/slides/slide13.xml" Id="R90375e74d1a042af" /><Relationship Type="http://schemas.openxmlformats.org/officeDocument/2006/relationships/slide" Target="/ppt/slides/slide14.xml" Id="R06131e9fcad2492d" /><Relationship Type="http://schemas.openxmlformats.org/officeDocument/2006/relationships/slide" Target="/ppt/slides/slide15.xml" Id="R36e3d73ebf0f4be5" /><Relationship Type="http://schemas.openxmlformats.org/officeDocument/2006/relationships/slide" Target="/ppt/slides/slide16.xml" Id="R25e0ff8ac4174b81" /><Relationship Type="http://schemas.openxmlformats.org/officeDocument/2006/relationships/slide" Target="/ppt/slides/slide17.xml" Id="Rd897a025d21346e8" /><Relationship Type="http://schemas.openxmlformats.org/officeDocument/2006/relationships/slide" Target="/ppt/slides/slide18.xml" Id="Rc2b98b160f55472b" /><Relationship Type="http://schemas.openxmlformats.org/officeDocument/2006/relationships/slide" Target="/ppt/slides/slide19.xml" Id="Rb4e84b1cd52b4850" /><Relationship Type="http://schemas.openxmlformats.org/officeDocument/2006/relationships/slide" Target="/ppt/slides/slide20.xml" Id="R0d4265cc10094289" /><Relationship Type="http://schemas.openxmlformats.org/officeDocument/2006/relationships/slide" Target="/ppt/slides/slide21.xml" Id="R10e5270a08b64935" /><Relationship Type="http://schemas.openxmlformats.org/officeDocument/2006/relationships/slide" Target="/ppt/slides/slide22.xml" Id="R64505e91560645f1" /><Relationship Type="http://schemas.openxmlformats.org/officeDocument/2006/relationships/slide" Target="/ppt/slides/slide23.xml" Id="R434bb112d5c2407d" /><Relationship Type="http://schemas.openxmlformats.org/officeDocument/2006/relationships/slide" Target="/ppt/slides/slide24.xml" Id="Rfc0c50fb1d2742ad" /><Relationship Type="http://schemas.openxmlformats.org/officeDocument/2006/relationships/slide" Target="/ppt/slides/slide25.xml" Id="R72805db2bd414be6" /><Relationship Type="http://schemas.openxmlformats.org/officeDocument/2006/relationships/slide" Target="/ppt/slides/slide26.xml" Id="R5aeef13c32ac4664" /><Relationship Type="http://schemas.openxmlformats.org/officeDocument/2006/relationships/slide" Target="/ppt/slides/slide27.xml" Id="R208d526415134b4c" /><Relationship Type="http://schemas.openxmlformats.org/officeDocument/2006/relationships/slide" Target="/ppt/slides/slide28.xml" Id="R43bc347af8994688" /><Relationship Type="http://schemas.openxmlformats.org/officeDocument/2006/relationships/slide" Target="/ppt/slides/slide29.xml" Id="R8db173c8afcf49cf" /><Relationship Type="http://schemas.openxmlformats.org/officeDocument/2006/relationships/slide" Target="/ppt/slides/slide30.xml" Id="R5a19ecac650b4cb4" /><Relationship Type="http://schemas.openxmlformats.org/officeDocument/2006/relationships/slide" Target="/ppt/slides/slide31.xml" Id="Ra357e0e7e0954138" /><Relationship Type="http://schemas.openxmlformats.org/officeDocument/2006/relationships/slide" Target="/ppt/slides/slide32.xml" Id="Rbfc84f83986a41aa" /><Relationship Type="http://schemas.openxmlformats.org/officeDocument/2006/relationships/slide" Target="/ppt/slides/slide33.xml" Id="Rafd3659901ed42ef" /><Relationship Type="http://schemas.openxmlformats.org/officeDocument/2006/relationships/slide" Target="/ppt/slides/slide34.xml" Id="R6526e7d383744819" /><Relationship Type="http://schemas.openxmlformats.org/officeDocument/2006/relationships/slide" Target="/ppt/slides/slide35.xml" Id="Rcb69e011d94c4768" /><Relationship Type="http://schemas.openxmlformats.org/officeDocument/2006/relationships/slide" Target="/ppt/slides/slide36.xml" Id="Raec196592b5f4411" /><Relationship Type="http://schemas.openxmlformats.org/officeDocument/2006/relationships/slide" Target="/ppt/slides/slide37.xml" Id="Rb7199056dac84142" /><Relationship Type="http://schemas.openxmlformats.org/officeDocument/2006/relationships/slide" Target="/ppt/slides/slide38.xml" Id="Racb52fdaf9e54c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77f8ac241448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PAPER SIGNAL">
      <a:dk1>
        <a:srgbClr val="090909"/>
      </a:dk1>
      <a:lt1>
        <a:srgbClr val="FFFFFF"/>
      </a:lt1>
      <a:dk2>
        <a:srgbClr val="2C2C2C"/>
      </a:dk2>
      <a:lt2>
        <a:srgbClr val="F4F2EC"/>
      </a:lt2>
      <a:accent1>
        <a:srgbClr val="FF5A36"/>
      </a:accent1>
      <a:accent2>
        <a:srgbClr val="090909"/>
      </a:accent2>
      <a:accent3>
        <a:srgbClr val="979797"/>
      </a:accent3>
      <a:accent4>
        <a:srgbClr val="F4F2EC"/>
      </a:accent4>
      <a:accent5>
        <a:srgbClr val="2C2C2C"/>
      </a:accent5>
      <a:accent6>
        <a:srgbClr val="D8D5CC"/>
      </a:accent6>
      <a:hlink>
        <a:srgbClr val="FF5A36"/>
      </a:hlink>
      <a:folHlink>
        <a:srgbClr val="97979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PAPER SIGN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975170e36949ce" /><Relationship Type="http://schemas.openxmlformats.org/officeDocument/2006/relationships/notesMaster" Target="/ppt/notesMasters/notesMaster1.xml" Id="R3fbfeaede46f47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3e0ab321004528" /><Relationship Type="http://schemas.openxmlformats.org/officeDocument/2006/relationships/notesMaster" Target="/ppt/notesMasters/notesMaster1.xml" Id="R0476403330a84c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131958fbf24fc7" /><Relationship Type="http://schemas.openxmlformats.org/officeDocument/2006/relationships/notesMaster" Target="/ppt/notesMasters/notesMaster1.xml" Id="R59a4fcb5f0b14c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57706a80984744" /><Relationship Type="http://schemas.openxmlformats.org/officeDocument/2006/relationships/notesMaster" Target="/ppt/notesMasters/notesMaster1.xml" Id="R59b2b478b7c544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be2b9626bf4a1c" /><Relationship Type="http://schemas.openxmlformats.org/officeDocument/2006/relationships/notesMaster" Target="/ppt/notesMasters/notesMaster1.xml" Id="R3e939276007c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cb87e2605244c8" /><Relationship Type="http://schemas.openxmlformats.org/officeDocument/2006/relationships/notesMaster" Target="/ppt/notesMasters/notesMaster1.xml" Id="Rf075e0f4f53d43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45da43e794474a" /><Relationship Type="http://schemas.openxmlformats.org/officeDocument/2006/relationships/notesMaster" Target="/ppt/notesMasters/notesMaster1.xml" Id="R67351e29bb5046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ace878ee624d11" /><Relationship Type="http://schemas.openxmlformats.org/officeDocument/2006/relationships/notesMaster" Target="/ppt/notesMasters/notesMaster1.xml" Id="Rf8517e3981fb48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cab08f6e92401e" /><Relationship Type="http://schemas.openxmlformats.org/officeDocument/2006/relationships/notesMaster" Target="/ppt/notesMasters/notesMaster1.xml" Id="Rf4fc8a63446941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0eb94234bf4944" /><Relationship Type="http://schemas.openxmlformats.org/officeDocument/2006/relationships/notesMaster" Target="/ppt/notesMasters/notesMaster1.xml" Id="Re5c919054db943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fcf941103b4d0e" /><Relationship Type="http://schemas.openxmlformats.org/officeDocument/2006/relationships/notesMaster" Target="/ppt/notesMasters/notesMaster1.xml" Id="R943fc76f1cb749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9f945aecdc461f" /><Relationship Type="http://schemas.openxmlformats.org/officeDocument/2006/relationships/notesMaster" Target="/ppt/notesMasters/notesMaster1.xml" Id="R1af8f68f75c34e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8aeebfc5a64f4c" /><Relationship Type="http://schemas.openxmlformats.org/officeDocument/2006/relationships/notesMaster" Target="/ppt/notesMasters/notesMaster1.xml" Id="Rddc83c9a3e644b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01c13bfa0754558" /><Relationship Type="http://schemas.openxmlformats.org/officeDocument/2006/relationships/notesMaster" Target="/ppt/notesMasters/notesMaster1.xml" Id="R1b81917ca5a2404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8623770c054943" /><Relationship Type="http://schemas.openxmlformats.org/officeDocument/2006/relationships/notesMaster" Target="/ppt/notesMasters/notesMaster1.xml" Id="R74726c5be91647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3ae7bbbb474730" /><Relationship Type="http://schemas.openxmlformats.org/officeDocument/2006/relationships/notesMaster" Target="/ppt/notesMasters/notesMaster1.xml" Id="Rfd86a01b301c4d4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6d92c2b85e04bf6" /><Relationship Type="http://schemas.openxmlformats.org/officeDocument/2006/relationships/notesMaster" Target="/ppt/notesMasters/notesMaster1.xml" Id="Ra9110a718ef649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d471c2fd2b74614" /><Relationship Type="http://schemas.openxmlformats.org/officeDocument/2006/relationships/notesMaster" Target="/ppt/notesMasters/notesMaster1.xml" Id="Rc639cfb4be974b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a980d7495f84b30" /><Relationship Type="http://schemas.openxmlformats.org/officeDocument/2006/relationships/notesMaster" Target="/ppt/notesMasters/notesMaster1.xml" Id="R68a0dc6a707041d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74caf8d5d3d4f09" /><Relationship Type="http://schemas.openxmlformats.org/officeDocument/2006/relationships/notesMaster" Target="/ppt/notesMasters/notesMaster1.xml" Id="R0675761c6e8544a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0067b4b38324b6d" /><Relationship Type="http://schemas.openxmlformats.org/officeDocument/2006/relationships/notesMaster" Target="/ppt/notesMasters/notesMaster1.xml" Id="R2c865733e9984c7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bc4d826629c43a9" /><Relationship Type="http://schemas.openxmlformats.org/officeDocument/2006/relationships/notesMaster" Target="/ppt/notesMasters/notesMaster1.xml" Id="R5c09397214f744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6d6374886824f97" /><Relationship Type="http://schemas.openxmlformats.org/officeDocument/2006/relationships/notesMaster" Target="/ppt/notesMasters/notesMaster1.xml" Id="Rff0dd3c2428e4e8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7ec20c3663a4035" /><Relationship Type="http://schemas.openxmlformats.org/officeDocument/2006/relationships/notesMaster" Target="/ppt/notesMasters/notesMaster1.xml" Id="R5407e3ef2fb7414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74453de24074a7f" /><Relationship Type="http://schemas.openxmlformats.org/officeDocument/2006/relationships/notesMaster" Target="/ppt/notesMasters/notesMaster1.xml" Id="R82948e55bf9d47d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82e7321f8874f28" /><Relationship Type="http://schemas.openxmlformats.org/officeDocument/2006/relationships/notesMaster" Target="/ppt/notesMasters/notesMaster1.xml" Id="R231dd79d6625453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9cf7306a9b043fd" /><Relationship Type="http://schemas.openxmlformats.org/officeDocument/2006/relationships/notesMaster" Target="/ppt/notesMasters/notesMaster1.xml" Id="R50e7cfa0248347c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9f3cd55fb844b66" /><Relationship Type="http://schemas.openxmlformats.org/officeDocument/2006/relationships/notesMaster" Target="/ppt/notesMasters/notesMaster1.xml" Id="R1095e333c4fe47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70f57c31f094426" /><Relationship Type="http://schemas.openxmlformats.org/officeDocument/2006/relationships/notesMaster" Target="/ppt/notesMasters/notesMaster1.xml" Id="R6cadf37ad7db4d9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bea6d3626464632" /><Relationship Type="http://schemas.openxmlformats.org/officeDocument/2006/relationships/notesMaster" Target="/ppt/notesMasters/notesMaster1.xml" Id="Rc029aa351eec41d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e3bc7a30bd84fe9" /><Relationship Type="http://schemas.openxmlformats.org/officeDocument/2006/relationships/notesMaster" Target="/ppt/notesMasters/notesMaster1.xml" Id="R5948039f5cce458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79ee18fbc204596" /><Relationship Type="http://schemas.openxmlformats.org/officeDocument/2006/relationships/notesMaster" Target="/ppt/notesMasters/notesMaster1.xml" Id="Rc2b82d71098f47b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4934c6b54b24352" /><Relationship Type="http://schemas.openxmlformats.org/officeDocument/2006/relationships/notesMaster" Target="/ppt/notesMasters/notesMaster1.xml" Id="R43cdfae5c02749d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c354970b5b042c6" /><Relationship Type="http://schemas.openxmlformats.org/officeDocument/2006/relationships/notesMaster" Target="/ppt/notesMasters/notesMaster1.xml" Id="R8807c986f349487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637212bbb80427f" /><Relationship Type="http://schemas.openxmlformats.org/officeDocument/2006/relationships/notesMaster" Target="/ppt/notesMasters/notesMaster1.xml" Id="R0ce75bce2ab14c0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4e8dfaa1b044923" /><Relationship Type="http://schemas.openxmlformats.org/officeDocument/2006/relationships/notesMaster" Target="/ppt/notesMasters/notesMaster1.xml" Id="Rc3702a4c9c8d4e4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80162f9421546fd" /><Relationship Type="http://schemas.openxmlformats.org/officeDocument/2006/relationships/notesMaster" Target="/ppt/notesMasters/notesMaster1.xml" Id="R37bd56dd1cb2490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a807b093e8147e7" /><Relationship Type="http://schemas.openxmlformats.org/officeDocument/2006/relationships/notesMaster" Target="/ppt/notesMasters/notesMaster1.xml" Id="R4507ea4fb2b44b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00:00–00:03. 제목을 읽지 말고 질문으로 시작한다. ‘여러분이 오늘 만든 답을 내일 똑같이 설명할 수 있습니까?’ 한 번의 호출이 아니라 비교 가능한 실행을 만드는 수업임을 선언한다.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00:03–00:07. AS-IS notebook의 실제 저장 결과를 보여준다. 답변은 그럴듯하지만 수업의 5단계와 다르고, ‘한 문단’이라는 형식도 지키지 않았다. 실패를 삭제하지 말고 평가 기준의 필요성을 드러내는 첫 사례로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repo:AS-IS 2025 2nd semester/[AI_PR_PR_10] 01 LLM LifeCycle and OT.pptx (slides 61–67)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00:07–00:10. 오늘의 Definition of Done을 미리 제시한다. 결과가 멋진지보다 두 실행이 비교 가능한지를 본다고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00:10–00:14. 금융, 의료, 교육, 커머스에서 기술은 달라도 ‘정확한가’ 다음에 ‘재현·관찰·통제 가능한가’가 남았다는 서사로 소개한다. 공개본이므로 회사명·팀명·개인 연락처는 언급하지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https://github.com/smilesjcha/homepage_sjcha/blob/main/constants.ts</a:t>
            </a:r>
          </a:p>
          <a:p xmlns:a="http://schemas.openxmlformats.org/drawingml/2006/main">
            <a:r>
              <a:t>- Instructor-approved public bio boundary (2026-08-25)</a:t>
            </a:r>
          </a:p>
          <a:p xmlns:a="http://schemas.openxmlformats.org/drawingml/2006/main">
            <a:r>
              <a:t>- Instructor-supplied public profile photo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00:14–00:17. notebook을 개별 과제로 소비하지 않고 Capstone의 일부로 누적한다. prompt, retriever, adapter, API, trace가 서로 연결되는 구조를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00:17–00:20. 16주의 위치를 보여준다. Week 08은 중간고사이며, Week 16은 팀별 결과 발표다. 상세 일정과 비율은 해당 학기 LMS를 기준으로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semester/[AI_PR_PR_10] 01 LLM LifeCycle and OT.pptx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00:20–00:22. 점수표보다 먼저 평가 철학을 합의한다. README, 환경, 설정, 로그, 비교, 실패 사례가 있어야 재현과 설명이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00:22–00:25. 오늘 모든 개념을 한 사례에 매핑한다. 실제 고객 원문은 복사하지 않고 수업용 합성 텍스트를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00:25–00:28. 95%는 통계가 아니라 교육적 비유다. 수면 아래의 자산과 책임을 하나씩 짚고, ‘좋은 데모를 보고 배포 결정을 내리지 않는다’는 현업 원칙으로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52–60)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00:28–00:33. AS-IS의 긴 연대기를 네 전환점으로 압축한다. 역전파의 역사는 한 해로 단정하지 않고, 데이터·컴퓨팅·학습법이 결합해 딥러닝 전환을 만들었다고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17–35)</a:t>
            </a:r>
          </a:p>
          <a:p xmlns:a="http://schemas.openxmlformats.org/drawingml/2006/main">
            <a:r>
              <a:t>- https://www.nature.com/articles/323533a0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00:33–00:37. 딥러닝의 핵심을 수식 대신 representation learning 관점으로 소개한다. 자동화가 책임을 없애는 것이 아니라 병목의 위치를 바꾼다는 점을 강조한다.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28–35)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00:37–00:42. self-attention의 직관과 병렬화 가능성을 설명한다. 긴 문맥을 무제한·완벽하게 이해한다는 의미는 아니라고 선을 긋는다.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https://arxiv.org/abs/1706.03762</a:t>
            </a:r>
          </a:p>
          <a:p xmlns:a="http://schemas.openxmlformats.org/drawingml/2006/main">
            <a:r>
              <a:t>- repo:AS-IS 2025 2nd semester/[AI_PR_PR_10] 01 LLM LifeCycle and OT.pptx (slides 36–39)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00:42–00:46. 가능한 task와 보장되지 않는 운영 속성을 분리한다. 모델 벤치마크가 사용자의 업무 성공률을 곧바로 보장하지 않는다고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40–44)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00:46–00:49. pretraining 목표와 제품 목표를 구분한다. 제품팀이 사용자, 상황, 성공 조건, 금지 조건을 정의하지 않으면 모델 규모가 빈칸을 대신 채우지 못한다.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https://arxiv.org/abs/2005.14165</a:t>
            </a:r>
          </a:p>
          <a:p xmlns:a="http://schemas.openxmlformats.org/drawingml/2006/main">
            <a:r>
              <a:t>- repo:AS-IS 2025 2nd semester/[AI_PR_PR_10] 01 LLM LifeCycle and OT.pptx (slides 41–44)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00:49–00:52. 네 개 레버를 기술 목록이 아니라 의사결정 사다리로 소개한다. fine-tuning을 항상 마지막으로 고정하지는 않되, 더 싼 레버로 가설을 먼저 검증한다.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45–51)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00:52–00:55. SFT를 instruction/input/output triplet로 설명한다. 데이터 품질과 평가셋이 학습 코드보다 먼저라는 점을 Week 06과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repo:AS-IS 2025 2nd semester/[AI_PR_PR_10] 01 LLM LifeCycle and OT.pptx (slides 44–49)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00:55–00:59. AS-IS에서 혼동되기 쉬운 부분을 바로잡는다. RLHF와 DPO 모두 preference data를 쓰지만 optimization 경로가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https://arxiv.org/abs/2203.02155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00:59–01:02. LoRA는 base weight를 고정하고 low-rank update를 학습해 trainable parameter를 줄이는 접근이다. 정확한 절감률은 model/config에 따라 달라지므로 고정 수치로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repo:AS-IS 2025 2nd semester/[AI_PR_PR_10] 01 LLM LifeCycle and OT.pptx (slides 46, 50)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01:02–01:05. ‘항상 prompt부터’가 아니라, 가역성·비용·검증 가능성이 높은 레버부터라는 원칙이다. 학생 사례에 어떤 예외가 있는지 질문한다.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semester/[AI_PR_PR_10] 01 LLM LifeCycle and OT.pptx (slides 50–51)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01:08–01:13. 세 Ops를 경쟁 개념으로 설명하지 않는다. 기존 software delivery 위에 data/model, 다시 prompt/context/evaluation이 추가된 연속선이다.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52–60)</a:t>
            </a:r>
          </a:p>
          <a:p xmlns:a="http://schemas.openxmlformats.org/drawingml/2006/main">
            <a:r>
              <a:t>- https://cloud.google.com/architecture/mlops-continuous-delivery-and-automation-pipelines-in-machine-learning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01:13–01:17. 생성 서비스는 코드 이외의 자산 조합에 따라 동작이 바뀐다. trace가 한 요청에서 실제로 사용된 조합을 묶는 공통 언어라고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01:17–01:22. 하나의 KPI만 최적화하면 다른 축에서 regression이 생길 수 있다. quality가 올랐지만 latency/cost/safety가 악화된 사례를 학생에게 상상하게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01:22–01:27. 이 그림이 학기 전체의 기준 그림이다. 기획·데이터 → 프롬프트·컨텍스트 → 실행·배포 → 평가·관찰 → 개선·버전이 다시 기획으로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(slides 61–67)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01:27–01:30. model 선택 전에 problem/evaluation boundary를 정한다. 실제 고객 데이터 대신 합성 예시를 사용하고, 민감정보와 라이선스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63)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01:30–01:33. 사람이 읽기에 좋아 보이는 prompt와 test set에서 개선된 prompt는 다를 수 있다. 변경 이유와 version을 함께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64)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01:33–01:36. 정상선만 있는 architecture는 데모 문서다. 운영 문서에는 실패 branch와 owner가 있어야 한다. TRACE/01의 health와 Ollama 503 경로를 예로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65)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01:36–01:39. 평균값만 보면 tail과 subgroup 실패를 놓친다. 첫 주에는 표본이 작아도 raw trace와 대표 사례를 같이 보는 습관을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66)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01:39–01:42. ‘더 좋아 보임’ 대신 가설·변경·판정·rollback을 남긴다. 실패한 실험도 다음 선택을 줄인다면 유효한 증거다.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semester/[AI_PR_PR_10] 01 LLM LifeCycle and OT.pptx (slide 67)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01:42–01:46. TRACE/01의 실제 schema를 읽는다. token은 문자 기반 교육용 추정치이며, 실 서비스에서는 provider usage 또는 model tokenizer가 canonical이다.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repo:week01/lab/app/schemas.py</a:t>
            </a:r>
          </a:p>
          <a:p xmlns:a="http://schemas.openxmlformats.org/drawingml/2006/main">
            <a:r>
              <a:t>- repo:week01/lab/app/telemetry.py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01:46–01:50. 도구명 암기보다 lifecycle의 어느 문제를 해결하는지 묻는 관점을 강조한다. Week 01 trace가 이후 prompt evaluation과 serving log로 확장된다.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semester/00_AS-IS_핵심_커리큘럼.md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01:50–01:53. 실습 완료 기준을 체크리스트로 고정한다. 설치가 늦는 학생은 demo provider로 먼저 완료한 뒤 Ollama를 선택 경로로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01:53–01:58. Python 3.11.14를 canonical로 사용한다. AS-IS notebook은 3.11.9였으므로 같은 minor의 최신 patch다. 모든 패키지를 한 환경에 넣지 않고 충돌 주차는 profile로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https://docs.python.org/3.11/</a:t>
            </a:r>
          </a:p>
          <a:p xmlns:a="http://schemas.openxmlformats.org/drawingml/2006/main">
            <a:r>
              <a:t>- repo:requirements/README.md</a:t>
            </a:r>
          </a:p>
          <a:p xmlns:a="http://schemas.openxmlformats.org/drawingml/2006/main">
            <a:r>
              <a:t>- repo:.python-version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01:58–02:03. UI에서 RESPONSE뿐 아니라 trace id, prompt version, model, latency, token estimate, fingerprint를 가리킨다. /docs, /api/v1/traces, /api/v1/stats, /metrics의 관점 차이를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repo:week01/lecture/assets/trace01-ui.png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- https://fastapi.tiangolo.com/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02:03–02:08. 고정값·변경값·관측값을 학생이 직접 말하게 한다. demo provider에서 temperature가 출력에 영향을 주지 않는 것도 유효한 관찰이다.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02:10–02:22. 점수는 예시 시각화이며 실제 측정값이 아니다. 학생은 pass/fail 기준을 먼저 정의한 후 task=summarize를 실행하고 결과와 latency를 함께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02:22–02:35. 구조화된 세 필드가 형식 평가의 기준이 된다. 내용이 입력에 grounded됐는지와 행동이 검증 가능한지를 따로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repo:week01/lab/app/main.py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02:35–02:48. demo provider는 temperature를 의도적으로 무시해 누구나 baseline을 재현할 수 있다. Ollama에서는 temperature 하나만 바꾸고 다양성·형식 준수·사실성을 함께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semester/practice/week01/week01_ollama_practice.ipynb</a:t>
            </a:r>
          </a:p>
          <a:p xmlns:a="http://schemas.openxmlformats.org/drawingml/2006/main">
            <a:r>
              <a:t>- repo:week01/lab/app/providers.py</a:t>
            </a:r>
          </a:p>
          <a:p xmlns:a="http://schemas.openxmlformats.org/drawingml/2006/main">
            <a:r>
              <a:t>- https://docs.ollama.com/api/chat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02:50–03:00. 학생에게 두 질문을 2문장으로 제출하게 한다. 1) trace가 없었다면 무엇을 비교하지 못했는가? 2) 다음 prompt version에서 무엇 하나를 바꾸고 어떤 지표로 판정할 것인가? 다음 주는 prompt를 versioned product asset으로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repo:week01/lecture/01_week1_강의안.md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b3bfd3cd14b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8242eb7ad34ad7" /><Relationship Type="http://schemas.openxmlformats.org/officeDocument/2006/relationships/slideLayout" Target="/ppt/slideLayouts/slideLayout1.xml" Id="Rdb1e4c2d7fc442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1e4c2d7fc442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PAPER SIGNAL">
      <a:dk1>
        <a:srgbClr val="090909"/>
      </a:dk1>
      <a:lt1>
        <a:srgbClr val="FFFFFF"/>
      </a:lt1>
      <a:dk2>
        <a:srgbClr val="2C2C2C"/>
      </a:dk2>
      <a:lt2>
        <a:srgbClr val="F4F2EC"/>
      </a:lt2>
      <a:accent1>
        <a:srgbClr val="FF5A36"/>
      </a:accent1>
      <a:accent2>
        <a:srgbClr val="090909"/>
      </a:accent2>
      <a:accent3>
        <a:srgbClr val="979797"/>
      </a:accent3>
      <a:accent4>
        <a:srgbClr val="F4F2EC"/>
      </a:accent4>
      <a:accent5>
        <a:srgbClr val="2C2C2C"/>
      </a:accent5>
      <a:accent6>
        <a:srgbClr val="D8D5CC"/>
      </a:accent6>
      <a:hlink>
        <a:srgbClr val="FF5A36"/>
      </a:hlink>
      <a:folHlink>
        <a:srgbClr val="97979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PAPER SIGN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473af021e4dd3" /><Relationship Type="http://schemas.openxmlformats.org/officeDocument/2006/relationships/notesSlide" Target="/ppt/notesSlides/notesSlide1.xml" Id="R076be72b44a746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d33358504409" /><Relationship Type="http://schemas.openxmlformats.org/officeDocument/2006/relationships/notesSlide" Target="/ppt/notesSlides/notesSlide2.xml" Id="R7649166afcf446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57f69b1314462" /><Relationship Type="http://schemas.openxmlformats.org/officeDocument/2006/relationships/notesSlide" Target="/ppt/notesSlides/notesSlide3.xml" Id="Rf8063620a1df47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1bfa6acce4ebb" /><Relationship Type="http://schemas.openxmlformats.org/officeDocument/2006/relationships/image" Target="/ppt/media/image.png" Id="R6750a3a9f2f44b89" /><Relationship Type="http://schemas.openxmlformats.org/officeDocument/2006/relationships/notesSlide" Target="/ppt/notesSlides/notesSlide4.xml" Id="R1281ba897d6543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f8b482d274258" /><Relationship Type="http://schemas.openxmlformats.org/officeDocument/2006/relationships/notesSlide" Target="/ppt/notesSlides/notesSlide5.xml" Id="Rfcb114693d8744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5e30def874bba" /><Relationship Type="http://schemas.openxmlformats.org/officeDocument/2006/relationships/notesSlide" Target="/ppt/notesSlides/notesSlide6.xml" Id="R4569dc858d7d4b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21cd8ff17493b" /><Relationship Type="http://schemas.openxmlformats.org/officeDocument/2006/relationships/notesSlide" Target="/ppt/notesSlides/notesSlide7.xml" Id="Rb2086f44740947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645cb732b4ee4" /><Relationship Type="http://schemas.openxmlformats.org/officeDocument/2006/relationships/notesSlide" Target="/ppt/notesSlides/notesSlide8.xml" Id="R9bd72bf15dca45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6383e6841409e" /><Relationship Type="http://schemas.openxmlformats.org/officeDocument/2006/relationships/notesSlide" Target="/ppt/notesSlides/notesSlide9.xml" Id="R4ed2e009179e4e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65d4004ad4e25" /><Relationship Type="http://schemas.openxmlformats.org/officeDocument/2006/relationships/notesSlide" Target="/ppt/notesSlides/notesSlide10.xml" Id="R2d4a46ec53c444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df4e5530f41ad" /><Relationship Type="http://schemas.openxmlformats.org/officeDocument/2006/relationships/notesSlide" Target="/ppt/notesSlides/notesSlide11.xml" Id="R5838cc1790d841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935c3f62f4a8d" /><Relationship Type="http://schemas.openxmlformats.org/officeDocument/2006/relationships/notesSlide" Target="/ppt/notesSlides/notesSlide12.xml" Id="R132fdc3e57e840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2455c7e514f93" /><Relationship Type="http://schemas.openxmlformats.org/officeDocument/2006/relationships/notesSlide" Target="/ppt/notesSlides/notesSlide13.xml" Id="Re1607ef6d2e142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90850b4864d0a" /><Relationship Type="http://schemas.openxmlformats.org/officeDocument/2006/relationships/notesSlide" Target="/ppt/notesSlides/notesSlide14.xml" Id="Rda9e214433fe45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27a75ff634fb4" /><Relationship Type="http://schemas.openxmlformats.org/officeDocument/2006/relationships/notesSlide" Target="/ppt/notesSlides/notesSlide15.xml" Id="R1061e323bfad471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6412a69264678" /><Relationship Type="http://schemas.openxmlformats.org/officeDocument/2006/relationships/notesSlide" Target="/ppt/notesSlides/notesSlide16.xml" Id="Rca28bd872e2e44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5f87a021c4bd2" /><Relationship Type="http://schemas.openxmlformats.org/officeDocument/2006/relationships/notesSlide" Target="/ppt/notesSlides/notesSlide17.xml" Id="R4eb06056563c4c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150877f144b4d" /><Relationship Type="http://schemas.openxmlformats.org/officeDocument/2006/relationships/notesSlide" Target="/ppt/notesSlides/notesSlide18.xml" Id="R97dce45d509a408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9a1ba198045c4" /><Relationship Type="http://schemas.openxmlformats.org/officeDocument/2006/relationships/notesSlide" Target="/ppt/notesSlides/notesSlide19.xml" Id="R2f04ed738455466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2925a7382488b" /><Relationship Type="http://schemas.openxmlformats.org/officeDocument/2006/relationships/notesSlide" Target="/ppt/notesSlides/notesSlide20.xml" Id="R190c1abc4bb948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605cefc0642f0" /><Relationship Type="http://schemas.openxmlformats.org/officeDocument/2006/relationships/notesSlide" Target="/ppt/notesSlides/notesSlide21.xml" Id="R90644a355a0b46c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325662232436d" /><Relationship Type="http://schemas.openxmlformats.org/officeDocument/2006/relationships/notesSlide" Target="/ppt/notesSlides/notesSlide22.xml" Id="Ra32a4d4a45a2492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1836bccf94d04" /><Relationship Type="http://schemas.openxmlformats.org/officeDocument/2006/relationships/notesSlide" Target="/ppt/notesSlides/notesSlide23.xml" Id="Rd37d170f8299469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43013b13e4e72" /><Relationship Type="http://schemas.openxmlformats.org/officeDocument/2006/relationships/notesSlide" Target="/ppt/notesSlides/notesSlide24.xml" Id="R948dacaf778845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283c62caa4f68" /><Relationship Type="http://schemas.openxmlformats.org/officeDocument/2006/relationships/notesSlide" Target="/ppt/notesSlides/notesSlide25.xml" Id="R9246e4ace0e2492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19ce4bedf4562" /><Relationship Type="http://schemas.openxmlformats.org/officeDocument/2006/relationships/notesSlide" Target="/ppt/notesSlides/notesSlide26.xml" Id="R19b2b83c984d4a6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17c5ae9c24c46" /><Relationship Type="http://schemas.openxmlformats.org/officeDocument/2006/relationships/notesSlide" Target="/ppt/notesSlides/notesSlide27.xml" Id="R8fb7b9a3a3af407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0ae7fe30c4cb8" /><Relationship Type="http://schemas.openxmlformats.org/officeDocument/2006/relationships/notesSlide" Target="/ppt/notesSlides/notesSlide28.xml" Id="R4a0812e0fa3d41d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f8194a3e249fa" /><Relationship Type="http://schemas.openxmlformats.org/officeDocument/2006/relationships/notesSlide" Target="/ppt/notesSlides/notesSlide29.xml" Id="R27d3c608359a478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09cea8aa348f9" /><Relationship Type="http://schemas.openxmlformats.org/officeDocument/2006/relationships/notesSlide" Target="/ppt/notesSlides/notesSlide30.xml" Id="R880817586dda4d5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a51bf7af44b06" /><Relationship Type="http://schemas.openxmlformats.org/officeDocument/2006/relationships/notesSlide" Target="/ppt/notesSlides/notesSlide31.xml" Id="R17ee29847821422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bf98d958c40dc" /><Relationship Type="http://schemas.openxmlformats.org/officeDocument/2006/relationships/notesSlide" Target="/ppt/notesSlides/notesSlide32.xml" Id="Rd9bbdf9a0d5c485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bcf9764564638" /><Relationship Type="http://schemas.openxmlformats.org/officeDocument/2006/relationships/image" Target="/ppt/media/image2.png" Id="Rd7a3ecd1668d48e2" /><Relationship Type="http://schemas.openxmlformats.org/officeDocument/2006/relationships/notesSlide" Target="/ppt/notesSlides/notesSlide33.xml" Id="R8416ee69995843c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129313bb2485b" /><Relationship Type="http://schemas.openxmlformats.org/officeDocument/2006/relationships/notesSlide" Target="/ppt/notesSlides/notesSlide34.xml" Id="R395be43f3fe04b9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e6b14724244bd" /><Relationship Type="http://schemas.openxmlformats.org/officeDocument/2006/relationships/notesSlide" Target="/ppt/notesSlides/notesSlide35.xml" Id="Rc2c7ad5fb7fe46e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da85d11724ef6" /><Relationship Type="http://schemas.openxmlformats.org/officeDocument/2006/relationships/notesSlide" Target="/ppt/notesSlides/notesSlide36.xml" Id="R0c773911faa3439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557220c7941de" /><Relationship Type="http://schemas.openxmlformats.org/officeDocument/2006/relationships/notesSlide" Target="/ppt/notesSlides/notesSlide37.xml" Id="Reb4c445654004b1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5f92d04b047d8" /><Relationship Type="http://schemas.openxmlformats.org/officeDocument/2006/relationships/notesSlide" Target="/ppt/notesSlides/notesSlide38.xml" Id="R936d4f99f81440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D9D3E8-268D-4FD1-B22C-22850888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W01 / ORIENTATION &amp;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09C0A-BC82-44B3-A9EF-FC149458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346F3-540B-4342-9FBB-5425E5E5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25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LLM을 호출하는 것과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27E3B-0289-4510-B5E8-6813AF9D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057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630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30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운영하는 것은 다르다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EB06A-DF5E-4EAB-8BDD-5BDF1A50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095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4F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B071F-1F5C-4665-9946-B0002926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0A0D5-760C-463B-AD9D-003AD620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7672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DA2C7-D0D8-4E66-9D85-FF23AE5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43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 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52AB57-1DED-49F8-B12E-37A0A1F7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7672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BB0A56-07BB-4721-A337-8987A833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43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E0453-401F-4C7D-9003-6729E3B0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7672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C0979-F35C-4EA1-976C-CBDC5097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43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04 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973F2-3B77-4F3D-BDF7-9D1E9A2C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7672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2D728-F026-4F2F-A147-A516DB0A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343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05 IMPROVE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9E670-F0A4-4159-8C30-0B145012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한 번의 호출을 비교 가능한 실험으로 바꾸는 첫날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924A07-8F7A-4E79-80B4-D608FDF3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48640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CHA SUNGJAE · WEEK 01</a:t>
            </a:r>
          </a:p>
        </p:txBody>
      </p:sp>
    </p:spTree>
    <p:extLst>
      <p:ext uri="{BB962C8B-B14F-4D97-AF65-F5344CB8AC3E}">
        <p14:creationId xmlns:p14="http://schemas.microsoft.com/office/powerpoint/2010/main" val="7412374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32792-1F65-4343-BD06-E5F52C44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1312B-85FC-446E-84D5-ED1C79B3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59447-8DD3-461E-8856-7AD0BD5E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B59C4-15EA-4A24-921F-9D3443F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BCA7B-7120-4972-84C2-64A9FC86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A55C9-9A3B-4D7F-B516-31E4D603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그럴듯한 오답이 오늘의 출발점이다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335D7-6A3A-4F42-B83A-3F8701BD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6D324E-9258-4244-8F37-8F14F4B9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B8969-34B1-446D-9D6A-6F62F034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QUESTION / NO COURSE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CB25E-D6F0-47B6-BBD0-F8237229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What are the 5 stages of the LLM LifeCycle?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Answer in one short paragraph.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FE8E8-C35E-4C32-8EF2-6AA2F2A2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MODEL ANSWER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0C809-CF8C-4C07-886B-68F73E35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TRAINING → EVALUATION → DEPLOYMENT → MAINTENANCE → RETIREMENT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2B5950-85FC-489A-95AA-72F9FB5E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강의 기준과 다르지만, 기준·맥락·버전이 없으면 ‘틀렸다’고 판정할 수조차 없다.</a:t>
            </a:r>
          </a:p>
        </p:txBody>
      </p:sp>
    </p:spTree>
    <p:extLst>
      <p:ext uri="{BB962C8B-B14F-4D97-AF65-F5344CB8AC3E}">
        <p14:creationId xmlns:p14="http://schemas.microsoft.com/office/powerpoint/2010/main" val="1900680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AE274-7BED-42AB-A0AC-E033362B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DBFCD-E341-45F8-AA89-92721E6B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BF83E-7328-4442-9055-719AEB8D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3326E-46E8-46D6-B15D-63A9F79C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4A1C2-825B-4835-A62C-C0901B91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BCCFA-D4B1-434E-8B46-42931D2D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오늘 목표는 첫 호출을 비교 가능한 실험으로 바꾸는 것이다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B3C2E-671F-4262-B65A-763D68F3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6003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0143F-FA4D-4A49-9EAB-95E6663B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857500"/>
            <a:ext cx="2600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7B39C-3509-4E47-B485-3C7E2878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6003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80658-0644-4B23-AE6E-B5506B58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6003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입력과 task를 고정한다.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E3C93-7D7C-4DDB-83BE-42CB1FFC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095500"/>
            <a:ext cx="26003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875FE-4E94-4677-97C6-63E974D2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00425" y="2857500"/>
            <a:ext cx="2600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79640-77E3-4AD7-A823-52887E1B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05150"/>
            <a:ext cx="26003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4CB1B5-3B47-4E56-84FA-747A0E95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886200"/>
            <a:ext cx="26003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버전·모델·지연을 묶는다.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0BDB8-F9AA-4E05-8A4A-3ACB9B84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26003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4AB6-3653-4DDC-9ABF-0EEE79E2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91250" y="2857500"/>
            <a:ext cx="2600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AE808-6B85-4649-8B08-A3408912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26003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COMPARE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01A76B-99E9-400D-990C-EA02DD85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26003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변수 하나만 바꾼다.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9565B4-6CC2-495E-9D54-D8BBF7E1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095500"/>
            <a:ext cx="26003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F36ACA-5702-465E-B5C9-AC7F8C10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82075" y="2857500"/>
            <a:ext cx="2600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14B4F9-DDCC-4668-BCA7-2F9720C7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105150"/>
            <a:ext cx="26003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IMPROVE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4D0C99-1AA0-43B4-875E-AADA9C8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886200"/>
            <a:ext cx="26003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다음 version 가설을 남긴다.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9B958C-60E1-4286-B562-6346B393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DONE = 실행 서비스 + trace 2건 + 개선 판단 2문장</a:t>
            </a:r>
          </a:p>
        </p:txBody>
      </p:sp>
    </p:spTree>
    <p:extLst>
      <p:ext uri="{BB962C8B-B14F-4D97-AF65-F5344CB8AC3E}">
        <p14:creationId xmlns:p14="http://schemas.microsoft.com/office/powerpoint/2010/main" val="2114078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D9D446-2604-4DA1-85DB-5F1D7540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9CEE5-A240-41F5-BF12-CBC174F7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E39C5-8EB1-4F4A-8F40-84568BE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2FD66-50B2-43FF-BC5F-6DE993BE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951B5-EE0E-4104-AE9D-471331A2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DD908-10E8-4506-A254-8F7EBA3D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657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강의자는 네 개 도메인에서 같은 운영 문제를 봤다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8745F-1284-475A-B194-88B48627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차성재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810EB-6014-469C-9D46-A8268E2F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AI PRODUCT MANAGER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ADJUNCT PROFESSOR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3D4253-AC3F-4D94-AD8F-06FBFCA7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대형 패션·라이프스타일 커머스 플랫폼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서울시립대학교 · 아주대학교 AI 부문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35A36-FD3F-4703-A803-52702225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8006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2C2C2C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금융</a:t>
            </a:r>
          </a:p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AutoML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FBBD4-4BF8-4E0A-8635-2C419A22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28750" y="5210175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7979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295E7-D979-4849-BC9E-C69C2485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48006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2C2C2C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의료</a:t>
            </a:r>
          </a:p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DataOps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77B0D-13C7-4A56-926D-2D80E770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38450" y="5210175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7979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57724-75E1-4DAB-94FD-4EF28F56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48006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2C2C2C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교육</a:t>
            </a:r>
          </a:p>
          <a:p xmlns:a="http://schemas.openxmlformats.org/drawingml/2006/main">
            <a:pPr algn="ctr">
              <a:def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LLMOps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32473-86E1-4E40-A66B-9755AE3C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48150" y="5210175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7979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C524D-7A1A-4BF0-9232-B8810A2B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48006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커머스</a:t>
            </a:r>
          </a:p>
          <a:p xmlns:a="http://schemas.openxmlformats.org/drawingml/2006/main">
            <a:pPr algn="ctr">
              <a:defRPr sz="8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Agentic AI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0a3a9f2f44b89"/>
          <a:stretch xmlns:a="http://schemas.openxmlformats.org/drawingml/2006/main"/>
        </p:blipFill>
        <p:spPr>
          <a:xfrm xmlns:a="http://schemas.openxmlformats.org/drawingml/2006/main">
            <a:off x="7696200" y="1066800"/>
            <a:ext cx="3638550" cy="36385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3FAC7-D7C7-409B-808F-EE2E5703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497205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D7364-6E51-49FD-B504-F4A1F03E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4248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2000"/>
              </a:lnSpc>
              <a:buNone/>
              <a:defRPr sz="20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AI PRODUCT</a:t>
            </a:r>
          </a:p>
          <a:p xmlns:a="http://schemas.openxmlformats.org/drawingml/2006/main">
            <a:pPr algn="r">
              <a:lnSpc>
                <a:spcPct val="92000"/>
              </a:lnSpc>
              <a:buNone/>
              <a:defRPr sz="20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OPERATOR</a:t>
            </a:r>
          </a:p>
        </p:txBody>
      </p:sp>
    </p:spTree>
    <p:extLst>
      <p:ext uri="{BB962C8B-B14F-4D97-AF65-F5344CB8AC3E}">
        <p14:creationId xmlns:p14="http://schemas.microsoft.com/office/powerpoint/2010/main" val="20282910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63BE99-9273-420D-8FF5-746880E9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A38DF6-51FA-46FA-8B44-662B4A5B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B17CF-B6F7-491E-AA85-CE1795D1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42A03-9F14-4DF3-8BCB-834ECB0F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6211D-3325-4558-9510-3C38A841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87525-0541-4AC6-8159-777DDE05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이 과목의 산출물은 모델이 아니라 개선 루프다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D8400-CCBA-4F47-B7B4-DF823F3A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226466-68D7-460F-898B-8C420C8B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0190E2-2E5D-406E-A019-57C487DC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PROMPT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6A73D-98D8-4F88-8D29-47A0FCE4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지시·형식·version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D3900-08EE-4360-A0F2-DFAEE01E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EC8E1-4D81-4B0D-BB2C-9D4DC0CC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4226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71CB3-8480-498A-B3E1-A6239FF6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3415D-F37C-44F6-8C35-A817CF7E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검색·근거·평가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3172F0-E25E-413C-BE2D-8DCFC35C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484FE-5B8F-4A22-B9D2-9EC9DAA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7492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9042D-8AA6-4AC0-8F7F-B3CC69DC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95983D-D4AA-4FE5-83DC-10874D13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API·cache·failure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56A0F7-FEBE-4AE2-8A84-A71E4D9A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70791A-B0D5-4AEB-B92A-B40F90D0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0758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9CEBC0-2DE7-45A5-AE7C-98A4D448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OBSERVE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B0878E-479A-4F77-BEA6-8ED24407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trace·quality·cost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FF727-D7FA-4FD6-82EA-1F62C2FF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EBB48D-0613-4E4E-8749-F99807B6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4024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A2322F-944A-49C6-B298-6A2DAFA3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CAPSTONE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0EED6-84AC-4EF6-8E7B-71461E9C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증거가 연결된 서비스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B39913-EAC8-43FE-9F21-D09175C9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매주 만든 artifact를 다음 주가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19439915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4B9D14-7DA2-465B-9819-8618F401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F41E0C-9BD3-43F8-A1A1-2FE138EC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C0B09-E2B1-4901-8B1C-DA8A63DE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9F466-6E7B-45B0-AA3A-305F86CF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6C3ED-A2CC-4C89-916F-FB0F4680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6F987-CC40-4F8E-8CFB-146D4F42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매주 만든 증거가 Capstone의 한 시스템이 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179A7-21F0-44C4-973C-C40F90DF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8200" y="335280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7979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B18F8-1398-4628-96F9-504AFDAD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51994-CF87-4580-8971-ACC8F26A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W01–03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5FD857-2781-4B6E-AEA6-FE24F78A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PROMPT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 · 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9CFA0-81F0-42F3-9061-D28E311B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986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10F65-401A-477C-8C2B-7EBC0C97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99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W04–05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A7394-8499-4462-B199-F74AC5A0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979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RETRIEVAL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9E7279-437A-4BC5-90AF-E14946BF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250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A07A6-F2A3-4FF9-94DE-BC95FE81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63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W06–07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F150A2-FB3F-4BE0-AAA4-54EA3615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243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ADAPT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SFT · DPO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18A6A-D318-4EDA-97FE-3D7A6EA5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514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6BCFDA-7519-4799-883C-42218F5D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27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W09–10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D8C3BF-9DBB-4684-B6F9-A540E3F4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507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SERVE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OBSERVE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D44E44-21C0-4CD1-8D6D-5D076AF6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4778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EE11D7-9B64-4CD8-9148-61E59E9F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91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W11–14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9E8A38-6E04-47C6-A6EC-FD38663E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71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EVAL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SAFE · COST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3EE2F-5FE1-4460-9F46-DF75252E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2042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31168-1030-467B-B9FF-16512F83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W15–16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757296-1AE0-43C5-90EA-DB782379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CAPSTONE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DEMO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8EA343-35F4-4AAD-A1DF-223EB592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코드는 커지고, 판단 근거는 더 선명해져야 한다.</a:t>
            </a:r>
          </a:p>
        </p:txBody>
      </p:sp>
    </p:spTree>
    <p:extLst>
      <p:ext uri="{BB962C8B-B14F-4D97-AF65-F5344CB8AC3E}">
        <p14:creationId xmlns:p14="http://schemas.microsoft.com/office/powerpoint/2010/main" val="18584155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D2F72-DEA2-4A96-A1B1-5D69B22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61AB2-C731-4EF3-BA23-C520F50A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B81A3-A1F5-4FCA-83C3-8FFE789E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5EAF9-F5AF-4FCA-9467-7E4BC5C1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D6B34-8ADE-495F-B061-3C3BC5AB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9BBA0-D644-4C42-8FCD-4B29C81B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평가는 실행보다 재현·비교·설명을 본다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01C05-71F3-439E-9E92-CC655CCC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7C0C6-8231-4F12-874A-843DF5C8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1EEC0-4B36-4334-93BE-3E221122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WEAK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6194C-CF5B-4B99-AA39-DA23F9BD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“제 컴퓨터에서는 됐습니다.”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좋은 결과 screenshot 한 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버전 없는 notebook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ED577-565C-4942-B1E9-6367B834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STRONG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3112B-E12C-4876-B348-342028C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환경 · config · 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대표 성공/실패 · 비교표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판단과 다음 가설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E6973B-EA03-4B3A-B898-771D7F8A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실행 결과가 아니라, 다른 사람이 확인할 수 있는 증거를 제출한다.</a:t>
            </a:r>
          </a:p>
        </p:txBody>
      </p:sp>
    </p:spTree>
    <p:extLst>
      <p:ext uri="{BB962C8B-B14F-4D97-AF65-F5344CB8AC3E}">
        <p14:creationId xmlns:p14="http://schemas.microsoft.com/office/powerpoint/2010/main" val="8130194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B8BEC3-15D0-4E8F-9819-4723F915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A6ED8-D895-4AE6-982B-ACF25342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6E839-C85C-42F1-80AD-4AFF0D30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BC816-C69F-4298-B812-369514E3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B23A9-2023-4DF3-A91A-42E30520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FCCDC-5B33-47B9-A9E3-4103EFF0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오늘의 기준 사례는 ‘고객 피드백 도우미’다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E5E7C-60F3-44D8-A787-9E6AAA2E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D4B55-D4C3-414E-9C3C-0EBD0115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70BFC-FD3C-4F65-8B5B-33126514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4E021-33C7-4807-807D-49141698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고객 피드백 한 문단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DF8DA-3678-4142-BEB1-5CA980A6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797F8-6871-4169-973C-FDBCE012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4226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80C0D-FB26-457E-B38F-AB9D8CB1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TASK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1C7ED9-B6C6-4A21-A0E5-61E8E650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요약 · 신호 추출 · 재작성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077C4-05DB-40D6-A8F1-C078031A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2DDBF-6781-46A0-9C24-F82891A9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7492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2AAD3-BD4C-43D7-AD9E-C6D4E207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PROVIDER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00E882-DFF9-4BD2-9A7F-967EE8D6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Demo 또는 Ollama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E263FA-A31A-49D3-BD6A-FBBF2BE1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E54589-D2EF-44A0-B31E-7F845151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0758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7AB96-916D-4DF1-9B9B-E6D32D1F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F67111-311C-4FA0-A686-62222C2F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업무에 쓰는 구조화 응답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2FC9A-FFE7-4507-8C44-34212F9B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2095500"/>
            <a:ext cx="204216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C379D7-8336-4CD6-8441-BD315940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40240" y="2857500"/>
            <a:ext cx="204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7D051C-795F-4AD4-AF3B-F5E9BAC8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105150"/>
            <a:ext cx="20421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43FE87-298C-499E-ACB8-B55681BF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886200"/>
            <a:ext cx="2042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버전 · 지연 · token ·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02B8B9-FCCA-49E6-89FE-F2B44241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한 사례를 끝까지 따라가면 개념이 흩어지지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4109355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2AA124-7970-496F-9927-7779450D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18AF6-141E-461F-8B58-2D34C467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6BB7A-0412-4AF7-82DE-C212BB89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A5F7E-B934-4909-89F6-947CF08D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F0FBB-A933-4848-84DA-9141C770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CC9ED-87F4-4EF3-8378-7791A7D9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데모는 5분이지만 운영은 나머지 95%다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A124C-00EC-49B3-B987-64976513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143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41234-679E-4283-B452-065427FD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VISIBLE / 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A96DE-C297-42F1-91FA-E0D24327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PROMPT → MODEL → ANSWER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D7BD7-E36D-4AB9-8AE7-2C9C6ADC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OPERATING / 95%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67118-8505-4E44-8963-86577627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DATASET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4DF79-2440-4612-B6EA-A6002766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E48D6F-6FF3-4E0A-9DDD-EDFAEA1C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052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1859E-D82C-438D-9194-9DCFEF16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TIMEOUT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AC2D88-0BAA-4FAC-8C6C-7E9BD716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279611-F02A-4B8F-AA1B-8AEEA31A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910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40047-DD7A-43CD-B454-FAAAFBF0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910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COST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904412-B148-4A4A-B959-2C5B8952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8D5CC"/>
                </a:solidFill>
                <a:latin typeface="Helvetica Neue"/>
                <a:ea typeface="Helvetica Neue"/>
                <a:cs typeface="Helvetica Neue"/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131DA2-B841-4731-A268-03D0FDD6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좋은 데모를 보고 배포 결정을 내리지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7191505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78013-5029-44FB-B07D-E3163013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8C194-3C58-41B6-82F1-64F9A074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2CF80-89F4-43BA-9770-1455980B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ABE37-5A85-4D2C-8B00-2FEDF0D7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4B057-2AF9-4CA7-974A-CE8904D1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D33E8-F9B6-4FD8-959D-C97E3A79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AI의 역사는 병목이 이동한 기록이다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89AC40-7BDF-48A3-9D6B-C1F9E36E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8200" y="34861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909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B092B-B26C-43B6-BEBC-C6721B9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E69EB0-A353-4A7D-986C-E029D04E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5D6DB6-4EFF-42ED-A78F-CA784E54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사람이 규칙을 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10CBD-9601-4017-96E7-B74F9807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65FE5-6C19-4B0C-AD7E-40BF366B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905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8FC9A-1281-4075-B707-70D0509F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4286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예시에서 경계를 학습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374E3-2076-44CA-9AA7-2F144BFA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01B600-F93C-4176-B79D-BC59995F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COMPUTE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C4067-DB78-4367-880D-75213575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표현 학습과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78AF18-3646-4E2E-B81C-641C2E1C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6327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B7198-21E5-4AB8-99D2-307CBEAA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905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OPERATION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E39DC5-ACB0-4666-B080-F43D0EC3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286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지속 측정과 개선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F9E7B-F912-4833-A06B-5419F01F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연도보다 ‘다음 기술이 어떤 병목을 넘었는가’를 기억한다.</a:t>
            </a:r>
          </a:p>
        </p:txBody>
      </p:sp>
    </p:spTree>
    <p:extLst>
      <p:ext uri="{BB962C8B-B14F-4D97-AF65-F5344CB8AC3E}">
        <p14:creationId xmlns:p14="http://schemas.microsoft.com/office/powerpoint/2010/main" val="21361171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132621-A8EC-4700-8B2A-8D91667E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4FA6D-495E-4C08-B974-AB6D8D07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BEFF9-1A0A-4F0A-AC96-9687D64A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DF3C3-A8EC-4D11-8EC9-7CC3C8B6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2BFCA-45AC-4BDF-881C-50483717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E5113-082A-476E-A16B-691CFC82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데이터·GPU·딥러닝이 특징 설계를 학습으로 바꿨다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89E96-6D27-4778-8828-23B2B6A2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894BAB-0982-4434-8F6C-1466117D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EA640-A4C7-4938-9E5B-E4ECA481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BEFORE / HAND-CRAFTED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2E657-24DB-40CB-94B1-D9276074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사람이 중요한 특징을 정의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규칙과 feature가 병목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AF64BE-4CD6-4CB9-8FB4-60C65771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AFTER / REPRESENTATION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08666-2916-459C-BF5B-A306A86E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모델이 유용한 표현을 학습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데이터와 objective가 병목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026BA-D665-49BD-B1A5-7380B479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rPr>
              <a:t>규모는 잘못된 데이터와 목표도 더 일관되게 증폭할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3768509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CF81B-C2F0-4881-B232-E9BBA080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61239F-617B-440D-82FA-538741E2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08EF2-2330-42CE-96F0-078C2D94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A3387-31B2-486D-ACBB-6BE83576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0F165-5ED8-4406-BFA1-DA67DE4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511D9-4303-4FC8-8E0F-C1D96B31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Transformer는 token 사이의 관계를 한꺼번에 계산한다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8A37A-E3F7-4717-B688-728DC334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2100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96B96-38C1-47C4-9839-84E372E6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현재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53265-EC9C-4530-915A-BC0EFAF0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42100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68977-30E4-40CF-8B72-67348F29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token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C5314-FDA9-4F82-A261-6056D77F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42100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D6754-6B6F-4A75-A2D2-94EED5D0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6A238-1120-4FC4-9D63-1A4E9B6F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42100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7E91F-290B-4D1B-93A8-9989EF7E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어디를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2A1CA-B104-497B-BF3C-6DDF407A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42100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C2A9D-DE9F-4486-B4BB-AE49371D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10050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볼까?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CD583A-687A-4FCC-B17F-C4892334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71625" y="3619500"/>
            <a:ext cx="209550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7736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C8279-0ED5-4488-9ED9-856893CF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3619500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8676E-8015-4170-96A7-9156A47E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3619500"/>
            <a:ext cx="180975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73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9BC848-A400-4E89-A19E-A38986B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3619500"/>
            <a:ext cx="361950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73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B314C9-3E81-43F6-80DC-695BFE17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3619500"/>
            <a:ext cx="600075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73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DAD3B-7108-4F9A-8538-D435E0CC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72415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3810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90916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Q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774B3E-76AD-465C-A4CF-A72D722A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3837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5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SELF-ATTENTION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CA5787-EBE7-45AF-87F5-F036D005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765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장거리 관계 · 병렬 계산 · scale의 기반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356EE5-2C93-44E3-AACD-9C20E30D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직관만 잡는다: ‘현재 token을 이해하기 위해 어디를 얼마나 볼 것인가?’</a:t>
            </a:r>
          </a:p>
        </p:txBody>
      </p:sp>
    </p:spTree>
    <p:extLst>
      <p:ext uri="{BB962C8B-B14F-4D97-AF65-F5344CB8AC3E}">
        <p14:creationId xmlns:p14="http://schemas.microsoft.com/office/powerpoint/2010/main" val="1913694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9075C1-2E48-4A67-B608-C008E996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7B717-6078-4E6C-B73F-640EB728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8AD0A-F32B-4D20-8220-9343C741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E1DF3-B123-43E2-BE63-D0A3FADD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A1964-2BDC-44C0-866C-0A364713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995F0-7457-4EA8-98D1-FFC67347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7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LLM은 범용 능력을 주지만 업무 정답은 보장하지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E588A-4BAD-4092-893D-A70D22C2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29674-155E-41F6-9A8E-E4A717D6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49E09-C469-4041-A7BF-1CD59BA8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CAPABILITY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1A4CA-4C11-405F-A708-581590BE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생성 · 요약 · 변환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분류 · 질의응답 ·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C227A-48A6-4969-B274-0262B9DB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NOT GUARANTEED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56D19-0BD2-4738-81F9-8B31CC4B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사실성 · 일관성 · 최신성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권한 · 비용 · 응답시간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1AA086-D73C-4334-BA28-41F8890D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rPr>
              <a:t>모델 capability와 서비스 reliability는 같은 말이 아니다.</a:t>
            </a:r>
          </a:p>
        </p:txBody>
      </p:sp>
    </p:spTree>
    <p:extLst>
      <p:ext uri="{BB962C8B-B14F-4D97-AF65-F5344CB8AC3E}">
        <p14:creationId xmlns:p14="http://schemas.microsoft.com/office/powerpoint/2010/main" val="3464962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022C3D-84E5-4A71-AF6E-D83937E7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438AE-E8B5-4BA5-8861-9B01035E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490B9-60F9-4526-ACC1-828CCF3B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57A63-2512-46C6-BD5C-021F79B3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9038E-E6FB-43DB-962D-D1235FE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2C91E-BC7B-4026-A487-4526226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Pretraining 이후에도 제품 정의가 남는다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31F7C0-C94F-4E72-8160-3E8EFF28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3ABD11-AFC7-484A-82EA-3D2EC8F2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3C55A-1A41-436E-9C23-E681663A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FOUNDATION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099CC-AAC5-4E21-A89F-B86F3BDB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다음 token 확률을 잘 맞추는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범용 능력의 기반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49842-4D70-4484-B461-4C53B3F5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SERVICE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74A7F-7018-41E0-9F86-E191E949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누구에게 · 어떤 상황에서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무엇을 · 얼마나 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4775CA-16E9-445A-ADFC-78014F93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rPr>
              <a:t>MODEL CAPABILITY ≠ SERVICE RELIABILITY</a:t>
            </a:r>
          </a:p>
        </p:txBody>
      </p:sp>
    </p:spTree>
    <p:extLst>
      <p:ext uri="{BB962C8B-B14F-4D97-AF65-F5344CB8AC3E}">
        <p14:creationId xmlns:p14="http://schemas.microsoft.com/office/powerpoint/2010/main" val="771552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20924-0330-4FC9-9C3E-0080F6E5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0EEB7-EE59-4302-8257-AA1A8E6F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3EBAE-988C-46BC-AB08-2B9A26B8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72257-2DA8-4462-B89E-E2144897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16C54-2BE1-4705-A68C-69F1F9E1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57824-C2C6-475B-8CB2-50D15A7B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모델을 바꾸기 전에 네 개의 개입 레버를 구분한다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A630F-8F8F-4272-BD6E-6839E445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4876800"/>
            <a:ext cx="523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4E330-9D89-4B90-81AE-A02DC4EE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8768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F0143-A2F5-4EAE-8670-66F56091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87680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지시 · 형식 ·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444452-02DB-4D71-9563-A4E87E5D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095750"/>
            <a:ext cx="666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CA101-29A0-4E19-93AF-5AD3FB41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095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RETRIEVAL / TOOL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678B5-91E9-4FC1-8FA4-B881392A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지식과 행동을 외부에서 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899CA-0D15-464F-A2C5-1464CC05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23975" y="3314700"/>
            <a:ext cx="809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C7D23-8A5D-43C6-87FE-9D7BD888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147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E297CC-6977-4BC0-A864-458E6A95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1470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quality · cost · latency trade-off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27D609-C32A-42BD-AA81-02109D44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05FABB-C8AA-4863-8F66-B24CB7C5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FINE-TUNING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1A0A1-0239-4553-B41C-B15AD238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33650"/>
            <a:ext cx="676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반복되는 행동과 도메인 적응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F7EC5B-CD9C-4CE6-BA4F-CDC1F0A6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변경 비용과 rollback 가능성을 함께 본다.</a:t>
            </a:r>
          </a:p>
        </p:txBody>
      </p:sp>
    </p:spTree>
    <p:extLst>
      <p:ext uri="{BB962C8B-B14F-4D97-AF65-F5344CB8AC3E}">
        <p14:creationId xmlns:p14="http://schemas.microsoft.com/office/powerpoint/2010/main" val="6393285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8890C-43D1-47A2-86F0-00572225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7506F-56B3-49F1-8771-CB490BDB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86A9C-5CF7-44DE-9291-028C3000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95E59-1E53-4DE8-85E2-1B7C88EC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1085D-0A4B-42C5-8877-22DBDF09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C345F-16D9-4771-949D-AE73E067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SFT는 좋은 입력–출력 예시로 행동을 가르친다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87158-A505-4921-BFE5-B5FDAA0F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53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B90D05-38A3-4514-BB25-D7A58092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857500"/>
            <a:ext cx="353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0FFCF-4F09-4DF6-93BE-3506E586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53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INSTRUCTION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06893-3726-4E0E-8AF9-D46325EA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530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rPr>
              <a:t>무엇을 해야 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7185D-FF87-4570-8589-98ACAA37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095500"/>
            <a:ext cx="353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C4EE-F3A4-46CF-A607-3EADFE10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30700" y="2857500"/>
            <a:ext cx="353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47C56D-0D26-460C-8468-9AC845CA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3105150"/>
            <a:ext cx="353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76E2A-70AE-4087-919C-45B45B07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3886200"/>
            <a:ext cx="3530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rPr>
              <a:t>대표 상황과 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3C94E-0806-43FF-A899-113ED726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095500"/>
            <a:ext cx="353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4A446-D3A9-4D4F-8482-DA96E009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51800" y="2857500"/>
            <a:ext cx="353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CB79C5-01BB-45B7-9FB9-A9A6891B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105150"/>
            <a:ext cx="353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IDEAL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BC0DC-6DEB-4794-92C4-46B39DC2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886200"/>
            <a:ext cx="3530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D5A54"/>
                </a:solidFill>
                <a:latin typeface="Apple SD Gothic Neo"/>
                <a:ea typeface="Apple SD Gothic Neo"/>
                <a:cs typeface="Apple SD Gothic Neo"/>
              </a:rPr>
              <a:t>원하는 형식·행동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1814B6-8725-4CBF-8B5B-56C622A2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잘못된 예시는 잘못된 행동을 더 일관되게 만들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5655046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C82F3-947E-44EA-A069-FFC23B1E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B27F7-F04D-4242-AFF7-AF4AC291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DEF34-348D-4C6A-9C55-B27CDE0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DCBD9-FA1B-45EC-B668-7E04E019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98CF4-A201-470B-A6EB-CE7B39D5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8F5FE-C4CA-4400-945E-DDEEAED1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RLHF와 DPO는 선호를 배우지만 경로가 다르다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09A94-37C9-4215-A979-B4D92D8E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RLHF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B56CD-D627-4F6E-BEC9-DDC14326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선호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F60485-8CD5-41C0-9D8F-F55CAE72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028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A4455-4C72-40F3-A79B-F050F41B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0BCCB-81E9-449A-AF40-5BCE9C1B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028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95ECE-35B5-40E4-9A25-0A654E96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6710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FB08C4-9BDE-4E02-8602-761494FA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별도 reward model을 학습하고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policy optimization을 수행한다.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B542A2-A36A-4616-8EA5-C498162C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19300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DPO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4C387-B36C-4F62-95B5-10A90D00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선호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2DFC1-3020-4E3A-8004-2FE68A65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028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F6F6D-85BC-4DA9-B4BD-F0A776B5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620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Pair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77E065-5D02-4303-B892-22C4E62B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028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7736B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34E4B6-C4B1-4236-AC45-1548337F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24950" y="27241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4D717E-8B30-4DF4-AD04-9288D14B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선호 pair로 policy objective를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직접 최적화한다.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19F2-F4F2-4090-B897-59D25347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00750" y="18669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B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30B59A-3461-465D-9A8E-C2E807B2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DPO를 reward model → PPO 경로와 같은 그림으로 묶지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2881750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B6B34-A317-480D-B59B-95658AA8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3FFB5-9822-4B9B-BF6A-EB65B248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90002-39BF-435D-A32C-1D5B5A53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230943-1AFA-4C8A-A4B2-5EAA9AD8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F6741-CFC7-4A07-8701-33F5E4DC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1B1BD-27B3-4892-AA2D-92BBF1C4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LoRA·PEFT는 바꾸는 parameter를 줄여 실험 비용을 낮춘다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84110-50CC-4279-9A90-5F39BF17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D137A-B201-4F2E-A320-26B3B664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01BB3-CD87-418B-ABD7-2E4634BA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BASE WEIGHTS / FROZEN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2ACAC-177C-4FC6-9D47-A8B831B1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████████████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████████████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████████████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49F795-06C9-44A9-A3CF-134CE928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SMALL ADAPTER / TRAINED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E2FEA-B6CB-430D-83F6-96C77101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██  ΔW  ██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작은 변경 단위를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저장·교체·비교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2C746-9C8A-4B6B-8FF4-D76D2835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rPr>
              <a:t>판단 기준은 ‘학습 가능한가’가 아니라 ‘Prompt/RAG보다 이득인가’다.</a:t>
            </a:r>
          </a:p>
        </p:txBody>
      </p:sp>
    </p:spTree>
    <p:extLst>
      <p:ext uri="{BB962C8B-B14F-4D97-AF65-F5344CB8AC3E}">
        <p14:creationId xmlns:p14="http://schemas.microsoft.com/office/powerpoint/2010/main" val="9874543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04EAEC-7B11-43D9-ADEE-5B75B8D7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POST-TRAINING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DA76A-B6D0-467E-87B8-E9247780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FDD033-89D2-49F1-8AAE-B53FA796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55861-8CA9-4C9E-90CC-B5B32D40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98AFC-ADD1-43EA-ABB7-B8FB397C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F2A76-FF95-4243-AEFF-6AD56A4C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가장 싸고 되돌리기 쉬운 레버부터 검증한다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70042-4901-4D54-8107-0A59E2F3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4876800"/>
            <a:ext cx="523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1A85C-B311-4DE5-A68C-0122CFC8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8768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01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1CC42-4723-4807-B1AB-17A0ED3D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87680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성공 조건과 실패 사례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77391-A605-498D-BB58-3476F038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095750"/>
            <a:ext cx="666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E7DDCF-825C-432A-B11C-192F57F7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095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02 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E55B9-94F7-4530-837C-29E7CD83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빠른 가설 검증과 rollback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8D34F-4F16-44A0-B77C-F2CF8F04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23975" y="3314700"/>
            <a:ext cx="8096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CF9AFC-247B-4B59-B32C-8138D420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147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03 RETRIEVAL / TOOL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AFBBD-79AF-4D51-B467-1CB438E5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1470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지식·행동을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73834-2FBD-4091-9CF6-D2BF02D6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9A8FF-AF57-4706-B4D2-F76DBB8B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04 FINE-TUNING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0F0D5-969C-4FF2-9A6B-D753574C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33650"/>
            <a:ext cx="676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반복 행동을 model에 적응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A42B0-71C9-4D84-AD74-70DB44D1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규제 · latency · on-device 제약은 순서를 바꿀 수 있다.</a:t>
            </a:r>
          </a:p>
        </p:txBody>
      </p:sp>
    </p:spTree>
    <p:extLst>
      <p:ext uri="{BB962C8B-B14F-4D97-AF65-F5344CB8AC3E}">
        <p14:creationId xmlns:p14="http://schemas.microsoft.com/office/powerpoint/2010/main" val="10832630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999C55-0843-4A22-BB7F-C4CEB16B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A1A6B-BDA5-4DA8-8909-60722BBF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33A04-7639-46B5-9720-FFD40022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38FA0-B19E-404F-A96C-5784211C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A6EF8-F6C0-4318-A342-E6688775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0DF73-7F67-461C-A23C-E490A4E5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6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DevOps→MLOps→LLMOps는 운영 자산이 늘어난 역사다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280C3-42E6-4CDA-9557-1E714C17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DEVOPS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73BB3-A6D1-47F3-90A5-C31A235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28950" y="228600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B9E2A-8282-4348-91EB-F83A6654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859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C4CDF-33A9-4DF9-AA23-EB4D9895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859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0AC3F-6115-416E-B4D1-135904E8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859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RELEASE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553BB-146B-4160-9726-B5D5F62A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050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소프트웨어를 반복 가능하게 빌드·배포·운영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E5423-D7EF-44A3-AB82-C745140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MLOPS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02F1B2-CE55-4752-BA70-161E270C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28950" y="335280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4C098-42E5-48C7-8151-EA4ABBA1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527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4B8B52-761D-4157-B6B8-9C8E3478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527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FEATURE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EE9F9-6DE7-4E40-AFE2-34E332FB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527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67B78-7345-4EAA-82C3-5AE5A303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718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데이터·학습·실험·모델 lifecycle이 추가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C988A-1AA7-4860-83BD-0C94E3AF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LLMOPS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591FE3-DB43-4D7A-BAF7-AEAD8787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28950" y="441960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5A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5D1569-394B-4850-837F-F559B0A3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2195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1DE11-3B71-420F-97E0-F74FC15E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195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C5B882-5452-4DEF-94E6-9425F80D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95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EVAL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0BA573-CBC7-4FFC-A22E-856217BB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FEEDBACK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317CCC-3B1D-4E1A-A58F-033A00AF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386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생성 결과와 평가·feedback까지 운영 자산으로 확장</a:t>
            </a:r>
          </a:p>
        </p:txBody>
      </p:sp>
    </p:spTree>
    <p:extLst>
      <p:ext uri="{BB962C8B-B14F-4D97-AF65-F5344CB8AC3E}">
        <p14:creationId xmlns:p14="http://schemas.microsoft.com/office/powerpoint/2010/main" val="11650389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E2ACC-50D6-4D04-BE3D-534F9E3D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5E7FF-C715-4A57-A1A6-A8BCC00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7EA5C-4EF9-4D6F-97F3-D47C26C3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127A6-BA26-442E-9B28-072E310F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78A07-DDF6-4D7A-963F-9C317FB8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A514-6CAB-47C3-B8CB-8AB76F6A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LLM은 prompt·context·response·evaluation도 버전 자산으로 만든다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D6BF4-9F0D-43EC-88EA-4F11C41F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232CC-0F20-4D71-B5B4-146EF0CC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4BB66-25DF-4637-BA40-B39C81B0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SAME CODE / DIFFERENT 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CB65B-40F4-4EFC-9CB5-AC75E4E3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prompt v1 ↔ prompt v2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context A ↔ context B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model tag A ↔ model tag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92AE2-C391-4C54-B2E8-AD9165F4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TRACE = ONE 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92D06-0428-4CE8-AFDC-DDF2696A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입력 + 버전 조합 + 출력 + 지표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하나의 ID로 묶는다.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CFF356-F580-4166-80DC-3E2DE87F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‘코드는 안 바뀌었다’는 동일 동작의 증거가 아니다.</a:t>
            </a:r>
          </a:p>
        </p:txBody>
      </p:sp>
    </p:spTree>
    <p:extLst>
      <p:ext uri="{BB962C8B-B14F-4D97-AF65-F5344CB8AC3E}">
        <p14:creationId xmlns:p14="http://schemas.microsoft.com/office/powerpoint/2010/main" val="7558142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6EACC8-50FF-4275-AB5A-63B83018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563A7-2B8C-4B65-807C-0C953C54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915DF-44EC-498B-B7A3-271387B0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12A58E-5692-4CEA-AB68-B61D59BB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E27D1-3586-4CFC-9F9F-EE20CCE2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3A5DE-7324-4459-84F0-9519AEA1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LLMOps는 다섯 지표를 동시에 지킨다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E08D9-44FA-4B68-9763-9CAA0828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810650-4B6E-449B-BD9A-C6EC351E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002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E759B-343D-4E7A-9845-B83B4DB9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66925"/>
            <a:ext cx="636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업무 정답·근거·형식·유용성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0EBEF6-9E44-4079-8668-37216D61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5527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E1CBB-2EBF-4194-A238-11B7A636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BF22C-A299-4F7E-AF38-ACDF7F63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LATENCY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DD376A-5EAC-47CB-A1F4-3D9986B3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52725"/>
            <a:ext cx="636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평균이 아니라 p50 / p95 / p99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FEBB7-D7F3-4EEF-BE58-5B4BAAAC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238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46C62-E83B-42AB-88BE-BF2510E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207D9-592D-4D9F-8B38-0E0262E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COST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2D3CB-A217-4ECD-B934-F121AB5F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38525"/>
            <a:ext cx="636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token · model · cache · 월 예산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C4A458-8F31-4263-943B-2D170010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39243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56402A-D5B9-4BBE-8C31-CB45CE83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82690-E832-44E9-8E96-73E50C2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SAFETY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7C4E5E-5ABA-445B-BB12-561418D5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24325"/>
            <a:ext cx="636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PII · injection · 권한 · audit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9A059C-2E20-487F-AE22-D859E648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6101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158162-11D3-48B1-83DE-8718E8BC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C6FF17-0CC0-48F6-8193-8B02AFE7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434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REPRODUCIBILITY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3E770F-3FD0-4598-A6AF-06AD5C74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10125"/>
            <a:ext cx="636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environment · data · prompt · model · commit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79D5C4-3CDD-4984-9D71-6E9CF019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52959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09900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8C488A-A587-4807-8BF1-BF64304C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FFEF8-48EC-42EE-AD27-02D10B11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D7F53-DCC1-4762-A39B-645A4784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A6E94-2CDF-4271-A6D1-8BCE6FA2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D81FF-DE00-4D0F-8C5D-E0235ACE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8687C-1DE5-454F-9AC0-EF4C3D45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다섯 단계는 선형 절차가 아니라 폐루프다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D206E-386F-4EB2-A274-A6B6A612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44124" y="2410584"/>
            <a:ext cx="831524" cy="24613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7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E9092-09D1-40B6-A9C1-0BD91711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210406" y="3304131"/>
            <a:ext cx="176835" cy="4352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7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DD6EE-784A-4EB0-8A9F-69A54620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003107" y="4235006"/>
            <a:ext cx="147104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7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CB2D5-3BB3-49CB-9F72-4F1334B0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079564" y="3302318"/>
            <a:ext cx="18288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7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1B9D16-DBBF-4D1D-88E1-59CA8464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386749" y="2410584"/>
            <a:ext cx="831524" cy="24613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57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8FB22-B19F-4696-8DE1-A5BD6B0E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3140" y="1790700"/>
            <a:ext cx="936117" cy="9361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C8B258-1FBA-432D-AD8F-7E4CE675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20515" y="2340483"/>
            <a:ext cx="936117" cy="9361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E0621-D789-4D45-8CA4-E40D206F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1014" y="3766947"/>
            <a:ext cx="936117" cy="9361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324E8A-488E-4AD3-B6B6-5DBFA2E7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766947"/>
            <a:ext cx="936117" cy="9361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77875-BCEC-4454-9C04-888BC66C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765" y="2340483"/>
            <a:ext cx="936117" cy="9361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CC87F-F4D0-4665-A1AE-0E5E1EDE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26589" y="2867978"/>
            <a:ext cx="846963" cy="846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02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02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CF24B-9570-4C65-A559-9436295C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383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LINEAR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4F7B5-EB6F-401D-B3ED-B72C614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670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절차를 끝낸다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AEB48B-DEDC-4844-939D-B73C5955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19950" y="338137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DC16BE-5B9C-4DAB-8014-32FA5649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14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CLOSED LOOP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153E88-AB77-4823-B384-1720759D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719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32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관찰이 다음 기획을 바꾼다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37DF84-0215-4441-A367-39EEA9B9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4483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마지막 단계는 다음 기획의 입력이다.</a:t>
            </a:r>
          </a:p>
        </p:txBody>
      </p:sp>
    </p:spTree>
    <p:extLst>
      <p:ext uri="{BB962C8B-B14F-4D97-AF65-F5344CB8AC3E}">
        <p14:creationId xmlns:p14="http://schemas.microsoft.com/office/powerpoint/2010/main" val="184850048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6BFE0-AAA4-4750-AF20-3C9EDA1C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8CDEB-CB93-43C8-9C2C-03E867A2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26220-174C-4E6A-B0EC-4C7D4BAB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628D1-3BFF-4ED7-B503-7FE16741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860E7-1DFC-4B7E-86EB-DC80C07D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69321-F5DE-477F-9FF6-2C85837D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1단계 — 성공 조건과 데이터 경계를 먼저 고정한다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8D8B2-3B40-4AFD-8D92-620DFB15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88542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475FA-6E4B-4309-B33A-FBEA240C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56612" y="3450883"/>
            <a:ext cx="140561" cy="345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9F28A-69B1-4976-AAA1-F5E85CCE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02093" y="4190810"/>
            <a:ext cx="116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087DC-07BB-40AF-AE3E-2560CB90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7993" y="3449442"/>
            <a:ext cx="145366" cy="34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FCBF7-BBBB-402A-8F1D-2F286929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2167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B193D5-5FB7-4EFE-BCF6-C24881F9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8785" y="2247900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952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DABA03-876F-4A4C-9E0A-31C011CC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516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2C3A6-8090-4244-BDE4-1C4AD3C7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531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D656A-695D-4D46-AEEF-8D992423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BAF6C-A8D9-4A89-9E5F-E9F845E9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41735E-5A23-4E6F-9980-56514622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706" y="3104198"/>
            <a:ext cx="673227" cy="673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ED43B-0AF6-4399-9AA0-000D287E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526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PHASE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772AD-FE23-4AD3-8497-1F68A89D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누구의 어떤 결정을 돕는가?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867171-7EEA-4325-987B-E00FB8A7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38850" y="34671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74109-D781-493C-B661-F6794B90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05B236-EF48-4128-A27C-774688E7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147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대표 input과 expected behavior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B2DB2-3065-4952-89CE-B1465F95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81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2D4AB-0089-47BF-937C-EAD6B4C9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243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금지 조건 · PII · license 경계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EE15ED-5B1B-4CA0-93F2-2916D1DF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91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45615E-E9F0-459E-A859-B7E5A21D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offline 평가셋과 성공 기준</a:t>
            </a:r>
          </a:p>
        </p:txBody>
      </p:sp>
    </p:spTree>
    <p:extLst>
      <p:ext uri="{BB962C8B-B14F-4D97-AF65-F5344CB8AC3E}">
        <p14:creationId xmlns:p14="http://schemas.microsoft.com/office/powerpoint/2010/main" val="108997755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E8338F-D527-47A6-871D-19E2AB59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C97AA-2045-4484-9FEA-00394F60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1A8AF-6E5F-481C-A19A-E2627219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2365A-6F2D-4138-923F-0D2C0CBA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FE487-8F89-4D7C-BF2F-B310D005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19ECD-645A-48B0-A916-F7F47490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2단계 — 프롬프트를 코드처럼 버전·테스트한다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27354-2BE4-41B7-B7A9-3C7762D6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88542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BC7F6-E39A-4C16-9C7B-1F8A01EE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56612" y="3450883"/>
            <a:ext cx="140561" cy="345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F2F35-9E62-4807-A9D2-E4490C4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02093" y="4190810"/>
            <a:ext cx="116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C21D3-2132-4DA9-A363-08FB699E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7993" y="3449442"/>
            <a:ext cx="145366" cy="34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D79B1-64D2-4FAD-8BB8-96892FE8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2167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F6C7A-DD81-465C-A192-E7D93D66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8785" y="2247900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DE4A6-DA6F-41FC-BC7F-DA7F7E85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516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952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137BD-42ED-452B-BDB3-1BE5713B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531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F7435-5290-477E-8A86-379286A1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AB9F1-2017-42A5-B4E2-29472E2B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B85C4-5ADB-49B8-AFEA-BE29E6D0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706" y="3104198"/>
            <a:ext cx="673227" cy="673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445AC-855B-4563-8494-CEDAA40D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526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PHASE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DE60E-1B3E-43B3-BE1D-1652213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무엇이 바뀌었고 왜 바꿨는가?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8F3376-0F52-4CA0-A245-F2B361BC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38850" y="34671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AA356-DDF0-47C5-93DA-633EA83C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CF894F-386A-40D8-AB40-47B6F400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147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prompt id / version /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EAA64A-A4E4-4216-B937-FE7064D8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81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61CB4E-9082-422D-A56A-A1EAF5C6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243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input·output schema와 example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F37AAC-8F58-41EA-95C6-1C48FA66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91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5C4567-6E45-4F01-ADFB-B3583ECB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고정 test set의 비교 결과</a:t>
            </a:r>
          </a:p>
        </p:txBody>
      </p:sp>
    </p:spTree>
    <p:extLst>
      <p:ext uri="{BB962C8B-B14F-4D97-AF65-F5344CB8AC3E}">
        <p14:creationId xmlns:p14="http://schemas.microsoft.com/office/powerpoint/2010/main" val="161702876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EE3374-8EBB-4C44-96F1-175D387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719EF-3AFE-44DC-ADFE-F4581197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C0992-5D1F-4A29-9C1C-1E943B6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A00B2-4D52-42CE-B05C-CC5BE5CD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02A92-D0A5-4EF5-92F0-51B41FA3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C7B30-0E84-410A-A2C1-B3B5C0C8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3단계 — 실행 경로에는 timeout·error·fallback도 포함된다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371CF-01BF-4B5F-A51D-5764F696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88542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8B8FE8-CAEB-4BFE-9BA2-5B9AEA7D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56612" y="3450883"/>
            <a:ext cx="140561" cy="345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2B8505-7BB8-4EDA-A3BC-39B08FED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02093" y="4190810"/>
            <a:ext cx="116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524FB-4D76-4786-A6A9-C7C08A9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7993" y="3449442"/>
            <a:ext cx="145366" cy="34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6E43A-99E0-46C6-8FC7-FDBF7981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2167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E6F1C-79A2-4099-8FC7-C9F02BFE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8785" y="2247900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2AD0AA-AC0D-4ABB-95EF-E6A9BED7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516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811BC8-3F95-45AA-96BE-06F62EA4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531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952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8E103-349A-446A-B17F-467FF958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75CD6-F38F-4ECF-802B-9856F418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1B477-019D-4FCC-82B3-829801C9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706" y="3104198"/>
            <a:ext cx="673227" cy="673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9A02F2-CF15-440E-8362-D63FAC7F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526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PHASE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456FD6-9FC5-4A92-AD7A-719CF1AB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실패했을 때 어디로 흐르는가?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28B3EF-F4B0-457D-A03E-DA2BE072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38850" y="34671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F54E42-AE28-4845-8DDC-905ABFDB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DC7E5-CF3A-49B1-9E43-1FCEF9E7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147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request / response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3DAB2-4053-43E2-8BD9-6EEC71CE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81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90299-8429-4267-8394-C3DEDE6C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243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timeout · retry · fallback branch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CEEF49-0713-410F-9001-ADAE6ED4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91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2F7B18-BAA7-4A89-B820-2B695B82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health endpoint와 책임 주체</a:t>
            </a:r>
          </a:p>
        </p:txBody>
      </p:sp>
    </p:spTree>
    <p:extLst>
      <p:ext uri="{BB962C8B-B14F-4D97-AF65-F5344CB8AC3E}">
        <p14:creationId xmlns:p14="http://schemas.microsoft.com/office/powerpoint/2010/main" val="163755993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F5E2A5-2782-4680-857F-A7AAD896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02095-2565-48FB-BC6D-77A65FBF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55884-1920-4FC2-9D3B-D188044D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9F8E7-8933-45E3-81EC-A338D43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C0CF4-67A3-4528-A4A5-D9832FE5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EE541-827B-4202-A086-20FB6140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4단계 — 평균값보다 실패 분포와 사례를 함께 본다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601A6-74A4-4F8B-8A21-E8D4F12E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88542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BB498-BE7B-42CA-BCE0-A97F77C5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56612" y="3450883"/>
            <a:ext cx="140561" cy="345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7152-991F-4074-88C4-20984A63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02093" y="4190810"/>
            <a:ext cx="116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FEC1E-BC58-441A-86B7-02976E75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7993" y="3449442"/>
            <a:ext cx="145366" cy="34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0C972-AA0D-4B12-BAF9-69051025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2167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BF353-463B-429E-B0B4-D5C06950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8785" y="2247900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DCA8B-11D3-49E6-95F7-76F7BA54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516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BD27A-3E41-4A30-A6B6-49EE78F1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531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77C3B-A965-4B1A-A57C-D2856B15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952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1B51E-5D38-4DF8-A7FD-4D14BE26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837B4-E29C-40CE-B23F-77D0481A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706" y="3104198"/>
            <a:ext cx="673227" cy="673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B7E911-57DD-4C2D-90F6-245CF3C6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526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PHASE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CA6EF8-DE52-4A93-B0A5-35B93096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누가, 언제, 어떻게 실패하는가?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FBF6E5-CF86-41B7-861E-7CC96BBD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38850" y="34671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52C783-093C-4059-99DA-AAA6347D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27BD0-C939-4DFB-82FF-D9492D99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147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quality와 대표 성공·실패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FFDF22-0A78-409F-BBEE-48403156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81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1B1815-1331-482D-8181-E62E0386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243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latency p50 / p95 / error 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1D93A6-A9B6-457D-931B-D66525FF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91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D905B9-D1B1-4B0E-B8F5-4C6A1674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token · cost · safety signal</a:t>
            </a:r>
          </a:p>
        </p:txBody>
      </p:sp>
    </p:spTree>
    <p:extLst>
      <p:ext uri="{BB962C8B-B14F-4D97-AF65-F5344CB8AC3E}">
        <p14:creationId xmlns:p14="http://schemas.microsoft.com/office/powerpoint/2010/main" val="1732103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0573ED-930B-45E2-8012-82E6468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3118E-4890-4E83-9023-7160FAB6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35551-F8C6-4159-91CF-86466BDE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586E5-C749-443C-89DE-720A80A3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F7B73-82C0-4C18-A230-2063E70C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B80D0-89F5-4FE0-A01E-9F5C9B73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5단계 — 변경 이유와 결과가 함께 남아야 개선이다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BB76A-44CF-44EB-9289-3A81E9C7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88542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D3C32B-169A-48AE-B14E-3CD7987D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56612" y="3450883"/>
            <a:ext cx="140561" cy="3459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CCCCA-8616-4886-8C85-6F9668F9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502093" y="4190810"/>
            <a:ext cx="116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212B1-D766-421B-9B07-E4C3808C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7993" y="3449442"/>
            <a:ext cx="145366" cy="34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D0E64-88C7-4A11-BF3F-9F3F5F59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2167" y="2740629"/>
            <a:ext cx="660955" cy="1956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FF5A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775E7-0455-4DFE-98E7-2F656A61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8785" y="2247900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A501D-6FDC-4526-A87C-736109C3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516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프롬프트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컨텍스트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24D9A-B22C-4C6B-A689-D54821C1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531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15FC3-A547-41CD-907F-9D8ABB6D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818763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9525">
            <a:solidFill>
              <a:srgbClr val="F4F2EC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E5EB2-7A86-4C4D-8A9B-6D891A99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" y="2684907"/>
            <a:ext cx="744093" cy="7440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952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  <a:p xmlns:a="http://schemas.openxmlformats.org/drawingml/2006/main">
            <a:pPr algn="ctr">
              <a:def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8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버전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F5788C-6F0C-4B32-B7D8-D628F96D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706" y="3104198"/>
            <a:ext cx="673227" cy="673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28575">
            <a:solidFill>
              <a:srgbClr val="FF5A36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8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616F4C-DD3B-4DE5-876A-2EC968F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526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PHASE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BA59FB-165C-4581-BD55-5E3D6E2F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다음 version은 무엇을 검증하는가?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F580EF-5ABA-4820-A9AD-66FA4EBA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38850" y="34671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9A468C-E2E0-4F34-945B-CD6A246A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0B99CA-8A15-4DD9-BF2F-B73AFB23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147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v1 → 가설 → 실험 → 판정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E72F78-7941-4575-8C91-4F080D97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81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181E31-36BD-469F-9890-A33B99BE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243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v2 release 또는 rollback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5728E-DF8D-44B9-94D3-18CFD111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991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A99EE3-711C-44F0-93EA-60EC7567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trade-off와 다음 failure hypothesis</a:t>
            </a:r>
          </a:p>
        </p:txBody>
      </p:sp>
    </p:spTree>
    <p:extLst>
      <p:ext uri="{BB962C8B-B14F-4D97-AF65-F5344CB8AC3E}">
        <p14:creationId xmlns:p14="http://schemas.microsoft.com/office/powerpoint/2010/main" val="105533968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16D05E-29B8-4BAC-82D1-FCDCE264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0534F4-7867-4895-BE2F-FAAD9053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F8DB69-E3D9-4475-B24B-49B11229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EB023-59CA-47B0-AF00-CEA16473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70FDD-13B0-45C3-8D03-977FA1AE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E8905-47CB-4811-9959-E812501F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한 요청의 최소 trace가 팀의 공통 언어다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30B8D-7860-4796-9662-0DE5C082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TRACE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11C34-3DF2-4A45-A3AE-702DD097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54a2d4bbf911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D42AF-BF08-4780-B3B2-FF1567A9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9337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2F7B6-29DF-47FB-8E20-2168D9EA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PROMPT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862E6-F61D-4480-B47B-625EA167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003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w01.signal.v1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24921-7EAA-46A9-AB4E-CF7878F7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29337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47E72-37B3-4C3C-8088-19AA1846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PROVIDER /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71C20-4BBF-4594-B6FF-A8F2BD9B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003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demo / trace-demo-1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1E6FF-9A1B-4139-87F1-D2A9AFEF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9337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D5708-AF87-4DF7-96E8-A56783A7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STATUS / LATENCY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EFFBC-72E3-4FFD-97FA-BB1BBAA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ok / 0.21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A01054-1C1F-4C96-96C6-89030833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40005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A1FE1B-8107-4DDC-9C5F-F315282F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623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TOKEN ESTIMATE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4C42BB-D396-4370-96F0-626FD2B6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671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74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54F6C-C2D0-4905-ABBC-C5C694DE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40005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AF9D51-9F62-49F2-975A-D1B12776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623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CB7D8B-453F-4407-AEC4-556B80DE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671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fingerprint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134611-72D6-4196-BA4A-FAB4A1B0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0005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C32D6B-F216-4D58-BEA1-284D94CF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TASK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54457-81F2-443E-B8EC-3B21A6A7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extract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111226-5126-4B88-80AB-6D921178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0673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659505-7940-4A7D-BB34-1A9D543B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CREATED AT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31F8FF-3DC4-47F8-A85E-1718F6A5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339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UTC timestamp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09339F-5259-443F-A145-256551F9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19600" y="50673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661A74-57EA-4922-967E-3C3DB28B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ERROR 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D37181-807E-4B3F-A37D-9A784522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339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null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98841B-3171-44D5-9B36-F9B1FCA0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50673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77FF69-C5E0-442C-81DD-C8EC5A56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448300"/>
            <a:ext cx="10972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C5608B-7DBA-4963-8C55-620C1343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1059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기본 실습은 원문을 저장하지 않는다 — metadata로 비교하고 fingerprint로 동일 입력을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46608751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B835BC-3D49-4CFE-BAFD-1AAEF430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EB7CD-5B95-4427-8576-FA9B09EA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ED1F9-5EDB-4DE7-AD20-EF7D1359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684DC-DA42-43A9-B0DB-92F6B7C0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408BE-7CE6-494E-AC72-9A87CCD2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12903-63B4-484F-926D-29DEF5D1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16주는 같은 순환을 점점 깊게 구현한다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C2A88-6853-4929-857E-B5FBC132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8200" y="335280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7979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900C3E-E7D2-4E90-879F-E6F470BF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3B83C-7554-453E-A935-3F154800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4F27F-81AF-4A98-8862-3F529261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MINIMUM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36F3A-4F2A-4084-9186-DCE14F9D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986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845A6B-14E4-45BF-BDDE-E49F1FC3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99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W02–03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D07D54-05D8-451E-BEA9-27DA8DE3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979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PROMPT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EVALUATION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E7D2D-C33C-4FD1-BBC7-58F5452D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250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CD4F7-AAC0-4AB5-A54E-0716D5D9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63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W04–07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693B9-548D-4CDA-819A-B48073A3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243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ADAPTATION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023C6-C41F-4FDD-B8BC-BD417F96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514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118EA-78BE-42B9-B1E2-AB510EEA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27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W09–10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3D936-9A66-4C47-9092-06431CA4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507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SERVING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OBSERVABILITY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42136D-2355-4ADB-B529-42E5EBBE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4778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2EC"/>
          </a:solidFill>
          <a:ln xmlns:a="http://schemas.openxmlformats.org/drawingml/2006/main" w="0">
            <a:solidFill>
              <a:srgbClr val="F4F2EC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860218-D2A9-4801-B26C-9D9318E4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910" y="20955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W11–14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7E39DA-6024-4751-98D8-16D107DA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710" y="238125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SAFE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EFFICIENT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A025B3-7E2D-4766-8BB4-94F9AF78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20425" y="31718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  <p:txBody>
          <a:bodyPr xmlns:a="http://schemas.openxmlformats.org/drawingml/2006/main" lIns="95250" tIns="95250" rIns="95250" bIns="95250" anchor="ctr">
            <a:normAutofit fontScale="4089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085C93-A44D-4239-85A7-5BCAF18B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9052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W15–16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A8CDA-8B2B-4A51-94BB-255626A3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1910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OPERABLE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CAPSTONE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670CBE-302B-496E-A5A6-D17A45C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D8D5CC"/>
                </a:solidFill>
                <a:latin typeface="Apple SD Gothic Neo"/>
                <a:ea typeface="Apple SD Gothic Neo"/>
                <a:cs typeface="Apple SD Gothic Neo"/>
              </a:rPr>
              <a:t>도구는 바뀌어도, lifecycle과 증거의 구조는 남는다.</a:t>
            </a:r>
          </a:p>
        </p:txBody>
      </p:sp>
    </p:spTree>
    <p:extLst>
      <p:ext uri="{BB962C8B-B14F-4D97-AF65-F5344CB8AC3E}">
        <p14:creationId xmlns:p14="http://schemas.microsoft.com/office/powerpoint/2010/main" val="6281684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E53D45-3850-4278-8A06-D8C5DFF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15320-209C-4EEE-B254-39609636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3BB46-44B3-443F-B7D0-2CA4C188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01077-5688-49DC-A668-A76F5780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AE06A-5ACC-4081-A689-E81CEBEB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21D09-9F56-497C-A25C-D7CB43BA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Definition of Done은 ‘세 번 호출’이 아니라 ‘한 개 비교표’다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1C4B6-F515-4AC0-8749-5F1FDC83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057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F0DFA7-9307-4FEB-99D2-34C691A1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D8BC0-9D1E-44E8-8D08-12BFD0B7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193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서비스 health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FE21F-899E-4DE2-A238-B9747736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GET /health → status 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5EC26-4568-4B3A-9DA3-B2A51E71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76350" y="25717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C9B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6A175-B6FE-4CA9-AB03-E8C056CD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781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00577D-E6E7-4B40-9D6A-CBF7B232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717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0DD43-2398-417D-A373-FC7A0A28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432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같은 input으로 2회 실행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B2C075-D001-4A55-B36C-D8A13C7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baseline을 버리지 않는다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03CEB-5474-49B8-BE25-4889DECF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76350" y="32956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C9B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A2334-3A7B-41F5-B9E9-CC9A83E7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35052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0D29BE-F91F-4905-ADBF-2B0A4FA1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956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78575C-4271-47FB-BE97-88CC0C01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671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변수 하나만 변경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5AF0A8-AF05-41A5-AFB6-E3A97427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956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task / provider / temperature 중 하나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A14814-F255-4356-AADF-8322436B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76350" y="40195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C9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B758DA-31EB-4585-99C6-94611EBE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229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68753A-118C-4A71-99CA-ACC28518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95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CD8F6F-9219-424C-A32B-F2CD3F47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910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output + operation 함께 비교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435BD-404B-4C56-98DF-E8E81449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95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형식 · 내용 · latency · token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E51239-AECB-427F-BE7E-4C6F6241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76350" y="47434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C9B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89D0AC-2E3F-4DBF-8E30-19AD629D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4953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E2989-C7CD-4D58-ADE8-80DCC667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434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7CDC8B-1844-4581-B769-E1624B14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149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다음 version 가설 2문장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731B51-25AA-4115-9E66-7C5EE900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434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무엇을 바꾸고 어떻게 판정할지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8EC51D-700C-48AC-9458-DBF7819C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76350" y="54673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C9B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154742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E189C-1072-49DF-BBF4-D67012D4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C5263-4E8A-4F50-A830-F7E3115C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A77C6-777D-4C18-AE41-9B6DE1C9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61075-7D8C-4A71-9186-E18CF2CF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86CDC-38AC-4379-A50D-F6587AD5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4D17B-FC5F-4444-A6F4-8C927921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설치보다 먼저 환경·서비스·모델 경로를 검증한다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1D2D9-8CB2-47BB-9795-F988085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723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1C2C5-F811-4A30-9688-8C84D7B8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TERMINAL / COURSE ROOT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211E9-7F3B-4EA1-A1E2-A8FC0A67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65722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uv python install 3.11.14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uv venv --python 3.11.14 .venv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source .venv/bin/activate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uv pip install -r requirements.txt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uvicorn app.main:app --app-dir week01/lab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F4F2EC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4F2EC"/>
                </a:solidFill>
                <a:latin typeface="Menlo"/>
                <a:ea typeface="Menlo"/>
                <a:cs typeface="Menlo"/>
              </a:rPr>
              <a:t>$ curl http://127.0.0.1:8000/health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F3394-F3EA-41B7-A1FD-56C1B2C2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90750"/>
            <a:ext cx="2933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4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3.11.14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00D4C8-96B2-4B7A-911C-1575782A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2933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6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ONE MINOR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6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MULTIPLE PROFILES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2F693-BC18-493B-A325-CA4E4453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29150"/>
            <a:ext cx="2933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공통 spine + 주차별 profile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r">
              <a:lnSpc>
                <a:spcPct val="12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Ollama가 없어도 demo provider로 완주</a:t>
            </a:r>
          </a:p>
        </p:txBody>
      </p:sp>
    </p:spTree>
    <p:extLst>
      <p:ext uri="{BB962C8B-B14F-4D97-AF65-F5344CB8AC3E}">
        <p14:creationId xmlns:p14="http://schemas.microsoft.com/office/powerpoint/2010/main" val="211055304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7D75F-FFF4-4E9E-93B3-74C3EE6B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A72C3-26DB-4CFB-AF11-A7BC1416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04B39-7765-40AA-BFC3-F902610E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7A0BF-6508-4422-8C92-9B2FF677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C8482-9F2E-43D1-BB35-B18DEF5C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응답 옆의 trace를 함께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2CFE-8567-4AC7-8978-69AAAC59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19150"/>
            <a:ext cx="2724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LIVE / TRACE 01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3ecd1668d48e2"/>
          <a:srcRect xmlns:a="http://schemas.openxmlformats.org/drawingml/2006/main" l="0" t="27421" r="0" b="274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28750"/>
            <a:ext cx="10972800" cy="4476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804C5-08DE-4060-B04C-B1641B8B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42875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423683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0D5909-14AC-4805-ADE9-5CF128F5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1D055-20F5-4650-8D38-E4E44DDD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41D99-213F-4F4F-87EB-53401D12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4797C-83D0-42D0-95DF-875556E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D72A9-10F6-4C12-9A4A-DDC44137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4B374-E4FC-4C2B-BBF0-82794EE6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Baseline을 고정해야 개선을 말할 수 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3A7CA-FC8C-4C12-87BD-111AA0D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114550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92EF0-3D4D-4766-8E77-B63177EC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FIX /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2FACE-D88A-48FC-A18D-4D625CA5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38600" y="2114550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33CF3-D8CE-4AEF-BF63-E0E9F18D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14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CHANGE / 하나만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BAB37-641C-4A64-A5A8-B2C883B1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114550"/>
            <a:ext cx="4114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EC18B-E904-412C-9AAB-50C05356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81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4F2EC"/>
                </a:solidFill>
                <a:latin typeface="Helvetica Neue"/>
                <a:ea typeface="Helvetica Neue"/>
                <a:cs typeface="Helvetica Neue"/>
              </a:rPr>
              <a:t>OBSERVE / 함께 본다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1E205-AA0E-4E48-9DA3-8A499FE3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E476A-8850-4FE9-9D6D-D20E5421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task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42F56-DBCF-473A-A238-A0915B33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38600" y="26670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13FA9-29C6-43CC-AE54-CE03C42E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670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prompt 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557D9A-EB5C-4742-95A6-EDAEAEFA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667000"/>
            <a:ext cx="4114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D9D67-D973-48E1-A25B-1FD62C93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67000"/>
            <a:ext cx="381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output ·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590C4-329B-4CE3-9B4C-A13489DF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671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E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5D0C8F-D535-4083-A099-1D0ADD73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provider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model tag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4FB75F-4905-4CCE-B741-0567406A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38600" y="34671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E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8C5715-CCDB-44EC-8D46-F709812C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671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temperature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6AAC0D-3F4C-404B-B8A7-40F495C4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3467100"/>
            <a:ext cx="4114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E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B32A38-87D3-417E-BDEF-08802046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67100"/>
            <a:ext cx="381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latency · token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9A3D4E-3D52-4252-B4CC-C19593D2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672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8E4225-0E58-46A6-A54E-A1A4EAEF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 기준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실행 환경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BB3EC-58AF-424F-8648-2C398A10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38600" y="4267200"/>
            <a:ext cx="342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CBEFFA-62DD-4752-9211-10C08361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67200"/>
            <a:ext cx="3124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provider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607418-9443-466C-8E2C-699F5D5F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4267200"/>
            <a:ext cx="4114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C6B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797A00-591E-4C70-B847-9B5562D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67200"/>
            <a:ext cx="381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판단 · trade-off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FFF04-0FAA-445B-823E-806C3825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첫 실행을 버리지 않는다. baseline이 없으면 변화만 있고 개선은 없다.</a:t>
            </a:r>
          </a:p>
        </p:txBody>
      </p:sp>
    </p:spTree>
    <p:extLst>
      <p:ext uri="{BB962C8B-B14F-4D97-AF65-F5344CB8AC3E}">
        <p14:creationId xmlns:p14="http://schemas.microsoft.com/office/powerpoint/2010/main" val="21466768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EE3CB5-75CB-4E4C-ADE1-7B3F8002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81AD3-6A81-480C-A8B8-5DB5DF15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9FC25-DF70-49CC-9A2D-4F84D6EF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D8C4B-0985-432B-A8F2-0C446287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A0596-8B85-4E8F-B444-63537D38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C9C17-B38B-446E-992F-3DF3C52F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요약은 길이·충실성·지연을 함께 본다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36CEF-BA50-4F9B-B588-3B95F805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FAITHFUL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8A1905-AC64-4873-9F08-2E021B6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24955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A6A19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CD94D-0D60-413F-92B7-5672CD90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2495550"/>
            <a:ext cx="64712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FF5A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41AE6-D3EE-4D57-BCB6-C4433010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3050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86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FDF53C-94FC-4BE5-8ED3-969F58FD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241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입력에 없는 사실을 추가하지 않았는가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0FEF3-DE3B-47C8-AC5B-EB459AD7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CONCISE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6F528B-1A2B-4C64-BD36-B3238984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A6A19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294352-957F-41AF-AF18-9A7A2D97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3600450"/>
            <a:ext cx="54178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09090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5EC073-11E5-4B38-97DE-D6FE6796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4099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151544-9474-4885-A3B7-4813E0C8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290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핵심을 유지하면서 요구 길이를 지켰는가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95749-135E-4B0D-AAE3-7B41FDD5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LATENCY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20EB6-D424-41B1-ADF7-6C431558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47053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A6A19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72FAC6-E502-4DDE-889D-0D3DD10D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29000" y="4705350"/>
            <a:ext cx="406336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0909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801789-FEA5-4AE9-9EE4-1B4BD582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5148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54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0A7CD-5B5D-404C-B668-920F1023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339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사용 맥락의 응답시간 목표 안에 있는가</a:t>
            </a:r>
          </a:p>
        </p:txBody>
      </p:sp>
    </p:spTree>
    <p:extLst>
      <p:ext uri="{BB962C8B-B14F-4D97-AF65-F5344CB8AC3E}">
        <p14:creationId xmlns:p14="http://schemas.microsoft.com/office/powerpoint/2010/main" val="152827653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E5B51A-5D04-4DE2-80CD-4B389FE0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C439E-E7DB-4AD1-84F2-5DD7F907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1E0AD-0CF2-4333-9F29-DB474C3D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70C6E-B2C6-4853-B895-0A14CA01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C5131-E987-46F9-A803-82EDFF13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C414B-9B91-4CE0-A1D7-F34FBBF0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정보 추출은 출력 schema가 평가 기준을 만든다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CDD41-C9E3-40F4-95E0-67CB5BC5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BDB8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BDB8A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B0B88F-85D9-4C1D-AF61-0E959E40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7332C-73F3-427E-B4EF-D2C19362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6957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090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D7E3E-616E-4AF1-BEE6-13A11A5D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사용자가 실제로 말한 핵심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5F310B-5389-49C4-93D3-43C8ECC0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PRESENT? / GROUNDED?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ED745-B8FD-4975-8035-B5057A9B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432FF-6762-44BB-943A-B70D75BD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289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FRICTION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FC291-7D70-4F27-8DBF-18A8FA44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67200" y="36957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5A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B9871-35B4-4E87-A85D-3EDFD37F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005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결정·행동을 막는 구체적인 불편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C5C6C-E7CF-4B03-A1FC-2E8C8ADF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53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SPECIFIC? / ACTIONABLE?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9AB0C-A03C-41A8-9AD8-19BCBEF5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BDB8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BDB8A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97E68-4F3A-4BE2-A23D-D548DFA1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NEXT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B287E-8A92-4B39-9330-07E1AEAD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24800" y="36957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09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469AD-BA59-49A8-8EAC-907E9556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005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A5751"/>
                </a:solidFill>
                <a:latin typeface="Apple SD Gothic Neo"/>
                <a:ea typeface="Apple SD Gothic Neo"/>
                <a:cs typeface="Apple SD Gothic Neo"/>
              </a:rPr>
              <a:t>다음 실험 또는 제품 행동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061C06-BF4A-4D27-9216-F36F6F92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53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90909"/>
                </a:solidFill>
                <a:latin typeface="Helvetica Neue"/>
                <a:ea typeface="Helvetica Neue"/>
                <a:cs typeface="Helvetica Neue"/>
              </a:rPr>
              <a:t>OWNER? / TESTABLE?</a:t>
            </a:r>
          </a:p>
        </p:txBody>
      </p:sp>
    </p:spTree>
    <p:extLst>
      <p:ext uri="{BB962C8B-B14F-4D97-AF65-F5344CB8AC3E}">
        <p14:creationId xmlns:p14="http://schemas.microsoft.com/office/powerpoint/2010/main" val="26665122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1C4C7-5105-4D37-880E-BBAED729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W01 /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7AE89-28A9-448B-84E5-9A67DFAA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B0D48-ED5E-416B-B367-2F4B47E0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CBC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BF14A-95CE-4FE4-958B-8CE8E7A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65635E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DAE8C8-4548-4A22-8146-B6BB2EDC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8580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36"/>
          </a:solidFill>
          <a:ln xmlns:a="http://schemas.openxmlformats.org/drawingml/2006/main" w="0">
            <a:solidFill>
              <a:srgbClr val="FF5A3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E946F-4E9A-4C53-B8DE-FB248993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000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Sampling 실험은 한 번에 변수 하나만 바꾼다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3A326-13D8-46EF-ADA7-3118F55A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68E09-5BB0-45DD-835C-A4B88DF8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2000250"/>
            <a:ext cx="5314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909"/>
          </a:solidFill>
          <a:ln xmlns:a="http://schemas.openxmlformats.org/drawingml/2006/main" w="0">
            <a:solidFill>
              <a:srgbClr val="0909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B09B4-9ABA-4231-A182-8C41CC32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BASELINE / T = 0.2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988F8-3A28-4E72-8EAE-C8260BF0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입력 · task · provider/model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평가 기준을 고정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90909"/>
                </a:solidFill>
                <a:latin typeface="Apple SD Gothic Neo"/>
                <a:ea typeface="Apple SD Gothic Neo"/>
                <a:cs typeface="Apple SD Gothic Neo"/>
              </a:rPr>
              <a:t>TRACE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1FF2B-F2BE-49B2-9C62-683AFD86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VARIANT / T = 0.8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85373-F964-4609-9B81-D434A4A4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90800"/>
            <a:ext cx="48196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temperature만 변경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다양성·형식·사실성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6EC2F-C8E5-4650-930D-25B0DE1A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E4B45"/>
                </a:solidFill>
                <a:latin typeface="Apple SD Gothic Neo"/>
                <a:ea typeface="Apple SD Gothic Neo"/>
                <a:cs typeface="Apple SD Gothic Neo"/>
              </a:rPr>
              <a:t>demo는 결정론적 baseline이다. Ollama에서 sampling 차이를 관찰한다.</a:t>
            </a:r>
          </a:p>
        </p:txBody>
      </p:sp>
    </p:spTree>
    <p:extLst>
      <p:ext uri="{BB962C8B-B14F-4D97-AF65-F5344CB8AC3E}">
        <p14:creationId xmlns:p14="http://schemas.microsoft.com/office/powerpoint/2010/main" val="82210810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9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7BCDE-A275-4838-BBF8-C150225B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W01 / EXIT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7390F-62DE-4B48-A4C5-6A1E0E62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28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691DB-DE7C-44FF-AF4D-36332C97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6362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3786D-D507-46A4-8B37-A375A404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286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AJOU LLMOPS · ORIENTATION &amp;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F482A-E54E-4C8D-9C6F-C95F7A85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EXIT / WEEK 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0451D-2D51-44F6-BC6B-701F9AC3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85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실행 → 비교 → 개선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3281C5-5074-492C-956E-4FF909B4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5A36"/>
                </a:solidFill>
                <a:latin typeface="Apple SD Gothic Neo"/>
                <a:ea typeface="Apple SD Gothic Neo"/>
                <a:cs typeface="Apple SD Gothic Neo"/>
              </a:rPr>
              <a:t>기록이 다음 주 PromptOps의 입력이 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ACE49-DB96-4DA0-AE78-6C7D7836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C2C2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3F1BD-2C4D-41A8-BD55-A41930B2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97979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AF246-3EB6-4A9C-A86C-20B83269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98145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trace가 없었다면 무엇을 비교하지 못했는가?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B48ED-1334-4E19-A5CE-4D22FE37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B168A-4D12-43FE-B07D-B39A8D12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8958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2EC"/>
                </a:solidFill>
                <a:latin typeface="Apple SD Gothic Neo"/>
                <a:ea typeface="Apple SD Gothic Neo"/>
                <a:cs typeface="Apple SD Gothic Neo"/>
              </a:rPr>
              <a:t>다음 version에서 무엇 하나를 바꾸고 어떻게 판정할 것인가?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0B1F1-CE4B-40F5-850C-FDED59CF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5A36"/>
                </a:solidFill>
                <a:latin typeface="Helvetica Neue"/>
                <a:ea typeface="Helvetica Neue"/>
                <a:cs typeface="Helvetica Neue"/>
              </a:rPr>
              <a:t>NEXT / PROMPT AS A VERSIONED PRODUCT ASSET</a:t>
            </a:r>
          </a:p>
        </p:txBody>
      </p:sp>
    </p:spTree>
    <p:extLst>
      <p:ext uri="{BB962C8B-B14F-4D97-AF65-F5344CB8AC3E}">
        <p14:creationId xmlns:p14="http://schemas.microsoft.com/office/powerpoint/2010/main" val="525386307"/>
      </p:ext>
    </p:extLst>
  </p:cSld>
</p:sld>
</file>

<file path=ppt/theme/theme1.xml><?xml version="1.0" encoding="utf-8"?>
<a:theme xmlns:a="http://schemas.openxmlformats.org/drawingml/2006/main" name="ChatGPT">
  <a:themeElements>
    <a:clrScheme name="BLACK PAPER SIGNAL">
      <a:dk1>
        <a:srgbClr val="090909"/>
      </a:dk1>
      <a:lt1>
        <a:srgbClr val="FFFFFF"/>
      </a:lt1>
      <a:dk2>
        <a:srgbClr val="2C2C2C"/>
      </a:dk2>
      <a:lt2>
        <a:srgbClr val="F4F2EC"/>
      </a:lt2>
      <a:accent1>
        <a:srgbClr val="FF5A36"/>
      </a:accent1>
      <a:accent2>
        <a:srgbClr val="090909"/>
      </a:accent2>
      <a:accent3>
        <a:srgbClr val="979797"/>
      </a:accent3>
      <a:accent4>
        <a:srgbClr val="F4F2EC"/>
      </a:accent4>
      <a:accent5>
        <a:srgbClr val="2C2C2C"/>
      </a:accent5>
      <a:accent6>
        <a:srgbClr val="D8D5CC"/>
      </a:accent6>
      <a:hlink>
        <a:srgbClr val="FF5A36"/>
      </a:hlink>
      <a:folHlink>
        <a:srgbClr val="97979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PAPER SIGN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2026-09-03T14:28:57.5140000Z</dcterms:created>
  <dcterms:modified xsi:type="dcterms:W3CDTF">2026-09-03T14:28:57.5140000Z</dcterms:modified>
</coreProperties>
</file>