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4a4c69df824991" /><Relationship Type="http://schemas.openxmlformats.org/officeDocument/2006/relationships/extended-properties" Target="/docProps/app.xml" Id="R494c250b58014fd4" /><Relationship Type="http://schemas.openxmlformats.org/officeDocument/2006/relationships/officeDocument" Target="/ppt/presentation.xml" Id="R999f2122278d4f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361bdb90174a24"/>
  </p:sldMasterIdLst>
  <p:notesMasterIdLst>
    <p:notesMasterId xmlns:r="http://schemas.openxmlformats.org/officeDocument/2006/relationships" r:id="Rde46cb653c584dda"/>
  </p:notesMasterIdLst>
  <p:sldIdLst>
    <p:sldId xmlns:r="http://schemas.openxmlformats.org/officeDocument/2006/relationships" id="256" r:id="R3cd39d1cc8874a2a"/>
    <p:sldId xmlns:r="http://schemas.openxmlformats.org/officeDocument/2006/relationships" id="257" r:id="R04e996406ce945a5"/>
    <p:sldId xmlns:r="http://schemas.openxmlformats.org/officeDocument/2006/relationships" id="258" r:id="R611da66453f842b7"/>
    <p:sldId xmlns:r="http://schemas.openxmlformats.org/officeDocument/2006/relationships" id="259" r:id="Ref4e07cc58e747ad"/>
    <p:sldId xmlns:r="http://schemas.openxmlformats.org/officeDocument/2006/relationships" id="260" r:id="R4b251db1e9c5463d"/>
    <p:sldId xmlns:r="http://schemas.openxmlformats.org/officeDocument/2006/relationships" id="261" r:id="R474c99a7bf734e10"/>
    <p:sldId xmlns:r="http://schemas.openxmlformats.org/officeDocument/2006/relationships" id="262" r:id="Rab9bcb0b985245c8"/>
    <p:sldId xmlns:r="http://schemas.openxmlformats.org/officeDocument/2006/relationships" id="263" r:id="Rac722fda5c6247a8"/>
    <p:sldId xmlns:r="http://schemas.openxmlformats.org/officeDocument/2006/relationships" id="264" r:id="Rbe9f1b1ca3f44852"/>
    <p:sldId xmlns:r="http://schemas.openxmlformats.org/officeDocument/2006/relationships" id="265" r:id="R275e2da92fee4b3e"/>
    <p:sldId xmlns:r="http://schemas.openxmlformats.org/officeDocument/2006/relationships" id="266" r:id="Raff22e6badb34144"/>
    <p:sldId xmlns:r="http://schemas.openxmlformats.org/officeDocument/2006/relationships" id="267" r:id="R53f8e924f397420e"/>
    <p:sldId xmlns:r="http://schemas.openxmlformats.org/officeDocument/2006/relationships" id="268" r:id="Racee9d6564ad46cd"/>
    <p:sldId xmlns:r="http://schemas.openxmlformats.org/officeDocument/2006/relationships" id="269" r:id="R1a98fd75103b4897"/>
    <p:sldId xmlns:r="http://schemas.openxmlformats.org/officeDocument/2006/relationships" id="270" r:id="R9ce81e1b409a48f3"/>
    <p:sldId xmlns:r="http://schemas.openxmlformats.org/officeDocument/2006/relationships" id="271" r:id="R4920c358788b450b"/>
    <p:sldId xmlns:r="http://schemas.openxmlformats.org/officeDocument/2006/relationships" id="272" r:id="R14068da660bb4418"/>
    <p:sldId xmlns:r="http://schemas.openxmlformats.org/officeDocument/2006/relationships" id="273" r:id="R68baa464af034b07"/>
    <p:sldId xmlns:r="http://schemas.openxmlformats.org/officeDocument/2006/relationships" id="274" r:id="R429e76b5047240c8"/>
    <p:sldId xmlns:r="http://schemas.openxmlformats.org/officeDocument/2006/relationships" id="275" r:id="R839c9e31e6c24c87"/>
    <p:sldId xmlns:r="http://schemas.openxmlformats.org/officeDocument/2006/relationships" id="276" r:id="Ra38aa42db7fa4e87"/>
    <p:sldId xmlns:r="http://schemas.openxmlformats.org/officeDocument/2006/relationships" id="277" r:id="R5e53be72622d4a2c"/>
    <p:sldId xmlns:r="http://schemas.openxmlformats.org/officeDocument/2006/relationships" id="278" r:id="Rb6e870f694ec4a18"/>
    <p:sldId xmlns:r="http://schemas.openxmlformats.org/officeDocument/2006/relationships" id="279" r:id="R1a8d74d648324248"/>
    <p:sldId xmlns:r="http://schemas.openxmlformats.org/officeDocument/2006/relationships" id="280" r:id="Rcccb757580e2428d"/>
    <p:sldId xmlns:r="http://schemas.openxmlformats.org/officeDocument/2006/relationships" id="281" r:id="R4e64dfd87b0b4f76"/>
    <p:sldId xmlns:r="http://schemas.openxmlformats.org/officeDocument/2006/relationships" id="282" r:id="Rcbd4673e52624c1c"/>
    <p:sldId xmlns:r="http://schemas.openxmlformats.org/officeDocument/2006/relationships" id="283" r:id="R31c3f3e9287b48a2"/>
    <p:sldId xmlns:r="http://schemas.openxmlformats.org/officeDocument/2006/relationships" id="284" r:id="R6f3086e3000848cd"/>
    <p:sldId xmlns:r="http://schemas.openxmlformats.org/officeDocument/2006/relationships" id="285" r:id="R9c62d706d0eb49bb"/>
    <p:sldId xmlns:r="http://schemas.openxmlformats.org/officeDocument/2006/relationships" id="286" r:id="R86071b2036264f75"/>
    <p:sldId xmlns:r="http://schemas.openxmlformats.org/officeDocument/2006/relationships" id="287" r:id="Rbbdca397ba914ebb"/>
    <p:sldId xmlns:r="http://schemas.openxmlformats.org/officeDocument/2006/relationships" id="288" r:id="Rcf2e689e57a24bd3"/>
    <p:sldId xmlns:r="http://schemas.openxmlformats.org/officeDocument/2006/relationships" id="289" r:id="Rc3eac1fa6c9a478a"/>
    <p:sldId xmlns:r="http://schemas.openxmlformats.org/officeDocument/2006/relationships" id="290" r:id="R37e344728c844624"/>
    <p:sldId xmlns:r="http://schemas.openxmlformats.org/officeDocument/2006/relationships" id="291" r:id="Rcf728101e434480b"/>
    <p:sldId xmlns:r="http://schemas.openxmlformats.org/officeDocument/2006/relationships" id="292" r:id="R47289b678c284bbe"/>
    <p:sldId xmlns:r="http://schemas.openxmlformats.org/officeDocument/2006/relationships" id="293" r:id="Rd985246bf624422f"/>
    <p:sldId xmlns:r="http://schemas.openxmlformats.org/officeDocument/2006/relationships" id="294" r:id="R525e0a735c9c4f4e"/>
    <p:sldId xmlns:r="http://schemas.openxmlformats.org/officeDocument/2006/relationships" id="295" r:id="R7fe59f3d01584f9a"/>
    <p:sldId xmlns:r="http://schemas.openxmlformats.org/officeDocument/2006/relationships" id="296" r:id="R935ec1ae25ce4be0"/>
    <p:sldId xmlns:r="http://schemas.openxmlformats.org/officeDocument/2006/relationships" id="297" r:id="R5c8b780ff9844960"/>
    <p:sldId xmlns:r="http://schemas.openxmlformats.org/officeDocument/2006/relationships" id="298" r:id="Rc70a4ba45cb44aee"/>
    <p:sldId xmlns:r="http://schemas.openxmlformats.org/officeDocument/2006/relationships" id="299" r:id="R5f1d7a9cbfd34235"/>
    <p:sldId xmlns:r="http://schemas.openxmlformats.org/officeDocument/2006/relationships" id="300" r:id="Re12480927da84e66"/>
    <p:sldId xmlns:r="http://schemas.openxmlformats.org/officeDocument/2006/relationships" id="301" r:id="R7c76f757acb04e31"/>
    <p:sldId xmlns:r="http://schemas.openxmlformats.org/officeDocument/2006/relationships" id="302" r:id="R5b561ff3defb49cf"/>
    <p:sldId xmlns:r="http://schemas.openxmlformats.org/officeDocument/2006/relationships" id="303" r:id="R4b583d5b83634426"/>
    <p:sldId xmlns:r="http://schemas.openxmlformats.org/officeDocument/2006/relationships" id="304" r:id="Rdb5ba7e8f700489e"/>
    <p:sldId xmlns:r="http://schemas.openxmlformats.org/officeDocument/2006/relationships" id="305" r:id="R165ed313495845c5"/>
    <p:sldId xmlns:r="http://schemas.openxmlformats.org/officeDocument/2006/relationships" id="306" r:id="Ree76b8102aae47a7"/>
    <p:sldId xmlns:r="http://schemas.openxmlformats.org/officeDocument/2006/relationships" id="307" r:id="R1c52884d030744fd"/>
    <p:sldId xmlns:r="http://schemas.openxmlformats.org/officeDocument/2006/relationships" id="308" r:id="Re209a5fc095d4c1b"/>
    <p:sldId xmlns:r="http://schemas.openxmlformats.org/officeDocument/2006/relationships" id="309" r:id="Rb9fc0a6c6fb44232"/>
    <p:sldId xmlns:r="http://schemas.openxmlformats.org/officeDocument/2006/relationships" id="310" r:id="Rbcd980c076c7479e"/>
    <p:sldId xmlns:r="http://schemas.openxmlformats.org/officeDocument/2006/relationships" id="311" r:id="Rd16f7f5973ed476d"/>
    <p:sldId xmlns:r="http://schemas.openxmlformats.org/officeDocument/2006/relationships" id="312" r:id="R9bbba0455f0541de"/>
    <p:sldId xmlns:r="http://schemas.openxmlformats.org/officeDocument/2006/relationships" id="313" r:id="R195434b0461b449c"/>
    <p:sldId xmlns:r="http://schemas.openxmlformats.org/officeDocument/2006/relationships" id="314" r:id="Ref1cc8b3629f4c91"/>
    <p:sldId xmlns:r="http://schemas.openxmlformats.org/officeDocument/2006/relationships" id="315" r:id="R0152b6aab7f74afe"/>
    <p:sldId xmlns:r="http://schemas.openxmlformats.org/officeDocument/2006/relationships" id="316" r:id="R79d6a2492cb9447e"/>
    <p:sldId xmlns:r="http://schemas.openxmlformats.org/officeDocument/2006/relationships" id="317" r:id="R70dfb1fe59614f13"/>
    <p:sldId xmlns:r="http://schemas.openxmlformats.org/officeDocument/2006/relationships" id="318" r:id="R28dc2afcc0f943db"/>
    <p:sldId xmlns:r="http://schemas.openxmlformats.org/officeDocument/2006/relationships" id="319" r:id="Rd170224fd2cd41cb"/>
    <p:sldId xmlns:r="http://schemas.openxmlformats.org/officeDocument/2006/relationships" id="320" r:id="R90b8bfd0abdb4018"/>
    <p:sldId xmlns:r="http://schemas.openxmlformats.org/officeDocument/2006/relationships" id="321" r:id="R7ec08b6c51f546db"/>
    <p:sldId xmlns:r="http://schemas.openxmlformats.org/officeDocument/2006/relationships" id="322" r:id="Rf824d7f4df2f40f0"/>
    <p:sldId xmlns:r="http://schemas.openxmlformats.org/officeDocument/2006/relationships" id="323" r:id="R7d9bccb900734dfd"/>
    <p:sldId xmlns:r="http://schemas.openxmlformats.org/officeDocument/2006/relationships" id="324" r:id="Rbb8efef0bb434f40"/>
    <p:sldId xmlns:r="http://schemas.openxmlformats.org/officeDocument/2006/relationships" id="325" r:id="R2c4f591c99764d25"/>
    <p:sldId xmlns:r="http://schemas.openxmlformats.org/officeDocument/2006/relationships" id="326" r:id="Rf29dc6f7dcc54789"/>
    <p:sldId xmlns:r="http://schemas.openxmlformats.org/officeDocument/2006/relationships" id="327" r:id="Re0b59e4194724113"/>
    <p:sldId xmlns:r="http://schemas.openxmlformats.org/officeDocument/2006/relationships" id="328" r:id="R05a550acd220412c"/>
    <p:sldId xmlns:r="http://schemas.openxmlformats.org/officeDocument/2006/relationships" id="329" r:id="Re89aa6099c14460c"/>
    <p:sldId xmlns:r="http://schemas.openxmlformats.org/officeDocument/2006/relationships" id="330" r:id="Rd6141aa7ab8646ff"/>
    <p:sldId xmlns:r="http://schemas.openxmlformats.org/officeDocument/2006/relationships" id="331" r:id="R0f7da79f61c74da0"/>
    <p:sldId xmlns:r="http://schemas.openxmlformats.org/officeDocument/2006/relationships" id="332" r:id="Ra210ee95772c49bd"/>
    <p:sldId xmlns:r="http://schemas.openxmlformats.org/officeDocument/2006/relationships" id="333" r:id="Rf9d5e942d972422d"/>
    <p:sldId xmlns:r="http://schemas.openxmlformats.org/officeDocument/2006/relationships" id="334" r:id="Rd08e3fc57f354bbc"/>
    <p:sldId xmlns:r="http://schemas.openxmlformats.org/officeDocument/2006/relationships" id="335" r:id="R41884a4e46e141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827087cdc34676" /><Relationship Type="http://schemas.openxmlformats.org/officeDocument/2006/relationships/slideMaster" Target="/ppt/slideMasters/slideMaster1.xml" Id="R6c361bdb90174a24" /><Relationship Type="http://schemas.openxmlformats.org/officeDocument/2006/relationships/notesMaster" Target="/ppt/notesMasters/notesMaster1.xml" Id="Rde46cb653c584dda" /><Relationship Type="http://schemas.openxmlformats.org/officeDocument/2006/relationships/presProps" Target="/ppt/presProps.xml" Id="R60dcb877350d4241" /><Relationship Type="http://schemas.openxmlformats.org/officeDocument/2006/relationships/tableStyles" Target="/ppt/tableStyles.xml" Id="R449fd0bf0ce24bc3" /><Relationship Type="http://schemas.openxmlformats.org/officeDocument/2006/relationships/slide" Target="/ppt/slides/slide1.xml" Id="R3cd39d1cc8874a2a" /><Relationship Type="http://schemas.openxmlformats.org/officeDocument/2006/relationships/slide" Target="/ppt/slides/slide2.xml" Id="R04e996406ce945a5" /><Relationship Type="http://schemas.openxmlformats.org/officeDocument/2006/relationships/slide" Target="/ppt/slides/slide3.xml" Id="R611da66453f842b7" /><Relationship Type="http://schemas.openxmlformats.org/officeDocument/2006/relationships/slide" Target="/ppt/slides/slide4.xml" Id="Ref4e07cc58e747ad" /><Relationship Type="http://schemas.openxmlformats.org/officeDocument/2006/relationships/slide" Target="/ppt/slides/slide5.xml" Id="R4b251db1e9c5463d" /><Relationship Type="http://schemas.openxmlformats.org/officeDocument/2006/relationships/slide" Target="/ppt/slides/slide6.xml" Id="R474c99a7bf734e10" /><Relationship Type="http://schemas.openxmlformats.org/officeDocument/2006/relationships/slide" Target="/ppt/slides/slide7.xml" Id="Rab9bcb0b985245c8" /><Relationship Type="http://schemas.openxmlformats.org/officeDocument/2006/relationships/slide" Target="/ppt/slides/slide8.xml" Id="Rac722fda5c6247a8" /><Relationship Type="http://schemas.openxmlformats.org/officeDocument/2006/relationships/slide" Target="/ppt/slides/slide9.xml" Id="Rbe9f1b1ca3f44852" /><Relationship Type="http://schemas.openxmlformats.org/officeDocument/2006/relationships/slide" Target="/ppt/slides/slide10.xml" Id="R275e2da92fee4b3e" /><Relationship Type="http://schemas.openxmlformats.org/officeDocument/2006/relationships/slide" Target="/ppt/slides/slide11.xml" Id="Raff22e6badb34144" /><Relationship Type="http://schemas.openxmlformats.org/officeDocument/2006/relationships/slide" Target="/ppt/slides/slide12.xml" Id="R53f8e924f397420e" /><Relationship Type="http://schemas.openxmlformats.org/officeDocument/2006/relationships/slide" Target="/ppt/slides/slide13.xml" Id="Racee9d6564ad46cd" /><Relationship Type="http://schemas.openxmlformats.org/officeDocument/2006/relationships/slide" Target="/ppt/slides/slide14.xml" Id="R1a98fd75103b4897" /><Relationship Type="http://schemas.openxmlformats.org/officeDocument/2006/relationships/slide" Target="/ppt/slides/slide15.xml" Id="R9ce81e1b409a48f3" /><Relationship Type="http://schemas.openxmlformats.org/officeDocument/2006/relationships/slide" Target="/ppt/slides/slide16.xml" Id="R4920c358788b450b" /><Relationship Type="http://schemas.openxmlformats.org/officeDocument/2006/relationships/slide" Target="/ppt/slides/slide17.xml" Id="R14068da660bb4418" /><Relationship Type="http://schemas.openxmlformats.org/officeDocument/2006/relationships/slide" Target="/ppt/slides/slide18.xml" Id="R68baa464af034b07" /><Relationship Type="http://schemas.openxmlformats.org/officeDocument/2006/relationships/slide" Target="/ppt/slides/slide19.xml" Id="R429e76b5047240c8" /><Relationship Type="http://schemas.openxmlformats.org/officeDocument/2006/relationships/slide" Target="/ppt/slides/slide20.xml" Id="R839c9e31e6c24c87" /><Relationship Type="http://schemas.openxmlformats.org/officeDocument/2006/relationships/slide" Target="/ppt/slides/slide21.xml" Id="Ra38aa42db7fa4e87" /><Relationship Type="http://schemas.openxmlformats.org/officeDocument/2006/relationships/slide" Target="/ppt/slides/slide22.xml" Id="R5e53be72622d4a2c" /><Relationship Type="http://schemas.openxmlformats.org/officeDocument/2006/relationships/slide" Target="/ppt/slides/slide23.xml" Id="Rb6e870f694ec4a18" /><Relationship Type="http://schemas.openxmlformats.org/officeDocument/2006/relationships/slide" Target="/ppt/slides/slide24.xml" Id="R1a8d74d648324248" /><Relationship Type="http://schemas.openxmlformats.org/officeDocument/2006/relationships/slide" Target="/ppt/slides/slide25.xml" Id="Rcccb757580e2428d" /><Relationship Type="http://schemas.openxmlformats.org/officeDocument/2006/relationships/slide" Target="/ppt/slides/slide26.xml" Id="R4e64dfd87b0b4f76" /><Relationship Type="http://schemas.openxmlformats.org/officeDocument/2006/relationships/slide" Target="/ppt/slides/slide27.xml" Id="Rcbd4673e52624c1c" /><Relationship Type="http://schemas.openxmlformats.org/officeDocument/2006/relationships/slide" Target="/ppt/slides/slide28.xml" Id="R31c3f3e9287b48a2" /><Relationship Type="http://schemas.openxmlformats.org/officeDocument/2006/relationships/slide" Target="/ppt/slides/slide29.xml" Id="R6f3086e3000848cd" /><Relationship Type="http://schemas.openxmlformats.org/officeDocument/2006/relationships/slide" Target="/ppt/slides/slide30.xml" Id="R9c62d706d0eb49bb" /><Relationship Type="http://schemas.openxmlformats.org/officeDocument/2006/relationships/slide" Target="/ppt/slides/slide31.xml" Id="R86071b2036264f75" /><Relationship Type="http://schemas.openxmlformats.org/officeDocument/2006/relationships/slide" Target="/ppt/slides/slide32.xml" Id="Rbbdca397ba914ebb" /><Relationship Type="http://schemas.openxmlformats.org/officeDocument/2006/relationships/slide" Target="/ppt/slides/slide33.xml" Id="Rcf2e689e57a24bd3" /><Relationship Type="http://schemas.openxmlformats.org/officeDocument/2006/relationships/slide" Target="/ppt/slides/slide34.xml" Id="Rc3eac1fa6c9a478a" /><Relationship Type="http://schemas.openxmlformats.org/officeDocument/2006/relationships/slide" Target="/ppt/slides/slide35.xml" Id="R37e344728c844624" /><Relationship Type="http://schemas.openxmlformats.org/officeDocument/2006/relationships/slide" Target="/ppt/slides/slide36.xml" Id="Rcf728101e434480b" /><Relationship Type="http://schemas.openxmlformats.org/officeDocument/2006/relationships/slide" Target="/ppt/slides/slide37.xml" Id="R47289b678c284bbe" /><Relationship Type="http://schemas.openxmlformats.org/officeDocument/2006/relationships/slide" Target="/ppt/slides/slide38.xml" Id="Rd985246bf624422f" /><Relationship Type="http://schemas.openxmlformats.org/officeDocument/2006/relationships/slide" Target="/ppt/slides/slide39.xml" Id="R525e0a735c9c4f4e" /><Relationship Type="http://schemas.openxmlformats.org/officeDocument/2006/relationships/slide" Target="/ppt/slides/slide40.xml" Id="R7fe59f3d01584f9a" /><Relationship Type="http://schemas.openxmlformats.org/officeDocument/2006/relationships/slide" Target="/ppt/slides/slide41.xml" Id="R935ec1ae25ce4be0" /><Relationship Type="http://schemas.openxmlformats.org/officeDocument/2006/relationships/slide" Target="/ppt/slides/slide42.xml" Id="R5c8b780ff9844960" /><Relationship Type="http://schemas.openxmlformats.org/officeDocument/2006/relationships/slide" Target="/ppt/slides/slide43.xml" Id="Rc70a4ba45cb44aee" /><Relationship Type="http://schemas.openxmlformats.org/officeDocument/2006/relationships/slide" Target="/ppt/slides/slide44.xml" Id="R5f1d7a9cbfd34235" /><Relationship Type="http://schemas.openxmlformats.org/officeDocument/2006/relationships/slide" Target="/ppt/slides/slide45.xml" Id="Re12480927da84e66" /><Relationship Type="http://schemas.openxmlformats.org/officeDocument/2006/relationships/slide" Target="/ppt/slides/slide46.xml" Id="R7c76f757acb04e31" /><Relationship Type="http://schemas.openxmlformats.org/officeDocument/2006/relationships/slide" Target="/ppt/slides/slide47.xml" Id="R5b561ff3defb49cf" /><Relationship Type="http://schemas.openxmlformats.org/officeDocument/2006/relationships/slide" Target="/ppt/slides/slide48.xml" Id="R4b583d5b83634426" /><Relationship Type="http://schemas.openxmlformats.org/officeDocument/2006/relationships/slide" Target="/ppt/slides/slide49.xml" Id="Rdb5ba7e8f700489e" /><Relationship Type="http://schemas.openxmlformats.org/officeDocument/2006/relationships/slide" Target="/ppt/slides/slide50.xml" Id="R165ed313495845c5" /><Relationship Type="http://schemas.openxmlformats.org/officeDocument/2006/relationships/slide" Target="/ppt/slides/slide51.xml" Id="Ree76b8102aae47a7" /><Relationship Type="http://schemas.openxmlformats.org/officeDocument/2006/relationships/slide" Target="/ppt/slides/slide52.xml" Id="R1c52884d030744fd" /><Relationship Type="http://schemas.openxmlformats.org/officeDocument/2006/relationships/slide" Target="/ppt/slides/slide53.xml" Id="Re209a5fc095d4c1b" /><Relationship Type="http://schemas.openxmlformats.org/officeDocument/2006/relationships/slide" Target="/ppt/slides/slide54.xml" Id="Rb9fc0a6c6fb44232" /><Relationship Type="http://schemas.openxmlformats.org/officeDocument/2006/relationships/slide" Target="/ppt/slides/slide55.xml" Id="Rbcd980c076c7479e" /><Relationship Type="http://schemas.openxmlformats.org/officeDocument/2006/relationships/slide" Target="/ppt/slides/slide56.xml" Id="Rd16f7f5973ed476d" /><Relationship Type="http://schemas.openxmlformats.org/officeDocument/2006/relationships/slide" Target="/ppt/slides/slide57.xml" Id="R9bbba0455f0541de" /><Relationship Type="http://schemas.openxmlformats.org/officeDocument/2006/relationships/slide" Target="/ppt/slides/slide58.xml" Id="R195434b0461b449c" /><Relationship Type="http://schemas.openxmlformats.org/officeDocument/2006/relationships/slide" Target="/ppt/slides/slide59.xml" Id="Ref1cc8b3629f4c91" /><Relationship Type="http://schemas.openxmlformats.org/officeDocument/2006/relationships/slide" Target="/ppt/slides/slide60.xml" Id="R0152b6aab7f74afe" /><Relationship Type="http://schemas.openxmlformats.org/officeDocument/2006/relationships/slide" Target="/ppt/slides/slide61.xml" Id="R79d6a2492cb9447e" /><Relationship Type="http://schemas.openxmlformats.org/officeDocument/2006/relationships/slide" Target="/ppt/slides/slide62.xml" Id="R70dfb1fe59614f13" /><Relationship Type="http://schemas.openxmlformats.org/officeDocument/2006/relationships/slide" Target="/ppt/slides/slide63.xml" Id="R28dc2afcc0f943db" /><Relationship Type="http://schemas.openxmlformats.org/officeDocument/2006/relationships/slide" Target="/ppt/slides/slide64.xml" Id="Rd170224fd2cd41cb" /><Relationship Type="http://schemas.openxmlformats.org/officeDocument/2006/relationships/slide" Target="/ppt/slides/slide65.xml" Id="R90b8bfd0abdb4018" /><Relationship Type="http://schemas.openxmlformats.org/officeDocument/2006/relationships/slide" Target="/ppt/slides/slide66.xml" Id="R7ec08b6c51f546db" /><Relationship Type="http://schemas.openxmlformats.org/officeDocument/2006/relationships/slide" Target="/ppt/slides/slide67.xml" Id="Rf824d7f4df2f40f0" /><Relationship Type="http://schemas.openxmlformats.org/officeDocument/2006/relationships/slide" Target="/ppt/slides/slide68.xml" Id="R7d9bccb900734dfd" /><Relationship Type="http://schemas.openxmlformats.org/officeDocument/2006/relationships/slide" Target="/ppt/slides/slide69.xml" Id="Rbb8efef0bb434f40" /><Relationship Type="http://schemas.openxmlformats.org/officeDocument/2006/relationships/slide" Target="/ppt/slides/slide70.xml" Id="R2c4f591c99764d25" /><Relationship Type="http://schemas.openxmlformats.org/officeDocument/2006/relationships/slide" Target="/ppt/slides/slide71.xml" Id="Rf29dc6f7dcc54789" /><Relationship Type="http://schemas.openxmlformats.org/officeDocument/2006/relationships/slide" Target="/ppt/slides/slide72.xml" Id="Re0b59e4194724113" /><Relationship Type="http://schemas.openxmlformats.org/officeDocument/2006/relationships/slide" Target="/ppt/slides/slide73.xml" Id="R05a550acd220412c" /><Relationship Type="http://schemas.openxmlformats.org/officeDocument/2006/relationships/slide" Target="/ppt/slides/slide74.xml" Id="Re89aa6099c14460c" /><Relationship Type="http://schemas.openxmlformats.org/officeDocument/2006/relationships/slide" Target="/ppt/slides/slide75.xml" Id="Rd6141aa7ab8646ff" /><Relationship Type="http://schemas.openxmlformats.org/officeDocument/2006/relationships/slide" Target="/ppt/slides/slide76.xml" Id="R0f7da79f61c74da0" /><Relationship Type="http://schemas.openxmlformats.org/officeDocument/2006/relationships/slide" Target="/ppt/slides/slide77.xml" Id="Ra210ee95772c49bd" /><Relationship Type="http://schemas.openxmlformats.org/officeDocument/2006/relationships/slide" Target="/ppt/slides/slide78.xml" Id="Rf9d5e942d972422d" /><Relationship Type="http://schemas.openxmlformats.org/officeDocument/2006/relationships/slide" Target="/ppt/slides/slide79.xml" Id="Rd08e3fc57f354bbc" /><Relationship Type="http://schemas.openxmlformats.org/officeDocument/2006/relationships/slide" Target="/ppt/slides/slide80.xml" Id="R41884a4e46e141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35a81c93b34423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BLACK WHITE NAVY BLUE">
      <a:dk1>
        <a:srgbClr val="050505"/>
      </a:dk1>
      <a:lt1>
        <a:srgbClr val="FFFFFF"/>
      </a:lt1>
      <a:dk2>
        <a:srgbClr val="0B1F3A"/>
      </a:dk2>
      <a:lt2>
        <a:srgbClr val="F7F8FA"/>
      </a:lt2>
      <a:accent1>
        <a:srgbClr val="2563EB"/>
      </a:accent1>
      <a:accent2>
        <a:srgbClr val="0B1F3A"/>
      </a:accent2>
      <a:accent3>
        <a:srgbClr val="667085"/>
      </a:accent3>
      <a:accent4>
        <a:srgbClr val="E0F0FE"/>
      </a:accent4>
      <a:accent5>
        <a:srgbClr val="191919"/>
      </a:accent5>
      <a:accent6>
        <a:srgbClr val="98A2B3"/>
      </a:accent6>
      <a:hlink>
        <a:srgbClr val="2563EB"/>
      </a:hlink>
      <a:folHlink>
        <a:srgbClr val="0B1F3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NAVY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a04527498b4c9a" /><Relationship Type="http://schemas.openxmlformats.org/officeDocument/2006/relationships/notesMaster" Target="/ppt/notesMasters/notesMaster1.xml" Id="Ra032e94053dd4f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a9062c3dbc4d2d" /><Relationship Type="http://schemas.openxmlformats.org/officeDocument/2006/relationships/notesMaster" Target="/ppt/notesMasters/notesMaster1.xml" Id="R20d7a89098254d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7ee13de8f14670" /><Relationship Type="http://schemas.openxmlformats.org/officeDocument/2006/relationships/notesMaster" Target="/ppt/notesMasters/notesMaster1.xml" Id="R8efbfbb2900946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d07720946f4b35" /><Relationship Type="http://schemas.openxmlformats.org/officeDocument/2006/relationships/notesMaster" Target="/ppt/notesMasters/notesMaster1.xml" Id="Rad31e906257f47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f0c1c024074608" /><Relationship Type="http://schemas.openxmlformats.org/officeDocument/2006/relationships/notesMaster" Target="/ppt/notesMasters/notesMaster1.xml" Id="Rfbd7d661fa56439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dbc9a856034e38" /><Relationship Type="http://schemas.openxmlformats.org/officeDocument/2006/relationships/notesMaster" Target="/ppt/notesMasters/notesMaster1.xml" Id="Rc0864e287a6945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a9413e9d5f24c2a" /><Relationship Type="http://schemas.openxmlformats.org/officeDocument/2006/relationships/notesMaster" Target="/ppt/notesMasters/notesMaster1.xml" Id="Rac685bf9ced74f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effe3520fc402a" /><Relationship Type="http://schemas.openxmlformats.org/officeDocument/2006/relationships/notesMaster" Target="/ppt/notesMasters/notesMaster1.xml" Id="Rf257b37ec38549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30c9bfee3bd4d78" /><Relationship Type="http://schemas.openxmlformats.org/officeDocument/2006/relationships/notesMaster" Target="/ppt/notesMasters/notesMaster1.xml" Id="R5d982f6c7788444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753b5dfebac4dad" /><Relationship Type="http://schemas.openxmlformats.org/officeDocument/2006/relationships/notesMaster" Target="/ppt/notesMasters/notesMaster1.xml" Id="R005d0ab153484fc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20b191624be4955" /><Relationship Type="http://schemas.openxmlformats.org/officeDocument/2006/relationships/notesMaster" Target="/ppt/notesMasters/notesMaster1.xml" Id="R85afb0ad9d9140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ac173f7487410b" /><Relationship Type="http://schemas.openxmlformats.org/officeDocument/2006/relationships/notesMaster" Target="/ppt/notesMasters/notesMaster1.xml" Id="R23dd69f7b9e242d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c777f42c56b470f" /><Relationship Type="http://schemas.openxmlformats.org/officeDocument/2006/relationships/notesMaster" Target="/ppt/notesMasters/notesMaster1.xml" Id="Rcd2198d883d6412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bba259ec33d4e61" /><Relationship Type="http://schemas.openxmlformats.org/officeDocument/2006/relationships/notesMaster" Target="/ppt/notesMasters/notesMaster1.xml" Id="R2aa28cb0e2cd496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dbd5c11929545d4" /><Relationship Type="http://schemas.openxmlformats.org/officeDocument/2006/relationships/notesMaster" Target="/ppt/notesMasters/notesMaster1.xml" Id="R53008b9a1bbf406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472ee0f85294e74" /><Relationship Type="http://schemas.openxmlformats.org/officeDocument/2006/relationships/notesMaster" Target="/ppt/notesMasters/notesMaster1.xml" Id="Rad1834f6b929479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df0a68e90854189" /><Relationship Type="http://schemas.openxmlformats.org/officeDocument/2006/relationships/notesMaster" Target="/ppt/notesMasters/notesMaster1.xml" Id="R334b724ba99b4e4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7a14b30cc5c4fad" /><Relationship Type="http://schemas.openxmlformats.org/officeDocument/2006/relationships/notesMaster" Target="/ppt/notesMasters/notesMaster1.xml" Id="Ra3e45cde81a7476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6acf762046d452d" /><Relationship Type="http://schemas.openxmlformats.org/officeDocument/2006/relationships/notesMaster" Target="/ppt/notesMasters/notesMaster1.xml" Id="R4207af4a026140d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de2b6147b7e4ab0" /><Relationship Type="http://schemas.openxmlformats.org/officeDocument/2006/relationships/notesMaster" Target="/ppt/notesMasters/notesMaster1.xml" Id="Rb8759e6b64fd468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4f255567dd64ce5" /><Relationship Type="http://schemas.openxmlformats.org/officeDocument/2006/relationships/notesMaster" Target="/ppt/notesMasters/notesMaster1.xml" Id="Rbe3e1f43b139406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a69a2b2ff05462d" /><Relationship Type="http://schemas.openxmlformats.org/officeDocument/2006/relationships/notesMaster" Target="/ppt/notesMasters/notesMaster1.xml" Id="Rcf34bab806d1440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ba2f43a06dd4e4f" /><Relationship Type="http://schemas.openxmlformats.org/officeDocument/2006/relationships/notesMaster" Target="/ppt/notesMasters/notesMaster1.xml" Id="Rd92ddf55c689448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9c7cf8bb90341eb" /><Relationship Type="http://schemas.openxmlformats.org/officeDocument/2006/relationships/notesMaster" Target="/ppt/notesMasters/notesMaster1.xml" Id="R143fec4e19a1491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16217f834ff4766" /><Relationship Type="http://schemas.openxmlformats.org/officeDocument/2006/relationships/notesMaster" Target="/ppt/notesMasters/notesMaster1.xml" Id="Rc5b9711f0893461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293d2f0caee4d31" /><Relationship Type="http://schemas.openxmlformats.org/officeDocument/2006/relationships/notesMaster" Target="/ppt/notesMasters/notesMaster1.xml" Id="R8a7dfcc31888421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b27e86d99cb42a7" /><Relationship Type="http://schemas.openxmlformats.org/officeDocument/2006/relationships/notesMaster" Target="/ppt/notesMasters/notesMaster1.xml" Id="R7fbcb9a2751d4a2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04d5d6197424b4a" /><Relationship Type="http://schemas.openxmlformats.org/officeDocument/2006/relationships/notesMaster" Target="/ppt/notesMasters/notesMaster1.xml" Id="R078bc47d9d2c49a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9d062fa16114ba4" /><Relationship Type="http://schemas.openxmlformats.org/officeDocument/2006/relationships/notesMaster" Target="/ppt/notesMasters/notesMaster1.xml" Id="R55b9811379334d3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7b1a571bb3c4c88" /><Relationship Type="http://schemas.openxmlformats.org/officeDocument/2006/relationships/notesMaster" Target="/ppt/notesMasters/notesMaster1.xml" Id="R5512316dd2d5429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1d7979c63994ccf" /><Relationship Type="http://schemas.openxmlformats.org/officeDocument/2006/relationships/notesMaster" Target="/ppt/notesMasters/notesMaster1.xml" Id="Rf0d763526aea4a1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4e9f9a7f7754145" /><Relationship Type="http://schemas.openxmlformats.org/officeDocument/2006/relationships/notesMaster" Target="/ppt/notesMasters/notesMaster1.xml" Id="Re5706f681fda444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25825f9d5234f4c" /><Relationship Type="http://schemas.openxmlformats.org/officeDocument/2006/relationships/notesMaster" Target="/ppt/notesMasters/notesMaster1.xml" Id="R35ada58946a84bd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d19889c5faa4a20" /><Relationship Type="http://schemas.openxmlformats.org/officeDocument/2006/relationships/notesMaster" Target="/ppt/notesMasters/notesMaster1.xml" Id="Rbd69f6ba519e4de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a61bb72f6d54319" /><Relationship Type="http://schemas.openxmlformats.org/officeDocument/2006/relationships/notesMaster" Target="/ppt/notesMasters/notesMaster1.xml" Id="R8f0df234bb8c4a3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d8988d69aad4917" /><Relationship Type="http://schemas.openxmlformats.org/officeDocument/2006/relationships/notesMaster" Target="/ppt/notesMasters/notesMaster1.xml" Id="Rb483b02d790a430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0ef9e4d476344a1" /><Relationship Type="http://schemas.openxmlformats.org/officeDocument/2006/relationships/notesMaster" Target="/ppt/notesMasters/notesMaster1.xml" Id="R3dcdf2711f23460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81964fc5d754266" /><Relationship Type="http://schemas.openxmlformats.org/officeDocument/2006/relationships/notesMaster" Target="/ppt/notesMasters/notesMaster1.xml" Id="Rc61f37eb664a4fa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6d3ffaae393f4312" /><Relationship Type="http://schemas.openxmlformats.org/officeDocument/2006/relationships/notesMaster" Target="/ppt/notesMasters/notesMaster1.xml" Id="R622f2fb2442247e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c2ee84e545894c70" /><Relationship Type="http://schemas.openxmlformats.org/officeDocument/2006/relationships/notesMaster" Target="/ppt/notesMasters/notesMaster1.xml" Id="Rcb6a9a3f59204096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0154d61d5eb04b42" /><Relationship Type="http://schemas.openxmlformats.org/officeDocument/2006/relationships/notesMaster" Target="/ppt/notesMasters/notesMaster1.xml" Id="R55e00ff364804b4f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e331918bb564308" /><Relationship Type="http://schemas.openxmlformats.org/officeDocument/2006/relationships/notesMaster" Target="/ppt/notesMasters/notesMaster1.xml" Id="Rd6b7c786b82548d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3edbe126ec04187" /><Relationship Type="http://schemas.openxmlformats.org/officeDocument/2006/relationships/notesMaster" Target="/ppt/notesMasters/notesMaster1.xml" Id="Rd82d3f6fcde840d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f64852ce36742fb" /><Relationship Type="http://schemas.openxmlformats.org/officeDocument/2006/relationships/notesMaster" Target="/ppt/notesMasters/notesMaster1.xml" Id="R6155e65fc7784db4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27468f8296b4b2a" /><Relationship Type="http://schemas.openxmlformats.org/officeDocument/2006/relationships/notesMaster" Target="/ppt/notesMasters/notesMaster1.xml" Id="R5ea4f5b02ed1477c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f976abdb9f14fe1" /><Relationship Type="http://schemas.openxmlformats.org/officeDocument/2006/relationships/notesMaster" Target="/ppt/notesMasters/notesMaster1.xml" Id="R5df3fa20b15847d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60a2bda73be4ea5" /><Relationship Type="http://schemas.openxmlformats.org/officeDocument/2006/relationships/notesMaster" Target="/ppt/notesMasters/notesMaster1.xml" Id="Ra81a0cdaceff45f0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a92cec63f7c47f5" /><Relationship Type="http://schemas.openxmlformats.org/officeDocument/2006/relationships/notesMaster" Target="/ppt/notesMasters/notesMaster1.xml" Id="Rfad76a8272ec41df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167c0e38251d4ad2" /><Relationship Type="http://schemas.openxmlformats.org/officeDocument/2006/relationships/notesMaster" Target="/ppt/notesMasters/notesMaster1.xml" Id="R5d3718d6ae4d4131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7d582849c99c470a" /><Relationship Type="http://schemas.openxmlformats.org/officeDocument/2006/relationships/notesMaster" Target="/ppt/notesMasters/notesMaster1.xml" Id="Rc1407a02330b4d2d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f480da3d723044bb" /><Relationship Type="http://schemas.openxmlformats.org/officeDocument/2006/relationships/notesMaster" Target="/ppt/notesMasters/notesMaster1.xml" Id="R9b907d0b32a5433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250bb8fc4756436c" /><Relationship Type="http://schemas.openxmlformats.org/officeDocument/2006/relationships/notesMaster" Target="/ppt/notesMasters/notesMaster1.xml" Id="R5a1cb086f9e34a56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d3d7da0d757a43f1" /><Relationship Type="http://schemas.openxmlformats.org/officeDocument/2006/relationships/notesMaster" Target="/ppt/notesMasters/notesMaster1.xml" Id="Rb7af3417191049a9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8313f54550834c5e" /><Relationship Type="http://schemas.openxmlformats.org/officeDocument/2006/relationships/notesMaster" Target="/ppt/notesMasters/notesMaster1.xml" Id="R76ecfe8bc0f8454a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f631be7dde8d4fe5" /><Relationship Type="http://schemas.openxmlformats.org/officeDocument/2006/relationships/notesMaster" Target="/ppt/notesMasters/notesMaster1.xml" Id="Rf2e892ffc5c741a3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e8ffcb2007d045ef" /><Relationship Type="http://schemas.openxmlformats.org/officeDocument/2006/relationships/notesMaster" Target="/ppt/notesMasters/notesMaster1.xml" Id="R7ada7d518f664e8c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10b47b5afaef4c91" /><Relationship Type="http://schemas.openxmlformats.org/officeDocument/2006/relationships/notesMaster" Target="/ppt/notesMasters/notesMaster1.xml" Id="Rafe692a04adb4eb6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93f5912c4f9b4773" /><Relationship Type="http://schemas.openxmlformats.org/officeDocument/2006/relationships/notesMaster" Target="/ppt/notesMasters/notesMaster1.xml" Id="R1aa64ec352bf458c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67a6ccbd9c6d4d06" /><Relationship Type="http://schemas.openxmlformats.org/officeDocument/2006/relationships/notesMaster" Target="/ppt/notesMasters/notesMaster1.xml" Id="Rf7379dfba90a4814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2fe4a5b0baeb4f28" /><Relationship Type="http://schemas.openxmlformats.org/officeDocument/2006/relationships/notesMaster" Target="/ppt/notesMasters/notesMaster1.xml" Id="Rb29112d43a474e1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b42ce8c30299427f" /><Relationship Type="http://schemas.openxmlformats.org/officeDocument/2006/relationships/notesMaster" Target="/ppt/notesMasters/notesMaster1.xml" Id="Rd09cbfdd7b564f88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cda7e4fbee8f4e73" /><Relationship Type="http://schemas.openxmlformats.org/officeDocument/2006/relationships/notesMaster" Target="/ppt/notesMasters/notesMaster1.xml" Id="R11199fa5fdb646e8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135f7cd28f0745c1" /><Relationship Type="http://schemas.openxmlformats.org/officeDocument/2006/relationships/notesMaster" Target="/ppt/notesMasters/notesMaster1.xml" Id="R988a2336e4d94c80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3e8ea2c3df054ee8" /><Relationship Type="http://schemas.openxmlformats.org/officeDocument/2006/relationships/notesMaster" Target="/ppt/notesMasters/notesMaster1.xml" Id="R1be965a5559d49c4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bd8e1fe8d1cd4271" /><Relationship Type="http://schemas.openxmlformats.org/officeDocument/2006/relationships/notesMaster" Target="/ppt/notesMasters/notesMaster1.xml" Id="R5084657f2cfd412e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a41f0ffed9334888" /><Relationship Type="http://schemas.openxmlformats.org/officeDocument/2006/relationships/notesMaster" Target="/ppt/notesMasters/notesMaster1.xml" Id="Rb17c2763a0de4bf7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6b1ae94f1fd34820" /><Relationship Type="http://schemas.openxmlformats.org/officeDocument/2006/relationships/notesMaster" Target="/ppt/notesMasters/notesMaster1.xml" Id="R372c81eece11407b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83c5545b675d4c07" /><Relationship Type="http://schemas.openxmlformats.org/officeDocument/2006/relationships/notesMaster" Target="/ppt/notesMasters/notesMaster1.xml" Id="Rae8a62eeb011455f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fe44c585795546da" /><Relationship Type="http://schemas.openxmlformats.org/officeDocument/2006/relationships/notesMaster" Target="/ppt/notesMasters/notesMaster1.xml" Id="Re3df6c385ebf4b17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e3b44098d9e34aaf" /><Relationship Type="http://schemas.openxmlformats.org/officeDocument/2006/relationships/notesMaster" Target="/ppt/notesMasters/notesMaster1.xml" Id="Reda8ec2e74f3479c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d501fb8ac71a4c06" /><Relationship Type="http://schemas.openxmlformats.org/officeDocument/2006/relationships/notesMaster" Target="/ppt/notesMasters/notesMaster1.xml" Id="R6051cfec74e54252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f7f1eedbcd834e69" /><Relationship Type="http://schemas.openxmlformats.org/officeDocument/2006/relationships/notesMaster" Target="/ppt/notesMasters/notesMaster1.xml" Id="Rfe248e889f7348b0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8eb172b55cd242b5" /><Relationship Type="http://schemas.openxmlformats.org/officeDocument/2006/relationships/notesMaster" Target="/ppt/notesMasters/notesMaster1.xml" Id="R42cd7a069cde4e32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76ff774602e54ffd" /><Relationship Type="http://schemas.openxmlformats.org/officeDocument/2006/relationships/notesMaster" Target="/ppt/notesMasters/notesMaster1.xml" Id="Rb8787aa33d334573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2a5cc64d3c734ff7" /><Relationship Type="http://schemas.openxmlformats.org/officeDocument/2006/relationships/notesMaster" Target="/ppt/notesMasters/notesMaster1.xml" Id="Re8229f4d0169469d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a4ffadb4035143da" /><Relationship Type="http://schemas.openxmlformats.org/officeDocument/2006/relationships/notesMaster" Target="/ppt/notesMasters/notesMaster1.xml" Id="R33741e9dfa094497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3a2ccc2515514041" /><Relationship Type="http://schemas.openxmlformats.org/officeDocument/2006/relationships/notesMaster" Target="/ppt/notesMasters/notesMaster1.xml" Id="R569b2be547a349d2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124b87ea28ef46fa" /><Relationship Type="http://schemas.openxmlformats.org/officeDocument/2006/relationships/notesMaster" Target="/ppt/notesMasters/notesMaster1.xml" Id="Rc51c54cb16734a82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e0eb142bcab949c4" /><Relationship Type="http://schemas.openxmlformats.org/officeDocument/2006/relationships/notesMaster" Target="/ppt/notesMasters/notesMaster1.xml" Id="R3b2b5558d7064811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c050a0be2af6475f" /><Relationship Type="http://schemas.openxmlformats.org/officeDocument/2006/relationships/notesMaster" Target="/ppt/notesMasters/notesMaster1.xml" Id="R366d7f43de8341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수업의 목표는 모델 이름 암기가 아니라 한 번의 실행을 trace로 남기고 비교 가능한 개선으로 바꾸는 일이다.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목록은 한 줄 화살표가 아니라 1–5 세로 목록으로 읽는다. 사실 오류로 단정하지 않고 모델 또는 시스템 수명주기를 설명하는 가능한 분류라고 소개한다.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두 분류는 경쟁하는 정답이 아니다. 관리 대상과 목적이 다르므로 단계명도 달라진다. 기존의 ‘강의 기준과 달라서 오답’이라는 표현을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61–67)</a:t>
            </a:r>
          </a:p>
          <a:p xmlns:a="http://schemas.openxmlformats.org/drawingml/2006/main">
            <a:r>
              <a:t>- https://docs.cloud.google.com/architecture/deploy-operate-generative-ai-applications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일대일 대응을 강요하지 않는다. 특히 maintenance는 수업 프레임의 실행·관찰·개선에 걸치며 retirement는 별도 판정 경계다.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62–67)</a:t>
            </a:r>
          </a:p>
          <a:p xmlns:a="http://schemas.openxmlformats.org/drawingml/2006/main">
            <a:r>
              <a:t>- https://learn.microsoft.com/en-us/azure/architecture/ai-ml/guide/manage-foundation-models-lifecycle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2025년 2학기 실제 1주차 자료 s.62–67을 16주 산출물과 운영 증거에 맞춰 재정리한 기준임을 명시한다.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62–67)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https://airc.nist.gov/airmf-resources/airmf/5-sec-core/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자의적인 교수 기준이 아니라 재현 가능한 비교의 조건으로 설명한다. 네 요소 중 이번 주에 새로 남기는 핵심은 버전이 포함된 trace다.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설치 여부가 아니라 산출물 묶음으로 완료를 정의한다. 로컬 모델 설치가 늦으면 demo provider로 먼저 완주한다.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repo:week01/lab/week01_trace01_lab.ipynb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이번 주 전체 흐름을 네 동사형 기능 라벨로 보여주되 장표 제목은 명사형으로 유지한다. TRACE가 호출과 비교를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사용자가 공개를 승인한 역할명인 무신사 Core AI PM과 아주대 AI대학원 겸임교수만 소개한다. 내부 조직·프로젝트·지표와 연락처는 포함하지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https://github.com/smilesjcha/homepage_sjcha/blob/main/constants.ts</a:t>
            </a:r>
          </a:p>
          <a:p xmlns:a="http://schemas.openxmlformats.org/drawingml/2006/main">
            <a:r>
              <a:t>- Instructor-approved public bio boundary (2026-08-25)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경력의 상세 성과가 아니라 데이터·기술·운영 단위가 어떻게 확장되었는지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4–9)</a:t>
            </a:r>
          </a:p>
          <a:p xmlns:a="http://schemas.openxmlformats.org/drawingml/2006/main">
            <a:r>
              <a:t>- Instructor-approved public bio boundary (2026-08-25)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모델 정확도만으로 운영 판단이 끝나지 않는다는 현업 관점을 네 질문으로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8주차 중간고사는 기말 프로젝트 기획서와 교수 질의응답으로 운영한다. 파랑은 현재 Week 01의 출발 자산만 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repo:curriculum/2026-2/01_중간고사_기말프로젝트_기획서.md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중간고사 기획서는 기말 프로젝트의 문서 기준선이다. 화려한 기능 수보다 문제·데이터·기술·평가·일정의 일관성을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repo:curriculum/2026-2/01_중간고사_기말프로젝트_기획서.md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교수 피드백을 정답처럼 복사하지 않는다. 학생이 채택·보류·반박을 결정하고 근거를 남기는 과정이 평가 자산이다.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repo:curriculum/2026-2/01_중간고사_기말프로젝트_기획서.md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세부 배점과 제출 시각은 해당 학기 학습관리시스템 공지를 따른다. 이 장은 문서가 반드시 답해야 할 공통 질문을 정의한다.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repo:curriculum/2026-2/01_중간고사_기말프로젝트_기획서.md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같은 사례를 이론과 실습 전체에서 유지해 인지 부하를 낮춘다. 실제 고객 원문이 아닌 합성 문장을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 없는 5%·95% 수치를 제거한다. 화면 위아래의 구조만으로 호출과 운영 체계의 차이를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https://docs.cloud.google.com/architecture/deploy-operate-generative-ai-applications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연대기 암기 대신 다음 병목이 무엇이었고 어떤 운영 문제가 새로 생겼는지에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17–43)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개별 연도를 외우기보다 규칙·학습·규모·생성·운영의 병목 이동으로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17–40)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규칙 기반 AI를 낡은 기술로 폄하하지 않는다. 설명 가능성과 통제의 장점, 복잡성과 예외의 한계를 함께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18–24)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학습 기반 시스템은 동작 일부를 데이터와 최적화 과정으로 옮긴다. 따라서 데이터와 실험이 새 운영 자산이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24–35)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딥러닝의 도약을 단일 사건이 아니라 데이터·연산·알고리즘의 결합으로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28–40)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사람의 역할이 사라진 것이 아니라 특징 선택에서 데이터·목표·평가 설계로 이동했음을 강조한다.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29–40)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Transformer 이전의 모든 모델을 단순화하지 않되, recurrent 처리에서의 순차 계산과 장거리 의존성 문제를 직관적으로 소개한다.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- repo:AS-IS 2025 2nd semester/[AI_PR_PR_10] 01 LLM LifeCycle and OT.pptx (slides 36–39)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자기 주의(Self-Attention)를 ‘모든 토큰을 한꺼번에 본다’로만 설명하지 않는다. 위치 간 관계 가중치를 계산하고 학습 시 위치 병렬화가 가능하다는 직관을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숫자는 개념 설명용 가상 값이다. attention weight 자체를 신뢰 가능한 설명이나 인과로 과해석하지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Transformer의 장점을 병렬화와 장거리 관계로 소개하되 decoder 추론은 token별 autoregressive 생성이라는 경계를 함께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모든 기반 모델을 동일하게 일반화하지 않고 decoder-only 생성형 LLM의 대표적인 causal language modeling 목표로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- repo:AS-IS 2025 2nd semester/[AI_PR_PR_10] 01 LLM LifeCycle and OT.pptx (slides 41–44)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범용 능력을 제품 품질과 동일시하지 않는다. 각 작업은 별도의 입력 계약과 평가 기준을 요구한다.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41–43)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모델이 할 수 있다는 사실과 서비스가 반복적으로 잘해야 한다는 요구를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코드가 같아도 prompt, context, model, sampling 조합이 바뀌면 동작이 달라질 수 있다. 이 조합을 trace로 묶는 이유를 예고한다.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Pretraining이 제공하지 않는 사용자·상황·성공·금지 조건을 제품 계약으로 정의해야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모델을 바꾸기 전에 변경 가능한 레버의 위치·비용·가역성을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42–51)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절대적인 기술 순위가 아니라 비용·시간·rollback 용이성의 교육용 휴리스틱이다. 규제·지연·온디바이스 제약은 순서를 바꿀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44–51)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Prompt는 서비스 행동의 외부 제어면이다. 좋은 문장보다 template, version, schema와 test set으로 관리하는 관점을 예고한다.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51)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RAG를 모든 환각의 해결책으로 말하지 않는다. 검색 품질, 근거 연결, 최신성·권한을 별도 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semester/01_AS-IS_주차별_통합_강의안.md#04주차--basic-of-rag--vectordb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모델이 tool call을 제안하는 것과 코드가 실제 외부 행동을 수행하는 것을 분리한다. 권한과 검증은 runtime의 책임이다.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semester/01_AS-IS_주차별_통합_강의안.md#12주차--agent-chaining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하나의 ‘최고 모델’이 아니라 요청의 품질·지연·비용·데이터 제약에 맞는 선택이 routing의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SFT를 지식 주입의 만능 도구로 설명하지 않는다. 명확한 반복 행동과 평가셋이 있을 때의 적응 레버로 소개한다.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- repo:AS-IS 2025 2nd semester/[AI_PR_PR_10] 01 LLM LifeCycle and OT.pptx (slides 44–49)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instruction, input, ideal output의 세 요소를 고정한다. 학습 데이터와 평가 데이터의 분리를 함께 강조한다.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선호 데이터의 최소 단위는 하나의 정답이 아니라 같은 prompt에 대한 chosen/rejected 쌍과 명확한 rubric이다.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InstructGPT에 사용된 대표적인 reward model + PPO 경로로 범위를 한정한다. 모든 RLHF 구현이 동일한 세부 구조라는 뜻은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DPO는 별도 reward model과 on-policy RL 없이 preference pair와 reference policy를 사용해 직접 최적화한다.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LoRA는 base weight를 고정하고 low-rank update를 학습한다. 고정된 절감률을 주장하지 않고 설정에 따라 달라짐을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제약이 없을 때의 실험 휴리스틱으로 설명한다. 규제, 지연, 온디바이스, 라이선스 요건에 따라 routing이나 fine-tuning이 앞설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LLMOps가 MLOps를 대체하는 선형 발전사가 아니라 기존 운영 관심사에 생성형 AI 자산이 추가되는 확장임을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52–60)</a:t>
            </a:r>
          </a:p>
          <a:p xmlns:a="http://schemas.openxmlformats.org/drawingml/2006/main">
            <a:r>
              <a:t>- https://docs.cloud.google.com/architecture/deploy-operate-generative-ai-applications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DevOps, MLOps, LLMOps를 세대 교체처럼 말하지 않는다. GenAIOps는 기존 MLOps 역량을 보완한다.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53–60)</a:t>
            </a:r>
          </a:p>
          <a:p xmlns:a="http://schemas.openxmlformats.org/drawingml/2006/main">
            <a:r>
              <a:t>- https://learn.microsoft.com/en-us/azure/architecture/ai-ml/guide/mlops-maturity-model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응답은 버전 자산이 아니라 실행 증거다. 버전 가능한 prompt·config·dataset과 실제 실행 response·latency·status를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버전만으로 생성 실행을 재현할 수 없다. 실제 조합을 trace로 남겨야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trace를 단순 로그 한 줄이 아니라 prompt, provider/model, config, output과 운영 지표를 연결하는 실행 단위로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업계의 고정된 다섯 KPI라고 주장하지 않는다. 이 과목에서 모든 실험을 비교할 때 공통으로 확인할 판단 축이다.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품질 향상 주장에는 지연·비용·안전·재현성의 regression 확인이 따라야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단일 범용 품질 점수보다 task의 실패 비용과 output contract에 맞는 지표를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semester/01_AS-IS_주차별_통합_강의안.md#03주차--prompt-evaluation--version-management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예시 분포이며 실측값이 아니다. 평균과 tail percentile을 구분하고 작은 표본에서는 raw trace도 함께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semester/03_AS-IS_슬라이드_텍스트_원문.md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수식은 개념 구조이며 정산 공식이 아니다. 공급자별 과금 단위와 캐시 정책은 해당 시점의 공식 문서를 별도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https://docs.aws.amazon.com/wellarchitected/latest/generative-ai-lens/generative-ai-lifecycle.html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안전은 마지막 검수 단계가 아니라 입력, 실행, 출력, 저장 전 구간의 횡단 조건이다.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https://airc.nist.gov/airmf-resources/airmf/5-sec-core/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seed 하나만으로 생성 서비스 전체 재현성이 보장되지 않는다. 실행 조합과 버전 자산을 함께 고정한다.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오프닝의 기준 정의를 앞에서 배운 운영 자산과 판단 축으로 확장해 회수한다. 반복 설명이 아니라 적용된 통합 그림이다.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62–67)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https://airc.nist.gov/airmf-resources/airmf/5-sec-core/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성공 지표가 4단계에서 처음 생기는 것이 아니라 1단계에서 정의되고 4단계에서 측정됨을 강조한다.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63)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프롬프트뿐 아니라 retrieved context와 tool 정책도 실행을 바꾸는 외부 자산으로 관리한다.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64)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실행과 배포는 endpoint 생성만이 아니라 실패 branch, 상태 확인, 책임 주체까지 포함한다.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65)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offline evaluation과 production observation을 구분하되 동일한 version과 trace에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66)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실패한 실험도 다음 선택을 줄인다면 유효하다. retirement는 이 단계 뒤의 자동 종착점이 아니라 별도 운영 판정이다.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67)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예시 값은 실제 성능 결과가 아니다. 학생은 자신의 trace와 판단으로 같은 구조를 채운다.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repo:week01/lab/week01_trace01_lab.ipynb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8주차 중간고사는 서비스 폐루프의 여섯 번째 단계가 아니라 학사 마일스톤이다. 기획서와 교수 질의응답을 이후 구현 기준으로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repo:curriculum/2026-2/01_중간고사_기말프로젝트_기획서.md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실습은 설치 성공이 아니라 실행 서비스, 실행 추적, 비교표, 개선 가설까지 하나의 운영 루프로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사용자 화면, FastAPI 서버, 모델 제공자, 실행 추적 저장소의 역할을 따라간다. 결정론적 데모와 Ollama가 동일한 제공자 계약을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번 호출보다 한 개의 비교표가 완료 기준이다. 설치 지연 시 결정론적 데모 제공자로 우선 완주한다.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repo:week01/lab/week01_trace01_lab.ipynb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Python은 3.11 이상 3.12 미만으로 고정하고 3.11.14를 기준 패치 버전으로 사용한다. 검색 증강 생성(Retrieval-Augmented Generation, RAG), 미세조정, 관측성 환경을 주차별 프로필로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repo:.python-version</a:t>
            </a:r>
          </a:p>
          <a:p xmlns:a="http://schemas.openxmlformats.org/drawingml/2006/main">
            <a:r>
              <a:t>- repo:requirements/README.md</a:t>
            </a:r>
          </a:p>
          <a:p xmlns:a="http://schemas.openxmlformats.org/drawingml/2006/main">
            <a:r>
              <a:t>- repo:requirements/locks/course-base-py311-macos-arm64.txt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결정론적 데모 제공자는 설치 실패를 우회하는 장난감이 아니라 재현 가능한 기준선이다. Ollama는 모델 다운로드와 실행이 가능한 경우 선택한다. 두 경로 모두 동일한 실행 추적 데이터 구조로 합쳐진다.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https://docs.ollama.com/api/chat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저장소 루트를 Visual Studio Code로 열고 권장 확장을 설치한 뒤 Python 3.11.14의 .venv를 선택한다. 화면 하단 터미널의 6 passed가 현재 실습 자동 테스트의 실제 결과다.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repo:week01/lecture/assets/vscode-week01-tests.png</a:t>
            </a:r>
          </a:p>
          <a:p xmlns:a="http://schemas.openxmlformats.org/drawingml/2006/main">
            <a:r>
              <a:t>- repo:week01/VS_CODE_GUIDE.md</a:t>
            </a:r>
          </a:p>
          <a:p xmlns:a="http://schemas.openxmlformats.org/drawingml/2006/main">
            <a:r>
              <a:t>- repo:.vscode/settings.json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FastAPI의 대화형 문서에서 POST /api/v1/generate 경로를 펼쳐 요청 본문을 확인한다. 사용자 화면보다 응용 프로그래밍 인터페이스(Application Programming Interface, API)의 요청·응답 데이터 구조가 서비스 계약의 기준이다.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repo:week01/lecture/assets/trace01-openapi-generate.png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https://fastapi.tiangolo.com/features/#automatic-docs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각 경로(endpoint)의 목적을 구분한다. /traces는 실행 내역, /stats는 교육용 집계, /metrics는 Prometheus 수집 시스템, /docs는 응용 프로그래밍 인터페이스 계약 확인이다.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- https://fastapi.tiangolo.com/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실행 전에는 입력, 작업 유형, 모델 제공자, 프롬프트 버전, 온도를 확인한다. 화면 캡처는 실제 로컬 서비스를 브라우저로 실행한 결과이며 예시 목업이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repo:week01/lecture/assets/trace01-ui.png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구조화 출력과 실행 추적 메타데이터를 한 화면에서 읽는다. 이 캡처의 실행 추적 식별자 ff2c901e8a16, 정상 상태, 0.12밀리초, 63토큰은 실제 로컬 데모 호출에서 관찰한 값이다. 토큰은 모델 토크나이저 실측이 아닌 교육용 추정치다.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repo:week01/lecture/assets/trace01-run-result.png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온도(temperature) 하나만 바꾸고 나머지를 고정한다. 결정론적 데모 제공자는 의도적으로 온도를 무시하므로 출력 불변도 유효한 관찰이다.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semester/practice/week01/week01_ollama_practice.ipynb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https://docs.ollama.com/api/chat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임의의 88점 같은 정밀도를 사용하지 않는다. 자동으로 확인 가능한 형식·상태·응답 지연과 사람이 판정하는 입력 근거성을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repo:week01/lecture/assets/trace01-run-result.png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repo:AS-IS 2025 2nd semester/practice/week01/week01_ollama_practice.ipynb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필드 존재 여부와 입력 근거를 분리해 본다. 완벽한 문장보다 누락·추가·검증 가능성의 판정이 우선이다.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오류를 숨기지 않고 status와 복구 경로를 운영 증거로 남긴다. 503일 때 수업을 중단하지 말고 demo로 필수 경로를 완료한다.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학생은 첫 주부터 문제 후보, 실행 증거, 교수에게 확인할 질문을 포트폴리오에 남긴다. 이 기록은 8주차 기말 프로젝트 기획서와 이후 구현의 근거가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repo:curriculum/2026-2/01_중간고사_기말프로젝트_기획서.md</a:t>
            </a:r>
          </a:p>
          <a:p xmlns:a="http://schemas.openxmlformats.org/drawingml/2006/main">
            <a:r>
              <a:t>- repo:week01/lecture/01_week1_강의안.md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0a7eeb91e642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3c83b1d501428d" /><Relationship Type="http://schemas.openxmlformats.org/officeDocument/2006/relationships/slideLayout" Target="/ppt/slideLayouts/slideLayout1.xml" Id="R9d1aa78cddcd40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1aa78cddcd40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BLACK WHITE NAVY BLUE">
      <a:dk1>
        <a:srgbClr val="050505"/>
      </a:dk1>
      <a:lt1>
        <a:srgbClr val="FFFFFF"/>
      </a:lt1>
      <a:dk2>
        <a:srgbClr val="0B1F3A"/>
      </a:dk2>
      <a:lt2>
        <a:srgbClr val="F7F8FA"/>
      </a:lt2>
      <a:accent1>
        <a:srgbClr val="2563EB"/>
      </a:accent1>
      <a:accent2>
        <a:srgbClr val="0B1F3A"/>
      </a:accent2>
      <a:accent3>
        <a:srgbClr val="667085"/>
      </a:accent3>
      <a:accent4>
        <a:srgbClr val="E0F0FE"/>
      </a:accent4>
      <a:accent5>
        <a:srgbClr val="191919"/>
      </a:accent5>
      <a:accent6>
        <a:srgbClr val="98A2B3"/>
      </a:accent6>
      <a:hlink>
        <a:srgbClr val="2563EB"/>
      </a:hlink>
      <a:folHlink>
        <a:srgbClr val="0B1F3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NAVY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cce554b36840d3" /><Relationship Type="http://schemas.openxmlformats.org/officeDocument/2006/relationships/notesSlide" Target="/ppt/notesSlides/notesSlide1.xml" Id="Rbd1a09e1186c4b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de4461c304b0d" /><Relationship Type="http://schemas.openxmlformats.org/officeDocument/2006/relationships/notesSlide" Target="/ppt/notesSlides/notesSlide2.xml" Id="R7a8bb22e53804c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73b23842494134" /><Relationship Type="http://schemas.openxmlformats.org/officeDocument/2006/relationships/notesSlide" Target="/ppt/notesSlides/notesSlide3.xml" Id="R5473aeadc2ca44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6887764e84f9a" /><Relationship Type="http://schemas.openxmlformats.org/officeDocument/2006/relationships/notesSlide" Target="/ppt/notesSlides/notesSlide4.xml" Id="Rab5c0914146b40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115c5998a480b" /><Relationship Type="http://schemas.openxmlformats.org/officeDocument/2006/relationships/notesSlide" Target="/ppt/notesSlides/notesSlide5.xml" Id="R6a1fe718b3a044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cc629a9ea8447a" /><Relationship Type="http://schemas.openxmlformats.org/officeDocument/2006/relationships/notesSlide" Target="/ppt/notesSlides/notesSlide6.xml" Id="Rf451d8aeb5fe4c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728aedbaba4cec" /><Relationship Type="http://schemas.openxmlformats.org/officeDocument/2006/relationships/notesSlide" Target="/ppt/notesSlides/notesSlide7.xml" Id="R0b7e7035adfe414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b918097f84a7b" /><Relationship Type="http://schemas.openxmlformats.org/officeDocument/2006/relationships/notesSlide" Target="/ppt/notesSlides/notesSlide8.xml" Id="R91e70f22b05749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8c20a07d754b08" /><Relationship Type="http://schemas.openxmlformats.org/officeDocument/2006/relationships/image" Target="/ppt/media/image.png" Id="R0e4e8c5c71df464d" /><Relationship Type="http://schemas.openxmlformats.org/officeDocument/2006/relationships/notesSlide" Target="/ppt/notesSlides/notesSlide9.xml" Id="R247cf9530ad741c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ca870201e1408b" /><Relationship Type="http://schemas.openxmlformats.org/officeDocument/2006/relationships/notesSlide" Target="/ppt/notesSlides/notesSlide10.xml" Id="R1dead0dcc1f0418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ca21dba1224aa6" /><Relationship Type="http://schemas.openxmlformats.org/officeDocument/2006/relationships/notesSlide" Target="/ppt/notesSlides/notesSlide11.xml" Id="R9c2d75f3aa1f4e5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c285274f014c4a" /><Relationship Type="http://schemas.openxmlformats.org/officeDocument/2006/relationships/notesSlide" Target="/ppt/notesSlides/notesSlide12.xml" Id="Rdef6721bc66a441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e058fb7d94120" /><Relationship Type="http://schemas.openxmlformats.org/officeDocument/2006/relationships/notesSlide" Target="/ppt/notesSlides/notesSlide13.xml" Id="R99086fa81d11417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1640247b94afb" /><Relationship Type="http://schemas.openxmlformats.org/officeDocument/2006/relationships/notesSlide" Target="/ppt/notesSlides/notesSlide14.xml" Id="Rec5c70e9e6c7447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4253025784613" /><Relationship Type="http://schemas.openxmlformats.org/officeDocument/2006/relationships/notesSlide" Target="/ppt/notesSlides/notesSlide15.xml" Id="R0b98d01687ba452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460a5da324938" /><Relationship Type="http://schemas.openxmlformats.org/officeDocument/2006/relationships/notesSlide" Target="/ppt/notesSlides/notesSlide16.xml" Id="Rf1313000026c440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d489a9970645b2" /><Relationship Type="http://schemas.openxmlformats.org/officeDocument/2006/relationships/notesSlide" Target="/ppt/notesSlides/notesSlide17.xml" Id="R6f10bee6eec7446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aa7426e08840e8" /><Relationship Type="http://schemas.openxmlformats.org/officeDocument/2006/relationships/notesSlide" Target="/ppt/notesSlides/notesSlide18.xml" Id="Rebda8aa2db0541c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d7bb1336ad4f0e" /><Relationship Type="http://schemas.openxmlformats.org/officeDocument/2006/relationships/notesSlide" Target="/ppt/notesSlides/notesSlide19.xml" Id="R701638a0a85443f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2a304928a149a8" /><Relationship Type="http://schemas.openxmlformats.org/officeDocument/2006/relationships/notesSlide" Target="/ppt/notesSlides/notesSlide20.xml" Id="Rc6d25c58b42e431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9599b66754d8c" /><Relationship Type="http://schemas.openxmlformats.org/officeDocument/2006/relationships/notesSlide" Target="/ppt/notesSlides/notesSlide21.xml" Id="R6105077f93fd45a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022291731f45da" /><Relationship Type="http://schemas.openxmlformats.org/officeDocument/2006/relationships/notesSlide" Target="/ppt/notesSlides/notesSlide22.xml" Id="R6e9d9b5dc7ee4e0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1061687ea4b9c" /><Relationship Type="http://schemas.openxmlformats.org/officeDocument/2006/relationships/notesSlide" Target="/ppt/notesSlides/notesSlide23.xml" Id="Rd748bfdf6dcb49c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4ab32a0f594d3b" /><Relationship Type="http://schemas.openxmlformats.org/officeDocument/2006/relationships/notesSlide" Target="/ppt/notesSlides/notesSlide24.xml" Id="R46c98e8b43ca454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41f20e178d49ca" /><Relationship Type="http://schemas.openxmlformats.org/officeDocument/2006/relationships/notesSlide" Target="/ppt/notesSlides/notesSlide25.xml" Id="Rc5adf6238afd4bc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75627a2b74c0c" /><Relationship Type="http://schemas.openxmlformats.org/officeDocument/2006/relationships/notesSlide" Target="/ppt/notesSlides/notesSlide26.xml" Id="R68600ab0ecfc47e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e69b76b8d481b" /><Relationship Type="http://schemas.openxmlformats.org/officeDocument/2006/relationships/notesSlide" Target="/ppt/notesSlides/notesSlide27.xml" Id="Rc7278a615ae043f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a8788613f44264" /><Relationship Type="http://schemas.openxmlformats.org/officeDocument/2006/relationships/notesSlide" Target="/ppt/notesSlides/notesSlide28.xml" Id="R02be393a8a3d449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c5733c1aa544a0" /><Relationship Type="http://schemas.openxmlformats.org/officeDocument/2006/relationships/notesSlide" Target="/ppt/notesSlides/notesSlide29.xml" Id="R01f98052fe7a49c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312c847d441b8" /><Relationship Type="http://schemas.openxmlformats.org/officeDocument/2006/relationships/notesSlide" Target="/ppt/notesSlides/notesSlide30.xml" Id="Rbf9cbac81973405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dd842289a45b8" /><Relationship Type="http://schemas.openxmlformats.org/officeDocument/2006/relationships/notesSlide" Target="/ppt/notesSlides/notesSlide31.xml" Id="R19d717c22496425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9dadaf20f40c2" /><Relationship Type="http://schemas.openxmlformats.org/officeDocument/2006/relationships/notesSlide" Target="/ppt/notesSlides/notesSlide32.xml" Id="Rd221844584ba468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5623a61dc34b14" /><Relationship Type="http://schemas.openxmlformats.org/officeDocument/2006/relationships/notesSlide" Target="/ppt/notesSlides/notesSlide33.xml" Id="R6a33c004216b47e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c08dcafb44eaf" /><Relationship Type="http://schemas.openxmlformats.org/officeDocument/2006/relationships/notesSlide" Target="/ppt/notesSlides/notesSlide34.xml" Id="R3a75e1c6e6a0434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ae0888223743b9" /><Relationship Type="http://schemas.openxmlformats.org/officeDocument/2006/relationships/notesSlide" Target="/ppt/notesSlides/notesSlide35.xml" Id="Ra6cf88230b93450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e6614a10f4767" /><Relationship Type="http://schemas.openxmlformats.org/officeDocument/2006/relationships/notesSlide" Target="/ppt/notesSlides/notesSlide36.xml" Id="R2b314a2752154b7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cabb3577c54028" /><Relationship Type="http://schemas.openxmlformats.org/officeDocument/2006/relationships/notesSlide" Target="/ppt/notesSlides/notesSlide37.xml" Id="Rf90c158524264dd6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107c091a04969" /><Relationship Type="http://schemas.openxmlformats.org/officeDocument/2006/relationships/notesSlide" Target="/ppt/notesSlides/notesSlide38.xml" Id="Rbeec84a57ca940c3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6aab78d4bd4772" /><Relationship Type="http://schemas.openxmlformats.org/officeDocument/2006/relationships/notesSlide" Target="/ppt/notesSlides/notesSlide39.xml" Id="Rb353c76f97234176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99102ca39841c0" /><Relationship Type="http://schemas.openxmlformats.org/officeDocument/2006/relationships/notesSlide" Target="/ppt/notesSlides/notesSlide40.xml" Id="Ra3890ec6572a498e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ec12da1b342ee" /><Relationship Type="http://schemas.openxmlformats.org/officeDocument/2006/relationships/notesSlide" Target="/ppt/notesSlides/notesSlide41.xml" Id="R78d12fb78d8d4f1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6f0bd0b094132" /><Relationship Type="http://schemas.openxmlformats.org/officeDocument/2006/relationships/notesSlide" Target="/ppt/notesSlides/notesSlide42.xml" Id="R160c12041598431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ba0fd4a3e40dd" /><Relationship Type="http://schemas.openxmlformats.org/officeDocument/2006/relationships/notesSlide" Target="/ppt/notesSlides/notesSlide43.xml" Id="R0ce95506278e4f7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27b792558406e" /><Relationship Type="http://schemas.openxmlformats.org/officeDocument/2006/relationships/notesSlide" Target="/ppt/notesSlides/notesSlide44.xml" Id="Rc5c9575556074d2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5d27cdf0a49af" /><Relationship Type="http://schemas.openxmlformats.org/officeDocument/2006/relationships/notesSlide" Target="/ppt/notesSlides/notesSlide45.xml" Id="R710ac018e819495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54605a35549a9" /><Relationship Type="http://schemas.openxmlformats.org/officeDocument/2006/relationships/notesSlide" Target="/ppt/notesSlides/notesSlide46.xml" Id="R3e0a36429d4f472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96873c16d4afb" /><Relationship Type="http://schemas.openxmlformats.org/officeDocument/2006/relationships/notesSlide" Target="/ppt/notesSlides/notesSlide47.xml" Id="R14be12e93525439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cac2ece924ae1" /><Relationship Type="http://schemas.openxmlformats.org/officeDocument/2006/relationships/notesSlide" Target="/ppt/notesSlides/notesSlide48.xml" Id="R9ca6477070bd44c8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61745345c41df" /><Relationship Type="http://schemas.openxmlformats.org/officeDocument/2006/relationships/notesSlide" Target="/ppt/notesSlides/notesSlide49.xml" Id="Rc999028c31444377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b4c795bda48e7" /><Relationship Type="http://schemas.openxmlformats.org/officeDocument/2006/relationships/notesSlide" Target="/ppt/notesSlides/notesSlide50.xml" Id="R2c663ec040404040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943bb49f84dea" /><Relationship Type="http://schemas.openxmlformats.org/officeDocument/2006/relationships/notesSlide" Target="/ppt/notesSlides/notesSlide51.xml" Id="R79f4cb6bb13e451a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6ed50f4b4490e" /><Relationship Type="http://schemas.openxmlformats.org/officeDocument/2006/relationships/notesSlide" Target="/ppt/notesSlides/notesSlide52.xml" Id="R9e277392acf648c1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2e91e2128d471b" /><Relationship Type="http://schemas.openxmlformats.org/officeDocument/2006/relationships/notesSlide" Target="/ppt/notesSlides/notesSlide53.xml" Id="Rd2584e8ab8754816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0e5f590c14af2" /><Relationship Type="http://schemas.openxmlformats.org/officeDocument/2006/relationships/notesSlide" Target="/ppt/notesSlides/notesSlide54.xml" Id="R2e611a72f9bc4cca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f28e3b8ce4032" /><Relationship Type="http://schemas.openxmlformats.org/officeDocument/2006/relationships/notesSlide" Target="/ppt/notesSlides/notesSlide55.xml" Id="R78c11cc8dbd54c86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232b88fba4218" /><Relationship Type="http://schemas.openxmlformats.org/officeDocument/2006/relationships/notesSlide" Target="/ppt/notesSlides/notesSlide56.xml" Id="Rb72bbf3605a54aac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fd635805a4b5d" /><Relationship Type="http://schemas.openxmlformats.org/officeDocument/2006/relationships/notesSlide" Target="/ppt/notesSlides/notesSlide57.xml" Id="Re94a5dac9a6348ca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d6bb9a8384230" /><Relationship Type="http://schemas.openxmlformats.org/officeDocument/2006/relationships/notesSlide" Target="/ppt/notesSlides/notesSlide58.xml" Id="Rbb57670521444c30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ccbb97acc4dbc" /><Relationship Type="http://schemas.openxmlformats.org/officeDocument/2006/relationships/notesSlide" Target="/ppt/notesSlides/notesSlide59.xml" Id="R45215280a50744a5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9439fcebfc412e" /><Relationship Type="http://schemas.openxmlformats.org/officeDocument/2006/relationships/notesSlide" Target="/ppt/notesSlides/notesSlide60.xml" Id="R8fcae6cded974d3a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e008dc40745bf" /><Relationship Type="http://schemas.openxmlformats.org/officeDocument/2006/relationships/notesSlide" Target="/ppt/notesSlides/notesSlide61.xml" Id="Rf56b849bd691437c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32fa7dfb3042cb" /><Relationship Type="http://schemas.openxmlformats.org/officeDocument/2006/relationships/notesSlide" Target="/ppt/notesSlides/notesSlide62.xml" Id="R23172620d8a44b6a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5b9cef59d946a9" /><Relationship Type="http://schemas.openxmlformats.org/officeDocument/2006/relationships/notesSlide" Target="/ppt/notesSlides/notesSlide63.xml" Id="R06be91bbfefc4c83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e863ffa224c9f" /><Relationship Type="http://schemas.openxmlformats.org/officeDocument/2006/relationships/notesSlide" Target="/ppt/notesSlides/notesSlide64.xml" Id="Rb72f10feae0c420b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e99aa57a894b7f" /><Relationship Type="http://schemas.openxmlformats.org/officeDocument/2006/relationships/notesSlide" Target="/ppt/notesSlides/notesSlide65.xml" Id="R032c77cc042d4356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d9491a9fa546d9" /><Relationship Type="http://schemas.openxmlformats.org/officeDocument/2006/relationships/notesSlide" Target="/ppt/notesSlides/notesSlide66.xml" Id="Re8b5df57623c4044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513c3a7e84388" /><Relationship Type="http://schemas.openxmlformats.org/officeDocument/2006/relationships/notesSlide" Target="/ppt/notesSlides/notesSlide67.xml" Id="Rc2ca898c5a73476b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1ffced46a4e94" /><Relationship Type="http://schemas.openxmlformats.org/officeDocument/2006/relationships/notesSlide" Target="/ppt/notesSlides/notesSlide68.xml" Id="R9eefb7756ba94668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1b51d48830422a" /><Relationship Type="http://schemas.openxmlformats.org/officeDocument/2006/relationships/notesSlide" Target="/ppt/notesSlides/notesSlide69.xml" Id="Rca96c9a16aa7441f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fa992bb7f1409a" /><Relationship Type="http://schemas.openxmlformats.org/officeDocument/2006/relationships/notesSlide" Target="/ppt/notesSlides/notesSlide70.xml" Id="Ra7e4d2ddf8b64c0f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e54a06a6d431a" /><Relationship Type="http://schemas.openxmlformats.org/officeDocument/2006/relationships/image" Target="/ppt/media/image2.png" Id="R15b45d169dde4997" /><Relationship Type="http://schemas.openxmlformats.org/officeDocument/2006/relationships/notesSlide" Target="/ppt/notesSlides/notesSlide71.xml" Id="R225fa279e8634981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5b87087974c91" /><Relationship Type="http://schemas.openxmlformats.org/officeDocument/2006/relationships/image" Target="/ppt/media/image3.png" Id="R68bb9ebb3f444b51" /><Relationship Type="http://schemas.openxmlformats.org/officeDocument/2006/relationships/notesSlide" Target="/ppt/notesSlides/notesSlide72.xml" Id="Ra890834e09464cfb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9771f216b4ef0" /><Relationship Type="http://schemas.openxmlformats.org/officeDocument/2006/relationships/notesSlide" Target="/ppt/notesSlides/notesSlide73.xml" Id="R20526312daca4f44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5ac52c35f54367" /><Relationship Type="http://schemas.openxmlformats.org/officeDocument/2006/relationships/image" Target="/ppt/media/image4.png" Id="R7589de1f672a4de2" /><Relationship Type="http://schemas.openxmlformats.org/officeDocument/2006/relationships/notesSlide" Target="/ppt/notesSlides/notesSlide74.xml" Id="R9573b4d96b3a4060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a740f1ed374f87" /><Relationship Type="http://schemas.openxmlformats.org/officeDocument/2006/relationships/image" Target="/ppt/media/image5.png" Id="Ra7b5f98014a44e3b" /><Relationship Type="http://schemas.openxmlformats.org/officeDocument/2006/relationships/notesSlide" Target="/ppt/notesSlides/notesSlide75.xml" Id="R4b6690aac77848ac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efe2f7637a4b36" /><Relationship Type="http://schemas.openxmlformats.org/officeDocument/2006/relationships/notesSlide" Target="/ppt/notesSlides/notesSlide76.xml" Id="R54a524a82e774875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ed3731e1f74e76" /><Relationship Type="http://schemas.openxmlformats.org/officeDocument/2006/relationships/notesSlide" Target="/ppt/notesSlides/notesSlide77.xml" Id="Re98e5cff859343d8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b1420e08784bce" /><Relationship Type="http://schemas.openxmlformats.org/officeDocument/2006/relationships/notesSlide" Target="/ppt/notesSlides/notesSlide78.xml" Id="R9a2a84f9d9f74dbf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24d8b70864fe3" /><Relationship Type="http://schemas.openxmlformats.org/officeDocument/2006/relationships/notesSlide" Target="/ppt/notesSlides/notesSlide79.xml" Id="Rc61df633a4be434a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f45787d6954248" /><Relationship Type="http://schemas.openxmlformats.org/officeDocument/2006/relationships/notesSlide" Target="/ppt/notesSlides/notesSlide80.xml" Id="Rf8d1eb6f76d141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D9D974-A0F8-4C5B-87C0-3362BAED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ORIENTATION &amp;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916986-E8FA-4418-AB43-955359C2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952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호출 너머의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DB7CEB-09F2-41B9-9E36-4ECBD926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9906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LLM 운영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6ACAA-6E4A-46E0-844B-49214F46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67050"/>
            <a:ext cx="3733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LARGE LANGUAGE MODEL (LLM)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DC69B-9538-4320-ABC5-06C7D599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5814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917803-98FB-4E22-A376-A3C3EA20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01  TRACE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E8DAD3-D92D-46B8-BE8B-59E6C452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3243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0B7CBB-C714-4A02-92F1-B7E271E0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43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02  COMPARE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A98B95-B352-4119-9175-71269600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52800" y="43243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DC2ECA-4376-402B-9B6F-EEA2650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43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03  EVALUATE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CA1ABC-E6DA-4A60-AC53-23936C84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43243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5424E-E54F-4069-A13D-F27131F6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943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04  IMPROVE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29A40E-DCFD-4C67-A76A-C4FB5803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839200" y="43243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28A1F-FE3B-40C5-A2B4-A2106B34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800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TRACE · 비교 실험 · 16주 서비스 개선 폐루프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D430CE-B0DC-40A5-8D3E-5CFED19E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715000"/>
            <a:ext cx="752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ARTIFICIAL INTELLIGENCE (AI) · PRODUCT MANAGER (PM)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75A280-AE5E-45A9-A92C-B31ACAB0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6019800"/>
            <a:ext cx="752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차성재 · 무신사 Core AI PM × 아주대 AI대학원 겸임교수</a:t>
            </a:r>
          </a:p>
        </p:txBody>
      </p:sp>
    </p:spTree>
    <p:extLst>
      <p:ext uri="{BB962C8B-B14F-4D97-AF65-F5344CB8AC3E}">
        <p14:creationId xmlns:p14="http://schemas.microsoft.com/office/powerpoint/2010/main" val="493014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D7EFE2-0BD1-47CB-92D8-7669F667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97C99C-A03C-4E61-98D9-3C9D16AC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324FBF-721C-4F37-91DC-60FD6687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327BB4-EB41-4295-A7B9-5A7A71CE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16D541-C1A5-450C-9CEC-A6D78F4A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1810F-0187-4191-899F-9C87D375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맥락 없는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EE5D0D-CD32-4664-8B46-08E06600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“거대 언어 모델 운영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(LLMOps)의 5단계는?”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A4FDB6-AD90-4D77-A914-51EEC42E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대상도, 목적도, 근거도 없는 질문은 서로 다른 분류를 같은 정답처럼 비교하게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F507C9-BDD5-4638-B5C3-050094A2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810250" y="152400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E94A49-F0AB-45A6-A074-8E7FE9A4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57C2D9-C5DC-4307-A51F-D310955A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4859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F58889-15AB-4281-B97E-02195872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24600" y="2019300"/>
            <a:ext cx="4857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6C97B-00C1-471F-81DF-BC011455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050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0BE914-DAA8-4326-AC85-1C4C2A73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860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EVALUATION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52087F-CAEC-4BD3-BCC3-020AB3A4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24600" y="2819400"/>
            <a:ext cx="4857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306CD0-29FB-46BE-B0B4-D544FF83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7355DA-7E14-46B9-B32A-3787B2CB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861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DEPLOYMENT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919DF1-CCE5-41D8-ACF1-AA95448A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24600" y="3619500"/>
            <a:ext cx="4857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A4099B-9863-4E08-9C6A-D41D408C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052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221BDC-EA13-4149-900A-7A8C36BB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862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MAINTENANCE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5C77E1-854E-4F7D-9BDF-8EAA7762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24600" y="4419600"/>
            <a:ext cx="4857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E4FB13-3F13-46C2-96A2-D461FE6C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053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90AE80-37DB-475B-8E8C-F104077C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6863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RETIREMENT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3D81B7-A72F-43D5-8FB8-51299A78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6578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모델·시스템 관점에서 가능한 하나의 분류</a:t>
            </a:r>
          </a:p>
        </p:txBody>
      </p:sp>
    </p:spTree>
    <p:extLst>
      <p:ext uri="{BB962C8B-B14F-4D97-AF65-F5344CB8AC3E}">
        <p14:creationId xmlns:p14="http://schemas.microsoft.com/office/powerpoint/2010/main" val="6967945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6D2AF5-454E-4215-9359-860EDF51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FD558-8582-4E2E-AA6D-181ED725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3C5E6-3BA2-4D94-BF4F-03E53A03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2A618A-BFE7-4AB8-8551-D8C3BF71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D3EC63-3CF3-4F79-B029-D00464CE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1F1726-57E3-4FAD-BA08-BD2221A0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다섯 단계의 범위 혼선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2821B9-0870-4C22-B7BA-826768BB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모델·시스템 수명주기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F68F55-A1F0-4848-9708-67A530EC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생성부터 종료까지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3D32C7-BF4F-4317-ABDC-829538C4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60F46B-3F2A-43BE-B286-27F09B52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학습 · 평가 · 배포 · 유지 · 폐기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관리 대상: 모델 또는 전체 인공지능 시스템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ACFEE3-A918-409F-AF95-F7766BFA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종료점 중심의 수명주기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6712A-9367-40DF-9D8A-4585D90D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과목의 서비스 개선 폐루프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E45760-DE4C-44C3-85F3-AA360F06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운영 중 반복 개선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D5F81C-C4A7-4274-8F1B-FD02D46C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848A67-8672-43E9-BD56-264B9E6C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기획 · 맥락 · 실행 · 관찰 · 버전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관리 대상: 거대 언어 모델 응용 서비스와 실행 증거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95B048-C2CF-4FC3-B1CB-85F97840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292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다음 실험으로 돌아가는 폐루프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BE044D-67EC-44E5-B335-5D39C2A4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962245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1D1A69-520B-42F9-A873-E4A3DACD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0CD84-ACDA-48FE-9A59-134198E5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014573-898C-4FDB-81D5-6CD24EEC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9E70C-489B-4D11-AC75-9146FEEA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64769-E5CF-4E75-9D70-61E0A596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2ED0B4-6122-4E7A-B4D9-DC7D54E7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두 라이프사이클의 적용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D027CE-0CCC-4034-8DBA-6901BB29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47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EA8D79-EE1A-426D-9D1E-BCFD01C2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1828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비교 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768894-E6C1-45A1-950D-AAE25BD9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1847850"/>
            <a:ext cx="419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A2B5F5-A800-4598-93FB-7E03DFBD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47850"/>
            <a:ext cx="3924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모델·시스템 수명주기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F44E06-DFE4-4FC0-A88D-76D81D22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1847850"/>
            <a:ext cx="4686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847F4E-3850-4728-971E-5E4EDECA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847850"/>
            <a:ext cx="441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과목의 서비스 폐루프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59FC67-EC6E-40DC-AFCF-ADFA3CF2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6220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88F28B-67E6-49DA-A896-26564708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828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관리 단위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6474AC-EA3B-4634-A6DE-4EE1B750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2362200"/>
            <a:ext cx="4191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79EB00-C5F8-40EE-935B-7DFF01CD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62200"/>
            <a:ext cx="3924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또는 전체 인공지능 시스템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F31CA4-163C-4313-8D04-1E690D4C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2362200"/>
            <a:ext cx="4686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7D173E-DE95-4993-8AB9-337A465D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62200"/>
            <a:ext cx="4419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프롬프트·맥락·코드·설정·정책과 실행 추적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5352A7-231C-42A8-BC81-A958B4941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20040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19A109-5C30-4929-A5D0-F3BEC8822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0400"/>
            <a:ext cx="1828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주요 목적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5B50DC-385D-4A61-B3EE-58F731BD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3200400"/>
            <a:ext cx="4191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16D07F-53C0-4FA8-99C5-92E40D5D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200400"/>
            <a:ext cx="3924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구축·배포·유지·종료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74E6D0-8943-400A-A488-DF9F876A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3200400"/>
            <a:ext cx="4686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E52B78-D927-4EA2-A6D2-F2BF42B1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00400"/>
            <a:ext cx="4419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실행의 재현·비교·판정·개선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C4FDF4-5881-44EB-B9A2-F3909572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03860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DA6F17-DD88-42B5-810C-4BA253AF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1828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종료 관점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968F35-FFBF-4ADF-BE75-6BF240B0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4038600"/>
            <a:ext cx="4191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84CCE8-DFD7-41E2-859C-A6F7BA22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038600"/>
            <a:ext cx="3924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폐기(Retirement)를 단계로 포함 가능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083BC6-1516-42FB-840C-CACF9FFB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4038600"/>
            <a:ext cx="4686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810C31-C728-479B-91B9-F405AD79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38600"/>
            <a:ext cx="4419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종료·이관·보존은 폐루프 밖의 운영 경계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67ECE2-51DF-4A1A-818C-0EAD9EBB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87680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46B573-2C4A-4287-8023-998B05A6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1828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학습 위치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70DF85-8041-4482-BFDA-2F2131EF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4876800"/>
            <a:ext cx="4191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692F9B-1430-404D-AECC-72C2F276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876800"/>
            <a:ext cx="3924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학습(Training)이 시작점일 수 있음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269613-D7BC-492F-8CA5-22A6A514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4876800"/>
            <a:ext cx="4686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B433B7-D14F-4D94-9825-BB0E90CD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876800"/>
            <a:ext cx="4419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미세조정(Fine-tuning)은 여러 개선 레버 중 하나</a:t>
            </a:r>
          </a:p>
        </p:txBody>
      </p:sp>
    </p:spTree>
    <p:extLst>
      <p:ext uri="{BB962C8B-B14F-4D97-AF65-F5344CB8AC3E}">
        <p14:creationId xmlns:p14="http://schemas.microsoft.com/office/powerpoint/2010/main" val="18917979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3FE79A-7A3D-42C7-9DBB-E2C0CB64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49C9F-3B5A-4E9D-9A76-0E810E54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7F31F5-7816-4BC8-8E6A-EB56D19C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40323-1F26-4904-8F9F-1F0EE707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10BF77-EE83-4FCC-A15E-A911C1A6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745D03-7AE6-45DC-BA82-9336541D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과목의 기준: 서비스 개선 폐루프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33E1A6-3C22-48A8-9B05-67A3A193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83884" y="2093475"/>
            <a:ext cx="833353" cy="6054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4CA156-1D10-47D9-9B23-3B4E4EF5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056481" y="3491617"/>
            <a:ext cx="318312" cy="97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3F66F0-AD58-4125-884C-6E791FB2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352110" y="4961183"/>
            <a:ext cx="103008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A4C11B-4F9C-477D-A060-9591361D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359507" y="3491617"/>
            <a:ext cx="318312" cy="97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FC8E87-31CB-4826-A6EC-A0F7BCDE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617063" y="2093475"/>
            <a:ext cx="833353" cy="6054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A04C9C-5B42-4B4D-8F4C-9D011E19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2954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기획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C4DB70-6C9A-4E11-967F-21FDD61E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672" y="2506417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9F81FF-DD4F-401C-9205-2E8AB2A4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2002" y="4465883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35FB43-7EBE-49DE-8B4E-0EFCDD94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1698" y="4465883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92F80-6987-4EB3-8956-22C2F743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5028" y="2506417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6E405F-1EC2-4195-B2EC-FF0BFFF5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4700" y="29908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SERVICE</a:t>
            </a:r>
          </a:p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366B50-3017-48E4-B2EF-3BB23BBF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52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COURSE 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95C0BE-2725-4C38-93CC-CC0BFC8F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3360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16주 산출물을 연결하는 교육용 운영 프레임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E90C53-165E-4A92-A834-A5D4E9CB5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486650" y="342900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11788A-E02F-476D-AA57-DE3834D8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73380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업계의 단일 표준을 주장하지 않는다. 이미 학습된 기반 모델을 포함한 서비스를 반복적으로 관찰하고 개선하기 위한 공통 좌표계다.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E8FAA8-225B-427F-B25C-2967144F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391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판정 경계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A955E2-0BF0-49FA-BE13-1E63C78A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91150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계속 · 교체 · 종료</a:t>
            </a:r>
          </a:p>
        </p:txBody>
      </p:sp>
    </p:spTree>
    <p:extLst>
      <p:ext uri="{BB962C8B-B14F-4D97-AF65-F5344CB8AC3E}">
        <p14:creationId xmlns:p14="http://schemas.microsoft.com/office/powerpoint/2010/main" val="5707560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D438A1-40A1-40B2-A3E0-D18C5E93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FDED06-ADA3-498C-BBCB-835D52F5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C48F30-B58A-4FF2-89DF-C70EBD9A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3D658F-BD5A-4BBB-901C-FE280620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167E6A-F96F-4137-9E0F-7E33A0A7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D0B792-459D-4046-A521-D1BEF64B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판정 가능한 개선의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4B5FAC-7DE4-4343-9A9C-4DF7E5FB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59292B-4E13-4B8F-BABF-6813BCE1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FFC719-24C7-4C88-8CA1-76A68D8D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9D5D52-E1D3-4FE4-A468-F652AA841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성공·금지 조건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C066AF-728B-4030-821A-C7F4A159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82A2B0-B574-41F8-9CD9-0F57CB50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B843E-7FEE-49C0-B52D-83BF473E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0995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EFBD3D-3E35-4B40-8135-E26D8736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사용자·업무·데이터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C4177-5FD5-4BE7-B769-A05AEE8C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2393E3-0BDF-44DE-86CB-BE80B1DA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FF4209-B42D-41D2-BE1E-371DD054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1030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77F7B8-AAA9-4646-89A7-54663DB3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변경 대상과 이유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638FD0-AC11-4445-AFA9-CAB14D2B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CACDE1-E0A2-46B1-8386-0289D5C7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4069BD-F2B0-4AD1-8A3A-33B4B14B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1E01DB-6AD5-4D61-B5D0-D344E1C2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같은 축의 비교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F8932A-389F-4F7F-B913-EC75C9D91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정답 암기가 아니라 다른 사람이 다시 판정할 수 있는 운영 계약</a:t>
            </a:r>
          </a:p>
        </p:txBody>
      </p:sp>
    </p:spTree>
    <p:extLst>
      <p:ext uri="{BB962C8B-B14F-4D97-AF65-F5344CB8AC3E}">
        <p14:creationId xmlns:p14="http://schemas.microsoft.com/office/powerpoint/2010/main" val="6740413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94FC3B-34CD-4F9A-B749-969D1CE7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1FDCED-A976-4010-83A7-9AA4E4CF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F98DC-6E50-43C9-96D9-1425127B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8C542A-2131-444B-BE49-73CA6B31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C72933-01CB-4EE5-B6FE-A73A24AF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64D806-569A-4809-A28F-9E06D9C7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1주차 완료 상태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C0069-435A-49E2-A36C-4F133995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16192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5F8E72-0D55-429E-AEDA-1A55EDC0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EAE706-23A7-4D90-B063-F76A327D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621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8A31B7-9A57-46C5-9158-929643B7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6002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상태 확인과 사용자 화면(User Interface, UI)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809C41-5B0B-4A36-BB1A-1DEB9451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21526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F75787-9198-4482-ABD8-2F3D4983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4955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E5F80D-D10B-4809-98BE-F900E156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980291-780A-401F-99B0-1733D746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84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추적 두 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E61066-3A1F-4515-9FA1-17A60A27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765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같은 입력의 기준선과 변형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84B771-3F7A-4BFA-94B8-839930AF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0289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B0D652-7738-4AD9-A920-664F06C1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3718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684E04-4DCA-42B6-8580-3BB43DFB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4131D9-8F3D-4EB4-A234-0826C207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14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단일 변수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454370-94AF-40CF-807E-6C455EDC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프롬프트 버전 또는 생성 온도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831EE1-2312-4292-99FD-33AE4770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9052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98971C-E397-412C-82C7-856C5B94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248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E4677-1668-44BF-89A6-11CBA2D3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0652CB-DE8E-44CD-B508-E9578915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910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비교 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FBCF09-54D7-421C-B747-F2100626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291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출력·상태·응답 지연·토큰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CDA92B-5A16-4C9C-9BF7-CC6D6A2E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47815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C4F751-77D6-4AE0-B155-77598ACC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244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00A202-84D1-4281-BEE7-E79ACB22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5F0B74-77A9-4432-9CBA-A7B197C3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673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 가설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4EBEA0-0826-48D2-84B6-7E3238D5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1054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변경·기대·판정의 두 문장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89A62C-F136-4C28-B303-E3FF05A8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56578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576276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C32075-B9C0-4F67-A19A-313902D2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BFF2FE-9625-46A3-A487-F3EAF4DE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B5AAF9-1B33-4C21-989A-1380364AB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32447A-7857-4C4A-BEF5-B6DA12C2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1AC62-F3FC-4BAF-960D-3A79D606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19A3BD-DE7D-4609-B075-1B4256A9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첫 호출의 전환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2A22E6-B22F-4C79-85A5-843AD277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586038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76B6EA-2285-4AFC-A18E-6A8A9AB3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3193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호출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A21E07-3061-4295-83F7-A43EFAF0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3193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입력과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27C06E-8337-473C-BC98-4CDEE968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836DF4-4890-49AB-9DE8-547BED0E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5188" y="2381250"/>
            <a:ext cx="2586038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43B836-8F65-4B95-A006-035C57FE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538" y="2571750"/>
            <a:ext cx="23193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추적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CA9C3F-19F8-4216-9ED3-13DB168BC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538" y="3048000"/>
            <a:ext cx="23193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정체성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9F150-C691-4BDA-9DF5-EF208DE1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27B91E-1373-4082-86B8-5205EEE3D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00775" y="2381250"/>
            <a:ext cx="2586038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D8F8BE-391B-41D9-95F5-337EB8F3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71750"/>
            <a:ext cx="23193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F80ACE-D36E-42E7-B881-22EC39F8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23193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같은 평가축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6BC8C3-D934-4190-8507-7090CF5D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6813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888742-4BFD-4425-996C-0692D045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6363" y="2381250"/>
            <a:ext cx="2586038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426AC7-38B4-41A2-8DDF-4C76C004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2571750"/>
            <a:ext cx="23193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개선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686A3C-1A5C-4E08-914D-2CC33D1F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3048000"/>
            <a:ext cx="23193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버전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991889-FD2D-4806-B307-79556708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한 번의 생성 결과 → 팀이 다시 확인할 수 있는 실험 단위</a:t>
            </a:r>
          </a:p>
        </p:txBody>
      </p:sp>
    </p:spTree>
    <p:extLst>
      <p:ext uri="{BB962C8B-B14F-4D97-AF65-F5344CB8AC3E}">
        <p14:creationId xmlns:p14="http://schemas.microsoft.com/office/powerpoint/2010/main" val="18952971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AFF9D7-A221-4FBD-A068-CBC4AD7B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PROFILE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47CA1-FC25-4312-A2E7-210CA0CC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3ABA2-606E-4F72-90D6-57BC1AE8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D75EF-6756-4F75-AF87-CA63957E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63AF17-4D78-47EB-923A-2B8E589F0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A369E6-E9F1-4570-96E3-B39AC096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AI 제품과 교육의 운영 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B989C0-154C-4AC4-B6E4-C6D8D20C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차성재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7F910A-D95F-4533-A99F-A6F9E9B7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무신사 Core AI PM × 아주대 AI대학원 겸임교수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B9C4D2-FC88-4B0E-8BC3-7004E073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Artificial Intelligence (AI) · Product Manager (PM)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239530-7C51-4379-BB7F-27BCE486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6210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금융 · 자동화 머신러닝과 운영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의료 · 컴퓨터 비전과 데이터 운영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교육 · 거대 언어 모델 운영과 AI 컨택센터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커머스 · 에이전트형 AI 제품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A2B750-FF69-4D5B-BFA0-E6C48036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638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문제 정의 · 제품 계약 · 평가 · 운영 지표의 연결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4e8c5c71df464d"/>
          <a:stretch xmlns:a="http://schemas.openxmlformats.org/drawingml/2006/main"/>
        </p:blipFill>
        <p:spPr>
          <a:xfrm xmlns:a="http://schemas.openxmlformats.org/drawingml/2006/main">
            <a:off x="7734300" y="1428750"/>
            <a:ext cx="3390900" cy="33909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2BBBA8-D40B-4F1B-AF58-1753E136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5162550"/>
            <a:ext cx="424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CACB63-A3F9-4519-9422-35CE7541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372100"/>
            <a:ext cx="424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PRODUCT · EDUCATION · OPERATION</a:t>
            </a:r>
          </a:p>
        </p:txBody>
      </p:sp>
    </p:spTree>
    <p:extLst>
      <p:ext uri="{BB962C8B-B14F-4D97-AF65-F5344CB8AC3E}">
        <p14:creationId xmlns:p14="http://schemas.microsoft.com/office/powerpoint/2010/main" val="10306822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89C58D-B3E5-4367-A9D8-2EFA14D2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PROFILE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19EB5-6773-4263-A83D-624933E8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530E2-61DD-4605-A680-A83D8340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8D385C-C72B-4369-ADA6-50C62A4E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A72D2B-4F08-46DA-863C-BA17A8AB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431D89-6695-4F5F-965E-8124B99A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정형 데이터에서 생성형 AI까지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8DA80C-23CC-4F65-8337-31F5D7790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562100" y="3429000"/>
            <a:ext cx="906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5B48E-28E3-4426-A138-435F8B3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192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85D4F4-6D5C-460A-A320-F25C558B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금융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FB8321-A5F3-4B76-8ACA-56D59AEB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자동화 머신러닝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머신러닝 운영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0DAAE4-B310-4E94-9EC1-C787A554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418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EE09E8-F323-4E2E-B8FF-761DF895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400" y="38862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의료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B9381F-B612-4E37-A9DC-3C43283A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42862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컴퓨터 비전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 운영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96DBAF-0A73-4DFF-92C3-F6F38506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44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B73573-5D39-40DD-859A-D186AEB5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100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교육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5D0A77-DD03-4C09-9ED2-CC6882DC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거대 언어 모델 운영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AI 컨택센터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816963-C85E-4242-824A-8FA308F1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870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084C98-1A13-486B-A827-2657E447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862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커머스 · 현재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FE0C19-44E5-4DF9-8320-4FF4A1EA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2862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에이전트형 AI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제품 관리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52362-1BC2-4A6A-8782-CF9799C2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도메인은 달라도 서비스 운영의 질문은 반복</a:t>
            </a:r>
          </a:p>
        </p:txBody>
      </p:sp>
    </p:spTree>
    <p:extLst>
      <p:ext uri="{BB962C8B-B14F-4D97-AF65-F5344CB8AC3E}">
        <p14:creationId xmlns:p14="http://schemas.microsoft.com/office/powerpoint/2010/main" val="3369010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7FC715-8A10-4ED4-BBD6-77620BEE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PROFILE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0C07C-B115-4E87-B147-05096A83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10AC1B-59C4-46C5-B11F-3143DFB6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58064-EA94-4724-BCD2-0A58668F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978056-F0C0-433D-8656-D62FE8D7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811C3F-7621-4682-961B-B910257E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도메인을 관통한 운영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64D978-ACA7-469A-BB7B-6392C683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정확도 다음의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제품 운영 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E4B0D-B40D-459F-89FA-0DBED248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4000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현업에서는 한 번의 좋은 응답보다 같은 조건의 재실행, 실패의 관찰, 정책 통제와 변경 설명이 필요하다.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15C861-4C1C-4D11-B8B9-57CBA9EB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4859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ED217-8C2D-40D9-BA5B-7926805D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4478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재현성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FDBA1-B714-4BB9-ACA4-BB771106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48590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같은 조건의 재실행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DA75BD-6DFF-4D18-AA75-FF884735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2114550"/>
            <a:ext cx="527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69ACA-F0C8-4377-9798-D569ECFF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15EE4E-E30D-4684-81CA-61D3DDD3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5146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관찰 가능성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785C78-1549-42BB-B0AC-B90DA134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5270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실패 위치와 분포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6BBBD8-DB9A-4258-8CFD-39520A33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3181350"/>
            <a:ext cx="527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191B1A-7989-4B51-A841-E59518B7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195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142562-E0D5-43BC-9118-FAAAB1D0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통제 가능성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AA36A7-DDAC-44F0-8EA1-D34A29F7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권한·정책·대체 경로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012001-2050-47B6-BAD8-204601D53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4248150"/>
            <a:ext cx="527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66F647-01F1-485C-91DC-F9AC91E6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6863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B18823-062D-4237-BF8B-5CD4D493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482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 가능성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F6D5E-512A-4011-B378-CCA43444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8630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변경 이유와 판정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BA8313-D6E1-40A8-8BB1-ADB82A8D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5314950"/>
            <a:ext cx="527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FB88DE-74DE-425A-A499-7282F96F9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59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점수 · 서비스 행동 · 운영 증거의 분리</a:t>
            </a:r>
          </a:p>
        </p:txBody>
      </p:sp>
    </p:spTree>
    <p:extLst>
      <p:ext uri="{BB962C8B-B14F-4D97-AF65-F5344CB8AC3E}">
        <p14:creationId xmlns:p14="http://schemas.microsoft.com/office/powerpoint/2010/main" val="153502870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F542C2-E1BB-4BA9-BE77-BBD8FEB1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F8DDDB-AFA8-4931-85FA-F20DF655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363BF3-50C8-45C3-BE6C-65A4893A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EBFE05-35D7-4628-B8B0-09A608D3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5FCB55-E87C-497C-972F-06EA816E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1584DE-1A78-4A5C-A891-61957BC6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16주 포트폴리오 로드맵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02F9EE-C31B-4BBD-9897-21BA7DB0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6300" y="327660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E9501A-FA28-452D-AF92-2CC6E595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6BF12E-5585-40C8-999E-193C68E6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20002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W01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00538C-C777-4F64-9F15-5A9DBCD3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" y="23431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문제 후보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첫 실행 추적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A706DD-5061-4CF5-A8A4-63AF6D9E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32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C50EB8-9A6B-46D2-A36F-94D77E6F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147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W02–03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156A9C-1A8C-4210-BE8C-5556AE88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576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 기준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3D64B-410D-49AC-9ED0-70E10F56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5366F6-8379-4FC5-BE02-2FFF15FD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002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W04–07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50F2D0-DE68-4513-A27E-A4467480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3431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기술 타당성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4373DB-B1E0-4A81-9A66-2D1FC255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18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DDFFDD-D2EB-4CD8-B983-DBDF2F735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147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BBDBB3-291E-4B6C-B68C-BE7575C8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576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기획서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교수 질의응답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D5AFEB-7C5E-489D-9EE4-B4CA2CC9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F8A2AD-2DB0-45F0-BE74-F3B72BD9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002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W09–14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EE0247-A465-454D-B2B1-1E764EFA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431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운영 검증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4069D6-7A6D-4916-A36A-A1DB3AF0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2040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08DC65-9415-4118-8987-1823331F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7147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W15–16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8B9BD4-E5CB-45FE-A7D5-52E08B0A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576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발표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3A5836-0C39-4B16-B262-645A6072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매주의 실행 증거와 질문 기록이 중간 기획서와 기말 결과물로 누적</a:t>
            </a:r>
          </a:p>
        </p:txBody>
      </p:sp>
    </p:spTree>
    <p:extLst>
      <p:ext uri="{BB962C8B-B14F-4D97-AF65-F5344CB8AC3E}">
        <p14:creationId xmlns:p14="http://schemas.microsoft.com/office/powerpoint/2010/main" val="7679963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68545B-AE62-4375-B5E7-B77CFCE6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9CA16-BA37-45FE-BAF5-AA2E9603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67BB82-3A92-481E-8567-1BA74C0A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89BAA6-F21C-4D92-9645-D30FBDDF7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24DD3-715F-4A69-9BB0-44AF858B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C17C56-2D6C-4766-A80C-38D51228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중간고사 산출물: 기말 프로젝트 기획서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3DF56-4725-4E4E-BC4A-95F58558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1–7주차의 학습 결과를 8주차 구현 기준선으로 통합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892057-1787-4951-BFFB-229935A2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3371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문제와 사용자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2AB169-C47A-4546-B7DF-2FD31CDA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4574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CCF9CE-84C9-4F9F-A3B1-7E3989B0D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90F5DD-974B-4AB0-A051-886A5A40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051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프로젝트 한 줄 정의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3C27E3-2C54-4076-A840-E1827376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0B067-B013-447F-A300-6E3CB2E7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대상 사용자와 현재 불편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CEAD2A-0F4E-4AB0-A70B-6B7B8765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726706-A741-4B15-B6EF-CBC0E5AD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529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지원할 의사결정과 범위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F85EC2-B514-45C5-A502-3EE9F470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114550"/>
            <a:ext cx="3371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데이터와 기술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334EDE-0F53-4BA6-8ECF-6640909D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0075" y="24574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881477-5108-48FE-AB92-70C4C4AE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7241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DD8285-AF1D-4452-BB1F-00BC792C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7051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출처·권한·개인정보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5B8000-EFD8-4575-A21D-EBAF6E22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4480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11E4AC-C0BE-4356-8DAF-AA23109E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4290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기준선과 기술 대안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E328AD-B023-4E10-AD8C-C0763A80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1719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65DFA5-068A-4372-83A2-9E0AD7CF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1529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시스템 구성과 개발환경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4D339F-EF31-4F2F-BB46-FABA881E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14550"/>
            <a:ext cx="3371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평가와 실행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9CBB69-2F72-47A5-BA44-B7008B7B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10550" y="24574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77D02B-BBC8-4031-9BCB-AC252656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241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D6DFDB-AE8B-4720-ADD1-4D6AD8B1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7051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성공·실패·중단 조건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C79E1F-D504-4938-BC30-1E59DC95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480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18C77E-FD99-4BC7-9C1E-F1C89DFC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290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운영 위험과 복구 계획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07FD6D-E82E-4654-A847-D438F414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1719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A7FADE-4EC7-4471-A45D-F535547C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1529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9–15주차 실행 일정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05988F-0193-4B1B-93D3-0D0CF8D6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아이디어 설명서가 아닌 구현·평가·운영 판단의 계약서</a:t>
            </a:r>
          </a:p>
        </p:txBody>
      </p:sp>
    </p:spTree>
    <p:extLst>
      <p:ext uri="{BB962C8B-B14F-4D97-AF65-F5344CB8AC3E}">
        <p14:creationId xmlns:p14="http://schemas.microsoft.com/office/powerpoint/2010/main" val="33348751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159138-FB43-4543-B321-7DF48131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5C15C5-B9FE-4E3D-857A-E572879F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C46C7-16E5-4B90-9923-51A56137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3011B-A5FD-429C-A979-D2ADF63E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46C64-CDA6-4CE8-A8D5-60375D5F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B0E8AD-6948-4B1F-B61C-0F25E064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교수 질의응답 기반 기획 고도화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047D1-8F39-4C02-8314-B0754330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질문 → 근거 확인 → 학생 결정 → 문서 버전 변경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149C20-855C-44ED-A46F-0A4DC154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초안 0.1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91A405-559A-472A-B354-20A91E36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기획서 초안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632036-7973-42AD-B5D7-0D81CF14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63855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053E22-4E37-4B7F-9B71-086EF242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190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현재 가정과 선택지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확인할 질문 3개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0E827E-8619-4CD7-9267-6F67083F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099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BEBCF3-E239-4D69-BBAE-43A5E645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241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교수 질의응답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BA41EE-B099-405B-B3D8-6E2C3FEA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813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 검토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50DE8C-8E22-4220-AFA0-1ACDA544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29000" y="363855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09983A-C13C-47BC-9B4D-2FBD7D5F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05250"/>
            <a:ext cx="2190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가장 큰 불확실성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반례와 추가 증거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F469DE-77D9-483B-A968-AE94FCE7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0099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3A543A-F2C5-4413-9D76-5F7F2A34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241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의사결정 기록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712251-ED1C-4659-8D15-3ADFD4523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813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학생 결정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0A445C-825D-4ED3-A4D7-66DF0C32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48400" y="363855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7B5C8-1D27-4DB5-94F8-82246101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05250"/>
            <a:ext cx="2190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채택 · 보류 · 반박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결정 이유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13AD78-2EFE-4277-990C-19A94D07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099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6E5FD5-5588-4FCE-B379-9D4B6719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241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수정안 0.2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6D8115-8B9F-4023-8732-9DC1E8DF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813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수정 기획서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47B4FE-2FB5-4595-80A1-00BF2FD7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67800" y="363855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18F8E9-2D53-41D5-8E60-44719686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905250"/>
            <a:ext cx="2190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변경 전후와 근거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남은 위험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5BA971-5861-4FF2-BDD1-4CBCF8BF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질의응답 기록과 수정 이력 = 기말 포트폴리오의 의사결정 증거</a:t>
            </a:r>
          </a:p>
        </p:txBody>
      </p:sp>
    </p:spTree>
    <p:extLst>
      <p:ext uri="{BB962C8B-B14F-4D97-AF65-F5344CB8AC3E}">
        <p14:creationId xmlns:p14="http://schemas.microsoft.com/office/powerpoint/2010/main" val="212297774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34AD1B2-2052-4DDF-8B01-E76E9A4A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COURSE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B67009-8FEC-4F05-B476-4DDBC1E7D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96BC8-E875-499B-9515-00E476D0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26611-CF47-4652-A958-C3527C37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2DAEE-0DFF-4D7B-9F0F-A5AAFF06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2DF849-AF67-4AF3-B6B9-869C909F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중간 기획서의 제출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3C5D8F-970E-410A-A26C-68017D5F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58115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05B14D-125E-4AD7-B1A7-2D6CCBA7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457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기획서 구성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5B076D-0390-4A23-8316-55810201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1581150"/>
            <a:ext cx="4210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EB13DC-68DE-4AEB-8BA9-70EE1094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581150"/>
            <a:ext cx="3943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질문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413D4D-5203-4756-BC1D-C04FC0B3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1581150"/>
            <a:ext cx="4038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02EFB3-33B3-4F61-9169-4E2EA9F0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581150"/>
            <a:ext cx="377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필수 근거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ACF30E-54B1-4F16-8E55-8AB7E78D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95500"/>
            <a:ext cx="27241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28994A-C36F-4E16-970F-7E9BDEE0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457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문제·사용자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C258D7-C602-4899-B495-69D3E115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095500"/>
            <a:ext cx="4210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7D7DB4-B99D-4AFE-86A5-83D2765A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095500"/>
            <a:ext cx="3943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누구의 어떤 결정을 지원하는가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947654-16DC-4946-BDE1-42738A07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20955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2A1124-873A-4AED-B71D-D0E39AA9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95500"/>
            <a:ext cx="3771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사용자 시나리오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DF5440-6AAD-484D-85B1-C76D0739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743200"/>
            <a:ext cx="27241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C1A700-766F-42AC-A8F4-F9316E11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43200"/>
            <a:ext cx="2457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데이터·권한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498610-0E27-442D-9555-030E1741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743200"/>
            <a:ext cx="4210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8B7C9D-BC40-42E0-922B-C2302826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743200"/>
            <a:ext cx="3943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사용할 수 있는 데이터인가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0FD901-26E2-4D7B-89A9-ACD80BA1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27432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B14367-F5EB-497E-9058-C93C7735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743200"/>
            <a:ext cx="3771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출처·권한·민감정보 정책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DC8A06-F05F-418E-AC62-8F218D6EC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390900"/>
            <a:ext cx="27241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D80FF9-A2C4-4E62-BF5C-8EFBD99D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2457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기술·대안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8B5449-2DD2-43AF-999B-2616EB1E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390900"/>
            <a:ext cx="4210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0CCF13-A2DA-4A2F-9A28-731807E1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390900"/>
            <a:ext cx="3943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왜 이 접근을 선택했는가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242C29-6351-446B-98CD-E82E693C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33909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D39A46-E98B-479D-868C-2C5603E5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90900"/>
            <a:ext cx="3771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기준선·대안 비교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101F5E-5CDD-4A6F-9F8D-5ECAD1CB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038600"/>
            <a:ext cx="27241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3C1618-53C9-450F-9314-43EF8773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2457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평가·위험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FB08E3-60AB-450E-8A0A-D20E0126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4038600"/>
            <a:ext cx="4210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EED65C-BB10-44CE-9AFD-BCD9D7B7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38600"/>
            <a:ext cx="3943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성공과 실패를 어떻게 판정하는가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36BD2A-CD81-4CB9-94C0-421FB3F4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4038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A01740-F9BC-4AC0-9938-B01F2F4C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38600"/>
            <a:ext cx="3771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평가표·대표 실패·복구 계획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97551C7-93DC-459C-8346-2A491FF6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686300"/>
            <a:ext cx="27241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626B26-7EA0-4843-A1AA-7C0505CE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86300"/>
            <a:ext cx="2457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실행·수정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961F95-1DCD-42F1-87BB-949D08E9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4686300"/>
            <a:ext cx="4210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2B0C7C-5EC6-469E-B375-7A5AE5CB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686300"/>
            <a:ext cx="3943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9–15주차에 구현 가능한가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A299C34-F6E9-4DB3-B9F9-0D43DC4F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46863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A79990F-0A1D-438C-B770-0DFECF19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86300"/>
            <a:ext cx="3771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일정·질의응답·수정 이력</a:t>
            </a:r>
          </a:p>
        </p:txBody>
      </p:sp>
    </p:spTree>
    <p:extLst>
      <p:ext uri="{BB962C8B-B14F-4D97-AF65-F5344CB8AC3E}">
        <p14:creationId xmlns:p14="http://schemas.microsoft.com/office/powerpoint/2010/main" val="47924656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72DF68-87B7-4293-BA61-044D23C2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D27140-8BF2-4980-83B0-7288E0AA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833E43-C89D-4714-97A4-B6A6EF0A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D456A8-624A-44BE-BEFD-843684AF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0536C-7845-4EA9-9F3F-910CE7C8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7499CF-116E-4467-8934-E6EAE7A2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 사례: 고객 피드백 도우미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52C36E-9201-4340-BD1B-633F50A62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0"/>
            <a:ext cx="36195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C2F578-6B0B-41E5-BB25-03ED0C36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37F950-8668-4F98-9718-013D6A5F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“결제는 빨랐지만 교환 절차를 찾기 어려웠어요. 다음 주문 전에는 개선되면 좋겠어요.”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9F8213-D337-4A1F-86AA-9A9E04BD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621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OUTPUT CONTRACT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8E2412-AC3C-490F-A7CD-3CEAA316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384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E0916C-2873-4996-B0DD-E358F2316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400300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요약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DA7259-9913-4DF3-9355-558DB6A4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81600" y="29718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90AA1-B7F5-4E75-8A3E-36A6AF51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19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02662C-C2E0-4E53-8FAE-B6AFCB80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181350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신호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마찰 지점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행동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D24D44-6538-4FBD-8874-56DEE79F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81600" y="37528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378A5A-0B14-4E1C-96AC-E674AA86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005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D94843-1036-4CCC-86E3-6FA4C874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962400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실무 문장 재작성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774C2F-5B11-40DF-BAD0-900C9FE5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81600" y="45339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D96404-90B6-4770-899B-7658E0CC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0" y="1714500"/>
            <a:ext cx="31051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EA1E35-3966-43BB-9BD5-150FE2B6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621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OPERATING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1BA3B9-2224-43F8-A4B6-EEFDF04A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38400"/>
            <a:ext cx="26479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trace_id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prompt_version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provider / model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status / latency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token_estimate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content_fingerprint</a:t>
            </a:r>
          </a:p>
        </p:txBody>
      </p:sp>
    </p:spTree>
    <p:extLst>
      <p:ext uri="{BB962C8B-B14F-4D97-AF65-F5344CB8AC3E}">
        <p14:creationId xmlns:p14="http://schemas.microsoft.com/office/powerpoint/2010/main" val="56888925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6CFE19-BCCB-4B91-B78A-497332EA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DC7048-6A12-4FA1-B36F-2C42602E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A6F2E0-8F0E-4B5A-97D3-9BD98D50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1FCD7-AE87-49BD-9EC5-DFF0A61B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9F7DC-72B9-4FC6-A1E9-2FA1A31B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914A35-16F9-49C9-A6EA-5A34A507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눈에 보이는 호출과 운영 체계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04269C-F579-4235-B627-18A92142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VISIBLE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B1BE77-5A3D-498C-8964-AD4FD26F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프롬프트 → 모델 → 응답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316796-EA3D-414E-A500-8AD85B55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990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B50D6A-8089-4D77-A91D-3A960DE6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OPERATING SYSTEM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BB86D-8FED-4681-863A-6D07960B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평가 데이터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D450B0-06D5-41D5-82DC-8BFAAF74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버전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801EBA-D02A-4FE9-82C3-E10CF4FA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평가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7886AE-23B2-4254-8D3C-45E86998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시간 초과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BFCB54-D6F2-41B9-B625-3B2AC30A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대체 경로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4084B-F8AD-4D08-A886-A1B71666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안전성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F8E7D6-E4D9-472B-A33D-EA9C2AEC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비용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D746FD-8984-46B4-AAE4-547D3FB6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책임자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CC5FEF-4EAC-46EC-80E0-44E53BA0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데모의 화면보다 배포 판단에 필요한 운영 증거의 구조</a:t>
            </a:r>
          </a:p>
        </p:txBody>
      </p:sp>
    </p:spTree>
    <p:extLst>
      <p:ext uri="{BB962C8B-B14F-4D97-AF65-F5344CB8AC3E}">
        <p14:creationId xmlns:p14="http://schemas.microsoft.com/office/powerpoint/2010/main" val="9291161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18A5E1-3982-40F5-9B90-343FD7DC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0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88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1D1972-1677-45D8-91C1-82C1E652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9334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FROM CAPABILITY TO 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72E22C-7F96-4BD9-AB6A-10939CB0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24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3F00E-BB65-4321-87D7-BB50A63B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능력의 형성과 신뢰성의 간극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083833-C708-4FCB-9362-CA13CD88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규칙 · 데이터 · 연산 · Attention · Pretraining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3AE024-B41F-4BFC-A8B1-55A80F57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W01 · 18</a:t>
            </a:r>
          </a:p>
        </p:txBody>
      </p:sp>
    </p:spTree>
    <p:extLst>
      <p:ext uri="{BB962C8B-B14F-4D97-AF65-F5344CB8AC3E}">
        <p14:creationId xmlns:p14="http://schemas.microsoft.com/office/powerpoint/2010/main" val="154655912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ED22EF-F2FD-4345-A6A6-95407239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B5E5FE-5816-473E-A15E-84ABDF7C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633EE8-C5EC-4162-A3B9-2FDE2FA2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E3D6E-B2E7-4C20-912A-EF04E7C3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031940-0F7C-428B-AD4D-1414A2B9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D02E97-65C4-421C-A3E2-883092C2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AI 역사의 네 번의 병목 이동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70EBEF-1AD5-4D55-A985-6EBC8F07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562100" y="3429000"/>
            <a:ext cx="906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BA510A-9325-4036-B2ED-8FBE4294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192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E5D2E3-75ED-4B09-9738-A9E4090A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규칙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A2E70D-C201-46A5-BB65-F93FE9CF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사람이 규칙을 작성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12AAF2-0C6C-4B36-9735-68B688DC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8617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1E7FE2-1504-4FE8-9142-A057C412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862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학습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1B225-F30B-47F2-8F8E-1D7654B2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862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데이터에서 패턴 추정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C75751-F9B0-4E0C-A986-907168EF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416751-E530-4F7C-9DDA-2C1B7B42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확장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D4CB88-2F4A-4178-9370-29FEB5E5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표현·연산 규모 확장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8DBCF1-B421-4D6F-9854-93F2F2C1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007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CD3DB0-365B-4654-B518-EB7DFA7B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862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생성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746B76-39B2-47CC-BDD7-47ECE79D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2862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범용 자연어 생성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5C1BD8-519E-4BD4-8FBF-5A95B025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87025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114088-1AC6-4A4C-B461-545DBC30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9431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운영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2F050D-C634-4F47-9133-E0F00168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34315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품질·비용·안전 통제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2B7C7F-FEDE-4577-AFD0-BDD65BD9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능력은 이전 운영 문제를 지우지 않고 새로운 관리 대상을 추가</a:t>
            </a:r>
          </a:p>
        </p:txBody>
      </p:sp>
    </p:spTree>
    <p:extLst>
      <p:ext uri="{BB962C8B-B14F-4D97-AF65-F5344CB8AC3E}">
        <p14:creationId xmlns:p14="http://schemas.microsoft.com/office/powerpoint/2010/main" val="29130315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EC778F-5B05-41A1-BAEA-D1B35980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69D94F-0244-4C78-85CA-783A93FD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DE6A2-A7EA-4B85-BA40-0906A108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13370C-2463-4D34-AC1A-225300FA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A29680-E919-41B6-8E04-87461B41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8C02-1BD1-4F4A-927B-AC8C4506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규칙 기반 시스템의 경계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D9BB21-D3CA-4CED-ADD7-B7E4FF8E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EXPLICIT RULES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B06BE9-8E3E-4F19-94A9-ADC3D3CA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IF / THEN의 명시성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CE2842-56F7-4E21-AA1A-FF6E3D94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78F2E5-3622-41CD-887A-BE0E3487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동작을 직접 설명하고 통제하기 쉬움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작은 범위와 안정된 규칙에 강점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DA35D9-9672-4C27-BAFA-648CB82C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EXCEPTION GROWTH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531192-C46A-4FA2-9529-3481D226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예외의 조합 폭증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69F964-E54C-4D7C-8215-3242E8B6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110623-323F-4CE1-96DF-F5C9A158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규칙 수와 상호작용이 빠르게 증가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모호한 언어·영상·패턴에 취약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69F339-8581-4FC6-9615-2C3B3A79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6383198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AC1B7D-1100-450E-8CED-45600EE7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05B725-260D-48F5-8F84-2C8CE9E8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979FEF-8BCC-43F8-9458-012FA16E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BD201-F16F-460F-A762-E70A4DED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9D687C-37DE-4E61-BC28-093B5A6F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1388F3-F826-406A-9F27-D4E3A643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기반 학습의 전환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614172-B456-40FC-858A-0B7CAEEE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1A5CFF-8425-4617-B82A-62C02AE8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사람이 규칙을 작성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B78301-C066-4CEE-96EC-60998687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417463-4521-4D38-981D-E3A85C50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도메인 규칙 → 코드 → 결과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오류 수정은 규칙의 직접 변경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94D002-F754-4D16-9F5E-A979DFAA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AFTER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5596D3-B947-4A24-8359-E0B9F3EE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데이터에서 패턴 추정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CB7ED-D04F-4843-B4A1-715CDDEB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720A7D-4095-4F8C-B519-E3F7BA58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 + 목표 → 학습 →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오류 수정은 데이터·목표·모델의 변경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1D08C-2BFA-45F7-9A67-EBEAD0D7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8639230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32542F-C922-4218-A3AF-49E36AC9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F4DC5C-087F-4C56-B953-0FAED20C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F106B8-0D10-414D-8C0C-A33A530A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BC8EA1-1576-4C47-8DA2-C6AD14D4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747672-84B5-42F6-87CD-7906D877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827AF-E1BA-452A-832E-784964EB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딥러닝의 세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4C0B2D-A6A8-424B-A825-922E629C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8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DA0985-981F-49F6-94B3-64A02A27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347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A122C-49E7-4E53-9236-76D436D4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86150"/>
            <a:ext cx="347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6CEDC7-F357-4BF5-BACC-701A605A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290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다양한 학습 신호와 충분한 규모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3B3AB-E06F-4AC0-8B72-258E3992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8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AC880C-E932-4F2D-9314-F0B18241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2609850"/>
            <a:ext cx="347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그래픽 처리 장치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60DBE9-5B9E-472A-B7B3-1BCC696C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56100" y="3486150"/>
            <a:ext cx="347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74B4B-0111-4F1A-BEC7-BE25D060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8290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Graphics Processing Unit (GPU) 기반 병렬 연산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EBD7FC-6480-4702-9C92-39ED1EEC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8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D305DB-9399-4AD3-AD64-86949838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609850"/>
            <a:ext cx="347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학습 구조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3C8FF4-3A9F-4BC8-8D62-C61667AD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02600" y="3486150"/>
            <a:ext cx="347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C56689-4C59-46B8-AB94-6255EB6B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38290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역전파·아키텍처·최적화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E41245-3CD5-45B1-86BE-76134B39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데이터 · 병렬 연산 · 학습 구조의 결합</a:t>
            </a:r>
          </a:p>
        </p:txBody>
      </p:sp>
    </p:spTree>
    <p:extLst>
      <p:ext uri="{BB962C8B-B14F-4D97-AF65-F5344CB8AC3E}">
        <p14:creationId xmlns:p14="http://schemas.microsoft.com/office/powerpoint/2010/main" val="160554224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AD23A8-CCAE-4398-B58A-FED183EB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33DFA4-550B-4DA6-A345-9A1F4728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08229-7836-4758-8849-C761512C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1F6028-A7C3-4A55-A3C7-5092F638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FA1FE-E5E6-4739-ADFD-B46040F7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B94965-8E53-4639-827E-9B31BE14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표현 학습의 변화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DCEAA4-78D4-4736-8DFF-8FB25DA5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HAND-CRAFTED 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472A39-884F-451A-84EC-0671315A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사람의 특징 설계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38CC82-34C3-4EAB-BF51-176A5C45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C1BA3C-A76F-4A2D-B1DD-69406C88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원시 데이터 → 특징 추출 →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도메인 전문지식이 병목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D2B27-D59C-4B31-A7BE-B1A6C8D3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REPRESENTATION LEARNING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A3F8B-EBFF-4DED-AECD-DF9AE3B3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학습된 표현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640915-7063-4DEA-A6C0-B94AA0C7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8619E-8FC9-4237-9FDD-BCC3CA74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원시 데이터 → 계층 표현 → 출력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데이터와 목표의 품질이 병목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5994A1-4285-448B-B2EF-6CE83D54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6782759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E47477-BC4A-4F07-A8AB-E2231FB0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E742F-AF17-4CE3-8EA8-69E87B0F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6B258-2199-4423-8783-B8F08A5E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2B3F1-B3A4-434A-96B3-8FD1FD7D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BE9654-AA4D-4499-8606-2F0B3509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87E25C-567A-422D-A04C-0394F1ED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시퀀스 모델의 순차 병목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F8BDB2-0D8B-4F5B-8218-C36BB1C5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1AB55F-ABAD-40C5-9972-4A3DE4AD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60C91-EFB6-41B4-9ABE-3158CF00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state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20A2E-A54F-44B5-BD19-5FCCC21F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5698C-4102-4532-952C-629B07DA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EEBBC3-CFD8-4783-95BC-09CD9CAE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F4418-1CD1-4F66-8944-5A38C7A1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state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8C669F-3417-4796-BF17-B41D447B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8D9F65-C49D-4AAA-9EBC-A4E632EC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6D91F6-8176-4011-8E66-F59256B6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0C6DBD-7550-4455-BA6E-932126BA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state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7E5032-FE51-4D71-839D-D74040F0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84EBBD-F35D-4A83-983E-9BBED205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706A6-7195-4FD8-90CD-6D90A171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2094A3-6703-42FD-967C-70AEC010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긴 경로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8F8F70-DB78-488E-A711-2D1836DD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5478AD-2B7D-49CB-9F92-CC6E8EA0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2593CA-2983-412E-9EED-588698C3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C6D019-B204-45F2-9085-3C564218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먼 관계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D63254-68F7-41BE-B8ED-199F3CAF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이전 위치의 계산을 기다리는 순차성 · 멀리 떨어진 정보의 긴 전달 경로</a:t>
            </a:r>
          </a:p>
        </p:txBody>
      </p:sp>
    </p:spTree>
    <p:extLst>
      <p:ext uri="{BB962C8B-B14F-4D97-AF65-F5344CB8AC3E}">
        <p14:creationId xmlns:p14="http://schemas.microsoft.com/office/powerpoint/2010/main" val="153547695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EA1233-E6BB-4D5E-8209-EB09EE28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09252F-DD21-4101-9D62-C39E1AB6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E2E459-AFAE-4635-93DE-8FD04964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DB7D8C-5B05-45AF-B920-BB783676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2E639-6070-4A5B-BF8D-35B05187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1568D5-0A55-4E66-9281-11FAC4E8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자기 주의의 핵심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F24F54-111F-4526-982D-D8B99A13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 토큰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CE670E-9954-43CA-B8F4-483EEC2A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62150"/>
            <a:ext cx="2057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1487E-4651-41E0-AB6A-43CFC77E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57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고객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277DA-85B8-479C-BFF8-ADF7F75B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38450" y="1962150"/>
            <a:ext cx="2057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52FE6F-036A-4A98-B80B-65D0E5F9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962150"/>
            <a:ext cx="2057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A636F7-54EB-4D8B-81CE-419D8379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1962150"/>
            <a:ext cx="2057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7CA6F6-6A11-4DED-B4A8-C08FA686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962150"/>
            <a:ext cx="2057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C623EB-3DF3-4655-9B8C-67C60E73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6150" y="1962150"/>
            <a:ext cx="2057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7DBB7A-5F7F-42AC-A716-333035CB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62150"/>
            <a:ext cx="2057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절차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29DD3-CF60-4F24-8EEB-A24198EE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0" y="1962150"/>
            <a:ext cx="2057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B1EB3F-E54D-4AFF-A9B4-059D3F72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62150"/>
            <a:ext cx="2057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불편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06F154-2A66-49B3-AC5B-660E3A82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현재 해석 위치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95B2B8-0E2A-49CE-AD36-B3CD0727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600450"/>
            <a:ext cx="2343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C92923-81BA-4A2B-8ACE-180CA546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1924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불편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7356CF-9AB2-4697-8A38-0DC0D8A4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4290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A8605A-DEDF-4520-91A8-7F8A4DBE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3829050"/>
            <a:ext cx="23241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3B68B5-94E8-41B8-8115-1FEC59F2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814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질의(Query)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8A121C-2754-48D3-9C0C-273D45AF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81500"/>
            <a:ext cx="2019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현재 위치가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찾는 관계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782CAA-9C38-4EE9-BA60-25829D0E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290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8320BC-143A-4F1B-B3AC-8FB69D27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3829050"/>
            <a:ext cx="23241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90457A-2515-4988-B059-AA0A9C10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814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키(Key)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43E45D-51F0-4E76-8987-22616333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81500"/>
            <a:ext cx="2019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각 토큰의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비교 단서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C7D51F-ED87-4A6F-BC58-F98574C9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290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B43566-F6FB-4D31-B844-0D1EB78A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3829050"/>
            <a:ext cx="23241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7FC918-F81E-4146-A6AA-CDD151C7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814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값(Value)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34114A-9ED0-45DA-AC90-474C0947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81500"/>
            <a:ext cx="2019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선택된 정보의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전달 내용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039A3D-9762-4406-B0B0-8270DE60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위치를 이해하기 위해 다른 위치를 얼마나 참고할지 계산</a:t>
            </a:r>
          </a:p>
        </p:txBody>
      </p:sp>
    </p:spTree>
    <p:extLst>
      <p:ext uri="{BB962C8B-B14F-4D97-AF65-F5344CB8AC3E}">
        <p14:creationId xmlns:p14="http://schemas.microsoft.com/office/powerpoint/2010/main" val="63274423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8CC0073-9C11-460B-AF03-ED63E0C9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A67E03-65DD-4A8D-A4DB-307C23A2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A07168-08BF-41D0-A480-AE7B3BF9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3618E-04BD-4A1B-9492-F8472898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D060FA-C95F-4304-B25A-F4536361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473D6-DC86-4FED-8321-4F7325C3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토큰 관계의 가중치 지도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5E89D-5EA7-4D48-849E-08EB8D91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고객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6D088-E5CA-4ED6-9D88-C03BE0C7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621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고객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6A7668-2C54-463E-B48E-887B9A45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교환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45372-0438-4418-AAFA-B34320BC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479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교환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36BE8A-1FF6-45CC-A17C-176E2E5DC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절차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AC9916-5DE2-4A49-910D-C2E37D0B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33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절차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5175C8-09D9-467B-9192-08263E09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불편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90FB0C-A597-403F-A644-B7C6E246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195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불편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43DCD4-A06B-43AC-8C43-E573883C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428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개선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C2031F-6CD8-4375-98D7-566A8D71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053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개선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5BBA80-B323-49E9-A2B7-B93733E3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D172D8-2ED4-4FEE-9008-74AE3DB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8D4D1B-A089-4DE1-81B2-9928B0C4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5E7E78-0D69-4B7E-883D-3B4F1C41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4E9E5C-578F-4445-A165-59530F357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solidFill>
              <a:srgbClr val="E0F0F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209DDE-4C07-4329-A5C6-839BC4D5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AF0DDD-8EA2-432D-8BF2-88D584E0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DF5C0C-540C-4DBD-89D0-1D36ED1A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62EA92-5E8D-49DC-B53F-80AA5B97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1752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solidFill>
              <a:srgbClr val="E0F0F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663AF8-092D-4E2A-9C3E-47B4FE5A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D06380-5510-407D-AAC4-03AB5034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016A07-0A08-4D80-9F2A-F0193F70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FD7A2A-BFF4-44E2-8286-7E64D2B2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6C672E-F076-4A20-9AE4-967DDE60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A52695-D591-47C0-A465-42B3C849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26C986-4701-4E81-8DE1-06D42BFBE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1D42CF-37C5-4DD8-A2EE-9ADA053F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C81D92-A5FB-44AD-9107-90784531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775A28-F2D7-47CA-A764-9189B68F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24384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47CBD9-CA99-4AE8-B780-88D00017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384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C24E23-E9D6-4AF4-B942-B4685ABF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solidFill>
              <a:srgbClr val="E0F0F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5F8A21-B20D-44A0-94A5-0CD1D826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F130367-C2B1-4D07-BFFF-C94FC805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5E4C41-EF79-45AA-B8B4-68D16394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0.7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283764-0DBB-451F-A1AF-1A803B41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770B01A-20DE-418C-B2A7-9C6A501B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1DEC9B0-6A8C-4BC9-89CA-E56D4E00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686D1C-08A7-4F06-94E1-BBFE9421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0.8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1414926-EE26-4201-963B-097613AB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3124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2BB6A4-C19E-433C-89A1-19521C18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124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BF17ABC-2431-4B08-9F23-FC81D06F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2303CA-6426-4ED9-835A-9DC2AF64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ABDA9DD-0F53-48F9-B171-1789925C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822D1E9-189E-4ECE-B057-B99EF0DB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0.2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4A88767-BCE8-4129-8D5E-7D79B148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8056C1D-49D4-4B3E-B0FA-6542AADA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4500F15-1A6E-48D9-8EF1-2FBBFEDD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C010B2A-DCB5-4A1B-A017-A336FFC4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D4E2F2E-F6F4-483F-A245-8DBA3693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3810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C6AF67E-4CF6-42C9-8028-8C1E72A5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100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3D81372-0442-44DB-9B9C-047BFC89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solidFill>
              <a:srgbClr val="E0F0F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4B6959B-1FD7-4964-AA14-69A0A251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0.1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5FC1762-39F3-4685-9C5A-767D0742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6F8"/>
          </a:solidFill>
          <a:ln xmlns:a="http://schemas.openxmlformats.org/drawingml/2006/main" w="0">
            <a:solidFill>
              <a:srgbClr val="A9C6F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8F2BBD1-D2BB-4BA1-BA04-5F67D834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0.3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623B8E3-3D26-4CF4-A740-1526CBD9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E04E252-7050-4A70-A1DC-67B0E29A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B70CF26-3A37-4D9D-9A59-62233826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F82F048-E8F2-4AB6-B6BE-420EC258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EF73142-A34A-485F-B954-B112C5BE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44958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A74AC40-8A7F-44BC-9575-FF679823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4958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0.9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2EAF1E6-602D-47A9-A917-A72DCD13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00250"/>
            <a:ext cx="33909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색의 강도 =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해석에 기여한 관계 가중치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43F2A84-A49B-4053-9089-14F2DB8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95800"/>
            <a:ext cx="3390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가중치는 설명용 예시이며 실제 모델의 자기 주의(attention) 값이 아님</a:t>
            </a:r>
          </a:p>
        </p:txBody>
      </p:sp>
    </p:spTree>
    <p:extLst>
      <p:ext uri="{BB962C8B-B14F-4D97-AF65-F5344CB8AC3E}">
        <p14:creationId xmlns:p14="http://schemas.microsoft.com/office/powerpoint/2010/main" val="79975952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DAE72F-14B5-4265-90AD-478A832B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158C6-E0F1-4662-AD25-09F335B4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5BCC3F-97F2-4937-BA0F-DB102F2E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E688C1-5A52-46E7-B33E-28289A67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9092A-18DC-4F43-88AB-0D5C6DBF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8934E-B5A0-4E1F-AFD5-18EC431E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트랜스포머의 관계 계산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216E55-D5D1-4CCF-B0B4-2AAB2407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3A482-DB1F-4EA3-8FBF-208ED6C3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토큰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3E7529-9F5B-45B8-99C4-DD581FEC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 위치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C9F8F6-4BB5-4FC4-837B-CF2430DE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0170E5-3F7F-4733-B0DD-F67671A59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3FAC55-79E1-41CF-B1AD-2B86E8B1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Q · K · 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6BB568-04B4-45D4-86F2-B2FE0A0D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관계 표현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4B84EA-0B2B-40C0-B1EF-1961426C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C76AAF-A0DE-412D-982C-44FD1794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E7B83C-FEEC-4B00-91E0-83EEB1F9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자기 주의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6F2A94-531A-4536-AC7E-ECC6B5CB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관계 가중 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B3DE87-22F2-454A-935B-05413D7E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FC1ED7-505C-4682-BA4C-9765EF23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95BDF7-130D-4AB9-8580-84B76615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FFN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6B0BDA-676B-44BB-80B9-5C7237D77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위치별 변환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7D7B4F-FAB1-432D-B1C0-991CFA2D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074033-3AA9-4C8E-8A1E-12C1FBAA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52F354-020F-4C0D-8EDB-9B1D43CC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BD1C77-B9D5-443C-A85A-8E9F3EB9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문맥 표현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C4C9F1-C55C-4324-A3E3-48B5F4D5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Q=Query · K=Key · V=Value · FFN=Feed-Forward Network</a:t>
            </a:r>
          </a:p>
        </p:txBody>
      </p:sp>
    </p:spTree>
    <p:extLst>
      <p:ext uri="{BB962C8B-B14F-4D97-AF65-F5344CB8AC3E}">
        <p14:creationId xmlns:p14="http://schemas.microsoft.com/office/powerpoint/2010/main" val="103594686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585EB8-F4B6-4C37-86A1-29600AE4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B7E49-5B02-4747-9820-968FABA7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E9CE07-0765-4A4D-8EE3-6EF2B7B1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AF0DF1-00B9-4105-8C72-CA425368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DE5CA1-9A0A-4B11-BD93-549E2EA7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C10F8E-F5D6-4263-AE04-9925B018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사전학습의 다음 토큰 목표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CB4810-F93D-46CC-8DB4-4A1011E0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9E9CFB-7FD0-4304-A76D-63FD9D64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대규모 텍스트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E8E41-FD49-4BEB-8F3B-388978C9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학습 말뭉치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7EB304-237C-4AF5-888C-33D01A88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BCDAB6-F01D-4863-AD7A-A075FBCC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09E0BB-2883-4DDC-880C-7DB82FF6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문맥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FA8048-7469-4A0F-9ACE-392DB6E6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토큰 시퀀스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298FAB-B81F-419A-8645-4C4CE7BE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BC6D9E-7C2E-46F6-9AED-1DE86A51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A6BDC0-1E77-4596-B44D-D5090ADD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확률 분포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B4F736-5F8A-4CA2-A12D-41CC1BCE0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토큰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670714-9CDB-431E-B5DD-0840D7AF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07F8CE-D7E5-48F6-9E35-FC3D88C0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17721E-D08E-4EF5-9863-4C374984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B50906-14CF-473B-807D-866D803F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손실 함수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6D5A5-67E1-46E3-9CA6-97149A17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9B8B3A-8B7D-4C34-A974-A02EAEB1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99B133-DCC5-4733-94E9-BC864FB1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반복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E319B-6CE1-45A6-AB82-8BB65D6D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가중치 갱신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3732F4-94DB-4C59-98FF-2B8B613A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생성형 디코더 전용 대규모 언어 모델의 대표적인 사전학습 목표</a:t>
            </a:r>
          </a:p>
        </p:txBody>
      </p:sp>
    </p:spTree>
    <p:extLst>
      <p:ext uri="{BB962C8B-B14F-4D97-AF65-F5344CB8AC3E}">
        <p14:creationId xmlns:p14="http://schemas.microsoft.com/office/powerpoint/2010/main" val="85467552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9F78AA-B80C-4416-A6BF-251745FB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F0B396-2C93-4F76-8603-3709337E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D9530F-F7E2-4477-B82E-7F1E1F1C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ACA60-77AB-461D-A357-B1C6D16D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070A3-BC5F-4B7E-9F77-B4391DD0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3B7947-B238-4AE8-90AF-CE89A07A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범용 언어 능력의 목록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DCB4CB-6909-4BEF-A031-D7CAC3E3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FA1BF1-498B-4D16-B298-58D5902C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BAEC0E-F18D-43EE-A8BD-2B2D4999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50467-0315-4C09-A575-F92E9463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초안·아이디어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B67067-E1D2-41E5-80E0-96EDEC27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9AC75-D970-4E41-BFCF-CECB1C72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42A9A2-48D2-4E48-B9BF-EB6E4D65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4988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63EB9E-80BE-4DF4-9811-115F79CD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압축·핵심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95568-F682-4152-A2F7-6AF72228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2812E2-01E1-4E3C-9EC8-52D2F954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750A2C-12D0-4006-97DC-ADFD3E56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9016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8ED18B-2CB0-4E3D-A23A-E9342D1F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문체·형식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10F994-64FC-4B71-ABB8-D546C843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44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B905C7-C069-4E27-93DF-F9D41FAF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44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BA529D-9838-460C-B173-E7504D77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044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A8B76E-196A-4A36-867B-AEDDB8CF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44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레이블·경로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E43B90-0446-465F-A872-3E5E8700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0720" y="2076450"/>
            <a:ext cx="201168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438730-3FE8-4D9A-8251-7E66F9E4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0720" y="2667000"/>
            <a:ext cx="20116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6F06E7-4133-4441-8055-D53953CE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70720" y="3448050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0B9538-AE15-4948-B608-F3FC665D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0720" y="3790950"/>
            <a:ext cx="201168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생성·해석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93ECE-D0EE-4BC8-9D72-E92277DA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하나의 모델이 여러 자연어 작업을 수행하는 범용성</a:t>
            </a:r>
          </a:p>
        </p:txBody>
      </p:sp>
    </p:spTree>
    <p:extLst>
      <p:ext uri="{BB962C8B-B14F-4D97-AF65-F5344CB8AC3E}">
        <p14:creationId xmlns:p14="http://schemas.microsoft.com/office/powerpoint/2010/main" val="150590327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ED01B9-8CDC-4E30-B8A0-AFB709E7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781D6A-73DB-47D7-BE3F-B066EB88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716353-656B-4B05-AEB9-9C68B0AE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73EF58-A37A-4009-BDB1-A0EF38AB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79C56-1598-410F-98C0-897D72B1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CBC820-F0E4-45ED-A5BB-E9639FC2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보장의 공백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73749A-D96D-4FF1-A77F-BA1343BF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모델 능력 · MODEL CAPABILITY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946FA0-3B98-4CA7-B1D6-CAE371FB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생성 가능한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21B5F4-3F76-4F48-9EEA-DD558CA1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D64248-A358-4C6F-942C-A0D8AADC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요약 · 번역 · 질의응답 · 코드 · 멀티모달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확률적 일반화 능력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8F063A-698E-47DD-9DE2-ECAB9F214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서비스 신뢰성 · SERVICE RELIABILITY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DC3B3F-E22C-4043-BFB8-5C7B1DB1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별도 계약이 필요한 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7296B8-2B05-4D5E-9DBF-13CD9DAD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C5CEC5-170D-4611-B918-0082A0D8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사실성 · 최신성 · 권한 · 지연 · 비용 · 안전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운영 환경의 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E9473-1129-4125-8580-C18B2F0E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7697109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10DE06-6981-4217-AD7B-B512B8A5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CD0BFF-D598-43F6-91D3-FF97E666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E86D6-CB0D-4CCC-8BEB-032DA8CE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7E1EF7-53E5-43F6-866C-27B7F890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A2424B-0A4B-4C8C-923E-66CDC079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49BEED-0878-4B7A-A8AD-AD5B8039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생성형 시스템의 변동성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B9633-0459-44E1-9B75-8AB1197C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애플리케이션 코드도 실행 조건의 버전 조합에 따라 다른 결과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A03088-21F8-49D2-8749-BA85F235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C6C0EE-58ED-489A-85B4-B67A4453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9718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FB4DAB-B302-42A9-8E6A-880ACA90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provider · tag · revision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358F9F-D8CD-4C01-9F5E-6E324EA6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38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제공자·모델 태그·개정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7E65BA-D186-498E-81E5-63A94910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2098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A58E32-DC6B-4337-9964-B078E9C9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09950" y="29718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DE7465-27BD-4A5E-970C-04653FEC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retrieval · tool result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A6040A-49BB-494B-BA8C-EF3E34C1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05250"/>
            <a:ext cx="238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검색 결과·도구 반환값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D15164-9BD2-45F0-A315-F8F0686C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생성 설정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5524DE-6B5A-427B-B562-65894FDA0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10300" y="29718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562AAF-79DF-4A4E-85A1-00F09FAE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575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temperature · seed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C967FC-E615-435A-8046-11213ED5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05250"/>
            <a:ext cx="238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온도·난수 시드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85A6AB-55CD-4134-B8C7-AE1B11FE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098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28A745-14A9-4662-BFE1-2D918567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29718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859E0E-B7CA-4D04-B0CB-74433FA7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575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template · example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D24CAF-81BA-4520-A617-E5EBE663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905250"/>
            <a:ext cx="238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템플릿·예시·정책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F6CDB3-B6F0-4E10-B309-282366A7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모델만 기록하지 않고 네 버전을 하나의 실행 추적으로 결합</a:t>
            </a:r>
          </a:p>
        </p:txBody>
      </p:sp>
    </p:spTree>
    <p:extLst>
      <p:ext uri="{BB962C8B-B14F-4D97-AF65-F5344CB8AC3E}">
        <p14:creationId xmlns:p14="http://schemas.microsoft.com/office/powerpoint/2010/main" val="176687255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2BD2BB-BF70-4452-80C1-B358AFB4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A653FA-24B3-4693-9616-9CB1A67D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94745-6E67-444A-9745-F1067EAF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B1DBD3-3544-43B8-BB3B-A1517D499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192897-91A1-4895-85C9-25114C33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7A771D-017D-4567-A1FE-BBF16D2C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제품 정의의 잔여 과제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931FFF-7234-4373-B9B6-084F53A3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33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모델 능력  ≠  서비스 신뢰성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1385AB-65BB-44DC-95C7-E02A6624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733550" y="3371850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237E3D-1108-4A1E-9905-CDD0D6C3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사용자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E23C5-2BCB-4872-8578-68961AE58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누구의 결정을 지원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7C29D5-9BDB-4DC0-9C4C-427A3F15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B8823D-3AE5-4B23-8257-5D3F4A6C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어떤 상황과 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207224-C021-462C-8FF3-07DFD816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성공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831916-57FC-408B-8E74-55D126C8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무엇을 얼마나 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D227E0-AD0F-492E-A249-9ECA9F27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FF947-0D43-4C48-B2EA-832B3EEC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금지 행동과 책임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D402D8-49CF-49F8-9FFB-4CC91603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남은 과제의 소유자는 모델이 아니라 제품과 운영 팀</a:t>
            </a:r>
          </a:p>
        </p:txBody>
      </p:sp>
    </p:spTree>
    <p:extLst>
      <p:ext uri="{BB962C8B-B14F-4D97-AF65-F5344CB8AC3E}">
        <p14:creationId xmlns:p14="http://schemas.microsoft.com/office/powerpoint/2010/main" val="131387129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A91D3C-7EE2-4944-BF7A-8A16C5C8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0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88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867C27-5B20-4215-BE82-02EC7D40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9334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INTERVENTION LEVERS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D6108C-8EF0-4D28-AF62-2D113DD2B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24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F62602-AAE8-4BD7-BC2C-81875CBC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행동의 개입 레버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3DE46-7257-415D-A8F7-20490544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프롬프트 · 검색 · 도구 · 모델 선택 · 사후학습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0941B6-748B-45FA-B5F5-C8671F85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W01 · 33</a:t>
            </a:r>
          </a:p>
        </p:txBody>
      </p:sp>
    </p:spTree>
    <p:extLst>
      <p:ext uri="{BB962C8B-B14F-4D97-AF65-F5344CB8AC3E}">
        <p14:creationId xmlns:p14="http://schemas.microsoft.com/office/powerpoint/2010/main" val="54569806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0AD927-D48D-4384-8264-1876034F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D5AF81-8D6D-485C-BDE8-CD37B073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99BE20-D60F-4B76-B408-EF8A8CC3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3C39C-ABC4-4C92-A33F-56FCE49C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FE666-B74E-4072-9CA8-F063C469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392EF-7EB1-4EDE-97C5-5BC7AC1D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개입 레버의 비용·가역성 지도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1B76BA-B86A-47F5-B236-667063AC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비용·시간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203E81-AD81-42C8-968B-4761CD3C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52500" y="228600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756A0F-0559-4302-A934-A6B7C5D6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2500" y="5238750"/>
            <a:ext cx="1000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E3A5EC-43F2-4EDE-ACAC-C3A3974F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467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되돌리기 어려움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FD00B9-0709-4AD4-92B4-498AEF60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4604385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프롬프트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60B5C-A47B-4948-91DA-20ED7824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09003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증강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9754D7-ECE7-4F62-B2E3-D43C24C0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38838" y="3729990"/>
            <a:ext cx="971550" cy="971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선택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B6D99C-6541-466E-8A3E-DD64BF7D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01025" y="2958465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미세조정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0DC15D-EE29-4148-BBCD-6949432F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7526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파랑 = 이번 가설을 가장 싸고 빠르게 검증할 첫 변경점</a:t>
            </a:r>
          </a:p>
        </p:txBody>
      </p:sp>
    </p:spTree>
    <p:extLst>
      <p:ext uri="{BB962C8B-B14F-4D97-AF65-F5344CB8AC3E}">
        <p14:creationId xmlns:p14="http://schemas.microsoft.com/office/powerpoint/2010/main" val="160899798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3623DA-A3E5-4F66-A7FA-EAECFD58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F544D1-489A-4F04-92F8-FB1996BA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2DCDA4-6E60-4A6D-BB1C-37BB4636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6DC77-43B2-487B-B4AA-83C34895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86C1C7-752A-4173-BE3A-A7E8B124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A782A-D622-4D09-AF90-2195D22F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프롬프트의 통제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13236A-BD16-4784-AAB3-7C3DB995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1009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E31B9-C0F8-4530-8E28-87A761EB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A9C17E-B0FC-4518-BFD3-3E18EA8C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90700"/>
            <a:ext cx="6877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응답 관점과 책임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79A0B8-C5CC-4A97-BEB7-1AD672BD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26289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3EA39F-578C-46C5-85E8-8E964BFE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289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846EA6-54D3-4795-801D-EA743D37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28900"/>
            <a:ext cx="5734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해야 할 일과 금지 행동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764B05-D60F-43B2-8B98-CD935049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3467100"/>
            <a:ext cx="7810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FCFCC-BCE3-4495-9621-7B78A7FB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4671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721974-B8CE-4038-9AAA-EB0BFAF32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67100"/>
            <a:ext cx="4591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입력·출력 패턴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CA61F3-7864-4488-86C4-803F5AA8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4305300"/>
            <a:ext cx="666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69BC21-C5ED-47F8-9694-1E08E6BB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053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출력 스키마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118EE6-5D17-4612-8F54-F186E6F7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05300"/>
            <a:ext cx="3448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형식·필드·길이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EDEDCA-FB39-475B-9669-9A59D58D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weight 바깥에서 빠르게 변경·버전·rollback 가능한 제어면</a:t>
            </a:r>
          </a:p>
        </p:txBody>
      </p:sp>
    </p:spTree>
    <p:extLst>
      <p:ext uri="{BB962C8B-B14F-4D97-AF65-F5344CB8AC3E}">
        <p14:creationId xmlns:p14="http://schemas.microsoft.com/office/powerpoint/2010/main" val="74315536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D70CFD-5ED6-41C6-BA14-DB42BD3C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4C1E76-98B7-4957-9633-0C6EE7B2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5049C6-21C9-4CDD-BD00-0D2C68E3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8FC6C3-F0AF-4A00-8391-511599A0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FCA7E6-F67D-44B8-B03E-E25B3E8F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BE8ABD-265C-4F12-8F97-93AD6D71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증강 생성의 외부 근거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561CAE-E20C-41D3-943E-A46C0619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6F5B92-9215-441E-986E-2B49522C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질의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857E1F-EE3B-4569-837D-3787FCF6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사용자 질문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84B1AB-FDF4-4C35-8670-B3F60125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619761-C3B5-4158-8C0F-4A3B6592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171DEB-414F-4C12-9028-6C638DC3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9CE939-1A8E-4C58-9E84-71998BAC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색인·필터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9DB20B-01A5-48C2-86B2-FF9C1D02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FC4321-F01D-42E0-9005-19949B81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420C81-BCC5-43A7-97C4-AB631340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353D0-CB17-4134-B509-9CA065C1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상위 검색 문서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891338-AD4A-4E59-99BD-0B6B3238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372B67-D89E-4D64-8682-C2A1ED07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5C18B9-91C5-49A0-A314-8193D160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29DF42-876F-49A0-B4FA-6207B754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프롬프트 보강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F8B518-B866-461C-B8FA-EB59782A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A3CB35-4108-40CC-9C35-F91F5D33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5E66E-F536-49A9-8212-BBABDAA1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응답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63EB84-F9F3-42D4-B5DF-02510CE6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 기반 생성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D02BC7-8C3C-47AC-A81D-5EBDFE6B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증강 생성(Retrieval-Augmented Generation, RAG)의 근거·최신성·권한 계약</a:t>
            </a:r>
          </a:p>
        </p:txBody>
      </p:sp>
    </p:spTree>
    <p:extLst>
      <p:ext uri="{BB962C8B-B14F-4D97-AF65-F5344CB8AC3E}">
        <p14:creationId xmlns:p14="http://schemas.microsoft.com/office/powerpoint/2010/main" val="184291590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75B83E-3867-4093-A1AE-45F8C581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E841A-3DE5-4005-AF08-F78B56D6D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1D81BF-14C8-466C-AFE0-E7EC0B3B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C1AEB-71BF-4399-946F-BA67F316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94D255-3645-47AD-B7B7-0D79D7C8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503776-EC65-4946-99C2-C195D41F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도구 호출의 행동 경계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52B760-33D6-450C-B20B-1AE4DD35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모델 · 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69C418-AADC-4CE4-AF84-F0F0FB46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행동의 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AA55C4-49F4-437F-8AAE-2F2A7834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9E8406-BD9C-4AE9-A834-2780C7F9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도구 이름과 인수를 생성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확률적 판단 · 외부 변경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CFC950-C136-4642-BB6C-CF4DB926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실행 환경 · RUNTIME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D467DF-174A-4BF0-8385-479B8281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권한이 있는 실행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69440D-EA66-4200-B4B5-6D7A4332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36249-CBAE-4E56-8E55-836C9228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스키마 검증 · 승인 · 실제 응용 프로그래밍 인터페이스 호출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시간 초과 · 감사 · 멱등성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60838C-164C-4904-81FE-DE74D944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6516872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EC1710-175E-4ACF-AA72-0DA49CE0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7DBF3-B486-4B41-8CBA-3054293D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BDD68E-C04A-4D01-B03D-71B16614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183669-9CF9-40A9-B9BA-CED504A7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DC1D82-1A2B-410D-99FE-E9DAABFD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0E17A0-77A3-4BA9-9BD1-7CC7A7E9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라우팅의 선택 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9B598C-436E-43FE-9E2F-026FF3C1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47850"/>
            <a:ext cx="276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3AB79-A7FC-477B-94BF-997646A6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2495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 유형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509EA7-18F3-40CC-AF57-030245FE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847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095D34-AC2A-4EDD-9214-33B035B4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47850"/>
            <a:ext cx="2590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우선 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6B3356-AFB2-4F92-B152-5A34D231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1847850"/>
            <a:ext cx="5353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11C2B5-A661-4D5B-8CC4-156D406D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47850"/>
            <a:ext cx="508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선택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052E42-B201-4F12-AA67-6DF247DC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62200"/>
            <a:ext cx="276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314AB4-0CDA-47E0-8401-F2E61446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495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짧은 분류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C33422-E392-41AF-871A-C4EB7AA6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236220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DB541F-4EED-4699-BA95-AE851E6B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6220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지연 · 비용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AC5A6D-8FD1-43FE-AE9B-648911D1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2362200"/>
            <a:ext cx="5353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B99737-E492-4AAB-9FD6-911A1266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62200"/>
            <a:ext cx="5086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작은 모델 · 짧은 제한시간 · 일괄 처리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7554DB-3A12-45B1-9796-284DA021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200400"/>
            <a:ext cx="276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4B2B44-4C63-4E4C-9AD2-047FA983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0400"/>
            <a:ext cx="2495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근거형 답변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969251-49BF-445F-B767-93959DFA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320040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546C89-F4C5-413B-8D7F-EC8455B0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0040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품질 · 안전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63C241-15FF-4DEB-A92D-27FD04CA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3200400"/>
            <a:ext cx="5353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C2F9F9-A9A9-4A40-805F-9E5D5D99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00400"/>
            <a:ext cx="5086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증강 생성 · 인용 · 보호 정책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10C3CC-5449-4B6B-8473-9BC4D53C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038600"/>
            <a:ext cx="276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BE292A-BC38-4128-92CB-69FD8D6E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2495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복잡한 추론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131543-B7E7-4B40-97B8-092D12B1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403860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3527BC-84FC-4032-8008-8936E1F6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03860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품질 · 토큰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9A572F-192D-4109-BD7A-DFBCE4AE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4038600"/>
            <a:ext cx="5353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74B930-566C-45AD-BA25-7E99CA66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38600"/>
            <a:ext cx="5086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긴 맥락 · 상위 모델 · 예산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816666-F159-4CB9-BBE0-31628475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876800"/>
            <a:ext cx="276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B4F7DA-0CD5-4FE8-B269-3B9F8E33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2495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민감 데이터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0785C7-7871-47F5-90B6-EACE739D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487680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02FC09-E8F4-468D-B786-BC707DD9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876800"/>
            <a:ext cx="259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권한 · 위치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DE7F060-8434-4762-B3BD-95E016A6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4876800"/>
            <a:ext cx="5353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E39FC6-CF1A-4706-9115-8E712309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76800"/>
            <a:ext cx="5086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로컬·사설망 · 로그 정책 · 마스킹</a:t>
            </a:r>
          </a:p>
        </p:txBody>
      </p:sp>
    </p:spTree>
    <p:extLst>
      <p:ext uri="{BB962C8B-B14F-4D97-AF65-F5344CB8AC3E}">
        <p14:creationId xmlns:p14="http://schemas.microsoft.com/office/powerpoint/2010/main" val="184506158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849D41-C6E8-494F-AB45-728E1F28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818DB-DF69-44D7-9AFD-3A9C1694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EF4CD-2E47-4F4A-8936-AFD9873E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747A3B-A911-4F47-AC9A-9FA4C1CE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B3036-4C8C-4249-88F8-D2EEDAAB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F2D867-3EAE-4670-ABE4-C6BCA27E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지도 미세조정의 행동 학습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7EE724-3B6D-4876-B1D4-3214E4A7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706FA-77F1-4B7D-BB22-9F005089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과업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8BC249-10DE-4EB9-89CF-43886B34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반복 행동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F4DE76-628F-4950-AB98-AF941399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4AF4A8-61AA-483C-AE0A-AD391F2F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1501F9-F50A-4A1B-9C3F-CE35DD31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예시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1CA586-A07E-4FE2-B46E-64FA5EF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좋은 입출력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D4AF85-AF2A-45E8-B22F-9931E5AD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F32FF3-0AB9-466A-86E1-855D9C09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AD2760-9E74-4127-9064-B4120B92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손실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F7E868-7A9C-4AEE-8977-126E3212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정답 토큰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CC57DE-9495-48E7-9EE4-AA5B4A0B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6EE81A-6E4A-4605-943A-E20B226D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BA836F-7F4B-4918-A4E5-76DF9A9C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갱신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FF1FC0-3F78-4937-9D7D-E778273D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모델 행동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73E62B-62B7-40F4-843A-C4B04F5A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273EE7-DE57-4395-846C-E5F47CCD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7D89EE-3759-46E0-91DF-81358BE6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0CF193-0A5A-407C-A233-B14206D3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분리 검증셋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77A603-33F8-493D-BC36-85037E1A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지도 미세조정(Supervised Fine-Tuning, SFT) · 반복 행동을 좋은 예시로 적응</a:t>
            </a:r>
          </a:p>
        </p:txBody>
      </p:sp>
    </p:spTree>
    <p:extLst>
      <p:ext uri="{BB962C8B-B14F-4D97-AF65-F5344CB8AC3E}">
        <p14:creationId xmlns:p14="http://schemas.microsoft.com/office/powerpoint/2010/main" val="33058897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AEBDE8-3479-427A-A4CC-728D4669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523B4F-56AB-4CD7-914F-223D3EB4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0F2DFE-ED3A-4F0A-8AB0-79291F78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671494-92FD-432B-9BF4-CA87026B7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DA6069-3CA6-49B3-84DB-920D06BB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E35AA-7374-40C2-B1CD-99D9E200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지도 미세조정 데이터의 최소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04EDE8-EC89-477E-8CED-AAA11138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55562D-CD53-4C00-B628-E8CFAFA5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지시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4977D-E890-489E-A582-66D380A3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067050"/>
            <a:ext cx="30099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600B4B-353E-45F0-B8F2-BE6D24D0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2590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고객 피드백에서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신호·마찰·다음 행동 추출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695ED0-0982-4EE9-B6F2-C6AD222A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338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B94BD0-04F2-4508-B37C-241AB467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809750"/>
            <a:ext cx="403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C4458E-BE09-40C7-A394-A9A26A40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3812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입력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6210BE-5B37-43A7-A682-03352043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76700" y="3067050"/>
            <a:ext cx="40386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8CF99D-5FA6-44DD-94F7-DCB91C28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3619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분포를 닮은 합성·검수 입력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민감 원문 제외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F27DA7-E6B0-40DF-BBDA-6C116438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338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CE1014-E1A7-41EC-9547-CFAFCD17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AE8F42-73AA-4285-8F3B-68252D2E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기대 출력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6AF992-07C7-47F3-95FE-68D8BCC2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3067050"/>
            <a:ext cx="30099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BA8411-AE32-48A6-8EF8-6E2E4C18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95650"/>
            <a:ext cx="2590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고정 스키마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근거 있는 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375253-999C-4563-A80C-9BBE782B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잘못된 예시는 잘못된 행동을 더 일관되게 재현</a:t>
            </a:r>
          </a:p>
        </p:txBody>
      </p:sp>
    </p:spTree>
    <p:extLst>
      <p:ext uri="{BB962C8B-B14F-4D97-AF65-F5344CB8AC3E}">
        <p14:creationId xmlns:p14="http://schemas.microsoft.com/office/powerpoint/2010/main" val="200067713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5AA43C-4FAB-497E-B60F-4FA01F93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7597E-4C50-4EC2-A3EC-D3BCEA69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BE2A3-7461-4E2B-8290-1094FC60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BA7BF7-8EE9-4820-AB73-6AF26E9B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5D8C6-C318-49A5-B77B-2A0323F4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ECE87-8FFF-4643-BBAA-AC581CD3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선호 데이터의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B61FCA-828E-44FA-9B45-4073E7E2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선호 응답 · CHOSEN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64EC20-94D4-4A1D-B3D4-07DA87E9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짧고 근거 있는 응답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74BDEE-6B06-45CF-960E-6B7B9F2C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010C59-61E3-4A72-932F-F42625DB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요청한 스키마 준수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입력에 없는 사실 없음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실행 가능한 다음 행동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A041FA-B5E7-4879-961E-FDC378E8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비선호 응답 · REJECTED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5E73C7-401B-487F-94A6-18607D03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그럴듯하지만 불리한 응답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970CDA-7B3F-44AB-9307-351C8D9F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9A7E48-A709-4F99-9687-C7EE83EA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형식 누락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새 사실 추가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과도한 장황함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8A3115-FED2-46CE-B1A6-3DC6DC25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2684169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4D907F-050E-48C9-B731-1B2480CE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B66F8E-BC6B-4E77-8153-8C1BC398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32B319-AC17-439A-A9D2-EAB726E4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AD664D-7013-4334-B543-81D3108A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FF5D7-7634-4E5C-9DDC-2DB8141E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C632EE-67B0-4A04-A370-E1FBFACB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인간 피드백 기반 강화학습의 대표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847494-4E07-4032-B9BD-D00D1407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E50DA6-DB84-4C1D-93E7-B484D233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지도 미세조정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A253D7-9BC0-42EF-94A2-D9B64B3B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초기 정책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7759C7-2522-434A-9F2A-C18DEB1E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52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7EB57D-3E82-4422-B395-593545A7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607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E0977-878D-4A2D-92A1-20C82D81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선호 비교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8BFDA5-622D-4C81-BD97-67EE1EDD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사람의 비교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0C26F9-4238-4265-9620-1B0037A2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E345D8-678E-4DA0-B496-9D90CA1D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254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6BB242-A28D-4CFE-A763-9165302A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보상 모델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FE12C9-D27E-4AD9-90E9-864EFB54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선호 점수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7EF357-4A96-4F4F-BAB5-1C0D854C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6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A67550-C81B-4ACE-955A-2577E574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1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E1393B-1ACB-4217-A958-735D3052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PPO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F0EDB6-3636-44FB-B339-CDB7A98B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정책 갱신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7BB77C-0099-4B16-81F5-15E663E6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0" y="27813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617830-F89A-489E-8A5E-3F27600A7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5480" y="2381250"/>
            <a:ext cx="202692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C6B4C5-580D-4429-9215-56E0F4C2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2571750"/>
            <a:ext cx="17602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평가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12BA0D-6D2B-4648-A023-D1939BB1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830" y="3048000"/>
            <a:ext cx="176022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행동·안전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F89E7E-AFF6-41A9-990A-E9945CD6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Reinforcement Learning from Human Feedback (RLHF) · Proximal Policy Optimization (PPO)</a:t>
            </a:r>
          </a:p>
        </p:txBody>
      </p:sp>
    </p:spTree>
    <p:extLst>
      <p:ext uri="{BB962C8B-B14F-4D97-AF65-F5344CB8AC3E}">
        <p14:creationId xmlns:p14="http://schemas.microsoft.com/office/powerpoint/2010/main" val="16729969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645A99-B4DB-4DB0-8FD2-68435D80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69BF1F-434E-4E46-A8FA-6F0AFD32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43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86551D-55E3-460E-878C-8A39421E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1C47A-8E1E-4A29-936F-CD9E98F5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BC61C-5A95-47D4-9FAC-BF56C6E1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69057-0A10-4A26-A621-58243DDF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직접 선호 최적화의 두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B9E-5CBE-48E6-A6F8-0C36A544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B1F3A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0B1F3A"/>
                </a:solidFill>
                <a:latin typeface="AppleGothic"/>
                <a:ea typeface="AppleGothic"/>
                <a:cs typeface="AppleGothic"/>
              </a:rPr>
              <a:t>PPO 기반 RLHF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62173D-9222-41FE-B7A2-32C9925B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209550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85D388-5E3B-492B-9F9C-B48EB702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9550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선호 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D6E911-9AA3-4EF7-AAF6-F6D892DB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6700" y="22860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7EA7DA-58FC-4436-9586-9FA96DEA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9600" y="209550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55145E-811F-44EC-B11F-9601A83A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800" y="209550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보상 모델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14169A-A9EE-4DDB-A3BA-806085EE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2860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01813D-FDD3-48F0-B7AC-76CE6F8A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97900" y="209550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57BC27-E4BB-41F1-96F6-F23B62D6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100" y="209550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PPO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3326CD-7925-4E62-A4BC-62956331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9085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Reinforcement Learning from Human Feedback · Proximal Policy Optimization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258D05-F057-45E7-AD98-D9D4F0FB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직접 선호 최적화(DPO)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20AA10-4BA8-41C0-935E-43956F53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413385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D8E927-6EC9-4F78-A343-FF1D2127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3385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선호 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DFC6A3-DD5B-4DF9-BE12-E14390BD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6700" y="432435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58CD0E-1FED-41DA-B28C-778B7B6C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9600" y="413385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6C0197-D031-4B82-AC33-963A7781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800" y="413385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참조 정책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1B6DBE-22C6-4C14-9938-32B936C9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32435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CFDB4D-9D60-4F62-9B1E-7F4F8A5F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97900" y="4133850"/>
            <a:ext cx="256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A0D8AA-0CF2-4715-B7BE-FC49DE7A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100" y="413385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직접 손실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80779B-9846-4924-867C-952BEAD3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2920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Direct Preference Optimization (DPO) · 참조 정책과 선호 쌍의 직접 최적화</a:t>
            </a:r>
          </a:p>
        </p:txBody>
      </p:sp>
    </p:spTree>
    <p:extLst>
      <p:ext uri="{BB962C8B-B14F-4D97-AF65-F5344CB8AC3E}">
        <p14:creationId xmlns:p14="http://schemas.microsoft.com/office/powerpoint/2010/main" val="44485829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1E03F56-EF0D-42D0-927E-D61811FE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5DCFAD-9926-4846-AC9B-EABB12F5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F2CCC6-B791-4A9D-879B-C5BE43B2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8F4E39-BA9C-4877-A61E-EC4ED9D3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5E5A0-DF38-43F5-AC2F-AAE3690A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1D3242-E168-46A7-A41E-78D685BD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저랭크 적응의 변경 단위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D465F0-5CFC-4DE5-82FF-98BADC67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809750"/>
            <a:ext cx="4895850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E93CD8-BEEE-4ACF-BBAA-DC3D9166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574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BASE WEIGHT / FROZEN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0596C8-2689-4690-9A7B-F0AB831C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72D13-E4A9-4D03-BB05-9CED3060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640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8F302-8AFC-4938-B022-7EEA6A8D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315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7DBEDD-FE55-4AFB-8E8A-33B5E223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9E2E43-4F2B-4959-BAF6-93882138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AA6746-1800-47C5-A33A-9BED4A11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26098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3DC707-BAF0-4181-874D-37B4106A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9444E1-924D-49AF-B12B-E43EAE4C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640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8204E2-84B2-4AA9-82F6-DC73408E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315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041AF4-DE6A-4E1F-AD8B-B3860498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B7BF92-A128-4431-91D6-5ADE9AC7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7B91AD-EAC1-452E-8C79-F5495557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31242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3C3BB0-F21A-48BC-AF08-37DD72A6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1DD79-559A-4753-BC7F-7FE8CC1C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640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2EBAAE-353E-4D40-976F-A474AC58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315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3999E5-B542-46C5-8046-CEA97A94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9CD4AF-D385-4081-8920-1FD15E75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047177-35FE-49C3-9B9D-6044C249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363855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AA29D7-9126-43B8-8CB6-EEB6253E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94B1B8-2D31-4F8B-8EEF-E5E50105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640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FF37C7-EA40-45E0-A090-C029347A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315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64BFF2-3A01-4225-8646-5FA9D779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EBE836-8837-4F22-81FB-DB056CE6A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FD772F-7E77-411B-B972-F389141D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41529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24A"/>
          </a:solidFill>
          <a:ln xmlns:a="http://schemas.openxmlformats.org/drawingml/2006/main" w="0">
            <a:solidFill>
              <a:srgbClr val="25324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65D6B0-898E-42DD-8ABA-01DA1EE3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0861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31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+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07CA41-1265-48C1-B986-105B5F1D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2324100"/>
            <a:ext cx="4476750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6E5357-B739-451D-BAF2-4233D024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717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LOW-RANK ADAPTER / TRAINED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7FE593-34DC-4759-827C-5575ACD9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3981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36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A × B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444B21-E05B-47B7-8D07-6CEF1291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768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작은 변경 단위 · 독립 저장 · 교체 가능한 실험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6684CE-EDC0-4C6C-A582-DD1D41B4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Low-Rank Adaptation (LoRA) · Parameter-Efficient Fine-Tuning (PEFT)</a:t>
            </a:r>
          </a:p>
        </p:txBody>
      </p:sp>
    </p:spTree>
    <p:extLst>
      <p:ext uri="{BB962C8B-B14F-4D97-AF65-F5344CB8AC3E}">
        <p14:creationId xmlns:p14="http://schemas.microsoft.com/office/powerpoint/2010/main" val="97657301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E7AE38-9F8A-4983-8E84-8B4FA1F0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96A2A-0C22-4939-BD2F-D0D9D786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45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4205B1-37BE-4808-ADF6-D2938B76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DAA47C-568B-4EC8-9342-AE6DC9AE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FAC5CC-7A1C-4E3A-9F7B-C1FEED44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BBD020-6C90-420F-9296-BF165805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개입 순서의 기본 휴리스틱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FB41B-7722-41A2-85F9-37827CC5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낮은 비용의 검증에서 시작해 근거가 쌓일 때 다음 변경으로 이동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BD28FC-881E-4233-9398-FFEA02C4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D1308E-8B81-4FAE-97E5-54072912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76450"/>
            <a:ext cx="236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CD225D-5274-43C1-B9C4-7C503692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95500"/>
            <a:ext cx="710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현재 품질·비용·응답 지연·실패 분포의 기록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EE06D-C9CB-4592-A145-214D9544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52550" y="2552700"/>
            <a:ext cx="984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4875A5-FABD-4DFE-A9F3-8C1B769D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240C93-7DDC-4EA5-84D6-C6843298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43200"/>
            <a:ext cx="236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641BCE-D68C-4633-A554-FC956DBD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0"/>
            <a:ext cx="710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모델 가중치 밖의 지시·예시·출력 형식 변경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483EEB-C46A-42A7-B287-AED75F61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52550" y="3219450"/>
            <a:ext cx="984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9D5D27-15D1-4BA7-922F-F054BD2C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A6D558-2471-4273-878A-71F8F78A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09950"/>
            <a:ext cx="236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검색·도구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E6060F-0BF7-4AC2-B500-0100901F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29000"/>
            <a:ext cx="710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외부 사실 근거와 실제 행동의 연결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B86AB3-709B-45CC-978F-BF1D2E3C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52550" y="3886200"/>
            <a:ext cx="984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D26AF5-888B-4246-94F3-33DABDC3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C7FA7B-1F16-40CD-A093-6701F738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76700"/>
            <a:ext cx="236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선택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50D94-E6B0-4B1A-A83C-A5FA1A29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710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능력·비용·지연·배포 제약의 교체 검증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EB9915-719F-425A-9AE0-F3194E77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52550" y="4552950"/>
            <a:ext cx="984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62631C-22D6-4AEC-9ACE-83AE4EC5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DF3971-18EE-44C8-9AF5-A478351E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43450"/>
            <a:ext cx="236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미세조정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307F1-8E2C-4DA7-8E78-063498BB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62500"/>
            <a:ext cx="710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반복 행동 패턴을 가중치에 반영할 근거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993868-00FA-48A9-9417-E436853E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52550" y="5219700"/>
            <a:ext cx="984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288942-8E92-41CA-A9EB-70184389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데이터·평가셋·배포 이득이 없으면 미세조정보다 앞 단계의 개선</a:t>
            </a:r>
          </a:p>
        </p:txBody>
      </p:sp>
    </p:spTree>
    <p:extLst>
      <p:ext uri="{BB962C8B-B14F-4D97-AF65-F5344CB8AC3E}">
        <p14:creationId xmlns:p14="http://schemas.microsoft.com/office/powerpoint/2010/main" val="1295236826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97D17B-D188-401F-8D1F-4A9AB4B6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0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88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4BE3A-2C10-4091-9628-691C8C36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9334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OPERATING ASSETS &amp;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062979-C5AE-4B63-BA9B-A25C5AC5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24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4C1D6-52BE-4CC3-A61D-0802F438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운영 관심사와 관리 자산의 확장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9CECF7-7F64-4717-8118-686A06C6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코드 · 데이터 · 모델 · 프롬프트 · 맥락 · 실행 추적 ·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B989BF-1227-498E-B1DA-A85F1437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W01 · 46</a:t>
            </a:r>
          </a:p>
        </p:txBody>
      </p:sp>
    </p:spTree>
    <p:extLst>
      <p:ext uri="{BB962C8B-B14F-4D97-AF65-F5344CB8AC3E}">
        <p14:creationId xmlns:p14="http://schemas.microsoft.com/office/powerpoint/2010/main" val="223153140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103C5-0CEA-49A4-8DB1-5DE596D1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966F07-939A-4164-885F-A818B91B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B72D4-34AB-4AC7-9799-4481C2AE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AACC9-1B8E-4902-939F-2462E2F5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AB9B0D-CBFD-4125-83A5-93F8B280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6DA0E3-B5B1-4FF9-88CC-A811841C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세 운영 영역의 관심사 확장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410F6A-D579-4D0C-89F2-00272868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DevOps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1B7C5-CF58-40A8-AE71-D61138B8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19450" y="1876425"/>
            <a:ext cx="836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4913AF-769D-4550-8997-F4CE1A67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38300"/>
            <a:ext cx="796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CODE  ·  BUILD  ·  RELEASE  ·  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780775-523C-4A52-A99A-9C117B06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33600"/>
            <a:ext cx="796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Development and Operations · 코드의 빌드·테스트·배포·관찰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4A9878-C140-43BF-95B8-83890CA0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MLOps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600955-D788-4EC3-B40D-3EE7659F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19450" y="3133725"/>
            <a:ext cx="836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3DE4D8-D18C-4F45-8402-8A8ADE79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95600"/>
            <a:ext cx="796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DATA  ·  FEATURE  ·  MODEL  ·  EXPERIMENT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711970-7592-4A09-B21D-66589211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90900"/>
            <a:ext cx="796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Machine Learning Operations · 데이터·학습·모델의 버전과 품질 관문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1D65E-AB51-4480-9C6B-B237C738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LLMOps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8A87D6-F448-4A50-B000-FF1E7A26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19450" y="4391025"/>
            <a:ext cx="836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3B1A4C-A49A-4D99-A3AE-C8B5CE68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152900"/>
            <a:ext cx="796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PROMPT  ·  CONTEXT  ·  TRACE  ·  EVALUATION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F71518-0861-47B2-BF3E-2E828C04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48200"/>
            <a:ext cx="796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Large Language Model Operations · 맥락·응답·피드백·보호 정책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18FEC9-B52D-477D-816D-8643C6EF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대체 관계가 아니라 운영 대상과 증거 구조의 누적</a:t>
            </a:r>
          </a:p>
        </p:txBody>
      </p:sp>
    </p:spTree>
    <p:extLst>
      <p:ext uri="{BB962C8B-B14F-4D97-AF65-F5344CB8AC3E}">
        <p14:creationId xmlns:p14="http://schemas.microsoft.com/office/powerpoint/2010/main" val="1150414601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63D89D-E6E7-4423-8494-EB3143C6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F95CDC-F437-4F51-A9F1-B53C791D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48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CDA836-40E1-4A87-9A06-F7B8E158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14B9F4-53BE-44E7-A3CF-28EE822E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3796B6-3763-47F7-A10D-93CB0F86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D61951-C29C-4763-8254-B5957706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 서비스의 추가 운영 자산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B4EF2-5C0E-4DB7-945F-473A04EC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638300"/>
            <a:ext cx="27813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7102DB-B19D-4E17-8AB7-BED085D0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EXECUTION KEY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4795B2-5271-4973-A022-2F88CEB6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1935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9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TRACE 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FE7D7-7D9C-49DB-9461-4BC31152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24200"/>
            <a:ext cx="2247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한 번의 실행을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다시 찾는 식별자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A42242-C60E-4F9A-85FC-E759C66F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ff2c901e8a16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E8074F-49D6-42B8-BC2C-D1A2D726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573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A17386-9C76-4B87-9801-E51486F8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619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 버전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91982D-C6B6-4288-9F7B-0C1FE9DE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6573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템플릿 · 예시 · 정책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CD85E-8C10-4B4B-9FCC-3311E0AF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91050" y="22479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32270-8C70-4C33-9471-1E392196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6098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A96EE6-500E-4D1E-9EF0-97395146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71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맥락 참조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E11E4-BD2A-4907-9A10-A25E51EB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098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검색 문서 · 도구 반환값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F7EAE1-EBEC-4CC1-ADF4-ECD8DB22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91050" y="32004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93F0A-6EF4-40A9-8E95-39378A50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623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784820-EC23-4217-974B-38AE69155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524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응답과 운영 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501E0A-1A79-41C1-A5F5-A449623F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623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출력 · 상태 · 응답 지연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26E4D6-B630-4573-BCDE-7DB168ED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91050" y="41529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BF1685-9FC4-44CB-A92B-A4080490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148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E64D44-8F86-4ECD-BF18-AD344D10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76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평가와 피드백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DABBC7-CA2D-4BB4-ADC5-65F94AC9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점수 · 오류 유형 · 판정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FAB523-A5AC-4E95-AADF-DA23E60D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91050" y="51054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978741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F50EBD-A4B6-4E59-B1F4-6679757C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A1DFF8-CA28-4502-8510-C817FC88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49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C28F91-B506-4A61-8837-0D69E617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6582BE-0AC1-4116-807D-7AD451D0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0E83D9-981C-4358-907B-2FA349FF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B2189D-A554-4C9A-BEE0-28030648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동일 코드의 서로 다른 동작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8CDA9E-1A94-4924-98FF-A93C6FB0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같은 코드 · SAME 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5677D6-626D-4E64-8B14-015863CD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커밋 a1b2c3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0F7D21-27AF-4965-9C0A-9CEA3AEE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C81202-6B06-4DA5-A14B-F52D7B0D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동일 접근 경로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동일 요청 스키마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동일 애플리케이션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AAA38-EC9F-458D-83AE-10C2E1BC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다른 실행 · DIFFERENT 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9745FB-0733-4069-AE26-7AEB71A7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프롬프트 · 맥락 · 모델 · 설정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9C2513-C2AE-4B83-8DFB-0ECD1593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67450" y="30480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53B8EB-1DF4-4A38-834C-492E9FDC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서로 다른 출력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서로 다른 응답 지연·토큰·상태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서로 다른 품질 판정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27A036-6F9A-442C-96A8-45C1551E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24550" y="1657350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1344186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085856-C4C1-430E-B59D-DCE06452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5B5761-320A-482A-B028-EFC99E35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0D23C3-FEE4-40E7-9DD1-F85EAA68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9BC06E-4670-4C7D-93C2-03A24C8D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A7E5B9-CF6E-47EF-8BB9-803CD717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C15C49-93D2-4D4E-9251-1EEF8C1D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버전 조합의 실행 단위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43967F-B6FB-44F6-95B2-0D6AE9D7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추적 식별자 · TRACE 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62FCF9-B2DC-4688-9BA6-29E4E381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ff2c901e8a16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518637-A291-4188-8173-64B1C011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5908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474B32-25EE-4D09-8127-35F3058F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7526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프롬프트 버전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D4DA44-9E37-4515-A6CD-ABF90FBF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95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w01.signal.v1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84593F-D0FB-4FF4-9B08-33FF8345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25908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F8B923-2F80-42B1-AA3A-DAB04742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526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제공자 · 모델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D6605D-B9A4-4189-8A82-189A9CE7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demo / trace-demo-1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0B60BD-726D-450E-A877-09FB4229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25908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6FE7D0-D87E-4590-A113-9AF9BF6D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과업 · 설정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1B055E-9155-4E20-B6C3-CA1054BC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extract / t=0.2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75AC40-C85E-451A-9E12-3486D0F2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6957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AB5B11-28D9-4874-9A14-1E369285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575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상태 · 응답 지연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2B3B83-D8FC-49EA-B45A-B0C9449E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00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ok / 0.12 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8DB41B-9F54-4AA5-88BB-EAE17EFA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36957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753BE0-FC35-493B-8D14-9F74C2D6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575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콘텐츠 참조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87EF13-9B30-49F0-92C9-42FD55F0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00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sha256:ffdf…fe72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AE02A4-15A3-4875-BD13-052C5066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36957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1FCF32-23B8-4DBB-BDD2-1D4AC173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출력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86510D-4E4E-48B1-A40D-A2D58EDE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execution 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11A240-2C28-44C3-B139-BAF06971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8006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FD534C-001F-4FAC-980A-8101D658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624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추정 토큰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2741B3-AB48-4A6B-A687-5CBBA01B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estimate: 63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32550F-A8AD-4CAA-B1A9-DCD5C950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48006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618C29-D67C-43F7-BC83-34F068EB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624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생성 시각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A7C435-A666-43BE-8E8F-CD3466F1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UTC timestamp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63B0D7-4AE9-46A8-9269-FC0F3336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48006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D3F427-E9F5-444D-B4B0-74FF96C1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5505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941A8C-83EC-4F71-8BB9-77EF455C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Trace ID = 버전 자산과 실행 증거를 연결하는 결합 키 · UTC = Coordinated Universal Time</a:t>
            </a:r>
          </a:p>
        </p:txBody>
      </p:sp>
    </p:spTree>
    <p:extLst>
      <p:ext uri="{BB962C8B-B14F-4D97-AF65-F5344CB8AC3E}">
        <p14:creationId xmlns:p14="http://schemas.microsoft.com/office/powerpoint/2010/main" val="58658752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5A1D63-C9B8-4F0D-8C3F-54628ADE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B2BABE-B56B-4EB9-AF57-77ADD6C5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285A2F-447A-4115-88DE-FA152C30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95452-C297-4DC3-A6B5-ACCABE8D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09CC89-F82E-443E-877F-8926E3DA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1E7CB6-9740-4D3B-9CAB-FD1E5011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과목의 다섯 공통 판단 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BC13D-B6A2-4CD9-A6EB-AF9EE4CE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2E5726-CF29-4830-91A7-C804CF1F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049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품질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6EA95C-86E8-4348-86AF-3D2211A2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5811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업무 정답 · 근거 · 형식 · 유용성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673724-DEB2-4EA4-92FF-B62D278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20955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B62147-C9E3-4682-8A55-0E883DB5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5A6F5A-51DF-4290-A959-038E81A4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812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응답 지연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DABA82-B773-4D55-A7B1-53B92110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574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평균 · 50번째 백분위 · 95번째 백분위 · 시간 초과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DB5D63-F742-4FCF-BEE2-E51EFAC6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29718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979546-B02F-486F-96E9-9E00B609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89201-FE9F-4D46-85F1-D9ADE7BD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575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비용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6C21F0-4561-4C30-8EC5-56A663E5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337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토큰 · 모델 · 도구 · 캐시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8D1C90-D8E4-4224-80AC-7488CCDF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38481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23FC14-7F5E-45FD-B487-6472D0B0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6787EF-A82C-4862-8128-DE9C3C7C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338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안전성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72DA37-511C-49B0-8C9F-0CA3C851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210050"/>
            <a:ext cx="6362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개인 식별 정보(Personally Identifiable Information, PII)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프롬프트 주입 · 권한 · 감사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412DDE-0A91-4ABE-B742-17C21B69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47244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4904D7-A2F0-45FA-90EB-2EDAA904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3C7A27-5B20-43BA-8454-2CAEB8391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101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3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재현성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EE38F5-7C4E-4592-B85A-A5114ED0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0863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환경 · 버전 · 실행 추적 · 커밋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50DE6E-0680-47B1-BEC1-43136B07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33500" y="5600700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15047032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5A34D2-0990-42E4-B957-60BC08C8C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BBACA3-CD61-4A7F-881E-9B1F266D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57112-ED24-4D58-BF8B-44913C9F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A793A-FE7E-4A59-A47B-92B83902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A3D443-20DC-4BCC-B487-91EE0C10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46CEB4-7261-4E11-8B6C-D58A2058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운영 지표의 상충 관계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1ACA20-D002-476F-8D00-71533EFF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지표의 개선은 다른 지표의 비용을 함께 확인할 때만 운영 판단으로 완성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D70408-53C6-4BB6-91E5-DFF95331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판단 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605DC-52F4-4889-AE23-0C3C893C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0383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변경 레버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674C03-5318-4199-B8BD-FAFC0073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함께 확인할 손실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245819-8257-4DEC-8A61-69C2C10A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400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CB1097-DA7E-4E7C-B721-B112BF2F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품질 ↔ 비용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2B9EBD-0A25-4A15-BED6-841ED492E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717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상위 모델 · 긴 맥락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E203CE-231C-49BC-9819-99B3C8C7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571750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요청당 비용 · 처리량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546CBA-5456-431D-9C25-2D2DE098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124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CA65F8-E96C-4AA9-A202-553D08EE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품질 ↔ 응답 시간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34E153-0AD2-4A2E-800C-4E3B6D1C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3528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검색 · 도구 · 판정 단계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23C0E8-F467-4467-B41F-739D457A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352800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대기시간 · 시간 초과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7643C7-3AA1-4ADA-8E50-77E57F5C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905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23BBCC-783C-4375-AB61-40440BF8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안전 ↔ 처리 범위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6AF895-6C6C-47B9-B92B-26D04EC2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338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차단 강도 · 사람 검토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D0AB7E-086C-401E-8E1F-F509A023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33850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정상 요청 누락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7B97BB-1722-4C92-BF8F-7EC41D9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686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93276F-21A4-4F10-B1A9-17D77FEC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재사용 ↔ 최신성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9BBC4F-3328-42B0-86AC-43AAA746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149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캐시 적중 · 응답 재사용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7F4731-49D2-47EE-BCA6-AFA380FD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914900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정보 노후화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843079-6A7E-4607-B3E0-A8DA6D53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5467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08F467-8D17-4F74-8CFE-86146B51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네 관계는 고정 법칙이 아니라 실험 전에 함께 관찰할 위험 가설</a:t>
            </a:r>
          </a:p>
        </p:txBody>
      </p:sp>
    </p:spTree>
    <p:extLst>
      <p:ext uri="{BB962C8B-B14F-4D97-AF65-F5344CB8AC3E}">
        <p14:creationId xmlns:p14="http://schemas.microsoft.com/office/powerpoint/2010/main" val="101897747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C511A4-A4A9-47E7-9A18-800A7973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D10ACD-1642-4185-811C-563ECEB0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64F987-5DE3-48C4-876F-8C77570E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072AEE-3C82-4897-A9AE-B959D191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033F40-C3B3-4C9C-8E80-A0A0004A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F84BC-EEA8-4570-8100-DA1AB063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품질 지표의 업무 의존성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CE083E-19D0-4C6C-9D2E-B5FB2DFD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478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8B1787-C773-4461-BE92-57638DCD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업무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A2F1D-C3A4-4A51-88E7-23C5E04E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184785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D048BB-97E4-4347-A494-083F72CA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47850"/>
            <a:ext cx="3829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우선 품질 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BA72FF-AE0D-4D2D-A2D5-FF1F5DF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1847850"/>
            <a:ext cx="4210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749F29-8AF6-466B-814F-9EA04302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847850"/>
            <a:ext cx="3943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70A508-BAED-44C8-8B35-D8C41D28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6220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63963E-484D-42EE-9333-7C090BCD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A8DBBD-3A84-4B40-8D4B-0AC563C5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236220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9D2404-755B-476B-87EC-C45F050E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62200"/>
            <a:ext cx="3829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충실성 · 압축률 · 핵심 보존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20CB63-26F9-489A-974E-6C33BC13C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2362200"/>
            <a:ext cx="4210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1B5425-B065-4E11-97CB-3A57591D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622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새 사실 추가 · 중요 정보 누락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22E80D-AFD4-4285-83E0-3CF1E214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20040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CF103B-72F9-47C0-A626-1B86DF6F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0400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정보 추출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B8CFF5-7CF4-4083-8867-2E5539B2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320040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41295C-598D-4D78-8CD0-504AAF94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00400"/>
            <a:ext cx="3829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스키마 준수 · 필드 정확성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C73474-E2F4-4F52-BBCA-95D328F3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3200400"/>
            <a:ext cx="4210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22956D-EA7C-4DB8-B1B0-BE9E27CF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004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필드 누락 · 근거 없는 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FC5E1E-DFAA-4C2C-8B9B-569D17DC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03860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3A35BB-BE42-483C-8586-237BCF5B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검색 증강 답변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2F9EBC-89C4-4228-B64E-DF723B0A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403860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C63909-F6C7-4C51-B6C5-342C3C88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38600"/>
            <a:ext cx="3829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근거성 · 인용 정확도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CE1860-F1ED-4BB1-AC36-552C1A44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4038600"/>
            <a:ext cx="4210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1C3C75-D2D0-4B85-BF5D-E7745F14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386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미검색 · 잘못된 인용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9C328A-1C89-4915-BE1F-948A02EF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87680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1F6952-6FFB-4439-B7E9-EB170EE1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에이전트 행동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8D6417-FE89-4965-9388-776FA855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487680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12B1C9-4F2B-48A8-A022-94FAC318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76800"/>
            <a:ext cx="3829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과업 성공 · 정책 준수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4CB7C3-7D2D-445F-8916-52839480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4876800"/>
            <a:ext cx="4210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CB100F-1FE2-4E31-8787-666A2CA35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8768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권한 없는 실행 · 중복 행동</a:t>
            </a:r>
          </a:p>
        </p:txBody>
      </p:sp>
    </p:spTree>
    <p:extLst>
      <p:ext uri="{BB962C8B-B14F-4D97-AF65-F5344CB8AC3E}">
        <p14:creationId xmlns:p14="http://schemas.microsoft.com/office/powerpoint/2010/main" val="709933265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8CF0EC-0DF3-4D13-9236-230463C2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6A6C48-D616-44BA-ACF6-9B7161C0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A3DD2-381D-40E4-9625-C8D4BBD6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B95C2-8B87-4892-9CFB-BCD1DAA7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27E077-6696-432C-996D-5C5B1E4E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1D8B7-ED80-4F20-ADBE-3CB20240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지연시간의 분포 관점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7334DD-1728-4B58-BCA2-705B8D96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66800" y="50863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E8F90-09ED-42C6-8A79-3FA32010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66800" y="2038350"/>
            <a:ext cx="0" cy="304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D6E9D-0971-4FCC-B213-60941750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52550" y="4743450"/>
            <a:ext cx="45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EE4CE-4E30-4EB7-AE3E-8E88B6E4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19300" y="4343400"/>
            <a:ext cx="457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69DB9B-A774-4B73-8D64-90DD6BCF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3733800"/>
            <a:ext cx="457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AAAD43-826A-4E54-99C6-663F56E7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990850"/>
            <a:ext cx="457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83490-663E-43AC-844C-3CC21CBD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9550" y="2324100"/>
            <a:ext cx="4572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F32796-49C5-441A-88D7-B5A54A5E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2667000"/>
            <a:ext cx="457200" cy="2419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2E3035-DC65-48ED-8E8D-B76D0A6DD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3050" y="3314700"/>
            <a:ext cx="4572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5B8B54-DC25-46C3-AD40-35A2F0B4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19800" y="3943350"/>
            <a:ext cx="457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B3DF44-4452-4E37-BCB3-DDB7E293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86550" y="4343400"/>
            <a:ext cx="457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AC8381-E56C-4464-A350-C147E84D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4572000"/>
            <a:ext cx="457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ADCCF8-C2E2-453D-AF06-4D6DADCF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4705350"/>
            <a:ext cx="457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70652E-9E2C-4FAE-8A7D-85ECCC53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4819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8FC448-3492-4371-9E38-62988E1C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2959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p50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8D8A4D-7FF6-4046-8F88-9E0C1078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2959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p95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7B73F0-F003-4EFB-840B-3481C97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2959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p99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5E8D2B-9921-4CD8-A423-0AF4C9F0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383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설명용 분포 · 실제 측정값 아님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596C35-DE6B-4AC9-95F0-346F8722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9550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평균만으로는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느린 꼬리 구간의 사용자 경험을 설명할 수 없음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73257B-050F-4FC6-AB62-79061AE2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62250"/>
            <a:ext cx="495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50번째 백분위 = 일반 경험 · 95/99번째 백분위 = 느린 꼬리 · 시간 초과 = 명시적 실패</a:t>
            </a:r>
          </a:p>
        </p:txBody>
      </p:sp>
    </p:spTree>
    <p:extLst>
      <p:ext uri="{BB962C8B-B14F-4D97-AF65-F5344CB8AC3E}">
        <p14:creationId xmlns:p14="http://schemas.microsoft.com/office/powerpoint/2010/main" val="709118328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1DA916-2D00-4A91-9494-E709823C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AFF99E-0462-4C8F-9DA4-FDB7B340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55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1378AE-A758-4ECE-98AF-40B6E986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F3C111-54D9-4E33-9E64-A5C0B6B7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ED975B-20E3-4587-AABD-96D8FFE0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1B2B8-301A-49D7-A5F7-B0908D3B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 단위 비용의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080C3-5878-4A3A-9141-1CDD191C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요청 비용 = 생성 + 워크플로 + 실패 − 재사용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9CD27A-919B-468C-90FF-F18B779F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733550" y="3371850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B593AA-C293-4DAF-9C80-1C063CB0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B9BC8F-A592-4AEF-BF51-6FB9A092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입력·맥락·출력 토큰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1CB25C-AA14-417D-BE8D-33BA826C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워크플로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0644BC-7FC9-4709-854C-98F446E3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검색·재순위·판정·도구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BE15CE-1B73-4761-95AF-B9562730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6E656B-8383-4C9F-9CCF-77D2D2ED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재시도·대체 경로·시간 초과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F0E1C0-132F-4B31-BA0C-455064F2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338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재사용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241969-ACDD-4684-BC29-7941A578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4815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캐시·일괄 처리·모델 선택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00A763-9A04-4D0C-B328-C608A9A1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단가만이 아니라 한 요청이 실제로 거치는 전체 경로</a:t>
            </a:r>
          </a:p>
        </p:txBody>
      </p:sp>
    </p:spTree>
    <p:extLst>
      <p:ext uri="{BB962C8B-B14F-4D97-AF65-F5344CB8AC3E}">
        <p14:creationId xmlns:p14="http://schemas.microsoft.com/office/powerpoint/2010/main" val="1495105457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78E04F-68AC-4945-A42B-B65706E9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E46E06-B1C3-4958-84E8-9AFC08A5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A95A5E-0C00-4698-B962-049BD23D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8BAD9-7BCD-4CC4-AB12-6A1E4198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3CDC0E-1B05-4A88-9721-5B10861D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301411-70AF-48B2-A134-980860C1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안전성의 권한·데이터 경계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2313A2-1630-49F5-A704-2AB970F4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BA55D6-F229-404C-90BB-CDEA887A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95550" y="2190750"/>
            <a:ext cx="908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CEA8A9-8581-4D10-BEE0-4DE5BE55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1866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61F268-8CF2-4B04-A407-794A88BA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66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개인 식별 정보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19EBE2-8A59-43B8-8A07-39CB9E26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1866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1A7CA2-9EBE-41D4-858E-ECA1BD6E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866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정책 분류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F74F6-FCA9-46B6-B3D6-DFF2F2718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1866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5518D7-A493-4F86-9D64-DCFC0DBA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66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 주입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0BE307-DAA8-4CD9-8CD5-1936FDCF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D27D31-8216-4E61-925B-C0D9B09A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95550" y="3333750"/>
            <a:ext cx="908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D5B3E1-7D98-4163-BF1A-39073CBF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009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D9BEC5-A3D0-46C5-B646-6A528083F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009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도구 허용목록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8192B3-CD87-41DB-8D24-29B169BB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3009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FFD166-2AC4-4153-A74C-6B932D44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09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시간 초과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01FA37-9713-4B5C-B304-BA849F25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3009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C79FCF-D114-41DB-8243-A8F67D9E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09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검토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4F9F70-64FA-4DA0-ABA5-CDB846F3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C7A85F-17A5-414F-A7AC-2A3CF1EC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95550" y="4476750"/>
            <a:ext cx="908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8E9C7D-6E17-4060-8781-A13218E8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4152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3BC1BA-C085-4ED4-B21E-9EDDC1D5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152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A1FA37-BDF9-47F0-A429-285A4C29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4152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582C69-D9E3-40BB-A25D-B23057FF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152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 표현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4CB859-3766-4367-A26F-8563CB41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4152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58F071-2232-4E55-A715-963C9E1F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감사 로그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A6FAE9-1F62-439C-8D90-D863FB0C0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150DE-1193-48F9-A5FA-5E8403B7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95550" y="5619750"/>
            <a:ext cx="908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10F647-9FDD-4683-873E-1CD0D7B8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5295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C4CB8E-1341-41D8-ACA5-79EDCFC5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295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 최소화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F04969-B82D-43E2-805C-DB00ED2A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5295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0B1B66-A38E-4DE4-A183-B42011D1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295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보존 기간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C0BD8F-D5A4-481D-9C82-CAB33433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529590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E0B12F-F140-4396-A1F2-B84C3861B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29590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접근 통제</a:t>
            </a:r>
          </a:p>
        </p:txBody>
      </p:sp>
    </p:spTree>
    <p:extLst>
      <p:ext uri="{BB962C8B-B14F-4D97-AF65-F5344CB8AC3E}">
        <p14:creationId xmlns:p14="http://schemas.microsoft.com/office/powerpoint/2010/main" val="129553641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C1F8C6-3D71-4B6F-A7A3-FEADDA35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BF0B89-721C-485D-9347-0ACDC9C2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36E6D9-E235-4688-B797-76933315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35D7D-B6AD-4CD4-A143-746B229C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B16FB-ED3C-4F32-A88E-5165B97E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221B29-4897-4D9C-9991-6FA0D8C4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재현성의 다섯 고정값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A4CC2E-3A86-4F8D-B39F-61698A5D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16192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55398B-2BD0-431A-9584-0AC21104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384EB-0795-41C8-91F4-A7270264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621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환경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D184F-3EDA-42A1-822C-C113AC41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6002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Python · 패키지 · 운영체제 · 가속기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D1CF70-E735-4AB9-A652-5DEB084F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21526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ACB48-6CFA-4710-9ECE-EE2977C3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4955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9D3517-3F8F-4AA4-8FBC-787B1ED7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48A548-ECB6-4CED-B156-D5AA0F53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84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4EE1A1-BE26-4BD2-8371-1CB92205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765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평가 데이터 개정 · 콘텐츠 지문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B78E75-BA6C-43C6-90D6-24E620DF8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0289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35CE30-538A-4689-8658-6DD982A6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3718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81070-8097-434D-8E71-D772188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EBB547-5BFB-4F35-8670-25E457A7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14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298A5-CAD7-4D58-B1C9-1EE6E759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프롬프트 식별자 · 버전 · 스키마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E3FBF1-1A70-4881-AC27-F57EAA15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9052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2F24AB-F140-4FE4-926B-4797C61B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248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BEAF77-92F7-4F2C-868B-0AC681A6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BBE242-5787-40C1-BA64-E7D19FBE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910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C6FF04-9292-434C-AF4F-A677022A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291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제공자 · 모델 · 설정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FCF328-B14B-4328-9E91-3FAA7FB7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47815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EF5008-CCEE-4D11-956A-93FDDD89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244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4646F9-AC85-4488-9837-9271DEF7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6340B8-E914-4D02-A4A2-9A4CD47C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673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D310C4-97E1-4700-8115-3D7369D1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1054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커밋 · 접근 경로 · 정책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A36C35-A987-4952-9E57-7223E3EC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56578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55942440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79A361-6BA5-4A2E-AF54-E69F0913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7EB89-C835-458B-9000-F898032B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58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3EA860-D442-48BF-B07A-94CA3013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39A376-3CF7-42DB-8FFE-9A6FF026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A58A9-42B6-450B-8882-8A14B489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D42057-514B-4060-AECC-55395321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개선 폐루프의 전체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7A98FF-7157-4F61-BBD6-40EAD6A1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83884" y="2093475"/>
            <a:ext cx="833353" cy="6054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6D70B1-B285-4773-B901-4ADEBB06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056481" y="3491617"/>
            <a:ext cx="318312" cy="97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34FC03-D65D-4845-BD19-B2C9129C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352110" y="4961183"/>
            <a:ext cx="103008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B87FD2-7A94-49F8-B4D7-A21152D3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359507" y="3491617"/>
            <a:ext cx="318312" cy="97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07B4E-173D-48E5-922B-EFA38B7A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617063" y="2093475"/>
            <a:ext cx="833353" cy="6054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C2C4EE-F7BE-46E9-889D-DBCA6190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2954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기획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547210-8643-4E40-803E-4BC931ED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672" y="2506417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맥락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513C75-B478-4C67-A0D5-DE5D699F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2002" y="4465883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E2B123-9B8E-45E5-AA7D-C5659184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1698" y="4465883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8D995C-FF37-46F8-815E-C2FA5F46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5028" y="2506417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9050" tIns="57150" rIns="1905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</a:t>
            </a:r>
          </a:p>
          <a:p xmlns:a="http://schemas.openxmlformats.org/drawingml/2006/main">
            <a:pPr algn="ctr">
              <a:def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50A873-4429-4BBF-924D-259F78F3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4700" y="29908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SERVICE</a:t>
            </a:r>
          </a:p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3ED69E-3E9D-4404-A1EA-99D071D2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52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COURSE 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1A2CBC-BC39-49B5-9793-E0C5043F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3360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관찰 결과가 다음 기획과 변경 가설의 입력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D35854-372F-4CBD-987A-2C3EF5CE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486650" y="342900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CCD429-A280-4670-A8CE-4FEF9CE6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73380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품질·지연·비용·안전·재현성은 한 단계가 아니라 전 단계를 가로지르는 판단 축이다. 특정 마지막 노드는 없다.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E18D71-A348-40D5-A7D5-23E61A36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391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판정 경계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BA91FE-769A-4852-8291-28AFE4B9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91150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계속 · 교체 · 종료</a:t>
            </a:r>
          </a:p>
        </p:txBody>
      </p:sp>
    </p:spTree>
    <p:extLst>
      <p:ext uri="{BB962C8B-B14F-4D97-AF65-F5344CB8AC3E}">
        <p14:creationId xmlns:p14="http://schemas.microsoft.com/office/powerpoint/2010/main" val="242438278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D7F9ED-7652-441B-8D8A-869FE3D1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42C57-919E-4460-954F-09762763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59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7FD266-D018-4255-A59D-ECEB3F81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8B6CC8-3C28-4AE1-BFEE-8CF950A3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76C373-94F7-489A-8CDB-4976567C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7DC8FB-EBF6-471A-9246-E44C71FD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1단계 / 기획·데이터의 성공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133B2-23BE-4798-BC31-0EC14A8B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PROJECT BRIEF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461FD0-A3F4-4043-B76F-FCB3323A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4000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누구의 어떤 결정을 돕는가?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568D9-4CCC-43F8-8367-18CD28E9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4000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모델 선택보다 먼저 문제·데이터·평가의 범위를 프로젝트 브리프로 고정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DAAAAE-ED78-4000-B137-EC6B67DA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6192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229C8-E2D6-44F0-880C-2DA7C40A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9700" y="2019300"/>
            <a:ext cx="27813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4C66B-85B8-415D-ABAB-831B545E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19300"/>
            <a:ext cx="2438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대상 사용자와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지원할 의사결정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458E22-346C-4875-859A-4894FCE1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192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9C628B-13EA-4C3B-BEBC-444BD924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58200" y="2019300"/>
            <a:ext cx="27813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7E15D0-E6BD-4C1B-839B-73747B07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19300"/>
            <a:ext cx="2438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입력과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기대 행동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67B7F2-830C-4C4B-90CD-5E80BD2E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766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F89F1F-8318-486E-B073-27F6D0F8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9700" y="4076700"/>
            <a:ext cx="27813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A8E0FC-BE11-4A5A-A832-048EDFBE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076700"/>
            <a:ext cx="2438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성공·금지 조건과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 데이터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04E181-377C-4C7D-95B8-8B3E655E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766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9CD0F4-4782-4AC1-9005-E0F81526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58200" y="4076700"/>
            <a:ext cx="27813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0641E1-9A78-4BEF-AEBD-CBA0A1B8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076700"/>
            <a:ext cx="2438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권한·개인정보·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보존 경계</a:t>
            </a:r>
          </a:p>
        </p:txBody>
      </p:sp>
    </p:spTree>
    <p:extLst>
      <p:ext uri="{BB962C8B-B14F-4D97-AF65-F5344CB8AC3E}">
        <p14:creationId xmlns:p14="http://schemas.microsoft.com/office/powerpoint/2010/main" val="26756955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DF3E5C-1089-4799-8C25-BD9639A8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13F70B-2E79-41F0-A483-BE3BF633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B0F02-6FF7-4242-93FF-52CC2D9F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12C864-9594-4112-96FD-D8AD836A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5F2F50-99A2-4855-AAA4-EB185978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AA4DA-309D-4F86-81BF-C14099C2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2단계 / 프롬프트·맥락의 버전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791E66-052A-4F6C-B381-7DB3BE88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2000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69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05CD90-08A9-499F-B771-E10DE440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52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OPERATING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116B70-F843-4F64-8B82-B6D96E7F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5265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무엇이 바뀌었고 왜 바뀌었는가?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2748C7-F08B-4371-8EFD-CF12A465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2208DC-DDAE-4163-8894-3C1204BF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752850"/>
            <a:ext cx="3505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1C42EA-891F-482D-9CFC-5DBC1B84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 식별자·버전·책임자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2A1A62-4998-4DAC-BD8A-3F90E4C6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56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514F2-B9C6-40F9-AAC8-2B8BD328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3752850"/>
            <a:ext cx="3505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1F45D3-D1E1-418F-8FFC-E9881F8F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528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입출력 스키마·예시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098D59-17A7-468E-8BDA-F8FF72FD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956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6C135F-75A6-4022-B946-A349BC56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7200" y="3752850"/>
            <a:ext cx="3505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4F28DB-2960-4229-A2AA-389B7B8B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52850"/>
            <a:ext cx="3162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검색·도구 맥락 참조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CDBEA1-AFAF-4940-8B70-7244F47D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읽기 좋은 프롬프트보다 고정 평가 데이터에서 비교 가능한 프롬프트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367DD-31A9-42FE-AE67-C64D8381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8585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E47492-BFC0-4F07-8F9B-A93E8EE4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1 기획·데이터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903390-D691-401E-9BE4-78F8C7FE3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8610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4AA086-298C-4C0C-A3CE-9FA4B360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2 프롬프트·컨텍스트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9743F5-4A71-48BF-AA5D-ABEDEC8C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8635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14174D-9F5A-4D72-AA40-01124218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3 실행·배포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A58FEC-4532-47A9-B593-CC6D6B10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8660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554AEA-FCB3-406D-A236-715A3A61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4 평가·관찰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F66FF1-2BAE-4B41-BAF3-9F098A5D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86850" y="5924550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0D5D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5236E0-D9F6-4DDC-BB47-B6B00B4D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60388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5 개선·버전</a:t>
            </a:r>
          </a:p>
        </p:txBody>
      </p:sp>
    </p:spTree>
    <p:extLst>
      <p:ext uri="{BB962C8B-B14F-4D97-AF65-F5344CB8AC3E}">
        <p14:creationId xmlns:p14="http://schemas.microsoft.com/office/powerpoint/2010/main" val="1081904515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99BD87-722A-40B2-A62C-DA2F9CBA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D4E49-0F75-429C-B7AB-3AE157B9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61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335FE6-527A-4A6A-B57F-39E7F073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2603BF-6852-4B15-9897-C0919045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404161-09BB-42B1-A8F2-20239956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96864F-C18B-4ABA-98A8-79126777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3단계 / 실행·배포의 실패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1E4016-EB96-4D98-AB6D-434D8D9A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실패했을 때 어디로 흐르는가?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64FD04-EB36-4AA4-BCBD-3E3EFF5B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정상 경로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ACACE5-D5DB-4DFB-B082-E54D3EF8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224790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BB1F69-C6EE-4746-B4E0-8DC9C1C1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24790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 검증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C7293A-C2E1-49E6-A0E7-0575D1AD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38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59F215-0495-4FCC-8FAE-E9CB882E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9650" y="224790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30A8BF-B54E-4917-82C2-B326AFB4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4790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모델·도구 실행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A0E7B0-4514-4CF0-828F-6F2A0884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38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C131F9-5BCA-448E-9FBC-8999D106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224790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48CB0A-659C-4C3B-84A9-99EA8BD7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24790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응답 생성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503B4B-AE2D-4399-BBFF-51F209DF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38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962E9A-FA3B-4005-AD9D-59ACB213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10650" y="224790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602770-BD10-4F26-BAEF-D9138E22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4790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추적 저장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CA7B79-942B-4A34-A322-9DD0D7E1A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실패 경로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71DD8B-6E24-4D07-8F68-BE03361A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67665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AFCBC2-EEC5-40E8-B907-E38DC1DA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6766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오류 분류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97F668-D4A7-439F-A79A-0CA3C686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67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5D0F6F-4FEE-4E0C-8513-2C506C26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9650" y="367665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C9849F-92EB-4D9C-8A85-4CDB5C6F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6766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재시도·대체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9B7646-20EB-446D-8093-56AE1B17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D7B90B-1FA6-47E5-8F86-A49528BA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367665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D9BF64-DCE5-4533-958B-02585B76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6766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안전한 응답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58CB50-53CA-49BB-B4D1-AC33A342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67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A52300-7711-4B4A-92FE-05E7238D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10650" y="3676650"/>
            <a:ext cx="1752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EDA652-CFB9-40E4-9F01-F620CBB1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담당자 확인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3FC9F2-B3E6-4F0F-B72E-6572A75A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정상선만 있는 아키텍처는 운영 문서가 아닌 데모 문서</a:t>
            </a:r>
          </a:p>
        </p:txBody>
      </p:sp>
    </p:spTree>
    <p:extLst>
      <p:ext uri="{BB962C8B-B14F-4D97-AF65-F5344CB8AC3E}">
        <p14:creationId xmlns:p14="http://schemas.microsoft.com/office/powerpoint/2010/main" val="628876501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26B795-14DC-4EF8-A0D3-004FF330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BDDED3-4426-436D-8391-A33C3B94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FF20B-3523-43EC-924E-A06098A9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762E85-34D4-48B3-9602-8D4F7C7A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F99164-47B6-4B47-A0F2-67ECE00F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C2C7B2-50E7-4108-BF21-DAAD096B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4단계 / 평가·관찰의 분포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D7D89-64C8-4E55-A76B-39B5A516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누가, 언제, 어떻게 실패하는가?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94424-5BD1-4540-9EEA-A6A68B888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95500"/>
            <a:ext cx="6191250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91DCE9-B015-4881-8CAA-65085A8C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설명용 응답 지연 분포 · 실제 측정값 아님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1CB22D-0FAE-4844-AA41-FF62E415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47750" y="47244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191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0EF48D-7433-4786-97EC-2FBFEE13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57300" y="4305300"/>
            <a:ext cx="323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822467-1B36-4728-8D85-DA18C0A0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71650" y="3848100"/>
            <a:ext cx="323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93288E-B3A7-4080-951F-0F912B51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219450"/>
            <a:ext cx="3238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E88B49-FCD3-4A0C-84CA-FB496C5D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0350" y="2743200"/>
            <a:ext cx="3238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A493FB-CEC4-4D3C-898E-AA1CA557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4700" y="3028950"/>
            <a:ext cx="3238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E410EF-97BE-4D10-A8E6-9C3E1B7D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9050" y="3524250"/>
            <a:ext cx="323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83227B-8CEE-44D2-B520-8B418BA6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3400" y="3943350"/>
            <a:ext cx="323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DEFA5D-4B3E-4785-8DE0-1C2AC0FF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57750" y="42100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079B13-5921-4EE3-884A-EF6B612A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44005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17935E-D864-4BF6-A9B9-DD194BC9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76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667085"/>
                </a:solidFill>
                <a:latin typeface="Menlo"/>
                <a:ea typeface="Menlo"/>
                <a:cs typeface="Menlo"/>
              </a:rPr>
              <a:t>50번째 백분위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A526D8-0946-41C4-AE2A-BD6B35C9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876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2563EB"/>
                </a:solidFill>
                <a:latin typeface="Menlo"/>
                <a:ea typeface="Menlo"/>
                <a:cs typeface="Menlo"/>
              </a:rPr>
              <a:t>95번째 백분위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7B7ED9-5A4B-4AA6-B8ED-ADFC7DA6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829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CBBB2D-E987-4DB1-8E2D-B7C9C1FE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57450"/>
            <a:ext cx="3829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성공·실패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928860-4C4A-4662-8E9C-01E68736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72350" y="3009900"/>
            <a:ext cx="3829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DC23F5-58AB-4621-A1C1-75B4F2D1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81350"/>
            <a:ext cx="3829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운영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C031C3-5C8B-4639-8E6F-CF0A3B98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829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95백분위 · 오류율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3D114D-29BD-4C2A-966D-6B37C362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72350" y="4057650"/>
            <a:ext cx="3829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5B00C0-80A9-4E4D-AB0F-6EC29C07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229100"/>
            <a:ext cx="3829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자원·안전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A2F23D-164F-4FD1-8A67-BA44C580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52950"/>
            <a:ext cx="3829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토큰 · 비용 · 위험 신호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E601F9-E27E-47ED-AE81-F7FD5945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72350" y="5105400"/>
            <a:ext cx="3829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031CEB-76E3-462C-9B60-6F374F2C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평균 점수와 함께 실패 분포·하위 집단·원본 실행 추적 확인</a:t>
            </a:r>
          </a:p>
        </p:txBody>
      </p:sp>
    </p:spTree>
    <p:extLst>
      <p:ext uri="{BB962C8B-B14F-4D97-AF65-F5344CB8AC3E}">
        <p14:creationId xmlns:p14="http://schemas.microsoft.com/office/powerpoint/2010/main" val="2038661944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EB636F-AF2A-49BF-85C5-11A3EE08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FC3C2-036C-4863-9166-4DE87792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63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20B61D-A6EA-4B38-8F33-F787C886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829AD4-CB44-45C2-8D5E-2709A93B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27E00D-8820-4725-BAFD-05E44126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010C44-D5CD-46F2-88DF-55DA17FC6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5단계 / 개선·버전의 판정 기록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DEEA39-D2E2-4A77-AFB4-5103C71C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버전은 무엇을 검증하는가?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7661EF-0DCA-4DD2-A412-9F0B7012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B6699-A6E6-4DB4-B05C-5354E4D8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24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이전 기준선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A87FF-1A17-4431-AE78-6774404A2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480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5D8D09-8BFA-4D0B-AEF9-E709B1B7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32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현재 실패와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고정 조건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016D1-06D9-4486-BDA6-8AB3983F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098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2278F4-73E9-4EC1-AA86-BAD4930F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24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새 가설과 변경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4136A2-CF2D-4CAE-A4EA-C2B5CEF4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52800" y="34480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A57649-25D8-4A91-81D1-B288FBBB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752850"/>
            <a:ext cx="232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검증할 가설과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바꿀 한 가지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6EB21-19D4-4215-96AF-E1CDB322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78BE09-E8DA-439A-AF90-DD1C3AA0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324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증거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AEBD85-F3F2-41C0-BEA2-F7953710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34480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0EF972-7A90-48B8-8019-8EE99C393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52850"/>
            <a:ext cx="232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비교 가능한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실행 추적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5E26A6-95F8-4E0D-9548-245B7C12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098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B45151-AB92-4DA1-8629-FE6C6352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324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판정과 다음 버전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066D84-3535-4244-BE09-44AE5E4A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839200" y="34480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B48FEB-8298-4BC3-90D7-A170AA91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752850"/>
            <a:ext cx="232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승격·보류·되돌리기와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다음 질문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83E738-C05A-4D84-BFA5-D59624C1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‘더 좋아 보임’이 아닌 변경 이유·결과·결정의 연결</a:t>
            </a:r>
          </a:p>
        </p:txBody>
      </p:sp>
    </p:spTree>
    <p:extLst>
      <p:ext uri="{BB962C8B-B14F-4D97-AF65-F5344CB8AC3E}">
        <p14:creationId xmlns:p14="http://schemas.microsoft.com/office/powerpoint/2010/main" val="98510258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D29E9D-B290-4C1B-9F88-7C468E69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5DD7D-EEDD-4265-9D1D-A472AE55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81560-E461-45AA-9EAD-BC2EE643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AB300-AE16-4C15-925F-9F813126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F76A9-3CDC-4DEB-AF0E-1D77AECC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5140D5-71DD-4DA6-AFC9-6F346CF1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 변경의 최소 기록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F9B97A-92D2-4BD7-A02F-16D1A3A1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09750"/>
            <a:ext cx="1600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467F4-6F53-4C5D-938E-6E5655DA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133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27C938-BA9E-4D45-A534-F90DC2CB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18097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48728E-DC45-4DC9-9830-39435644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09750"/>
            <a:ext cx="2971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8A07A0-1FC5-4A6D-9205-B5A932BF1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18097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4CFFB0-6449-446D-83FF-E8FE0664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09750"/>
            <a:ext cx="2971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CHANGE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3A1A0-2769-45F2-8101-1FB50B09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1809750"/>
            <a:ext cx="2895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F9746C-7A5E-4EA9-BC73-57128E41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975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837156-85B1-4AE2-8E00-62AE27F6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343150"/>
            <a:ext cx="1600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4A4998-E73C-4A6E-8CAA-87BA6C03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v0.1.0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FE75D6-BEF1-404D-833A-9A3A7D87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23431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F6EE29-8980-41C1-8141-50086EBF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431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교환 절차 누락 감소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718A32-8D30-4AA7-B985-936C0535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23431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AD6A34-7ED4-427D-A5FA-3B72AF9A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431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스키마와 예시 추가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49B7F0-FB1E-4831-A508-D6303152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2343150"/>
            <a:ext cx="2895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3171CA-EBCC-477D-9C8E-72BA9035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43150"/>
            <a:ext cx="26289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ACE384-6331-4C7E-8C73-32A0EA51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371850"/>
            <a:ext cx="1600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DD3E73-8B30-429F-9785-925696F7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v0.2.0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E7FC11-B052-4C2F-A17B-68902029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33718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29B708-D445-4769-A301-D24D13E5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3718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마찰 필드 완전성 향상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A09F1B-A60B-44EC-B968-C167D1DA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33718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EBE2A9-744B-4877-ABDF-010AA33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718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프롬프트 버전만 변경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6FADB3-5780-42CD-8637-1E1166D6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3371850"/>
            <a:ext cx="2895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7B7664-F40B-443F-AFAE-B57C4C65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371850"/>
            <a:ext cx="26289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승격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DCB048-3D23-4ABA-8EF5-CEAACA11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400550"/>
            <a:ext cx="1600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5699CD-B928-46EE-94A5-FE6A4FD3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0055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v0.2.1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E57A82-0C89-443A-BF6E-9B65CB09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9800" y="44005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5ABB55-9C8A-4C99-9804-C408AB20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005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지연 증가 없는 표현 축약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1CE1B3-FD50-49F0-A2E9-2EBC4516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4400550"/>
            <a:ext cx="323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BD04191-2A87-42E3-9CDC-CDA5397B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400550"/>
            <a:ext cx="2971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최대 길이 조정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47B988-C100-48BF-B72C-03DFA808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4400550"/>
            <a:ext cx="2895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069F19-E3D4-4BFB-8FA5-B721CCE7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400550"/>
            <a:ext cx="26289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보류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AE85E47-9FB1-414B-95A3-D14FC592D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버전 번호보다 중요한 연결: 가설 → 변경 → 실행 추적 → 판정</a:t>
            </a:r>
          </a:p>
        </p:txBody>
      </p:sp>
    </p:spTree>
    <p:extLst>
      <p:ext uri="{BB962C8B-B14F-4D97-AF65-F5344CB8AC3E}">
        <p14:creationId xmlns:p14="http://schemas.microsoft.com/office/powerpoint/2010/main" val="374972883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356077-6F43-4F0D-97D0-2C7E7DC1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6563D8-E309-4A54-AD2E-17C44E6F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65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DCF15C-C4CF-4394-A9BB-4E7D3802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3D6C67-328A-4DC2-BD11-ECC733D6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96C436-B229-41C9-85FA-C3F19D35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1EBE06-8AED-4886-9218-54A8F2E4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폐루프와 학기 프로젝트의 정렬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A44722-BC11-49D7-962E-A6CBC9B2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서비스 개선 단계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C7747E-5710-4B78-9276-338FEB9A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190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E165FE-A364-44C5-A2F0-EB1BF0EA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00406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7C6C7F-B640-407C-BAE8-A3BF94B7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96596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기획·데이터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B7416C-8B69-4B7F-AD2F-C205AC2E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160" y="2476500"/>
            <a:ext cx="200406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374298-40D1-41C2-B2EF-B1B03410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160" y="2857500"/>
            <a:ext cx="196596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프롬프트·맥락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D71FA3-5057-498A-9675-E3BA3CA8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8720" y="2476500"/>
            <a:ext cx="200406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FFD576-1ECA-459C-94AF-731B4838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8720" y="2857500"/>
            <a:ext cx="196596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실행·배포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9ADD5B-9D0F-430E-9760-5DDBBB91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3280" y="2476500"/>
            <a:ext cx="200406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A11636-6B9E-4CCE-BB61-BE330866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3280" y="2857500"/>
            <a:ext cx="196596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평가·관찰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670FF6-F636-4010-8586-D0B08489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2476500"/>
            <a:ext cx="200406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9C34ED-2C09-4F4A-8A79-25F4F763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2857500"/>
            <a:ext cx="196596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개선·버전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D3B051-E927-4F2F-B658-54EB40A65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학기 마일스톤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C908F2-444A-4632-B986-ACA120B8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229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9C5E25-FE05-4D91-B478-AA392984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W01–07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88CF24-63E6-4DC5-BBFD-D293181B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2514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기획 근거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누적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224EEF-4432-43CB-B6B7-6AF18854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51485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W08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7F6E6A-37C9-42CC-B4F6-2305E134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895850"/>
            <a:ext cx="2514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기말 프로젝트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기획서·교수 질의응답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90A526-1B88-4B57-B376-AD39273F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1485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W09–15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1540E8-982E-4502-A701-80712580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95850"/>
            <a:ext cx="2514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구현·평가·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운영 검증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F9F1FB-372A-4D0C-984F-383CA64B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1485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W16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7E9F24-F909-4303-B4CB-53426A9E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895850"/>
            <a:ext cx="2514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결과 발표·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포트폴리오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F1DDDA-B787-477B-9360-054531DB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중간 기획서 = 구현 기준선 · 교수 질의응답 기록 = 버전 의사결정 증거</a:t>
            </a:r>
          </a:p>
        </p:txBody>
      </p:sp>
    </p:spTree>
    <p:extLst>
      <p:ext uri="{BB962C8B-B14F-4D97-AF65-F5344CB8AC3E}">
        <p14:creationId xmlns:p14="http://schemas.microsoft.com/office/powerpoint/2010/main" val="1782646002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EF1A31-C8D5-41B7-B5FA-56A2F0BB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0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88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B199B9-6AE5-42C9-86BA-A23B8B56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9334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TRACE / 01 LAB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E344E9-9B01-4A6E-8505-41338185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24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03D91E-54F7-4CF0-AA9D-5A04E4AB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첫 운영 루프의 실행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E22CE7-9DF4-47B8-BF34-1B12A55D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Python 3.11.14 · FastAPI · 결정론적 데모 · Ollama · 실행 추적 · 비교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7B5FEB-7E1F-498B-87FD-F8A4F8DD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W01 · 66</a:t>
            </a:r>
          </a:p>
        </p:txBody>
      </p:sp>
    </p:spTree>
    <p:extLst>
      <p:ext uri="{BB962C8B-B14F-4D97-AF65-F5344CB8AC3E}">
        <p14:creationId xmlns:p14="http://schemas.microsoft.com/office/powerpoint/2010/main" val="288212954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DEF698-4DCE-4C0C-A0BE-387AE395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656824-322C-4D05-8A8C-AB926EC8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F3F92-A8E6-419D-B3D2-C8EF1BCE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D0ACF3-7D98-436A-990A-4E0F0B11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676898-F6E8-4328-B81C-22ECD9D2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7294F-19AB-4C6D-B420-144EB774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TRACE/01의 서비스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2F7C96-027B-4BC1-9F3A-0561875F8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533650"/>
            <a:ext cx="19050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6CC07E-728E-4A6C-B805-B071550B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EB05B-F834-4DB0-AE07-1581EBBB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156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사용자 화면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039AC2-9E21-448C-868C-9FEE9608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입력 · 결과 · 실행 추적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9AC902-9FBD-4842-8E18-47363027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0515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C8DA8-AEF2-48E8-B21E-812EBB6B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2533650"/>
            <a:ext cx="2152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76E288-E716-4E36-B0C7-4D782076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241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D36A85-786E-4F15-AD7B-5B153171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FastAPI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98BAAD-3E8C-4386-8814-C21FA629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004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 데이터 구조 · 경로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E439AB-4A98-4F6C-BFAA-05609E23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10515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3154E9-5B6C-4C0A-8A6D-E55DE734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2533650"/>
            <a:ext cx="2324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13D8BC-3410-467B-888A-5EFBC99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241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880901-FA86-4C33-B78F-84AA78B9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43250"/>
            <a:ext cx="1981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제공자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5C3DBD-E6DD-4D83-8CAF-16002749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0045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데모 모드 · Ollama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DCF917-AF09-4EAF-A9FE-7DB93630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0515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0607BA-F8BD-46EF-8FBF-380A4709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2533650"/>
            <a:ext cx="26479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2DC011-9C4F-4348-B387-8C3895EE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241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BF9248-D99F-48C9-89EB-D60AD56C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432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추적 저장소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F9F05D-43C5-4B4A-B2C5-A899CEF5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00450"/>
            <a:ext cx="2305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메모리 · 줄 단위 기록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2FE165-ED5F-453F-88F9-3B3872CA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요청에서 생성 결과와 운영 메타데이터를 함께 반환</a:t>
            </a:r>
          </a:p>
        </p:txBody>
      </p:sp>
    </p:spTree>
    <p:extLst>
      <p:ext uri="{BB962C8B-B14F-4D97-AF65-F5344CB8AC3E}">
        <p14:creationId xmlns:p14="http://schemas.microsoft.com/office/powerpoint/2010/main" val="1829041451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AB3E52-974C-437F-9A14-295DBE9F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9A6228-58C2-483C-A256-58D45388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68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9F7EE-C4FD-4C3F-9BCC-CA0AF1BE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2FA23C-E973-47A7-8A08-359164FD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403C1-3135-426A-BCC6-9CC78AA5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0B68F6-65D0-4ABF-87F7-1094F3A3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실습 완료의 다섯 증거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95E47A-876C-4C89-A65C-8BBD60DF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16192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5EECDB-FDCA-43BB-B9D6-0824518E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73346-9517-4DE6-8BCD-BECD821B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621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204A3D-6788-49F1-8982-7785EC226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6002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GET /health → 정상 응답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7D2B9-E3D5-481C-834A-09288282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21526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675B33-0073-4D19-B1BC-6B93E4AD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4955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418F97-B45B-4913-A32E-375C9DCA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3C2A01-6F8B-4239-AB6C-DBF4EBA0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84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추적 2건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FB62D9-34AE-4BD0-9B4B-AA0E617C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765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동일 입력의 기준선·변형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E02D64-16E9-4DCA-A59B-67A1FE43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0289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7E6C13-BC73-4905-90B6-770915BA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3718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48BFCE-023C-4A9D-9C71-EBDC9A7D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C3FA4B-4A24-4294-8AF2-ACCB4641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14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단일 변경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629853-5C41-4416-9AF7-FB707D89D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프롬프트 버전 또는 생성 무작위성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4D8A4E-7889-4174-A794-46FC334C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9052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C7A624-A6E7-4FFB-A2A2-BF9C8C75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248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C84EF8-D6FC-4A2D-9516-A026937CC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241AB7-690A-4443-A8D5-F0348747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910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비교 판단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4D72B-37A4-455D-95F7-D11B4A80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291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출력·상태·응답 지연·토큰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D6BE9C-A3F3-4C47-924C-1D81D645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47815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8BC0DD-26D0-460A-B62F-24105D67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244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A56208-038C-482B-BB3D-BF38C2F9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53D165-F55C-49CE-9DB6-7B0D8550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673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가설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C0A138-43EB-49FB-B63C-27CF169D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105400"/>
            <a:ext cx="5581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변경·기대·판정의 두 문장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DD62A0-77A8-424F-BFD3-3E8398E9F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5657850"/>
            <a:ext cx="994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09211231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E2820B-D577-4A0B-9976-C171E2EF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E9B923-571A-4246-8798-132267F3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94977B-C1D2-46F0-8133-80A11752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49064-E720-4F9D-9923-26A516B1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A51674-6179-4789-983C-5E7CD050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F60307-1DDF-4669-AFDE-9AAF1F89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16주 개발환경의 공통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33070-A749-4670-A921-D33022AD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1009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D6B2B3-D917-44B0-9987-2FFF99F7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3.11.14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13E4E-1802-4B46-AD35-98EE02A4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90700"/>
            <a:ext cx="6877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모든 주차의 기준 인터프리터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60A4AB-B28B-4920-84CD-F0E0AD67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26289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B71D96-585E-4687-92CE-074A99B6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289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공통 기반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B2B80-6817-4F5D-8E02-FC352F11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28900"/>
            <a:ext cx="5734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Jupyter · Requests · pandas · pytest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6F992E-D135-4022-9C72-72D8E218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3467100"/>
            <a:ext cx="7810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3A01CB-4D76-41AF-A3FC-AF78F9FD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4671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주차별 프로필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69F50A-B2D8-463F-8843-D1CF8B79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67100"/>
            <a:ext cx="4591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응용 프로그래밍 인터페이스 · 검색 증강 생성 · 미세조정 · 에이전트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4A5A75-BA46-45CE-A414-8EA67B80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4305300"/>
            <a:ext cx="666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477A71-5957-4052-A7CC-14908DFA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053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버전 잠금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7B909B-6DE1-4A15-B6F7-2C3BC688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05300"/>
            <a:ext cx="3448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macOS · 64비트 Arm 아키텍처(ARM64) 등 검증된 조합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D172F0-F5E9-4D72-974A-F533906B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하나의 거대 환경 대신 공통 기반과 충돌 주차별 프로필</a:t>
            </a:r>
          </a:p>
        </p:txBody>
      </p:sp>
    </p:spTree>
    <p:extLst>
      <p:ext uri="{BB962C8B-B14F-4D97-AF65-F5344CB8AC3E}">
        <p14:creationId xmlns:p14="http://schemas.microsoft.com/office/powerpoint/2010/main" val="1572147397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7DCB00-6359-41CA-9B2F-D23A6897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6C2D09-2439-45B7-8A5F-38A8A8D8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EEFE99-3412-4C3F-A7C6-80513327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82788-0AE6-463A-875E-BEE57521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967475-E109-4DC6-A1C2-731393A3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F67EDB-7CF5-4949-B7BD-EC6EEBE9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 완주와 선택 확장의 분기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862BB1-1668-4344-A08C-5D9E710B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0"/>
            <a:ext cx="1924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8A3917-3938-44C2-A23A-405A55D6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158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동일한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합성 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38A45-518E-4C67-A33C-5317B681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33650" y="2190750"/>
            <a:ext cx="895350" cy="1009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6708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CA64E-1A69-4227-BAE2-39CB5858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33650" y="3200400"/>
            <a:ext cx="895350" cy="1009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6708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33C887-5725-4F9F-8BC7-7650B1FC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676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필수 완주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F634B2-CEC9-4925-AE61-0796E217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203835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75EE81-E435-4220-86B0-132C4637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038350"/>
            <a:ext cx="2533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결정론적 데모 제공자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9541F4-69F0-4E19-9B60-4B1D6095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572250" y="2476500"/>
            <a:ext cx="876300" cy="1009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6708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88DF45-85EA-4443-96BF-8848F47F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14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선택 확장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F8942E-9E11-4312-A17C-117A4A39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40767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F4A57F-CAF6-4E30-A05B-01C0B480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76700"/>
            <a:ext cx="2533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로컬 모델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03278B-97FD-4AF8-B45E-2E30B07E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572250" y="3486150"/>
            <a:ext cx="87630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6708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50811A-3B92-49D5-995A-BE3B6DEB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34300" y="2667000"/>
            <a:ext cx="1581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74AB44-5EDF-4E6D-84D8-BB8A1988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1238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동일 실행 추적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데이터 구조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851593-91F6-4048-886F-B76EFCA0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28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373BC8-9011-4DA6-8872-8E746D5F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0" y="2667000"/>
            <a:ext cx="1581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FDA7D8-C7FB-4A57-BEA1-A417CA82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667000"/>
            <a:ext cx="1238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기준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0E22A8-2CE3-40E7-83BB-A3ABCA09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설치 여부와 무관한 공통 실행 추적 · 같은 데이터 구조 · 같은 평가 기준</a:t>
            </a:r>
          </a:p>
        </p:txBody>
      </p:sp>
    </p:spTree>
    <p:extLst>
      <p:ext uri="{BB962C8B-B14F-4D97-AF65-F5344CB8AC3E}">
        <p14:creationId xmlns:p14="http://schemas.microsoft.com/office/powerpoint/2010/main" val="499823142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1E1499-7FB9-412E-A90C-930F2754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D27C19-AF98-436A-8747-C25742D2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B0BEA0-6D4B-4EE1-94C2-7E2F887B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BCB6A-EA5A-416C-8D17-72426569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04DDB5-3630-4540-BBE1-13037732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38AEE3-7F7C-488D-AFB5-C38BB2E0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Visual Studio Code 환경과 테스트 증거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E9FE2C-949C-4ABC-8542-C0AEB380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90650"/>
            <a:ext cx="802005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b45d169dde4997"/>
          <a:stretch xmlns:a="http://schemas.openxmlformats.org/drawingml/2006/main"/>
        </p:blipFill>
        <p:spPr>
          <a:xfrm xmlns:a="http://schemas.openxmlformats.org/drawingml/2006/main">
            <a:off x="1053943" y="1428750"/>
            <a:ext cx="7131364" cy="4476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2427E7-FAFA-4ABF-B6AB-AADE5373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049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현장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12CA6-02A9-4C04-8684-3F065E30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19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인터프리터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7265B2-0291-4C7E-BCF4-C386E649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812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3.11.14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36A886-91A6-45BE-8466-31E99F22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29337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8EF8E6-FBCC-4109-8187-B9CEF3F2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432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자동 테스트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2E0C0-4ADA-47A0-B550-2DEFFB23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6 passed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63E71-708F-475C-9874-5A9D7F7E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40576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67C63A-C68F-4182-AA41-AD76C15F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672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환경 설정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E7CA77-F4A1-4766-90AA-54CB6009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6291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.vscode 4종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932678-DBC6-43C2-B1F2-5CE5280C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51816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3001606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8966C4-C193-4B81-A8CA-39A6E1A4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3B545-25B1-4161-AA6B-81CF7B91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624441-F141-457F-BD85-DB46803F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CC527-A962-4249-B8E4-4E4E1C6E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A68FFB-F7F7-4F8F-95B2-0E778A07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76C5C-16A0-4C1B-AE10-39DBFC7B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응용 프로그래밍 인터페이스 요청 계약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F489E9-A000-4ADA-B97B-D389C3DA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90650"/>
            <a:ext cx="802005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bb9ebb3f444b51"/>
          <a:srcRect xmlns:a="http://schemas.openxmlformats.org/drawingml/2006/main" l="93" t="0" r="9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428750"/>
            <a:ext cx="7943850" cy="4476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138B15-09CE-43E8-8BE0-D19D3917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049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계약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15B228-1F74-4D6F-A267-522FBB28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19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요청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342C35-7B16-4BC5-9158-8C56C730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812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POST /api/v1/generate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6BAD92-A4BE-4071-91B2-F4A15DCF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29337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3D572F-8F29-42CC-8767-AA3A63FD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432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본문 형식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EE12A5-7B3F-4D7C-85B8-0C5979DF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application/json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D3906B-F1E8-4596-8D5F-B395A7A3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40576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AF1964-006D-43FB-B4E1-211AA3D9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672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잘못된 요청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78B84F-FBD0-4643-A110-34CC07ED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6291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422 검증 오류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1BED04-F178-4AA9-A6EA-5DF46710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51816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7503632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01AEEE-8ADB-404A-8ABF-F42C490B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1CA0AB-0638-4146-B1CF-ADC05D797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F60E35-A173-47D5-AC2D-E672A34E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50AECC-5B14-499B-BF24-7D580377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ADDAD-09D2-47A2-B80F-EB0C3D37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B7000-6F8F-44C4-BFBC-02EA3966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네 관찰 경로의 역할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9FBF2C-AD0A-43A7-ABD8-5C26A8B6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4E6F3-1F13-4392-A34D-290C807A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/traces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2EE2E8-550B-4C98-AD60-D4C686BA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1A0031-9A87-4311-9119-C309F68C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개별 실행과 원본 메타데이터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ADE987-9ED7-4FCA-B6C8-95FFF718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158172-10AE-4C51-9CC7-C6003719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/stats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96ACC-99E2-4883-9A37-538C8C0C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0995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4054C6-378D-4FD1-A40D-27ACD892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수업용 통계 집계와 비교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57B7D2-FCCA-4EB9-901B-62A05F26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A2F279-F428-4003-9484-3C291937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/metrics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3D5D6D-8288-4511-93CF-42C9646C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1030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03EA56-DED3-48BC-A113-EC19FD88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Prometheus 수집 형식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DC6444-93BF-4558-B5EA-4AFD0EEDE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764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7387C0-78B1-4C37-860B-3C2E8AFD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670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/docs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51041F-7D5A-4285-B021-D943494A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34480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986DD6-8DF0-40F7-B97F-5A3C80B0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909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요청·응답 데이터 구조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1BEAAC-6379-4437-8433-0984C984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한 건 · 사람의 비교 · 운영 수집 · 계약 확인의 서로 다른 관점</a:t>
            </a:r>
          </a:p>
        </p:txBody>
      </p:sp>
    </p:spTree>
    <p:extLst>
      <p:ext uri="{BB962C8B-B14F-4D97-AF65-F5344CB8AC3E}">
        <p14:creationId xmlns:p14="http://schemas.microsoft.com/office/powerpoint/2010/main" val="1720664923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BB36C3-F287-4F59-BD45-9BA3B722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24A8D-C69A-4834-9900-64A0EA7E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D348AD-6456-4432-B71A-04317135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BC4E3-18FF-4504-8A77-9526C48C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722118-A1B7-4204-B15F-C4AB01CE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189963-E5B2-4BA6-ACEF-5459CB7F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실습 사용자 화면의 입력 구성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B1499-D59A-4B28-9368-6D48F04A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90650"/>
            <a:ext cx="1097280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89de1f672a4de2"/>
          <a:srcRect xmlns:a="http://schemas.openxmlformats.org/drawingml/2006/main" l="0" t="13481" r="0" b="13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428750"/>
            <a:ext cx="10896600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302046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BAFD0A-30E4-4CFC-826A-F5A228B8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56A97-4856-43AF-98CC-15FE0F91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321824-8B1C-42A2-92DC-C2A439E4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C35EE-35DD-4055-8193-5C74A0D4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D7F2E2-DE6A-425D-A2E4-858D270F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17D97-C394-4D1E-A3A3-8F240A16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결과와 추적 증거의 동시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AAE6A0-62B4-4C7B-AF7E-803831CB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390650"/>
            <a:ext cx="802005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b5f98014a44e3b"/>
          <a:srcRect xmlns:a="http://schemas.openxmlformats.org/drawingml/2006/main" l="93" t="0" r="9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428750"/>
            <a:ext cx="7943850" cy="4476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D70BE2-F5B3-4B09-8AA5-6B989535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049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실행 추적 ff2c901e8a16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87A0D-46E2-4AA2-9826-09BC982B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19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실행 상태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EEF0AB-4515-41D2-AA07-5B5AFDEB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812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1BD0C8-96B2-4A2F-9876-3C10837F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29337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B03148-D768-4168-ADD6-446727A1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432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응답 지연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8E2F1A-4F5E-4C97-A7EB-507A0F39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0.12 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2D4DC1-14AE-418E-9712-B577E44B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40576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95C0D9-C2E9-436D-BE36-F5F5C4F1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672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추정 토큰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E2ED7C-6AD4-44F6-920E-077C51B4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6291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9FB411-49E0-4703-B22C-C122F1CF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10650" y="518160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99687361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E0DED82-1B05-4687-8F25-E83A7F77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2A632A-C70F-48EE-80C2-099C4137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402105-5647-4D92-AD6B-58159FB8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BA6B0C-CD6B-451D-BACF-7BCB7E478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D00773-BE88-48BC-8245-95A87078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7EDB15-B722-45D8-94EE-94159232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기준선·변형의 단일 변수 실험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F50732-2C25-4716-913B-653B3C83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52600"/>
            <a:ext cx="2114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E1C36E-E4F8-4FCD-97A8-9848F0FB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885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D6E401-2E17-4FEF-9D36-F7B0AC6B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1752600"/>
            <a:ext cx="3543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0A53C4-806B-415E-9C6A-25D7FBB9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752600"/>
            <a:ext cx="3314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RUN A / BASELINE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BD7DBF-B81C-4BBA-A0D2-5F31A9C0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1752600"/>
            <a:ext cx="1333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CD4845-AE43-4DE9-8B39-0E3043DB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52600"/>
            <a:ext cx="110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FE382-4DC9-460B-B0C4-02B78436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1752600"/>
            <a:ext cx="39814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1F5EBF-451C-4249-9730-4DF67439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52600"/>
            <a:ext cx="3752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RUN B / VARIANT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FB2DE1-EC15-4152-AFDA-F84BF326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2860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86E290-94C0-4FA6-A657-2171D98C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입력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D4BCA6-B172-4EFB-B43D-7B95031B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228600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763FD6-BFB9-4EC6-A129-D04830F2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331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동일 합성 고객 피드백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FD21DD-E8DA-4568-A06D-0E6B530A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2860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A10FBC-B367-43DF-AE09-B0DF7E2A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86000"/>
            <a:ext cx="1104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=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9AC908-230A-4C84-B1DB-124403B4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2286000"/>
            <a:ext cx="3981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1F9EC5-0B8E-44FE-9F0D-9EE9FDB4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86000"/>
            <a:ext cx="3752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동일 합성 고객 피드백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B5E6B3-964B-433C-9B8E-F597C70C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9718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DE8B82-064C-401A-8EB0-AC715853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작업·모델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3C611E-0430-4E35-B319-038C40EB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297180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A2159D-2010-43FC-B7B8-113C9DAE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971800"/>
            <a:ext cx="331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구조 추출 · llama3.1:8b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E97078-CD17-49CC-87CE-7CDBEE6F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9718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B57ED1-ECC5-4273-B8BF-04AC9A0E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71800"/>
            <a:ext cx="1104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=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4126BE-953D-4DA4-BC70-727CF898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2971800"/>
            <a:ext cx="3981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08F728-00F0-4175-B49E-01D2A439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71800"/>
            <a:ext cx="3752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구조 추출 · llama3.1:8b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415981-5DA8-423A-8EA1-B38ED569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6576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443B41-5D33-4B2E-9A66-2671AE96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생성 무작위성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22206D-FFC4-4DFB-B029-06D52BCB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65760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43C507-D515-4252-9755-2C61FBBD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57600"/>
            <a:ext cx="331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온도 0.2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67D32F-E2EF-432D-ACA7-0703A85A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36576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243E1A-AB8E-4883-A9B1-74CF8DFB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57600"/>
            <a:ext cx="1104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9A3AA3-4C99-4F89-AA32-3583FDE0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3657600"/>
            <a:ext cx="3981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1274CA-FFBA-4B50-9791-3BEDF5E4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57600"/>
            <a:ext cx="3752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온도 0.8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14F5DEA-013D-4961-BC29-7EF97F4E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434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61C539-E964-4524-BEB1-9D44B6EB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관찰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840F5E2-3E60-43EF-91F2-3FE4AF3B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434340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BB744AA-4F33-4908-8D0B-841546B6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43400"/>
            <a:ext cx="331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구조 · 사실성 · 지연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9C323F-ED91-49CC-BB6E-10BC24F1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3434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7BA3745-24B4-4207-9F56-1BBD0886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43400"/>
            <a:ext cx="1104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↔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21AE9F-AF71-48A8-A11E-73298045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00950" y="4343400"/>
            <a:ext cx="3981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3898667-D5FB-4807-A4F5-CC1AC5CF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43400"/>
            <a:ext cx="3752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구조 · 사실성 · 지연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68BA2FE-1E46-4FDF-A031-8006BFFC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결정론적 데모는 기준선 · 생성 무작위성 차이는 Ollama 선택 경로에서 관찰</a:t>
            </a:r>
          </a:p>
        </p:txBody>
      </p:sp>
    </p:spTree>
    <p:extLst>
      <p:ext uri="{BB962C8B-B14F-4D97-AF65-F5344CB8AC3E}">
        <p14:creationId xmlns:p14="http://schemas.microsoft.com/office/powerpoint/2010/main" val="450020410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1A3246-55D2-4F91-B8E2-E5267D72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794754-7C25-4F6A-A987-C107E795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3F5425-9CB0-42A9-A6FB-FD222AD7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9728B-BCF7-40CB-A6F8-478A0AAF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AD8E2D-26CA-40D2-B726-77596BA2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A1C5B-773E-4EF0-B9D2-F77FA469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화면 기반 판정 증거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72DB92-2317-4180-AB8A-5F65AD25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근거성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62372A-CC1B-478D-B829-0019B192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7907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관찰됨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E198F7-D97D-4161-948E-0FC0FF7E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790700"/>
            <a:ext cx="588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출력의 핵심 신호와 마찰 요인이 합성 입력에 근거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F6991A-F13A-48AB-A793-1662AD3B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4193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31CDC9-7E4D-49B0-8272-594BB1BC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형식 계약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5F5753-D88F-4DAA-812B-459C2CFC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813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B1F3A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0B1F3A"/>
                </a:solidFill>
                <a:latin typeface="Menlo"/>
                <a:ea typeface="Menlo"/>
                <a:cs typeface="Menlo"/>
              </a:rPr>
              <a:t>3개 필드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ABED4-9AD2-484C-A249-A5B7A215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781300"/>
            <a:ext cx="588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핵심 신호 · 마찰 요인 · 다음 행동의 구조화 출력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38AB63-B0D4-4C0D-BC6B-44AFCFE8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4099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0302E8-3F18-4D72-8125-2C1C3F48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상태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ADF34D-F7E9-4CF0-8F18-474C069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7719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B1F3A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0B1F3A"/>
                </a:solidFill>
                <a:latin typeface="Menlo"/>
                <a:ea typeface="Menlo"/>
                <a:cs typeface="Menlo"/>
              </a:rPr>
              <a:t>정상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AFCA95-9867-4344-BD88-47ECC60E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588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오류 없이 결과와 실행 추적을 함께 반환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126047-293A-4093-B255-A25195D1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4005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DB1C7C-4514-4B9F-9819-8C2D6E52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응답 지연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53F5ED-96B4-40CD-8109-A7248E37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625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0.12 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F029C5-5903-4865-8255-2D4D307A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762500"/>
            <a:ext cx="588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현재 로컬 결정론적 데모 호출의 관찰값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E1CF6C-8B2B-48DC-A105-C4B2EEAC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53911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19F507-2F56-4942-99E0-1B7744DB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가상 점수 대신 화면에서 확인한 상태·형식·응답 지연과 근거 판단</a:t>
            </a:r>
          </a:p>
        </p:txBody>
      </p:sp>
    </p:spTree>
    <p:extLst>
      <p:ext uri="{BB962C8B-B14F-4D97-AF65-F5344CB8AC3E}">
        <p14:creationId xmlns:p14="http://schemas.microsoft.com/office/powerpoint/2010/main" val="2071577096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3CA89F-56F9-456D-8E7D-57BC329A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3DADAA-2886-43FC-881F-E96CCA7E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78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A9999D-B1C7-48B5-966F-7BCFBE04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6323E4-D7AA-4D6A-BDD3-2DA26D2C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046BC-F331-441E-B412-DF64DB1A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19191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890AAD-CC24-49EC-BCA5-2C31D65B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구조 추출의 판정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533F3-EAD2-4259-87A2-79090B4F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3505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8B4105-A88F-46A6-9B50-5F98AE26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3505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신호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5CB142-7E2A-4912-99D8-4E431AB1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162300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A59456-BB54-45CB-8237-01948F92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3505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사용자가 실제로 말한 핵심 관찰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E83873-5876-4FC4-A717-C06E0B316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존재 · 입력 근거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D9954A-E6C1-4E75-B796-17C1AB6C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90700"/>
            <a:ext cx="3505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1B7CF8-CC79-4549-B44B-93635ABB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71750"/>
            <a:ext cx="3505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마찰 요인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C9F32B-FAA4-4FD6-BE78-0BB61700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43400" y="3162300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E92967-85BB-4C53-A6C6-AAEED659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3505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결정이나 행동을 막는 구체적 불편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AD288F-1C3F-4628-BE84-700BF7ED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구체성 · 행동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BFA78-3169-454D-8B95-90579B13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90700"/>
            <a:ext cx="3505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667085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66708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107A73-C152-4285-9C43-88BB8622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71750"/>
            <a:ext cx="3505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행동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459671-9D2B-49F4-9EC8-4EA3FA30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77200" y="3162300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9191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C5DAFA-A27E-4DAC-B66D-17206A7E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67100"/>
            <a:ext cx="3505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67085"/>
                </a:solidFill>
                <a:latin typeface="AppleGothic"/>
                <a:ea typeface="AppleGothic"/>
                <a:cs typeface="AppleGothic"/>
              </a:rPr>
              <a:t>다음 실험 또는 제품 행동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0BCC29-895A-425E-8BC0-C7328DBF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43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담당 · 검증 가능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427BC6-F8B1-47ED-8E62-6F3CB98C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출력 데이터 구조가 형식 평가의 최소 기준 · 내용의 근거성과 별도 판정</a:t>
            </a:r>
          </a:p>
        </p:txBody>
      </p:sp>
    </p:spTree>
    <p:extLst>
      <p:ext uri="{BB962C8B-B14F-4D97-AF65-F5344CB8AC3E}">
        <p14:creationId xmlns:p14="http://schemas.microsoft.com/office/powerpoint/2010/main" val="20790472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C57435-DADB-44E1-B67B-B1E1FDF9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99FA31-5742-4FD8-ACEE-66DAC7E8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476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79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E44FCB-4C29-4D8B-8433-AA5A8AF7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C3465C-54E4-4E82-8444-5C102FCE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AJOU · LARGE LANGUAGE MODEL OPERATIONS (LLMOps)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A677B-9775-49FE-8469-F44E7D62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239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AB8C96-88B2-41F8-AC2B-4C761BF1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실패 유형별 복구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765541-C669-466C-B6AB-855722FB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422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74A4CE-7B57-4486-AF66-585A1291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61925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 데이터 구조 오류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5D757E-40B2-4640-9F56-AFBFDA9C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192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D77CE4-86C5-4416-A7E8-C7EC37E5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19250"/>
            <a:ext cx="461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작업·제공자·온도 범위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7D7064-A693-467D-9434-D73BC144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24100" y="2209800"/>
            <a:ext cx="887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62B4ED-E2AE-49ED-AD59-C26600C7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503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AE0600-8641-4423-9DED-9EBCE536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0985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Ollama 연결 또는 모델 부재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C613C0-DAE9-4D01-962D-81912B12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098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341B13-BD82-4FCB-93B5-D25CA1A1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09850"/>
            <a:ext cx="461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데모로 완주 → Ollama 실행·모델 다운로드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B2FC06-CA97-4C98-B8F4-D934459E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24100" y="3200400"/>
            <a:ext cx="887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A57F5B-D854-4578-830A-655880A9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시간 초과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02D3AE-E54F-46EA-AA0A-B2990EB7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0045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응답 제한시간 초과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5E2072-5F05-4157-AF0B-121E7762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004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30DDF5-1D9E-410E-8DCC-37B0E6C2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00450"/>
            <a:ext cx="461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실행 추적 확인 → 입력 길이·모델·제한시간 점검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4FD9E2-8F33-4A69-A02B-CEC61268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24100" y="4191000"/>
            <a:ext cx="887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4B8528-9EC0-41E8-B27E-8888FEA4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차이 없음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ECECE-3957-4192-943E-298DC1EC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9105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두 실행의 비교 불가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28239E-13AC-449F-9E64-E9223C9E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5910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A9C825-3DCF-4F76-BD47-9BE453D9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91050"/>
            <a:ext cx="461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98A2B3"/>
                </a:solidFill>
                <a:latin typeface="AppleGothic"/>
                <a:ea typeface="AppleGothic"/>
                <a:cs typeface="AppleGothic"/>
              </a:rPr>
              <a:t>동일 입력·평가축 고정 → 변수 하나만 변경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5632A1-D961-4A9F-A32B-E342E1D9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24100" y="5181600"/>
            <a:ext cx="887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10499833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55439A-4DAC-42B2-8637-8200C896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FIRST OPERATING RECORD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22AE73-3E13-496E-8BB8-C2B4E68D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첫 포트폴리오 기록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F9B188-C7C9-488D-930A-B1126AF3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90B53-14AF-40BB-9E18-642FB82E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384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문제 후보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DF401F-E819-4A11-B403-082AA8E9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38400"/>
            <a:ext cx="7486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기말 프로젝트로 검증할 사용자·문제 후보 1개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1E6A37-613E-484D-8992-67024DD6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90650" y="29908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FAEDD6-CA05-48B7-B5B1-7984E94F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6584C-0176-4ECC-8D30-E1EC7332B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290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실행 증거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F12BDA-916E-4E28-980D-169530EE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7486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오늘 만든 실행 추적 2건과 비교 판단 1개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43164D-6667-4229-AE88-A28C9F06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90650" y="39814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CE6676-143C-4B37-BE3A-D175BD43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98A2B3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98A2B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17B945-12CE-4626-B9DE-90201A79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19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교수 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08A09-EAFD-47CA-A248-B25E52ED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19600"/>
            <a:ext cx="7486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질의응답에서 확인할 질문 3개와 수정 이력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499E85-ED2F-4524-B273-EC31D45D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90650" y="4972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32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ECE047-292D-4B4E-A65B-78A0DD89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561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32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A666B4-FC1B-4C05-B00E-59F57728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W08 · 기말 프로젝트 기획서 0.1 · 교수 질의응답 기록 · 이후 구현 기준선</a:t>
            </a:r>
          </a:p>
        </p:txBody>
      </p:sp>
    </p:spTree>
    <p:extLst>
      <p:ext uri="{BB962C8B-B14F-4D97-AF65-F5344CB8AC3E}">
        <p14:creationId xmlns:p14="http://schemas.microsoft.com/office/powerpoint/2010/main" val="344835073"/>
      </p:ext>
    </p:extLst>
  </p:cSld>
</p:sld>
</file>

<file path=ppt/theme/theme1.xml><?xml version="1.0" encoding="utf-8"?>
<a:theme xmlns:a="http://schemas.openxmlformats.org/drawingml/2006/main" name="ChatGPT">
  <a:themeElements>
    <a:clrScheme name="BLACK WHITE NAVY BLUE">
      <a:dk1>
        <a:srgbClr val="050505"/>
      </a:dk1>
      <a:lt1>
        <a:srgbClr val="FFFFFF"/>
      </a:lt1>
      <a:dk2>
        <a:srgbClr val="0B1F3A"/>
      </a:dk2>
      <a:lt2>
        <a:srgbClr val="F7F8FA"/>
      </a:lt2>
      <a:accent1>
        <a:srgbClr val="2563EB"/>
      </a:accent1>
      <a:accent2>
        <a:srgbClr val="0B1F3A"/>
      </a:accent2>
      <a:accent3>
        <a:srgbClr val="667085"/>
      </a:accent3>
      <a:accent4>
        <a:srgbClr val="E0F0FE"/>
      </a:accent4>
      <a:accent5>
        <a:srgbClr val="191919"/>
      </a:accent5>
      <a:accent6>
        <a:srgbClr val="98A2B3"/>
      </a:accent6>
      <a:hlink>
        <a:srgbClr val="2563EB"/>
      </a:hlink>
      <a:folHlink>
        <a:srgbClr val="0B1F3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NAVY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2026-09-04T02:25:17.6350000Z</dcterms:created>
  <dcterms:modified xsi:type="dcterms:W3CDTF">2026-09-04T02:25:17.6350000Z</dcterms:modified>
</coreProperties>
</file>