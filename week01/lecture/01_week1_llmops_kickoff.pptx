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631b5b3c964af7" /><Relationship Type="http://schemas.openxmlformats.org/officeDocument/2006/relationships/extended-properties" Target="/docProps/app.xml" Id="R172cd0b9630845c4" /><Relationship Type="http://schemas.openxmlformats.org/officeDocument/2006/relationships/officeDocument" Target="/ppt/presentation.xml" Id="R31ce6cb46e7e4c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438dd9def644d7"/>
  </p:sldMasterIdLst>
  <p:notesMasterIdLst>
    <p:notesMasterId xmlns:r="http://schemas.openxmlformats.org/officeDocument/2006/relationships" r:id="R188cc8565614459d"/>
  </p:notesMasterIdLst>
  <p:sldIdLst>
    <p:sldId xmlns:r="http://schemas.openxmlformats.org/officeDocument/2006/relationships" id="256" r:id="Rdbae3159c4894f8a"/>
    <p:sldId xmlns:r="http://schemas.openxmlformats.org/officeDocument/2006/relationships" id="257" r:id="Re7616b2b7872400f"/>
    <p:sldId xmlns:r="http://schemas.openxmlformats.org/officeDocument/2006/relationships" id="258" r:id="Rf5911670ff2b4f07"/>
    <p:sldId xmlns:r="http://schemas.openxmlformats.org/officeDocument/2006/relationships" id="259" r:id="R30a22cfb9fcb4b4c"/>
    <p:sldId xmlns:r="http://schemas.openxmlformats.org/officeDocument/2006/relationships" id="260" r:id="R32c803f92bec45a5"/>
    <p:sldId xmlns:r="http://schemas.openxmlformats.org/officeDocument/2006/relationships" id="261" r:id="R939d018dfa8e4e51"/>
    <p:sldId xmlns:r="http://schemas.openxmlformats.org/officeDocument/2006/relationships" id="262" r:id="R15aa8c108eb74dc1"/>
    <p:sldId xmlns:r="http://schemas.openxmlformats.org/officeDocument/2006/relationships" id="263" r:id="R2ea0b9a0e80846af"/>
    <p:sldId xmlns:r="http://schemas.openxmlformats.org/officeDocument/2006/relationships" id="264" r:id="R20dc252004b649c0"/>
    <p:sldId xmlns:r="http://schemas.openxmlformats.org/officeDocument/2006/relationships" id="265" r:id="R95557a292563410a"/>
    <p:sldId xmlns:r="http://schemas.openxmlformats.org/officeDocument/2006/relationships" id="266" r:id="R017e61a53a3f488b"/>
    <p:sldId xmlns:r="http://schemas.openxmlformats.org/officeDocument/2006/relationships" id="267" r:id="Re1beb86b40af45e2"/>
    <p:sldId xmlns:r="http://schemas.openxmlformats.org/officeDocument/2006/relationships" id="268" r:id="R1725bb0919184eaf"/>
    <p:sldId xmlns:r="http://schemas.openxmlformats.org/officeDocument/2006/relationships" id="269" r:id="R1b14bb06b01c484f"/>
    <p:sldId xmlns:r="http://schemas.openxmlformats.org/officeDocument/2006/relationships" id="270" r:id="R642ec3335bb848b1"/>
    <p:sldId xmlns:r="http://schemas.openxmlformats.org/officeDocument/2006/relationships" id="271" r:id="R143ca47b60ff4622"/>
    <p:sldId xmlns:r="http://schemas.openxmlformats.org/officeDocument/2006/relationships" id="272" r:id="R4625fbe00c994dbf"/>
    <p:sldId xmlns:r="http://schemas.openxmlformats.org/officeDocument/2006/relationships" id="273" r:id="R5a0a8081578d4b9a"/>
    <p:sldId xmlns:r="http://schemas.openxmlformats.org/officeDocument/2006/relationships" id="274" r:id="R4931fc694dc44726"/>
    <p:sldId xmlns:r="http://schemas.openxmlformats.org/officeDocument/2006/relationships" id="275" r:id="R4d88af0c24ad4ab4"/>
    <p:sldId xmlns:r="http://schemas.openxmlformats.org/officeDocument/2006/relationships" id="276" r:id="Rae9c05889dfa443e"/>
    <p:sldId xmlns:r="http://schemas.openxmlformats.org/officeDocument/2006/relationships" id="277" r:id="R54362a03a66a4b59"/>
    <p:sldId xmlns:r="http://schemas.openxmlformats.org/officeDocument/2006/relationships" id="278" r:id="Rec70e5ba4f4d4674"/>
    <p:sldId xmlns:r="http://schemas.openxmlformats.org/officeDocument/2006/relationships" id="279" r:id="R76b74e52a35d4716"/>
    <p:sldId xmlns:r="http://schemas.openxmlformats.org/officeDocument/2006/relationships" id="280" r:id="Re4bf25a8a24040b8"/>
    <p:sldId xmlns:r="http://schemas.openxmlformats.org/officeDocument/2006/relationships" id="281" r:id="Rda1bc3cffa194e1e"/>
    <p:sldId xmlns:r="http://schemas.openxmlformats.org/officeDocument/2006/relationships" id="282" r:id="R669559eaa8e24b77"/>
    <p:sldId xmlns:r="http://schemas.openxmlformats.org/officeDocument/2006/relationships" id="283" r:id="R12c90b0c297a41d7"/>
    <p:sldId xmlns:r="http://schemas.openxmlformats.org/officeDocument/2006/relationships" id="284" r:id="R3aad62407b134257"/>
    <p:sldId xmlns:r="http://schemas.openxmlformats.org/officeDocument/2006/relationships" id="285" r:id="R7f66ff10964e4443"/>
    <p:sldId xmlns:r="http://schemas.openxmlformats.org/officeDocument/2006/relationships" id="286" r:id="R6981ba6c07064ce3"/>
    <p:sldId xmlns:r="http://schemas.openxmlformats.org/officeDocument/2006/relationships" id="287" r:id="R1c117557eef7490f"/>
    <p:sldId xmlns:r="http://schemas.openxmlformats.org/officeDocument/2006/relationships" id="288" r:id="R85fbdcf0e03144ac"/>
    <p:sldId xmlns:r="http://schemas.openxmlformats.org/officeDocument/2006/relationships" id="289" r:id="R05455330b7cb46e4"/>
    <p:sldId xmlns:r="http://schemas.openxmlformats.org/officeDocument/2006/relationships" id="290" r:id="R56a91cedf91c4c1a"/>
    <p:sldId xmlns:r="http://schemas.openxmlformats.org/officeDocument/2006/relationships" id="291" r:id="R3c11fb5c9a5044a5"/>
    <p:sldId xmlns:r="http://schemas.openxmlformats.org/officeDocument/2006/relationships" id="292" r:id="R9d013178769a4d5c"/>
    <p:sldId xmlns:r="http://schemas.openxmlformats.org/officeDocument/2006/relationships" id="293" r:id="Rbe879bd8538c40ce"/>
    <p:sldId xmlns:r="http://schemas.openxmlformats.org/officeDocument/2006/relationships" id="294" r:id="R42b4460ce82f44c5"/>
    <p:sldId xmlns:r="http://schemas.openxmlformats.org/officeDocument/2006/relationships" id="295" r:id="Rc4cc7ddf30c64961"/>
    <p:sldId xmlns:r="http://schemas.openxmlformats.org/officeDocument/2006/relationships" id="296" r:id="Rdcca0d3aca5740f4"/>
    <p:sldId xmlns:r="http://schemas.openxmlformats.org/officeDocument/2006/relationships" id="297" r:id="R147f66a7ca614dbd"/>
    <p:sldId xmlns:r="http://schemas.openxmlformats.org/officeDocument/2006/relationships" id="298" r:id="Rc27624a8299b4005"/>
    <p:sldId xmlns:r="http://schemas.openxmlformats.org/officeDocument/2006/relationships" id="299" r:id="R269260df8c904031"/>
    <p:sldId xmlns:r="http://schemas.openxmlformats.org/officeDocument/2006/relationships" id="300" r:id="Rf64655d00d9d44c6"/>
    <p:sldId xmlns:r="http://schemas.openxmlformats.org/officeDocument/2006/relationships" id="301" r:id="Rf50ebd5d64094387"/>
    <p:sldId xmlns:r="http://schemas.openxmlformats.org/officeDocument/2006/relationships" id="302" r:id="R261b1588304c4ba9"/>
    <p:sldId xmlns:r="http://schemas.openxmlformats.org/officeDocument/2006/relationships" id="303" r:id="Rd751a299d9364d60"/>
    <p:sldId xmlns:r="http://schemas.openxmlformats.org/officeDocument/2006/relationships" id="304" r:id="R1c273211b41e4a4f"/>
    <p:sldId xmlns:r="http://schemas.openxmlformats.org/officeDocument/2006/relationships" id="305" r:id="R9e33c81cc6c943a3"/>
    <p:sldId xmlns:r="http://schemas.openxmlformats.org/officeDocument/2006/relationships" id="306" r:id="R0f1cf5b0b9544672"/>
    <p:sldId xmlns:r="http://schemas.openxmlformats.org/officeDocument/2006/relationships" id="307" r:id="Re60700cb4906482f"/>
    <p:sldId xmlns:r="http://schemas.openxmlformats.org/officeDocument/2006/relationships" id="308" r:id="Rcb0183304de74555"/>
    <p:sldId xmlns:r="http://schemas.openxmlformats.org/officeDocument/2006/relationships" id="309" r:id="R3eb2251e3c8042f2"/>
    <p:sldId xmlns:r="http://schemas.openxmlformats.org/officeDocument/2006/relationships" id="310" r:id="Rb792e53e281845ba"/>
    <p:sldId xmlns:r="http://schemas.openxmlformats.org/officeDocument/2006/relationships" id="311" r:id="R9feaa784cec344a7"/>
    <p:sldId xmlns:r="http://schemas.openxmlformats.org/officeDocument/2006/relationships" id="312" r:id="Re96626294beb43b5"/>
    <p:sldId xmlns:r="http://schemas.openxmlformats.org/officeDocument/2006/relationships" id="313" r:id="R5800dd58428a41e4"/>
    <p:sldId xmlns:r="http://schemas.openxmlformats.org/officeDocument/2006/relationships" id="314" r:id="R4a88a3c36b834e7c"/>
    <p:sldId xmlns:r="http://schemas.openxmlformats.org/officeDocument/2006/relationships" id="315" r:id="R4c11196a526a4875"/>
    <p:sldId xmlns:r="http://schemas.openxmlformats.org/officeDocument/2006/relationships" id="316" r:id="Rda430501234d41b3"/>
    <p:sldId xmlns:r="http://schemas.openxmlformats.org/officeDocument/2006/relationships" id="317" r:id="R6fd149a8605545f8"/>
    <p:sldId xmlns:r="http://schemas.openxmlformats.org/officeDocument/2006/relationships" id="318" r:id="R8d1c77094da24f8b"/>
    <p:sldId xmlns:r="http://schemas.openxmlformats.org/officeDocument/2006/relationships" id="319" r:id="R7f11cf0bacee484d"/>
    <p:sldId xmlns:r="http://schemas.openxmlformats.org/officeDocument/2006/relationships" id="320" r:id="R0029e73f3d4b4d8e"/>
    <p:sldId xmlns:r="http://schemas.openxmlformats.org/officeDocument/2006/relationships" id="321" r:id="R8d01b15309d44553"/>
    <p:sldId xmlns:r="http://schemas.openxmlformats.org/officeDocument/2006/relationships" id="322" r:id="Rfd4bedc78c6f47d9"/>
    <p:sldId xmlns:r="http://schemas.openxmlformats.org/officeDocument/2006/relationships" id="323" r:id="R007da1c2a35546b6"/>
    <p:sldId xmlns:r="http://schemas.openxmlformats.org/officeDocument/2006/relationships" id="324" r:id="R2c5c7a2a9a7b4176"/>
    <p:sldId xmlns:r="http://schemas.openxmlformats.org/officeDocument/2006/relationships" id="325" r:id="R7bd606acad2d4712"/>
    <p:sldId xmlns:r="http://schemas.openxmlformats.org/officeDocument/2006/relationships" id="326" r:id="R4fcda119767146bd"/>
    <p:sldId xmlns:r="http://schemas.openxmlformats.org/officeDocument/2006/relationships" id="327" r:id="R7a167dd0b7354af4"/>
    <p:sldId xmlns:r="http://schemas.openxmlformats.org/officeDocument/2006/relationships" id="328" r:id="R65c467aea71d44e3"/>
    <p:sldId xmlns:r="http://schemas.openxmlformats.org/officeDocument/2006/relationships" id="329" r:id="Rd394e78aa0a449ac"/>
    <p:sldId xmlns:r="http://schemas.openxmlformats.org/officeDocument/2006/relationships" id="330" r:id="Ra593235af1754390"/>
    <p:sldId xmlns:r="http://schemas.openxmlformats.org/officeDocument/2006/relationships" id="331" r:id="Re77928ec22934f88"/>
    <p:sldId xmlns:r="http://schemas.openxmlformats.org/officeDocument/2006/relationships" id="332" r:id="R375ce9940e034998"/>
    <p:sldId xmlns:r="http://schemas.openxmlformats.org/officeDocument/2006/relationships" id="333" r:id="R28ceedf19127481b"/>
    <p:sldId xmlns:r="http://schemas.openxmlformats.org/officeDocument/2006/relationships" id="334" r:id="R55bfef42203045f3"/>
    <p:sldId xmlns:r="http://schemas.openxmlformats.org/officeDocument/2006/relationships" id="335" r:id="R6be2c64f511b40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d73589b0e94f0b" /><Relationship Type="http://schemas.openxmlformats.org/officeDocument/2006/relationships/slideMaster" Target="/ppt/slideMasters/slideMaster1.xml" Id="R3d438dd9def644d7" /><Relationship Type="http://schemas.openxmlformats.org/officeDocument/2006/relationships/notesMaster" Target="/ppt/notesMasters/notesMaster1.xml" Id="R188cc8565614459d" /><Relationship Type="http://schemas.openxmlformats.org/officeDocument/2006/relationships/presProps" Target="/ppt/presProps.xml" Id="Rcea588b19319498a" /><Relationship Type="http://schemas.openxmlformats.org/officeDocument/2006/relationships/tableStyles" Target="/ppt/tableStyles.xml" Id="R53c30695e0b7411a" /><Relationship Type="http://schemas.openxmlformats.org/officeDocument/2006/relationships/slide" Target="/ppt/slides/slide1.xml" Id="Rdbae3159c4894f8a" /><Relationship Type="http://schemas.openxmlformats.org/officeDocument/2006/relationships/slide" Target="/ppt/slides/slide2.xml" Id="Re7616b2b7872400f" /><Relationship Type="http://schemas.openxmlformats.org/officeDocument/2006/relationships/slide" Target="/ppt/slides/slide3.xml" Id="Rf5911670ff2b4f07" /><Relationship Type="http://schemas.openxmlformats.org/officeDocument/2006/relationships/slide" Target="/ppt/slides/slide4.xml" Id="R30a22cfb9fcb4b4c" /><Relationship Type="http://schemas.openxmlformats.org/officeDocument/2006/relationships/slide" Target="/ppt/slides/slide5.xml" Id="R32c803f92bec45a5" /><Relationship Type="http://schemas.openxmlformats.org/officeDocument/2006/relationships/slide" Target="/ppt/slides/slide6.xml" Id="R939d018dfa8e4e51" /><Relationship Type="http://schemas.openxmlformats.org/officeDocument/2006/relationships/slide" Target="/ppt/slides/slide7.xml" Id="R15aa8c108eb74dc1" /><Relationship Type="http://schemas.openxmlformats.org/officeDocument/2006/relationships/slide" Target="/ppt/slides/slide8.xml" Id="R2ea0b9a0e80846af" /><Relationship Type="http://schemas.openxmlformats.org/officeDocument/2006/relationships/slide" Target="/ppt/slides/slide9.xml" Id="R20dc252004b649c0" /><Relationship Type="http://schemas.openxmlformats.org/officeDocument/2006/relationships/slide" Target="/ppt/slides/slide10.xml" Id="R95557a292563410a" /><Relationship Type="http://schemas.openxmlformats.org/officeDocument/2006/relationships/slide" Target="/ppt/slides/slide11.xml" Id="R017e61a53a3f488b" /><Relationship Type="http://schemas.openxmlformats.org/officeDocument/2006/relationships/slide" Target="/ppt/slides/slide12.xml" Id="Re1beb86b40af45e2" /><Relationship Type="http://schemas.openxmlformats.org/officeDocument/2006/relationships/slide" Target="/ppt/slides/slide13.xml" Id="R1725bb0919184eaf" /><Relationship Type="http://schemas.openxmlformats.org/officeDocument/2006/relationships/slide" Target="/ppt/slides/slide14.xml" Id="R1b14bb06b01c484f" /><Relationship Type="http://schemas.openxmlformats.org/officeDocument/2006/relationships/slide" Target="/ppt/slides/slide15.xml" Id="R642ec3335bb848b1" /><Relationship Type="http://schemas.openxmlformats.org/officeDocument/2006/relationships/slide" Target="/ppt/slides/slide16.xml" Id="R143ca47b60ff4622" /><Relationship Type="http://schemas.openxmlformats.org/officeDocument/2006/relationships/slide" Target="/ppt/slides/slide17.xml" Id="R4625fbe00c994dbf" /><Relationship Type="http://schemas.openxmlformats.org/officeDocument/2006/relationships/slide" Target="/ppt/slides/slide18.xml" Id="R5a0a8081578d4b9a" /><Relationship Type="http://schemas.openxmlformats.org/officeDocument/2006/relationships/slide" Target="/ppt/slides/slide19.xml" Id="R4931fc694dc44726" /><Relationship Type="http://schemas.openxmlformats.org/officeDocument/2006/relationships/slide" Target="/ppt/slides/slide20.xml" Id="R4d88af0c24ad4ab4" /><Relationship Type="http://schemas.openxmlformats.org/officeDocument/2006/relationships/slide" Target="/ppt/slides/slide21.xml" Id="Rae9c05889dfa443e" /><Relationship Type="http://schemas.openxmlformats.org/officeDocument/2006/relationships/slide" Target="/ppt/slides/slide22.xml" Id="R54362a03a66a4b59" /><Relationship Type="http://schemas.openxmlformats.org/officeDocument/2006/relationships/slide" Target="/ppt/slides/slide23.xml" Id="Rec70e5ba4f4d4674" /><Relationship Type="http://schemas.openxmlformats.org/officeDocument/2006/relationships/slide" Target="/ppt/slides/slide24.xml" Id="R76b74e52a35d4716" /><Relationship Type="http://schemas.openxmlformats.org/officeDocument/2006/relationships/slide" Target="/ppt/slides/slide25.xml" Id="Re4bf25a8a24040b8" /><Relationship Type="http://schemas.openxmlformats.org/officeDocument/2006/relationships/slide" Target="/ppt/slides/slide26.xml" Id="Rda1bc3cffa194e1e" /><Relationship Type="http://schemas.openxmlformats.org/officeDocument/2006/relationships/slide" Target="/ppt/slides/slide27.xml" Id="R669559eaa8e24b77" /><Relationship Type="http://schemas.openxmlformats.org/officeDocument/2006/relationships/slide" Target="/ppt/slides/slide28.xml" Id="R12c90b0c297a41d7" /><Relationship Type="http://schemas.openxmlformats.org/officeDocument/2006/relationships/slide" Target="/ppt/slides/slide29.xml" Id="R3aad62407b134257" /><Relationship Type="http://schemas.openxmlformats.org/officeDocument/2006/relationships/slide" Target="/ppt/slides/slide30.xml" Id="R7f66ff10964e4443" /><Relationship Type="http://schemas.openxmlformats.org/officeDocument/2006/relationships/slide" Target="/ppt/slides/slide31.xml" Id="R6981ba6c07064ce3" /><Relationship Type="http://schemas.openxmlformats.org/officeDocument/2006/relationships/slide" Target="/ppt/slides/slide32.xml" Id="R1c117557eef7490f" /><Relationship Type="http://schemas.openxmlformats.org/officeDocument/2006/relationships/slide" Target="/ppt/slides/slide33.xml" Id="R85fbdcf0e03144ac" /><Relationship Type="http://schemas.openxmlformats.org/officeDocument/2006/relationships/slide" Target="/ppt/slides/slide34.xml" Id="R05455330b7cb46e4" /><Relationship Type="http://schemas.openxmlformats.org/officeDocument/2006/relationships/slide" Target="/ppt/slides/slide35.xml" Id="R56a91cedf91c4c1a" /><Relationship Type="http://schemas.openxmlformats.org/officeDocument/2006/relationships/slide" Target="/ppt/slides/slide36.xml" Id="R3c11fb5c9a5044a5" /><Relationship Type="http://schemas.openxmlformats.org/officeDocument/2006/relationships/slide" Target="/ppt/slides/slide37.xml" Id="R9d013178769a4d5c" /><Relationship Type="http://schemas.openxmlformats.org/officeDocument/2006/relationships/slide" Target="/ppt/slides/slide38.xml" Id="Rbe879bd8538c40ce" /><Relationship Type="http://schemas.openxmlformats.org/officeDocument/2006/relationships/slide" Target="/ppt/slides/slide39.xml" Id="R42b4460ce82f44c5" /><Relationship Type="http://schemas.openxmlformats.org/officeDocument/2006/relationships/slide" Target="/ppt/slides/slide40.xml" Id="Rc4cc7ddf30c64961" /><Relationship Type="http://schemas.openxmlformats.org/officeDocument/2006/relationships/slide" Target="/ppt/slides/slide41.xml" Id="Rdcca0d3aca5740f4" /><Relationship Type="http://schemas.openxmlformats.org/officeDocument/2006/relationships/slide" Target="/ppt/slides/slide42.xml" Id="R147f66a7ca614dbd" /><Relationship Type="http://schemas.openxmlformats.org/officeDocument/2006/relationships/slide" Target="/ppt/slides/slide43.xml" Id="Rc27624a8299b4005" /><Relationship Type="http://schemas.openxmlformats.org/officeDocument/2006/relationships/slide" Target="/ppt/slides/slide44.xml" Id="R269260df8c904031" /><Relationship Type="http://schemas.openxmlformats.org/officeDocument/2006/relationships/slide" Target="/ppt/slides/slide45.xml" Id="Rf64655d00d9d44c6" /><Relationship Type="http://schemas.openxmlformats.org/officeDocument/2006/relationships/slide" Target="/ppt/slides/slide46.xml" Id="Rf50ebd5d64094387" /><Relationship Type="http://schemas.openxmlformats.org/officeDocument/2006/relationships/slide" Target="/ppt/slides/slide47.xml" Id="R261b1588304c4ba9" /><Relationship Type="http://schemas.openxmlformats.org/officeDocument/2006/relationships/slide" Target="/ppt/slides/slide48.xml" Id="Rd751a299d9364d60" /><Relationship Type="http://schemas.openxmlformats.org/officeDocument/2006/relationships/slide" Target="/ppt/slides/slide49.xml" Id="R1c273211b41e4a4f" /><Relationship Type="http://schemas.openxmlformats.org/officeDocument/2006/relationships/slide" Target="/ppt/slides/slide50.xml" Id="R9e33c81cc6c943a3" /><Relationship Type="http://schemas.openxmlformats.org/officeDocument/2006/relationships/slide" Target="/ppt/slides/slide51.xml" Id="R0f1cf5b0b9544672" /><Relationship Type="http://schemas.openxmlformats.org/officeDocument/2006/relationships/slide" Target="/ppt/slides/slide52.xml" Id="Re60700cb4906482f" /><Relationship Type="http://schemas.openxmlformats.org/officeDocument/2006/relationships/slide" Target="/ppt/slides/slide53.xml" Id="Rcb0183304de74555" /><Relationship Type="http://schemas.openxmlformats.org/officeDocument/2006/relationships/slide" Target="/ppt/slides/slide54.xml" Id="R3eb2251e3c8042f2" /><Relationship Type="http://schemas.openxmlformats.org/officeDocument/2006/relationships/slide" Target="/ppt/slides/slide55.xml" Id="Rb792e53e281845ba" /><Relationship Type="http://schemas.openxmlformats.org/officeDocument/2006/relationships/slide" Target="/ppt/slides/slide56.xml" Id="R9feaa784cec344a7" /><Relationship Type="http://schemas.openxmlformats.org/officeDocument/2006/relationships/slide" Target="/ppt/slides/slide57.xml" Id="Re96626294beb43b5" /><Relationship Type="http://schemas.openxmlformats.org/officeDocument/2006/relationships/slide" Target="/ppt/slides/slide58.xml" Id="R5800dd58428a41e4" /><Relationship Type="http://schemas.openxmlformats.org/officeDocument/2006/relationships/slide" Target="/ppt/slides/slide59.xml" Id="R4a88a3c36b834e7c" /><Relationship Type="http://schemas.openxmlformats.org/officeDocument/2006/relationships/slide" Target="/ppt/slides/slide60.xml" Id="R4c11196a526a4875" /><Relationship Type="http://schemas.openxmlformats.org/officeDocument/2006/relationships/slide" Target="/ppt/slides/slide61.xml" Id="Rda430501234d41b3" /><Relationship Type="http://schemas.openxmlformats.org/officeDocument/2006/relationships/slide" Target="/ppt/slides/slide62.xml" Id="R6fd149a8605545f8" /><Relationship Type="http://schemas.openxmlformats.org/officeDocument/2006/relationships/slide" Target="/ppt/slides/slide63.xml" Id="R8d1c77094da24f8b" /><Relationship Type="http://schemas.openxmlformats.org/officeDocument/2006/relationships/slide" Target="/ppt/slides/slide64.xml" Id="R7f11cf0bacee484d" /><Relationship Type="http://schemas.openxmlformats.org/officeDocument/2006/relationships/slide" Target="/ppt/slides/slide65.xml" Id="R0029e73f3d4b4d8e" /><Relationship Type="http://schemas.openxmlformats.org/officeDocument/2006/relationships/slide" Target="/ppt/slides/slide66.xml" Id="R8d01b15309d44553" /><Relationship Type="http://schemas.openxmlformats.org/officeDocument/2006/relationships/slide" Target="/ppt/slides/slide67.xml" Id="Rfd4bedc78c6f47d9" /><Relationship Type="http://schemas.openxmlformats.org/officeDocument/2006/relationships/slide" Target="/ppt/slides/slide68.xml" Id="R007da1c2a35546b6" /><Relationship Type="http://schemas.openxmlformats.org/officeDocument/2006/relationships/slide" Target="/ppt/slides/slide69.xml" Id="R2c5c7a2a9a7b4176" /><Relationship Type="http://schemas.openxmlformats.org/officeDocument/2006/relationships/slide" Target="/ppt/slides/slide70.xml" Id="R7bd606acad2d4712" /><Relationship Type="http://schemas.openxmlformats.org/officeDocument/2006/relationships/slide" Target="/ppt/slides/slide71.xml" Id="R4fcda119767146bd" /><Relationship Type="http://schemas.openxmlformats.org/officeDocument/2006/relationships/slide" Target="/ppt/slides/slide72.xml" Id="R7a167dd0b7354af4" /><Relationship Type="http://schemas.openxmlformats.org/officeDocument/2006/relationships/slide" Target="/ppt/slides/slide73.xml" Id="R65c467aea71d44e3" /><Relationship Type="http://schemas.openxmlformats.org/officeDocument/2006/relationships/slide" Target="/ppt/slides/slide74.xml" Id="Rd394e78aa0a449ac" /><Relationship Type="http://schemas.openxmlformats.org/officeDocument/2006/relationships/slide" Target="/ppt/slides/slide75.xml" Id="Ra593235af1754390" /><Relationship Type="http://schemas.openxmlformats.org/officeDocument/2006/relationships/slide" Target="/ppt/slides/slide76.xml" Id="Re77928ec22934f88" /><Relationship Type="http://schemas.openxmlformats.org/officeDocument/2006/relationships/slide" Target="/ppt/slides/slide77.xml" Id="R375ce9940e034998" /><Relationship Type="http://schemas.openxmlformats.org/officeDocument/2006/relationships/slide" Target="/ppt/slides/slide78.xml" Id="R28ceedf19127481b" /><Relationship Type="http://schemas.openxmlformats.org/officeDocument/2006/relationships/slide" Target="/ppt/slides/slide79.xml" Id="R55bfef42203045f3" /><Relationship Type="http://schemas.openxmlformats.org/officeDocument/2006/relationships/slide" Target="/ppt/slides/slide80.xml" Id="R6be2c64f511b40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6c066589294e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BLACK WHITE NAVY BLUE">
      <a:dk1>
        <a:srgbClr val="050505"/>
      </a:dk1>
      <a:lt1>
        <a:srgbClr val="FFFFFF"/>
      </a:lt1>
      <a:dk2>
        <a:srgbClr val="0B1F3A"/>
      </a:dk2>
      <a:lt2>
        <a:srgbClr val="F7F8FA"/>
      </a:lt2>
      <a:accent1>
        <a:srgbClr val="2563EB"/>
      </a:accent1>
      <a:accent2>
        <a:srgbClr val="0B1F3A"/>
      </a:accent2>
      <a:accent3>
        <a:srgbClr val="667085"/>
      </a:accent3>
      <a:accent4>
        <a:srgbClr val="E0F0FE"/>
      </a:accent4>
      <a:accent5>
        <a:srgbClr val="191919"/>
      </a:accent5>
      <a:accent6>
        <a:srgbClr val="98A2B3"/>
      </a:accent6>
      <a:hlink>
        <a:srgbClr val="2563EB"/>
      </a:hlink>
      <a:folHlink>
        <a:srgbClr val="0B1F3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NAVY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14dada2bf346bc" /><Relationship Type="http://schemas.openxmlformats.org/officeDocument/2006/relationships/notesMaster" Target="/ppt/notesMasters/notesMaster1.xml" Id="Rf0ba15c814a345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c85be3204c4532" /><Relationship Type="http://schemas.openxmlformats.org/officeDocument/2006/relationships/notesMaster" Target="/ppt/notesMasters/notesMaster1.xml" Id="Rcedac24384644e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ed9f97b830443e" /><Relationship Type="http://schemas.openxmlformats.org/officeDocument/2006/relationships/notesMaster" Target="/ppt/notesMasters/notesMaster1.xml" Id="Red4c51bb4b4943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41571e0b244837" /><Relationship Type="http://schemas.openxmlformats.org/officeDocument/2006/relationships/notesMaster" Target="/ppt/notesMasters/notesMaster1.xml" Id="R4503739eafe6493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3f02872ebc448c" /><Relationship Type="http://schemas.openxmlformats.org/officeDocument/2006/relationships/notesMaster" Target="/ppt/notesMasters/notesMaster1.xml" Id="R60c30b0f4e5b42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0146e46c68412e" /><Relationship Type="http://schemas.openxmlformats.org/officeDocument/2006/relationships/notesMaster" Target="/ppt/notesMasters/notesMaster1.xml" Id="R8ef01751998d40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422e995bd04a9c" /><Relationship Type="http://schemas.openxmlformats.org/officeDocument/2006/relationships/notesMaster" Target="/ppt/notesMasters/notesMaster1.xml" Id="Rac181a86d66d45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6f8a829a9d4b4d" /><Relationship Type="http://schemas.openxmlformats.org/officeDocument/2006/relationships/notesMaster" Target="/ppt/notesMasters/notesMaster1.xml" Id="R954f7fe2e9494a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26365f45a845cc" /><Relationship Type="http://schemas.openxmlformats.org/officeDocument/2006/relationships/notesMaster" Target="/ppt/notesMasters/notesMaster1.xml" Id="R856576fd237244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44b99a52184642" /><Relationship Type="http://schemas.openxmlformats.org/officeDocument/2006/relationships/notesMaster" Target="/ppt/notesMasters/notesMaster1.xml" Id="R4b79c11dd8e14b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0e94ba91f954cbd" /><Relationship Type="http://schemas.openxmlformats.org/officeDocument/2006/relationships/notesMaster" Target="/ppt/notesMasters/notesMaster1.xml" Id="R80f836518cc045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dbb7d4d54d04e4a" /><Relationship Type="http://schemas.openxmlformats.org/officeDocument/2006/relationships/notesMaster" Target="/ppt/notesMasters/notesMaster1.xml" Id="R3abacb65c1a7406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cf4131fb83b474b" /><Relationship Type="http://schemas.openxmlformats.org/officeDocument/2006/relationships/notesMaster" Target="/ppt/notesMasters/notesMaster1.xml" Id="R7800b0efe1bf4d3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a94c3c5bbaa4a26" /><Relationship Type="http://schemas.openxmlformats.org/officeDocument/2006/relationships/notesMaster" Target="/ppt/notesMasters/notesMaster1.xml" Id="R03ac858a089b47e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56722c33884e4f" /><Relationship Type="http://schemas.openxmlformats.org/officeDocument/2006/relationships/notesMaster" Target="/ppt/notesMasters/notesMaster1.xml" Id="R2e7763fd3328453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678e92698dd460f" /><Relationship Type="http://schemas.openxmlformats.org/officeDocument/2006/relationships/notesMaster" Target="/ppt/notesMasters/notesMaster1.xml" Id="R948bea6406d642b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bc1e8711bd347de" /><Relationship Type="http://schemas.openxmlformats.org/officeDocument/2006/relationships/notesMaster" Target="/ppt/notesMasters/notesMaster1.xml" Id="R268b9945bef948f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ed40c8d3fba44eb" /><Relationship Type="http://schemas.openxmlformats.org/officeDocument/2006/relationships/notesMaster" Target="/ppt/notesMasters/notesMaster1.xml" Id="R65c0b0955bb14e1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25219c6c5fc4856" /><Relationship Type="http://schemas.openxmlformats.org/officeDocument/2006/relationships/notesMaster" Target="/ppt/notesMasters/notesMaster1.xml" Id="R1067b28a9518458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ffb48a2055d4b6a" /><Relationship Type="http://schemas.openxmlformats.org/officeDocument/2006/relationships/notesMaster" Target="/ppt/notesMasters/notesMaster1.xml" Id="Ra23135fc19f8496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004bdad41d448b4" /><Relationship Type="http://schemas.openxmlformats.org/officeDocument/2006/relationships/notesMaster" Target="/ppt/notesMasters/notesMaster1.xml" Id="Rf42e4e0d156641e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0a7e5f7db194326" /><Relationship Type="http://schemas.openxmlformats.org/officeDocument/2006/relationships/notesMaster" Target="/ppt/notesMasters/notesMaster1.xml" Id="Ra67445c30f544d6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ae755102a3440a4" /><Relationship Type="http://schemas.openxmlformats.org/officeDocument/2006/relationships/notesMaster" Target="/ppt/notesMasters/notesMaster1.xml" Id="R626298ab2aa84df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75fff39caf14d91" /><Relationship Type="http://schemas.openxmlformats.org/officeDocument/2006/relationships/notesMaster" Target="/ppt/notesMasters/notesMaster1.xml" Id="R0c816052dc1843d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cc0ce015eab43b1" /><Relationship Type="http://schemas.openxmlformats.org/officeDocument/2006/relationships/notesMaster" Target="/ppt/notesMasters/notesMaster1.xml" Id="Rfdc6af85e95048c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e8707ac06af4f6d" /><Relationship Type="http://schemas.openxmlformats.org/officeDocument/2006/relationships/notesMaster" Target="/ppt/notesMasters/notesMaster1.xml" Id="R55f2ce4289804ff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b14a94255794637" /><Relationship Type="http://schemas.openxmlformats.org/officeDocument/2006/relationships/notesMaster" Target="/ppt/notesMasters/notesMaster1.xml" Id="R0e0e1707f15f453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54f9484fbf2480d" /><Relationship Type="http://schemas.openxmlformats.org/officeDocument/2006/relationships/notesMaster" Target="/ppt/notesMasters/notesMaster1.xml" Id="Rdf632ecb590d4cd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e99c6ffb8934c19" /><Relationship Type="http://schemas.openxmlformats.org/officeDocument/2006/relationships/notesMaster" Target="/ppt/notesMasters/notesMaster1.xml" Id="R3ca1abf23a494ce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1c62bf6fc0043aa" /><Relationship Type="http://schemas.openxmlformats.org/officeDocument/2006/relationships/notesMaster" Target="/ppt/notesMasters/notesMaster1.xml" Id="R42ab3c4525334a9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d81e463dcbe4507" /><Relationship Type="http://schemas.openxmlformats.org/officeDocument/2006/relationships/notesMaster" Target="/ppt/notesMasters/notesMaster1.xml" Id="R9aba4ef7707f43c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b99ea38ae634451" /><Relationship Type="http://schemas.openxmlformats.org/officeDocument/2006/relationships/notesMaster" Target="/ppt/notesMasters/notesMaster1.xml" Id="R1d8279d07224447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b1a9de4b39f46d8" /><Relationship Type="http://schemas.openxmlformats.org/officeDocument/2006/relationships/notesMaster" Target="/ppt/notesMasters/notesMaster1.xml" Id="R6d28065a7c4c48d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4c0cc5bc2c348bd" /><Relationship Type="http://schemas.openxmlformats.org/officeDocument/2006/relationships/notesMaster" Target="/ppt/notesMasters/notesMaster1.xml" Id="Rc8df140a80f04c5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bbadf07bdf8444c" /><Relationship Type="http://schemas.openxmlformats.org/officeDocument/2006/relationships/notesMaster" Target="/ppt/notesMasters/notesMaster1.xml" Id="Rc1ad6307862649a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1262c708149435c" /><Relationship Type="http://schemas.openxmlformats.org/officeDocument/2006/relationships/notesMaster" Target="/ppt/notesMasters/notesMaster1.xml" Id="R1f86a303172946c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446dbfec6434d10" /><Relationship Type="http://schemas.openxmlformats.org/officeDocument/2006/relationships/notesMaster" Target="/ppt/notesMasters/notesMaster1.xml" Id="R818847c7e907446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8d7321bed594e9d" /><Relationship Type="http://schemas.openxmlformats.org/officeDocument/2006/relationships/notesMaster" Target="/ppt/notesMasters/notesMaster1.xml" Id="Ra13c56aaf7674a0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6642634b5ce4833" /><Relationship Type="http://schemas.openxmlformats.org/officeDocument/2006/relationships/notesMaster" Target="/ppt/notesMasters/notesMaster1.xml" Id="Rdbed6f5821794319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6373783968b4bfa" /><Relationship Type="http://schemas.openxmlformats.org/officeDocument/2006/relationships/notesMaster" Target="/ppt/notesMasters/notesMaster1.xml" Id="R0f35d9d0a2cb4d0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08580d499a44e1c" /><Relationship Type="http://schemas.openxmlformats.org/officeDocument/2006/relationships/notesMaster" Target="/ppt/notesMasters/notesMaster1.xml" Id="R3a6d5661b0334bc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3979be374eeb40fb" /><Relationship Type="http://schemas.openxmlformats.org/officeDocument/2006/relationships/notesMaster" Target="/ppt/notesMasters/notesMaster1.xml" Id="Re3435a9b73624a8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aceb501c53746da" /><Relationship Type="http://schemas.openxmlformats.org/officeDocument/2006/relationships/notesMaster" Target="/ppt/notesMasters/notesMaster1.xml" Id="Rafd80223274441f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be23c03e56b4959" /><Relationship Type="http://schemas.openxmlformats.org/officeDocument/2006/relationships/notesMaster" Target="/ppt/notesMasters/notesMaster1.xml" Id="R331cfb0f3cbd48f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36a6682254143cd" /><Relationship Type="http://schemas.openxmlformats.org/officeDocument/2006/relationships/notesMaster" Target="/ppt/notesMasters/notesMaster1.xml" Id="R1a7a2d2a70f645e9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9efcbd0350464bd8" /><Relationship Type="http://schemas.openxmlformats.org/officeDocument/2006/relationships/notesMaster" Target="/ppt/notesMasters/notesMaster1.xml" Id="R1280115c85bd489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6b14f1154510400c" /><Relationship Type="http://schemas.openxmlformats.org/officeDocument/2006/relationships/notesMaster" Target="/ppt/notesMasters/notesMaster1.xml" Id="R433a77f88fb44ad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94e098ad67104d57" /><Relationship Type="http://schemas.openxmlformats.org/officeDocument/2006/relationships/notesMaster" Target="/ppt/notesMasters/notesMaster1.xml" Id="R2001e5c4a6b2402e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12cf9b5c3344a87" /><Relationship Type="http://schemas.openxmlformats.org/officeDocument/2006/relationships/notesMaster" Target="/ppt/notesMasters/notesMaster1.xml" Id="Rab5ec2e75d2b4a0b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d9c579bde78847ce" /><Relationship Type="http://schemas.openxmlformats.org/officeDocument/2006/relationships/notesMaster" Target="/ppt/notesMasters/notesMaster1.xml" Id="R5ea5bf954aff4a1a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2341a187da3f4fa5" /><Relationship Type="http://schemas.openxmlformats.org/officeDocument/2006/relationships/notesMaster" Target="/ppt/notesMasters/notesMaster1.xml" Id="R1101c298412f476d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cbae5f994d343a3" /><Relationship Type="http://schemas.openxmlformats.org/officeDocument/2006/relationships/notesMaster" Target="/ppt/notesMasters/notesMaster1.xml" Id="R14c34b9055974cc9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4303a5e929f34b10" /><Relationship Type="http://schemas.openxmlformats.org/officeDocument/2006/relationships/notesMaster" Target="/ppt/notesMasters/notesMaster1.xml" Id="R8003a17b93994ed3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c641dadab0604223" /><Relationship Type="http://schemas.openxmlformats.org/officeDocument/2006/relationships/notesMaster" Target="/ppt/notesMasters/notesMaster1.xml" Id="R23f6d32491ed4c20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c79fb749f7744ff3" /><Relationship Type="http://schemas.openxmlformats.org/officeDocument/2006/relationships/notesMaster" Target="/ppt/notesMasters/notesMaster1.xml" Id="Re8f5f5406ff9412a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b6731596a4a845f9" /><Relationship Type="http://schemas.openxmlformats.org/officeDocument/2006/relationships/notesMaster" Target="/ppt/notesMasters/notesMaster1.xml" Id="R655dd174dffb456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bf7e849f81fc4325" /><Relationship Type="http://schemas.openxmlformats.org/officeDocument/2006/relationships/notesMaster" Target="/ppt/notesMasters/notesMaster1.xml" Id="R68359ad2b1954bb7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210edf77e844914" /><Relationship Type="http://schemas.openxmlformats.org/officeDocument/2006/relationships/notesMaster" Target="/ppt/notesMasters/notesMaster1.xml" Id="R962a4cc7c1674667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850d80bd468d442c" /><Relationship Type="http://schemas.openxmlformats.org/officeDocument/2006/relationships/notesMaster" Target="/ppt/notesMasters/notesMaster1.xml" Id="R0564575681d34734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b87dc2e81ef94d12" /><Relationship Type="http://schemas.openxmlformats.org/officeDocument/2006/relationships/notesMaster" Target="/ppt/notesMasters/notesMaster1.xml" Id="Rd5289562336142b3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0994287bb6624ad7" /><Relationship Type="http://schemas.openxmlformats.org/officeDocument/2006/relationships/notesMaster" Target="/ppt/notesMasters/notesMaster1.xml" Id="R8c38bcf63bc84f4f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55765f89cef94e98" /><Relationship Type="http://schemas.openxmlformats.org/officeDocument/2006/relationships/notesMaster" Target="/ppt/notesMasters/notesMaster1.xml" Id="R05a78373274d47e5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50547f5d92ea42c4" /><Relationship Type="http://schemas.openxmlformats.org/officeDocument/2006/relationships/notesMaster" Target="/ppt/notesMasters/notesMaster1.xml" Id="Ra54d755387f7424e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48741051b2504613" /><Relationship Type="http://schemas.openxmlformats.org/officeDocument/2006/relationships/notesMaster" Target="/ppt/notesMasters/notesMaster1.xml" Id="Rd7133ab5b7024a87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aa959a5c895b4e35" /><Relationship Type="http://schemas.openxmlformats.org/officeDocument/2006/relationships/notesMaster" Target="/ppt/notesMasters/notesMaster1.xml" Id="Rc0309cb4f6a54a6d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a8998996898d4630" /><Relationship Type="http://schemas.openxmlformats.org/officeDocument/2006/relationships/notesMaster" Target="/ppt/notesMasters/notesMaster1.xml" Id="Ra738a1d303f2405e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444a50a7d8fb48c7" /><Relationship Type="http://schemas.openxmlformats.org/officeDocument/2006/relationships/notesMaster" Target="/ppt/notesMasters/notesMaster1.xml" Id="R808136cb585c4a72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d9d17bb6aed84470" /><Relationship Type="http://schemas.openxmlformats.org/officeDocument/2006/relationships/notesMaster" Target="/ppt/notesMasters/notesMaster1.xml" Id="R5df204c058994c09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0e857519e22343fc" /><Relationship Type="http://schemas.openxmlformats.org/officeDocument/2006/relationships/notesMaster" Target="/ppt/notesMasters/notesMaster1.xml" Id="R9c9c90d039584756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a8bed285173a42b5" /><Relationship Type="http://schemas.openxmlformats.org/officeDocument/2006/relationships/notesMaster" Target="/ppt/notesMasters/notesMaster1.xml" Id="R4c5ff2066bff4d7f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4171d431f7534804" /><Relationship Type="http://schemas.openxmlformats.org/officeDocument/2006/relationships/notesMaster" Target="/ppt/notesMasters/notesMaster1.xml" Id="R7abebb42e5cf4966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f452d7ff749f4045" /><Relationship Type="http://schemas.openxmlformats.org/officeDocument/2006/relationships/notesMaster" Target="/ppt/notesMasters/notesMaster1.xml" Id="R59408f0f57b745f7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907a17c4aea1404d" /><Relationship Type="http://schemas.openxmlformats.org/officeDocument/2006/relationships/notesMaster" Target="/ppt/notesMasters/notesMaster1.xml" Id="Re5f22d3da0c649b8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2273b1dd37024a6b" /><Relationship Type="http://schemas.openxmlformats.org/officeDocument/2006/relationships/notesMaster" Target="/ppt/notesMasters/notesMaster1.xml" Id="R684dba1c69094275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dcbb38607bb0447a" /><Relationship Type="http://schemas.openxmlformats.org/officeDocument/2006/relationships/notesMaster" Target="/ppt/notesMasters/notesMaster1.xml" Id="R99738959103b4f70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f6967bd77755420d" /><Relationship Type="http://schemas.openxmlformats.org/officeDocument/2006/relationships/notesMaster" Target="/ppt/notesMasters/notesMaster1.xml" Id="R9c6055b76562492c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672bae5c2409453d" /><Relationship Type="http://schemas.openxmlformats.org/officeDocument/2006/relationships/notesMaster" Target="/ppt/notesMasters/notesMaster1.xml" Id="R54e03911188c4a7c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81485c3bfb66492d" /><Relationship Type="http://schemas.openxmlformats.org/officeDocument/2006/relationships/notesMaster" Target="/ppt/notesMasters/notesMaster1.xml" Id="Rcabe69107d4442f7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a5e285a314b24add" /><Relationship Type="http://schemas.openxmlformats.org/officeDocument/2006/relationships/notesMaster" Target="/ppt/notesMasters/notesMaster1.xml" Id="R72c64fa88fd24d01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44d3b11fdf884f38" /><Relationship Type="http://schemas.openxmlformats.org/officeDocument/2006/relationships/notesMaster" Target="/ppt/notesMasters/notesMaster1.xml" Id="Rc9915f9d0b2541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1주차는 16주 서비스 운영 포트폴리오의 출발점이다. 수업의 목표는 모델 이름 암기가 아니라 한 번의 실행을 trace로 남기고 비교 가능한 개선으로 바꾸는 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repo:curriculum/2026-2/web/course-roadmap.html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매주 강의 초반에 같은 로드맵을 보여주고 현재 주차만 파랑으로 표시한다. Week 01은 문제·계약 구간의 출발점이며, 네 가지 완료 증거를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repo:curriculum/2026-2/web/course-roadmap.html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2026년 9월 25일 추석과 10월 9일 한글날은 휴강이 아니라 온라인 강의영상 업로드로 대체한다. 8주차에는 별도의 중간고사를 시행하지 않고 기말 프로젝트 기획서를 제출한다.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repo:curriculum/2026-2/web/course-roadmap.html</a:t>
            </a:r>
          </a:p>
          <a:p xmlns:a="http://schemas.openxmlformats.org/drawingml/2006/main">
            <a:r>
              <a:t>- https://www.kasi.re.kr/kor/post/newsMaterial/32031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파랑은 현재 Week 01이 속한 문제·계약 구간에만 사용한다. 각 주차의 산출물은 8주차 기획서 제출과 16주차 결과 발표로 연결된다.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repo:curriculum/2026-2/web/course-roadmap.html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로드맵, 2페이지 제안서, 제품 요구사항 문서(Product Requirements Document, PRD)를 HTML로 제공한다. 8주차에는 별도의 중간고사 없이 이 패키지와 PPT 요약본을 제출한다.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repo:curriculum/2026-2/01_기말프로젝트_기획서_가이드.md</a:t>
            </a:r>
          </a:p>
          <a:p xmlns:a="http://schemas.openxmlformats.org/drawingml/2006/main">
            <a:r>
              <a:t>- repo:curriculum/2026-2/web/course-roadmap.html</a:t>
            </a:r>
          </a:p>
          <a:p xmlns:a="http://schemas.openxmlformats.org/drawingml/2006/main">
            <a:r>
              <a:t>- repo:curriculum/2026-2/web/project-proposal-2pager.html</a:t>
            </a:r>
          </a:p>
          <a:p xmlns:a="http://schemas.openxmlformats.org/drawingml/2006/main">
            <a:r>
              <a:t>- repo:curriculum/2026-2/web/project-prd.html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교수 질의응답은 정답 확인이나 구술시험이 아니다. 문제·데이터·기술·평가·운영 경계의 가정을 점검하고, 학생이 채택·보류·반박을 결정해 문서 버전에 남기는 설계 리뷰다.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repo:curriculum/2026-2/01_기말프로젝트_기획서_가이드.md</a:t>
            </a:r>
          </a:p>
          <a:p xmlns:a="http://schemas.openxmlformats.org/drawingml/2006/main">
            <a:r>
              <a:t>- repo:curriculum/2026-2/web/project-prd.html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두 공휴일 주차 모두 수업이 없어지는 것이 아니라 온라인 강의영상으로 대체된다. 정확한 업로드 위치와 시청 기한은 학습관리시스템 공지를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repo:curriculum/2026-2/web/course-roadmap.html</a:t>
            </a:r>
          </a:p>
          <a:p xmlns:a="http://schemas.openxmlformats.org/drawingml/2006/main">
            <a:r>
              <a:t>- https://www.kasi.re.kr/kor/post/newsMaterial/32031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사용자가 공개를 승인한 역할명인 무신사 Core AI PM과 아주대 AI대학원 겸임교수만 소개한다. 내부 조직·프로젝트·지표와 연락처는 포함하지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https://github.com/smilesjcha/homepage_sjcha/blob/main/constants.ts</a:t>
            </a:r>
          </a:p>
          <a:p xmlns:a="http://schemas.openxmlformats.org/drawingml/2006/main">
            <a:r>
              <a:t>- Instructor-approved public bio boundary (2026-08-25)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경력의 상세 성과가 아니라 데이터·기술·운영 단위가 어떻게 확장되었는지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4–9)</a:t>
            </a:r>
          </a:p>
          <a:p xmlns:a="http://schemas.openxmlformats.org/drawingml/2006/main">
            <a:r>
              <a:t>- Instructor-approved public bio boundary (2026-08-25)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 정확도만으로 운영 판단이 끝나지 않는다는 현업 관점을 네 질문으로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두 분류는 경쟁하는 정답이 아니다. 첫 번째는 모델 또는 전체 시스템의 생성부터 종료까지를 설명하는 가능한 분류이고, 두 번째는 이미 학습된 모델을 포함한 서비스를 반복 개선하기 위한 이 수업의 운영 프레임이다.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61–67)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https://learn.microsoft.com/en-us/azure/architecture/ai-ml/guide/manage-foundation-models-lifecycle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2025년 2학기 실제 1주차 자료 s.62–67을 16주 산출물과 운영 증거에 맞춰 재정리한 수업 프레임임을 명시한다.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62–67)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https://airc.nist.gov/airmf-resources/airmf/5-sec-core/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자의적인 교수 기준이 아니라 재현 가능한 비교의 조건으로 설명한다. 네 요소 중 이번 주에 새로 남기는 핵심은 버전이 포함된 trace다.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설치 여부가 아니라 산출물 묶음으로 완료를 정의한다. 로컬 모델 설치가 늦으면 demo provider로 먼저 완주한다.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repo:week01/lab/week01_trace01_lab.ipynb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이번 주 전체 흐름을 네 기능 라벨로 보여주되 장표 제목은 명사형으로 유지한다. TRACE가 호출과 비교를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같은 사례를 이론과 실습 전체에서 유지해 인지 부하를 낮춘다. 실제 고객 원문이 아닌 합성 문장을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 없는 5%·95% 수치를 제거한다. 화면 위아래의 구조만으로 호출과 운영 체계의 차이를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https://docs.cloud.google.com/architecture/deploy-operate-generative-ai-applications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연대기 암기 대신 다음 병목이 무엇이었고 어떤 운영 문제가 새로 생겼는지에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17–43)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개별 연도를 외우기보다 규칙·학습·규모·생성·운영의 병목 이동으로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17–40)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규칙 기반 AI를 낡은 기술로 폄하하지 않는다. 설명 가능성과 통제의 장점, 복잡성과 예외의 한계를 함께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18–24)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학습 기반 시스템은 동작 일부를 데이터와 최적화 과정으로 옮긴다. 따라서 데이터와 실험이 새 운영 자산이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24–35)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딥러닝의 도약을 단일 사건이 아니라 데이터·연산·알고리즘의 결합으로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28–40)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사람의 역할이 사라진 것이 아니라 특징 선택에서 데이터·목표·평가 설계로 이동했음을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29–40)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Transformer 이전의 모든 모델을 단순화하지 않되, recurrent 처리에서의 순차 계산과 장거리 의존성 문제를 직관적으로 소개한다.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- repo:AS-IS 2025 2nd semester/[AI_PR_PR_10] 01 LLM LifeCycle and OT.pptx (slides 36–39)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자기 주의(Self-Attention)를 ‘모든 토큰을 한꺼번에 본다’로만 설명하지 않는다. 위치 간 관계 가중치를 계산하고 학습 시 위치 병렬화가 가능하다는 직관을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숫자는 개념 설명용 가상 값이다. attention weight 자체를 신뢰 가능한 설명이나 인과로 과해석하지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Transformer의 장점을 병렬화와 장거리 관계로 소개하되 decoder 추론은 token별 autoregressive 생성이라는 경계를 함께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모든 기반 모델을 동일하게 일반화하지 않고 decoder-only 생성형 LLM의 대표적인 causal language modeling 목표로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- repo:AS-IS 2025 2nd semester/[AI_PR_PR_10] 01 LLM LifeCycle and OT.pptx (slides 41–44)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범용 능력을 제품 품질과 동일시하지 않는다. 각 작업은 별도의 입력 계약과 평가 기준을 요구한다.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41–43)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모델이 할 수 있다는 사실과 서비스가 반복적으로 잘해야 한다는 요구를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코드가 같아도 prompt, context, model, sampling 조합이 바뀌면 동작이 달라질 수 있다. 이 조합을 trace로 묶는 이유를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Pretraining이 제공하지 않는 사용자·상황·성공·금지 조건을 제품 계약으로 정의해야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모델을 바꾸기 전에 변경 가능한 레버의 위치·비용·가역성을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42–51)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절대적인 기술 순위가 아니라 비용·시간·rollback 용이성의 교육용 휴리스틱이다. 규제·지연·온디바이스 제약은 순서를 바꿀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44–51)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Prompt는 서비스 행동의 외부 제어면이다. 좋은 문장보다 template, version, schema와 test set으로 관리하는 관점을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51)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RAG를 모든 환각의 해결책으로 말하지 않는다. 검색 품질, 근거 연결, 최신성·권한을 별도 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semester/01_AS-IS_주차별_통합_강의안.md#04주차--basic-of-rag--vectordb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모델이 tool call을 제안하는 것과 코드가 실제 외부 행동을 수행하는 것을 분리한다. 권한과 검증은 runtime의 책임이다.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semester/01_AS-IS_주차별_통합_강의안.md#12주차--agent-chaining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하나의 ‘최고 모델’이 아니라 요청의 품질·지연·비용·데이터 제약에 맞는 선택이 routing의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SFT를 지식 주입의 만능 도구로 설명하지 않는다. 명확한 반복 행동과 평가셋이 있을 때의 적응 레버로 소개한다.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- repo:AS-IS 2025 2nd semester/[AI_PR_PR_10] 01 LLM LifeCycle and OT.pptx (slides 44–49)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instruction, input, ideal output의 세 요소를 고정한다. 학습 데이터와 평가 데이터의 분리를 함께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선호 데이터의 최소 단위는 하나의 정답이 아니라 같은 prompt에 대한 chosen/rejected 쌍과 명확한 rubric이다.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InstructGPT에 사용된 대표적인 reward model + PPO 경로로 범위를 한정한다. 모든 RLHF 구현이 동일한 세부 구조라는 뜻은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DPO는 별도 reward model과 on-policy RL 없이 preference pair와 reference policy를 사용해 직접 최적화한다.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LoRA는 base weight를 고정하고 low-rank update를 학습한다. 고정된 절감률을 주장하지 않고 설정에 따라 달라짐을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제약이 없을 때의 실험 휴리스틱으로 설명한다. 규제, 지연, 온디바이스, 라이선스 요건에 따라 routing이나 fine-tuning이 앞설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LLMOps가 MLOps를 대체하는 선형 발전사가 아니라 기존 운영 관심사에 생성형 AI 자산이 추가되는 확장임을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52–60)</a:t>
            </a:r>
          </a:p>
          <a:p xmlns:a="http://schemas.openxmlformats.org/drawingml/2006/main">
            <a:r>
              <a:t>- https://docs.cloud.google.com/architecture/deploy-operate-generative-ai-applications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DevOps, MLOps, LLMOps를 세대 교체처럼 말하지 않는다. GenAIOps는 기존 MLOps 역량을 보완한다.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53–60)</a:t>
            </a:r>
          </a:p>
          <a:p xmlns:a="http://schemas.openxmlformats.org/drawingml/2006/main">
            <a:r>
              <a:t>- https://learn.microsoft.com/en-us/azure/architecture/ai-ml/guide/mlops-maturity-model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응답은 버전 자산이 아니라 실행 증거다. 버전 가능한 prompt·config·dataset과 실제 실행 response·latency·status를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버전만으로 생성 실행을 재현할 수 없다. 실제 조합을 trace로 남겨야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trace를 단순 로그 한 줄이 아니라 prompt, provider/model, config, output과 운영 지표를 연결하는 실행 단위로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업계의 고정된 다섯 KPI라고 주장하지 않는다. 이 과목에서 모든 실험을 비교할 때 공통으로 확인할 판단 축이다.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품질 향상 주장에는 지연·비용·안전·재현성의 regression 확인이 따라야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단일 범용 품질 점수보다 task의 실패 비용과 output contract에 맞는 지표를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semester/01_AS-IS_주차별_통합_강의안.md#03주차--prompt-evaluation--version-management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예시 분포이며 실측값이 아니다. 평균과 tail percentile을 구분하고 작은 표본에서는 raw trace도 함께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semester/03_AS-IS_슬라이드_텍스트_원문.md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수식은 개념 구조이며 정산 공식이 아니다. 공급자별 과금 단위와 캐시 정책은 해당 시점의 공식 문서를 별도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안전은 마지막 검수 단계가 아니라 입력, 실행, 출력, 저장 전 구간의 횡단 조건이다.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https://airc.nist.gov/airmf-resources/airmf/5-sec-core/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seed 하나만으로 생성 서비스 전체 재현성이 보장되지 않는다. 실행 조합과 버전 자산을 함께 고정한다.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오프닝의 기준 정의를 앞에서 배운 운영 자산과 판단 축으로 확장해 회수한다. 반복 설명이 아니라 적용된 통합 그림이다.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62–67)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https://airc.nist.gov/airmf-resources/airmf/5-sec-core/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성공 지표가 4단계에서 처음 생기는 것이 아니라 1단계에서 정의되고 4단계에서 측정됨을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63)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프롬프트뿐 아니라 retrieved context와 tool 정책도 실행을 바꾸는 외부 자산으로 관리한다.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64)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실행과 배포는 endpoint 생성만이 아니라 실패 branch, 상태 확인, 책임 주체까지 포함한다.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65)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offline evaluation과 production observation을 구분하되 동일한 version과 trace에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66)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실패한 실험도 다음 선택을 줄인다면 유효하다. retirement는 이 단계 뒤의 자동 종착점이 아니라 별도 운영 판정이다.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67)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예시 값은 실제 성능 결과가 아니다. 학생은 자신의 trace와 판단으로 같은 구조를 채운다.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repo:week01/lab/week01_trace01_lab.ipynb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8주차에는 별도의 중간고사 없이 기말 프로젝트 기획서 0.1을 제출한다. 제출본과 교수 설계 리뷰 기록을 이후 구현 기준으로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repo:curriculum/2026-2/01_기말프로젝트_기획서_가이드.md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실습은 설치 성공이 아니라 실행 서비스, 실행 추적, 비교표, 개선 가설까지 하나의 운영 루프로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사용자 화면, FastAPI 서버, 모델 제공자, 실행 추적 저장소의 역할을 따라간다. 결정론적 데모와 Ollama가 동일한 제공자 계약을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번 호출보다 한 개의 비교표가 완료 기준이다. 설치 지연 시 결정론적 데모 제공자로 우선 완주한다.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repo:week01/lab/week01_trace01_lab.ipynb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Python은 3.11 이상 3.12 미만으로 고정하고 3.11.14를 기준 패치 버전으로 사용한다. 검색 증강 생성(Retrieval-Augmented Generation, RAG), 미세조정, 관측성 환경을 주차별 프로필로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repo:.python-version</a:t>
            </a:r>
          </a:p>
          <a:p xmlns:a="http://schemas.openxmlformats.org/drawingml/2006/main">
            <a:r>
              <a:t>- repo:requirements/README.md</a:t>
            </a:r>
          </a:p>
          <a:p xmlns:a="http://schemas.openxmlformats.org/drawingml/2006/main">
            <a:r>
              <a:t>- repo:requirements/locks/course-base-py311-macos-arm64.txt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결정론적 데모 제공자는 설치 실패를 우회하는 장난감이 아니라 재현 가능한 기준선이다. Ollama는 모델 다운로드와 실행이 가능한 경우 선택한다. 두 경로 모두 동일한 실행 추적 데이터 구조로 합쳐진다.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https://docs.ollama.com/api/chat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저장소 루트를 Visual Studio Code로 열고 권장 확장을 설치한 뒤 Python 3.11.14의 .venv를 선택한다. 화면 하단 터미널의 6 passed가 현재 실습 자동 테스트의 실제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repo:week01/lecture/assets/vscode-week01-tests.png</a:t>
            </a:r>
          </a:p>
          <a:p xmlns:a="http://schemas.openxmlformats.org/drawingml/2006/main">
            <a:r>
              <a:t>- repo:week01/VS_CODE_GUIDE.md</a:t>
            </a:r>
          </a:p>
          <a:p xmlns:a="http://schemas.openxmlformats.org/drawingml/2006/main">
            <a:r>
              <a:t>- repo:.vscode/settings.json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FastAPI의 대화형 문서에서 POST /api/v1/generate 경로를 펼쳐 요청 본문을 확인한다. 사용자 화면보다 응용 프로그래밍 인터페이스(Application Programming Interface, API)의 요청·응답 데이터 구조가 서비스 계약의 기준이다.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repo:week01/lecture/assets/trace01-openapi-generate.png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https://fastapi.tiangolo.com/features/#automatic-docs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각 경로(endpoint)의 목적을 구분한다. /traces는 실행 내역, /stats는 교육용 집계, /metrics는 Prometheus 수집 시스템, /docs는 응용 프로그래밍 인터페이스 계약 확인이다.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- https://fastapi.tiangolo.com/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실행 전에는 입력, 작업 유형, 모델 제공자, 프롬프트 버전, 온도를 확인한다. 화면 캡처는 실제 로컬 서비스를 브라우저로 실행한 결과이며 예시 목업이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repo:week01/lecture/assets/trace01-ui.png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구조화 출력과 실행 추적 메타데이터를 한 화면에서 읽는다. 이 캡처의 실행 추적 식별자 ff2c901e8a16, 정상 상태, 0.12밀리초, 63토큰은 실제 로컬 데모 호출에서 관찰한 값이다. 토큰은 모델 토크나이저 실측이 아닌 교육용 추정치다.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repo:week01/lecture/assets/trace01-run-result.png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온도(temperature) 하나만 바꾸고 나머지를 고정한다. 결정론적 데모 제공자는 의도적으로 온도를 무시하므로 출력 불변도 유효한 관찰이다.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semester/practice/week01/week01_ollama_practice.ipynb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https://docs.ollama.com/api/chat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임의의 88점 같은 정밀도를 사용하지 않는다. 자동으로 확인 가능한 형식·상태·응답 지연과 사람이 판정하는 입력 근거성을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repo:week01/lecture/assets/trace01-run-result.png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repo:AS-IS 2025 2nd semester/practice/week01/week01_ollama_practice.ipynb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필드 존재 여부와 입력 근거를 분리해 본다. 완벽한 문장보다 누락·추가·검증 가능성의 판정이 우선이다.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오류를 숨기지 않고 status와 복구 경로를 운영 증거로 남긴다. 503일 때 수업을 중단하지 말고 demo로 필수 경로를 완료한다.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학생은 첫 주부터 문제 후보, 실행 증거, 교수에게 확인할 질문을 포트폴리오에 남긴다. 이 기록은 8주차 기말 프로젝트 기획서와 이후 구현의 근거가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repo:curriculum/2026-2/01_기말프로젝트_기획서_가이드.md</a:t>
            </a:r>
          </a:p>
          <a:p xmlns:a="http://schemas.openxmlformats.org/drawingml/2006/main">
            <a:r>
              <a:t>- repo:week01/lecture/01_week1_강의안.md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4ded900ef24e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bee27060384e8b" /><Relationship Type="http://schemas.openxmlformats.org/officeDocument/2006/relationships/slideLayout" Target="/ppt/slideLayouts/slideLayout1.xml" Id="R26afda6beb2b41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afda6beb2b41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BLACK WHITE NAVY BLUE">
      <a:dk1>
        <a:srgbClr val="050505"/>
      </a:dk1>
      <a:lt1>
        <a:srgbClr val="FFFFFF"/>
      </a:lt1>
      <a:dk2>
        <a:srgbClr val="0B1F3A"/>
      </a:dk2>
      <a:lt2>
        <a:srgbClr val="F7F8FA"/>
      </a:lt2>
      <a:accent1>
        <a:srgbClr val="2563EB"/>
      </a:accent1>
      <a:accent2>
        <a:srgbClr val="0B1F3A"/>
      </a:accent2>
      <a:accent3>
        <a:srgbClr val="667085"/>
      </a:accent3>
      <a:accent4>
        <a:srgbClr val="E0F0FE"/>
      </a:accent4>
      <a:accent5>
        <a:srgbClr val="191919"/>
      </a:accent5>
      <a:accent6>
        <a:srgbClr val="98A2B3"/>
      </a:accent6>
      <a:hlink>
        <a:srgbClr val="2563EB"/>
      </a:hlink>
      <a:folHlink>
        <a:srgbClr val="0B1F3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NAVY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d51ed1861442b" /><Relationship Type="http://schemas.openxmlformats.org/officeDocument/2006/relationships/notesSlide" Target="/ppt/notesSlides/notesSlide1.xml" Id="Rb47c9974c9e04e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4481cf5324da9" /><Relationship Type="http://schemas.openxmlformats.org/officeDocument/2006/relationships/notesSlide" Target="/ppt/notesSlides/notesSlide2.xml" Id="R08ea41fd1df44a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75667bbd0646e6" /><Relationship Type="http://schemas.openxmlformats.org/officeDocument/2006/relationships/notesSlide" Target="/ppt/notesSlides/notesSlide3.xml" Id="Rb8b983faa8df46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65c6dd5d549cf" /><Relationship Type="http://schemas.openxmlformats.org/officeDocument/2006/relationships/notesSlide" Target="/ppt/notesSlides/notesSlide4.xml" Id="R8947e6f0136e4f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7b47313cf4347" /><Relationship Type="http://schemas.openxmlformats.org/officeDocument/2006/relationships/notesSlide" Target="/ppt/notesSlides/notesSlide5.xml" Id="R94f31da6e0184e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2bdfcde6d0461c" /><Relationship Type="http://schemas.openxmlformats.org/officeDocument/2006/relationships/notesSlide" Target="/ppt/notesSlides/notesSlide6.xml" Id="R7adc99573dae4d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4d08c0d8804ee6" /><Relationship Type="http://schemas.openxmlformats.org/officeDocument/2006/relationships/notesSlide" Target="/ppt/notesSlides/notesSlide7.xml" Id="R59dc9b8058c74f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fe897078494e59" /><Relationship Type="http://schemas.openxmlformats.org/officeDocument/2006/relationships/image" Target="/ppt/media/image.png" Id="R45b121da13cf43ea" /><Relationship Type="http://schemas.openxmlformats.org/officeDocument/2006/relationships/notesSlide" Target="/ppt/notesSlides/notesSlide8.xml" Id="R4a42ab91927642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594a316b344b33" /><Relationship Type="http://schemas.openxmlformats.org/officeDocument/2006/relationships/notesSlide" Target="/ppt/notesSlides/notesSlide9.xml" Id="Rb4e89806240544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6f33e539b4c6f" /><Relationship Type="http://schemas.openxmlformats.org/officeDocument/2006/relationships/notesSlide" Target="/ppt/notesSlides/notesSlide10.xml" Id="Recde676a3853409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34b4113dbc4307" /><Relationship Type="http://schemas.openxmlformats.org/officeDocument/2006/relationships/notesSlide" Target="/ppt/notesSlides/notesSlide11.xml" Id="R28d4823095e149a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eda32808a94b0e" /><Relationship Type="http://schemas.openxmlformats.org/officeDocument/2006/relationships/notesSlide" Target="/ppt/notesSlides/notesSlide12.xml" Id="R1c77727979174c8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664f246494105" /><Relationship Type="http://schemas.openxmlformats.org/officeDocument/2006/relationships/notesSlide" Target="/ppt/notesSlides/notesSlide13.xml" Id="R7fa8513721c14f5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be52ac4b1428d" /><Relationship Type="http://schemas.openxmlformats.org/officeDocument/2006/relationships/notesSlide" Target="/ppt/notesSlides/notesSlide14.xml" Id="Re366dee2117c4c0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39a0a06e2481b" /><Relationship Type="http://schemas.openxmlformats.org/officeDocument/2006/relationships/notesSlide" Target="/ppt/notesSlides/notesSlide15.xml" Id="R1cd290e2e44c4ab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ab159b1aea42e1" /><Relationship Type="http://schemas.openxmlformats.org/officeDocument/2006/relationships/notesSlide" Target="/ppt/notesSlides/notesSlide16.xml" Id="R5de4f41bc1a742e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df349c79254f84" /><Relationship Type="http://schemas.openxmlformats.org/officeDocument/2006/relationships/notesSlide" Target="/ppt/notesSlides/notesSlide17.xml" Id="R2efaeac99af9414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94d6e09aad4e2f" /><Relationship Type="http://schemas.openxmlformats.org/officeDocument/2006/relationships/notesSlide" Target="/ppt/notesSlides/notesSlide18.xml" Id="Rf1d249643679429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4418c0d244958" /><Relationship Type="http://schemas.openxmlformats.org/officeDocument/2006/relationships/notesSlide" Target="/ppt/notesSlides/notesSlide19.xml" Id="Ra076c81f34eb47c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1b3ae05b664875" /><Relationship Type="http://schemas.openxmlformats.org/officeDocument/2006/relationships/notesSlide" Target="/ppt/notesSlides/notesSlide20.xml" Id="R71e6b830fd1c443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5191d9b57434f" /><Relationship Type="http://schemas.openxmlformats.org/officeDocument/2006/relationships/notesSlide" Target="/ppt/notesSlides/notesSlide21.xml" Id="R13127a8a72fd4c8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6defccbae464c" /><Relationship Type="http://schemas.openxmlformats.org/officeDocument/2006/relationships/notesSlide" Target="/ppt/notesSlides/notesSlide22.xml" Id="Rcee7f2bc3319448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e83c80547242d9" /><Relationship Type="http://schemas.openxmlformats.org/officeDocument/2006/relationships/notesSlide" Target="/ppt/notesSlides/notesSlide23.xml" Id="R9f4b9362e2f9466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c934c3af04190" /><Relationship Type="http://schemas.openxmlformats.org/officeDocument/2006/relationships/notesSlide" Target="/ppt/notesSlides/notesSlide24.xml" Id="R36fc33e069e74e5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e16896aaf4aae" /><Relationship Type="http://schemas.openxmlformats.org/officeDocument/2006/relationships/notesSlide" Target="/ppt/notesSlides/notesSlide25.xml" Id="R338d37ede3cd43b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aa110162344a2" /><Relationship Type="http://schemas.openxmlformats.org/officeDocument/2006/relationships/notesSlide" Target="/ppt/notesSlides/notesSlide26.xml" Id="R48cac82b4d1244e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209ac5e0474572" /><Relationship Type="http://schemas.openxmlformats.org/officeDocument/2006/relationships/notesSlide" Target="/ppt/notesSlides/notesSlide27.xml" Id="R8b1153e6737840b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6603725cf4a0b" /><Relationship Type="http://schemas.openxmlformats.org/officeDocument/2006/relationships/notesSlide" Target="/ppt/notesSlides/notesSlide28.xml" Id="R2b2bdfb9ad61418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88bf8ca5bb4f0d" /><Relationship Type="http://schemas.openxmlformats.org/officeDocument/2006/relationships/notesSlide" Target="/ppt/notesSlides/notesSlide29.xml" Id="R47aecaddbc78403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3a3d53b35f48e1" /><Relationship Type="http://schemas.openxmlformats.org/officeDocument/2006/relationships/notesSlide" Target="/ppt/notesSlides/notesSlide30.xml" Id="Ra23e89e50a0644f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422ebdb4114492" /><Relationship Type="http://schemas.openxmlformats.org/officeDocument/2006/relationships/notesSlide" Target="/ppt/notesSlides/notesSlide31.xml" Id="Reaffe5b598b9494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9b5aa8217243f3" /><Relationship Type="http://schemas.openxmlformats.org/officeDocument/2006/relationships/notesSlide" Target="/ppt/notesSlides/notesSlide32.xml" Id="R40fd85a0624f4f3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c458d2e744e35" /><Relationship Type="http://schemas.openxmlformats.org/officeDocument/2006/relationships/notesSlide" Target="/ppt/notesSlides/notesSlide33.xml" Id="R854d19cd6b414ed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5759f838a4a03" /><Relationship Type="http://schemas.openxmlformats.org/officeDocument/2006/relationships/notesSlide" Target="/ppt/notesSlides/notesSlide34.xml" Id="R648f1d42c1f1415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eae2772554401" /><Relationship Type="http://schemas.openxmlformats.org/officeDocument/2006/relationships/notesSlide" Target="/ppt/notesSlides/notesSlide35.xml" Id="Ree9f3cea6aef44a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2fdb6eaf54e8b" /><Relationship Type="http://schemas.openxmlformats.org/officeDocument/2006/relationships/notesSlide" Target="/ppt/notesSlides/notesSlide36.xml" Id="R52439adeb744494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8966497dc41f5" /><Relationship Type="http://schemas.openxmlformats.org/officeDocument/2006/relationships/notesSlide" Target="/ppt/notesSlides/notesSlide37.xml" Id="Ra06315836e7248f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35f729190445ec" /><Relationship Type="http://schemas.openxmlformats.org/officeDocument/2006/relationships/notesSlide" Target="/ppt/notesSlides/notesSlide38.xml" Id="R259254c51a3c45b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3f3fbd8b0409e" /><Relationship Type="http://schemas.openxmlformats.org/officeDocument/2006/relationships/notesSlide" Target="/ppt/notesSlides/notesSlide39.xml" Id="Re33f72f722a74c1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bbbd8a4734fd0" /><Relationship Type="http://schemas.openxmlformats.org/officeDocument/2006/relationships/notesSlide" Target="/ppt/notesSlides/notesSlide40.xml" Id="R464953b082244ad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feade5ba1741b7" /><Relationship Type="http://schemas.openxmlformats.org/officeDocument/2006/relationships/notesSlide" Target="/ppt/notesSlides/notesSlide41.xml" Id="Rd126d4f4d0a04df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4eee935e341df" /><Relationship Type="http://schemas.openxmlformats.org/officeDocument/2006/relationships/notesSlide" Target="/ppt/notesSlides/notesSlide42.xml" Id="R37da88503c8c4c5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1e7fccb45047b4" /><Relationship Type="http://schemas.openxmlformats.org/officeDocument/2006/relationships/notesSlide" Target="/ppt/notesSlides/notesSlide43.xml" Id="R05c801ff83714f5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5a44a0371425f" /><Relationship Type="http://schemas.openxmlformats.org/officeDocument/2006/relationships/notesSlide" Target="/ppt/notesSlides/notesSlide44.xml" Id="Rc387e86cebfe4bb9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68fe205fd4ed4" /><Relationship Type="http://schemas.openxmlformats.org/officeDocument/2006/relationships/notesSlide" Target="/ppt/notesSlides/notesSlide45.xml" Id="Rc92b8e6c4ee64ce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12a056ed74ccf" /><Relationship Type="http://schemas.openxmlformats.org/officeDocument/2006/relationships/notesSlide" Target="/ppt/notesSlides/notesSlide46.xml" Id="R1264567ab1364ccc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40a45cd314900" /><Relationship Type="http://schemas.openxmlformats.org/officeDocument/2006/relationships/notesSlide" Target="/ppt/notesSlides/notesSlide47.xml" Id="Rd79fd400adfe49c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ca0c45f66241fd" /><Relationship Type="http://schemas.openxmlformats.org/officeDocument/2006/relationships/notesSlide" Target="/ppt/notesSlides/notesSlide48.xml" Id="R03c3654f70a64cda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1279f5f0b4f84" /><Relationship Type="http://schemas.openxmlformats.org/officeDocument/2006/relationships/notesSlide" Target="/ppt/notesSlides/notesSlide49.xml" Id="Rfc4b54da8fe646c4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584c9ed86f444a" /><Relationship Type="http://schemas.openxmlformats.org/officeDocument/2006/relationships/notesSlide" Target="/ppt/notesSlides/notesSlide50.xml" Id="Ra2bce093695b481d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629066f934a73" /><Relationship Type="http://schemas.openxmlformats.org/officeDocument/2006/relationships/notesSlide" Target="/ppt/notesSlides/notesSlide51.xml" Id="R3b1c7313fefe4bf1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44673bdb74402" /><Relationship Type="http://schemas.openxmlformats.org/officeDocument/2006/relationships/notesSlide" Target="/ppt/notesSlides/notesSlide52.xml" Id="R35012999f9a04767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98600bd33415f" /><Relationship Type="http://schemas.openxmlformats.org/officeDocument/2006/relationships/notesSlide" Target="/ppt/notesSlides/notesSlide53.xml" Id="R4946f6877da34057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2e61538644523" /><Relationship Type="http://schemas.openxmlformats.org/officeDocument/2006/relationships/notesSlide" Target="/ppt/notesSlides/notesSlide54.xml" Id="R92687fe08a33480a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fa62f9bc54113" /><Relationship Type="http://schemas.openxmlformats.org/officeDocument/2006/relationships/notesSlide" Target="/ppt/notesSlides/notesSlide55.xml" Id="Rd5154a0d50a54a9b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6b66df07ef434d" /><Relationship Type="http://schemas.openxmlformats.org/officeDocument/2006/relationships/notesSlide" Target="/ppt/notesSlides/notesSlide56.xml" Id="R31d926208da4409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f3ea60d8a4b88" /><Relationship Type="http://schemas.openxmlformats.org/officeDocument/2006/relationships/notesSlide" Target="/ppt/notesSlides/notesSlide57.xml" Id="R41dbde0581df4b17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f56f38e174b1c" /><Relationship Type="http://schemas.openxmlformats.org/officeDocument/2006/relationships/notesSlide" Target="/ppt/notesSlides/notesSlide58.xml" Id="Rfe3206f469c245fd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8c9315ded45b7" /><Relationship Type="http://schemas.openxmlformats.org/officeDocument/2006/relationships/notesSlide" Target="/ppt/notesSlides/notesSlide59.xml" Id="R25ae2c8918534137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f77a2abfd46fc" /><Relationship Type="http://schemas.openxmlformats.org/officeDocument/2006/relationships/notesSlide" Target="/ppt/notesSlides/notesSlide60.xml" Id="Rf4f0eb44db6841cc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d43d2f5994f19" /><Relationship Type="http://schemas.openxmlformats.org/officeDocument/2006/relationships/notesSlide" Target="/ppt/notesSlides/notesSlide61.xml" Id="Re346e1df72d0462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a5fe5ad1bc42e4" /><Relationship Type="http://schemas.openxmlformats.org/officeDocument/2006/relationships/notesSlide" Target="/ppt/notesSlides/notesSlide62.xml" Id="R014a9730387b4c36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137fd2d2c540cb" /><Relationship Type="http://schemas.openxmlformats.org/officeDocument/2006/relationships/notesSlide" Target="/ppt/notesSlides/notesSlide63.xml" Id="R50fa333412f34b64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e30bfa2724d83" /><Relationship Type="http://schemas.openxmlformats.org/officeDocument/2006/relationships/notesSlide" Target="/ppt/notesSlides/notesSlide64.xml" Id="R1c1245e59f194dc2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dd55018d745c0" /><Relationship Type="http://schemas.openxmlformats.org/officeDocument/2006/relationships/notesSlide" Target="/ppt/notesSlides/notesSlide65.xml" Id="R157277b4814241f7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d0d8d127443a1" /><Relationship Type="http://schemas.openxmlformats.org/officeDocument/2006/relationships/notesSlide" Target="/ppt/notesSlides/notesSlide66.xml" Id="Rc737fdc650e24e41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9fd38509d4768" /><Relationship Type="http://schemas.openxmlformats.org/officeDocument/2006/relationships/notesSlide" Target="/ppt/notesSlides/notesSlide67.xml" Id="R4b704dbe23fc48f2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50e9fbecd8479d" /><Relationship Type="http://schemas.openxmlformats.org/officeDocument/2006/relationships/notesSlide" Target="/ppt/notesSlides/notesSlide68.xml" Id="Reb0bdf78b8f84555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99e40d84e477f" /><Relationship Type="http://schemas.openxmlformats.org/officeDocument/2006/relationships/notesSlide" Target="/ppt/notesSlides/notesSlide69.xml" Id="R36e4da6918614236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d1e80a3c24629" /><Relationship Type="http://schemas.openxmlformats.org/officeDocument/2006/relationships/notesSlide" Target="/ppt/notesSlides/notesSlide70.xml" Id="Re05bf54960b046f1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1111df4c944c4e" /><Relationship Type="http://schemas.openxmlformats.org/officeDocument/2006/relationships/image" Target="/ppt/media/image2.png" Id="Rdcf7960055934a6c" /><Relationship Type="http://schemas.openxmlformats.org/officeDocument/2006/relationships/notesSlide" Target="/ppt/notesSlides/notesSlide71.xml" Id="R9e4ad7cb4e034416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4641e0acb4e06" /><Relationship Type="http://schemas.openxmlformats.org/officeDocument/2006/relationships/image" Target="/ppt/media/image3.png" Id="R565099ee0b8d43f7" /><Relationship Type="http://schemas.openxmlformats.org/officeDocument/2006/relationships/notesSlide" Target="/ppt/notesSlides/notesSlide72.xml" Id="Rcba4aafae7f340c2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20ce4caaee4dba" /><Relationship Type="http://schemas.openxmlformats.org/officeDocument/2006/relationships/notesSlide" Target="/ppt/notesSlides/notesSlide73.xml" Id="Rd7dba1baf4cf45f8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fcd36b8f64f1d" /><Relationship Type="http://schemas.openxmlformats.org/officeDocument/2006/relationships/image" Target="/ppt/media/image4.png" Id="R5a42acc97d9d4d79" /><Relationship Type="http://schemas.openxmlformats.org/officeDocument/2006/relationships/notesSlide" Target="/ppt/notesSlides/notesSlide74.xml" Id="R6fa1fda6f57f461c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402a9f862648ab" /><Relationship Type="http://schemas.openxmlformats.org/officeDocument/2006/relationships/image" Target="/ppt/media/image5.png" Id="R312f4e58e5284041" /><Relationship Type="http://schemas.openxmlformats.org/officeDocument/2006/relationships/notesSlide" Target="/ppt/notesSlides/notesSlide75.xml" Id="Rb9a9ea8504134ae5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dd595a5fb4e0b" /><Relationship Type="http://schemas.openxmlformats.org/officeDocument/2006/relationships/notesSlide" Target="/ppt/notesSlides/notesSlide76.xml" Id="R0e9e6c5109204a1c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be0c3607d4468e" /><Relationship Type="http://schemas.openxmlformats.org/officeDocument/2006/relationships/notesSlide" Target="/ppt/notesSlides/notesSlide77.xml" Id="Ref1d7165ae8546dd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5f69900914b4b" /><Relationship Type="http://schemas.openxmlformats.org/officeDocument/2006/relationships/notesSlide" Target="/ppt/notesSlides/notesSlide78.xml" Id="R5cbe720a54754737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9d25b9f9d34dd6" /><Relationship Type="http://schemas.openxmlformats.org/officeDocument/2006/relationships/notesSlide" Target="/ppt/notesSlides/notesSlide79.xml" Id="R7ea95d956966464d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6cb39250145e2" /><Relationship Type="http://schemas.openxmlformats.org/officeDocument/2006/relationships/notesSlide" Target="/ppt/notesSlides/notesSlide80.xml" Id="Rbdb668e122b649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83FF51-04F7-4DA9-8AC3-924625ED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ORIENTATION &amp;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5C9944-B7B7-4D0E-9BD9-0D1D674D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952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호출 너머의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4ADD3-9918-4785-A081-FED199B0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9906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LLM 운영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C09E23-4F57-4DD9-A92B-1990F172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67050"/>
            <a:ext cx="3733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LARGE LANGUAGE MODEL (LLM)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855EEC-2D72-4DA3-B72D-8D3110D8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581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ABEC0-5204-4ECB-B957-345A3A6C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01  TRACE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A068EA-1BE7-4F76-A47B-1F7427DD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DD9B24-A278-4201-8910-5E9F47AB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02  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8A9770-B196-41DC-A260-7E6CE60D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528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9B5FC-C29D-4250-9CCD-4E9AB39B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03  EVALUATE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8ECC-6736-4B46-B3D1-DCD70799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D15DA-7026-4398-B457-F0AFE866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04  IMPROVE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4908C3-D608-4330-AE1A-1E8068B5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8392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1CF252-84A5-48D4-A2A6-D0AF5018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800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TRACE · 비교 실험 · 16주 서비스 개선 폐루프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3E007F-7595-4B2C-99E3-9F3001ED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715000"/>
            <a:ext cx="752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ARTIFICIAL INTELLIGENCE (AI) · PRODUCT MANAGER (PM)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DEDC5E-9F3C-4A29-AE56-5CBB9AF4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6019800"/>
            <a:ext cx="752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차성재 · 무신사 Core AI PM × 아주대 AI대학원 겸임교수</a:t>
            </a:r>
          </a:p>
        </p:txBody>
      </p:sp>
    </p:spTree>
    <p:extLst>
      <p:ext uri="{BB962C8B-B14F-4D97-AF65-F5344CB8AC3E}">
        <p14:creationId xmlns:p14="http://schemas.microsoft.com/office/powerpoint/2010/main" val="1619523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AE14E57-BD23-414D-9814-9EE1441A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8A661F-11CB-4457-A6B3-D5846220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C7948-7F8E-4D23-B4E3-B38FF8FF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DA60E-8915-4804-AE0D-44B141BA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A9E7ED-3960-41EF-9CC8-9A702DD0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3D5B7F-903F-4AFC-9E29-76BDEDA1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1주차의 위치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D8358-48B5-4C4C-8125-A9147DCB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619250"/>
            <a:ext cx="33528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B3D04-80F8-4765-B260-965DE9F2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CURRENT / WEEK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2FB366-C0AD-4F2B-A4AD-D05AA6F4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31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09.04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8C235-51BF-47A1-8B66-43BD0853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오리엔테이션과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개선 폐루프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CA0865-E03E-483A-B483-39744E20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8200" y="39052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18343A-B75E-4F0F-B9ED-3C3C8AFB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2667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 번의 모델 호출을 어떻게 재현·비교·개선 가능한 서비스 실행으로 바꾸는가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5C7928-2D99-4D2C-B40B-A664275A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383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16-WEEK PORTFOLIO RAIL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4A217-DEC4-4972-9796-8CC55FBF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2000250"/>
            <a:ext cx="1130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26B1BB-4FE3-4CF3-A280-D3EE2A6E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95500"/>
            <a:ext cx="977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W01–03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B6298A-13F9-442E-9B60-28797B87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62200"/>
            <a:ext cx="97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문제·계약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790E78-B2A2-492F-AA15-007CFB2A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6100" y="2000250"/>
            <a:ext cx="1130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80B6A1-89A6-4BE7-A168-5AFE1912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2300" y="2095500"/>
            <a:ext cx="977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W04–05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1DFE2F-1156-465B-9B99-C947078F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2300" y="2362200"/>
            <a:ext cx="97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데이터·근거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0FCD81-4A7C-41D3-A31F-FAE7E143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32600" y="2000250"/>
            <a:ext cx="1130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E0D5C9-9D13-40BF-A2CA-96FA4182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8800" y="2095500"/>
            <a:ext cx="977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W06–08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916647-D9B2-4844-BCDC-5326B751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8800" y="2362200"/>
            <a:ext cx="97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기술·기획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B728A1-ACF4-447F-B73D-B7E96F72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2000250"/>
            <a:ext cx="1130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3A3E3A-43B2-49D6-A72E-8752CD19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95500"/>
            <a:ext cx="977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W09–10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0A6756-2CB1-4C89-87DB-91AC93F8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62200"/>
            <a:ext cx="97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서비스·관찰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CC9C4E-AE58-4D0E-8F1C-39912C9F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45600" y="2000250"/>
            <a:ext cx="1130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AFC249-45C3-45D5-8F68-19A25567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800" y="2095500"/>
            <a:ext cx="977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W11–14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CC1D67-6906-49F4-BAEE-46938312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800" y="2362200"/>
            <a:ext cx="97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평가·운영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2F6ED9-A8B8-4161-B05D-B05C179A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52100" y="2000250"/>
            <a:ext cx="1130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5C97BE-2C04-4628-A158-AAE98FD8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8300" y="2095500"/>
            <a:ext cx="977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W15–16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15D78D-E2AE-4A63-9368-0316F925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8300" y="2362200"/>
            <a:ext cx="97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통합·발표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C64C70-2752-41B7-9763-D55AB172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WEEK 01 / COMPLETION EVIDENCE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140FF3-2172-4643-9143-BDF20865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052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2F4725-1B35-4A23-A81A-9B53D23C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4861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프로젝트 문제 후보 1개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4420ED-D204-43EF-B30D-E963B722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10150" y="38290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EF4E10-AE6E-4449-AC8F-CFD1935B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814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053951-256A-43A3-B052-D581A9DF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9624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기준선·변형 실행 추적 2건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BC3BF0-EA1B-4C4B-AE0B-8A61F4EB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10150" y="430530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673420-F98E-4B5C-ABE7-2B5DF2EE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577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219957-E04C-4AAA-A61C-1608F916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4386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단일 변수 비교와 다음 개선 가설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E865F1-E80C-459F-BCA1-4506374F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10150" y="47815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027703-6EE3-4A2F-A68D-EC5A8091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933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129F739-8AA2-4D6B-A4F4-DD27B5B0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149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교수 설계 리뷰 질문 1–3개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DDE7A-6A61-46AE-8F65-16C2C371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10150" y="525780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B5E96E2-BD16-4F0C-A8D1-30F1153D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43550"/>
            <a:ext cx="678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매주 같은 위치의 로드맵에서 해당 주차만 파랑으로 갱신</a:t>
            </a:r>
          </a:p>
        </p:txBody>
      </p:sp>
    </p:spTree>
    <p:extLst>
      <p:ext uri="{BB962C8B-B14F-4D97-AF65-F5344CB8AC3E}">
        <p14:creationId xmlns:p14="http://schemas.microsoft.com/office/powerpoint/2010/main" val="2139444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CC75797-0108-4AE2-A058-B941967D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E82008-2043-40B4-A2E7-5B7D4E0D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7752F-108E-4D97-892E-F7A14F39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1E82F-52F8-4A18-8FB6-F54391AB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FAA3E-A897-478E-A09E-DE94E640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7B2319-10D6-4139-A680-91E1212B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16주 수업 일정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9E9087-C5C7-4F27-882B-01BBB22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2026.09.04–12.18 · 매주 금요일 · 현재 W01 · 공휴일 주차는 온라인 영상 대체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C8D4B6-E7B1-4145-B886-CD47A2D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35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W01–08 / DESIGN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4398E-EEB0-4342-BAE8-DBEBDEC8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1336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89DDE-CF97-4F69-AB4E-8E44F70D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7FEC46-9FD1-4FD9-BDD2-A4B12C15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09.04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A3CAB1-F166-4060-9B01-3BD9DFDE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336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오리엔테이션·폐루프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341DF4-ED25-43AC-B45A-4A75A2B4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336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현재 · 대면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60B12-C714-41C8-B441-53CEF118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5908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DD4BB-2ACC-4741-9BA5-2D5CCB2D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1F1AFF-1E79-4024-9276-725728DF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908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09.11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782C8-5FCE-44F6-85B0-B17D1D6F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908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 계약·버전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423EA3-BE5B-45AF-9C9E-181BC422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908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7F6177-55B8-4023-9243-9DC70B5B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0480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444F88-E97E-44A3-93E8-5ACBFBB2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EFCD32-77AC-4AB3-B1C0-E7AABD32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480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09.18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CE3DB7-CC47-461B-920C-5E9F4CCE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480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 평가·오류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61D9AE-758E-4D28-84A6-CF4EAD4C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0480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02BCB6-EBF6-4E0F-95EA-38473621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5052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94176B-CBB3-4CFB-B006-62699414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729F8A-3BC5-4DB5-83D6-8C697D13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052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09.25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77CB65-7B66-48F5-9662-3619C0A3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5052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검색 근거 계약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F8BA2C-DA07-43BF-AF62-03D127A0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052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ONLINE · 추석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8B7DA0-0E3A-4CBA-8EF1-A2337FBF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9624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35CA5E-118F-41D7-B199-2C21236C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ED4389-F16B-4E7F-9E87-8D1309D3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624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10.02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E36125-6C70-4C02-9B52-7CBA4589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9624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검색 품질·파이프라인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CF241E-A54F-466E-A455-B3007E06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624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48BD3C-6BFA-4A83-BAB3-654AB773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4196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6E229F-1FE5-498B-8C6E-6EABCC6B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196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5B3845-2AFC-4B6F-BA9D-B3BE3F28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10.09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28823A-6616-4753-9BC9-3C545B59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196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미세조정·데이터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09389E-C6E4-4AA1-BAD9-3236DD76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4196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ONLINE · 한글날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210378-738D-4ACA-8F4B-723866D9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768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0BDE7F8-296A-4198-AEEF-8249185B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W07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98E0F0-E665-4B92-906E-6A13BAB95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10.16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CDBDFC-FC58-48B7-BCDB-C3030F90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768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선호 최적화·대안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EDE1064-305B-497F-8E9C-29B27B3A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768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1DFE1A-6D31-40E1-8EFD-76AE9989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3340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C5F24A-82B0-44A4-8A13-BCC57723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W08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FDB1B5-F475-46BE-BFD6-8B625043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340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10.23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B77766-9CD5-4D94-A1A9-B1B2B651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340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기말 프로젝트 기획서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F2BDD68-63EE-4C5D-AD5B-310B55FC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3340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SUBMIT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DF115FF-A971-49BA-92B3-1D36C286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90700"/>
            <a:ext cx="535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W09–16 / OPERATE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6019C99-394E-4E48-8477-F02B2638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21336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A407FD6-A949-446A-A374-40472C0F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336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W09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B6EE0DE-A6CC-4A4E-A739-49B5DE92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133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10.30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B352A76-349D-420D-9480-F7F968CC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336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요청·응답 서비스 계약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839E221-5A20-412D-AB20-BD09B94D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336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A3D2584-C3D3-4824-95FE-460A9B12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25908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DFBF4BA-4F99-4E43-8A7D-4A61DEBA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908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AF8A8E1-9BD9-4CE3-9F0F-D21B1834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908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11.06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F845997-FAC8-4414-810B-2C5B4912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908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 가능한 배포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8417D3E-E4D8-411B-8907-73991713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5908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6619BDF-013C-4161-B794-7D41CB28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30480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75CD1D2-8479-4F0E-8CD9-85657351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80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W11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F9A64ED-C124-4263-9790-F802B369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480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11.13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65D9F3E-35CD-4B29-ADB4-08D757F2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480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오프라인 평가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EF0685B-E8B0-4C47-ABC9-342D21E7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0480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A161EC0-4662-4E9D-9015-A1E80A44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35052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D956F80-B3DB-4279-8D01-8FE90C07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052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W12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C81C727-C057-4EBE-8A81-E49B7471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5052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11.20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3A6D9C9-B5BD-401C-8AD5-E63DB1F4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5052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온라인 관찰·실험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8F97702-220F-4F0B-ADEF-7407D39C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5052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F70309B-AC9D-4241-8C25-DEF17053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39624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C03F87D-77CE-4F7C-8B23-53060EEC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624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74437C9-90B7-49B4-A113-3B849C81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9624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11.27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E653AFA-D5CE-4D11-88BD-A37F754E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624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안전성·거버넌스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C4CA460-5102-48B7-8124-FDEAB90A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9624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2F61400-4AD8-4273-BCB8-F17B0623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44196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0F2E4E1-F23F-4073-A399-2E64966F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196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4390B54-BD9A-4A75-9620-18D7383A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419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12.04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E3AB0EA-C62A-4B73-9971-DC5A86B4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196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비용·지연·용량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0E16900-6DA6-4BD7-8FB7-A1F1A90C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4196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39A0661-7687-4877-98CD-BE98D620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48768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642ECA8-E72F-48AD-9FC2-674182BD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768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W15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0EEDEE1-5988-4CA8-968D-B9C2A288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8768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12.11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FA11E36-6A8E-436A-8327-24F7ED22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768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통합 검증·리허설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0F56921-487C-4FE6-BE51-B729634C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8768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OFFLINE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B9D0233-7B09-4437-AF6D-D0EA9A23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5334000"/>
            <a:ext cx="535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0D20BE1-C58E-4056-8916-128BB1A0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340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E5B81C2-3D84-4F61-ABDE-00C1DCAE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3340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12.18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C07FD86-F504-4856-9A3C-3E597E31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3340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기말 프로젝트 발표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F20ACDB-FEE9-4E62-88B4-C148840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0"/>
            <a:ext cx="112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PRESENT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AD81A52-9B42-43A3-9FBE-85BE5206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W08 · 별도의 중간고사 없이 기획서 제출 / W16 · 기말 프로젝트 결과 발표</a:t>
            </a:r>
          </a:p>
        </p:txBody>
      </p:sp>
    </p:spTree>
    <p:extLst>
      <p:ext uri="{BB962C8B-B14F-4D97-AF65-F5344CB8AC3E}">
        <p14:creationId xmlns:p14="http://schemas.microsoft.com/office/powerpoint/2010/main" val="809795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027C0A-0C71-48F3-96C9-F6443234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E2BBC7-ABBF-4765-9D9D-95AB21D2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98B5DD-217C-47A9-99FA-DECC548A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05CB6-DC17-4136-BC7B-818594CF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77EA2-B611-4A09-AA21-30471628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36CE38-4C5F-4D02-8FB0-7E200430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16주 포트폴리오 로드맵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A9622-358F-4194-AA09-F2C92594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6300" y="327660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ED9116-8C70-458E-9A93-09926CBB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D0A751-2DB1-459F-83A5-D7392430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W01–03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2E5DF-C364-4E9F-A12F-BDE57E95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문제·계약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평가 기준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8379B-E0C8-43E2-BBF3-3E61AB5F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BE5A9D-493A-4350-9E7D-BBD0B244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W04–05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7436DA-A9C2-4E5C-810F-0D664FD2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데이터·근거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검색 기준선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B6580F-01AC-4222-A791-FA8B4FDD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17B30E-2DE6-4658-BC6E-A3F71C0E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W06–08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6A4F7F-F76E-4A2D-8D58-2EC6621A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기술 대안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기획서 제출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BB20B9-57B7-4B4D-BAA5-2D53AB36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18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6098E9-A3BC-4534-ADBF-96370F63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W09–10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A61805-9BCE-471E-811E-845728F1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구현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 구조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896C25-608B-44E3-B0ED-AA6173E9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0E2F2E-C696-46BC-9242-F9941415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W11–14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1C3F30-5A8A-435D-8B71-61AB001B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평가·안전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 판단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6AF17F-4972-4164-BC9B-BEE55164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204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2E69CA-8980-4485-B08A-EEF456FB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W15–16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FA366F-C730-404F-900A-474BEFC0F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통합 검증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발표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352783-46BC-486F-B3DE-10F7C887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 정의 · 실행 증거 · 평가 기준 · 운영 판단 · 버전 개선의 누적</a:t>
            </a:r>
          </a:p>
        </p:txBody>
      </p:sp>
    </p:spTree>
    <p:extLst>
      <p:ext uri="{BB962C8B-B14F-4D97-AF65-F5344CB8AC3E}">
        <p14:creationId xmlns:p14="http://schemas.microsoft.com/office/powerpoint/2010/main" val="20193479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D7CD44-4B7E-4BE1-90BF-8687E3E1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DCB43-74FC-40F8-B4A1-F71BB9AA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C21EC-3CDD-4C44-9D06-2DDD761B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EFBC9F-B12D-4645-A2C4-4E6E717B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7F04D-A4BD-4999-A49C-16554844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64AB31-7572-41E6-9C08-720B4119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기획서 제출 패키지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C0BDF-3634-42DF-906D-08076ADF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화면 검토와 인쇄 제출을 함께 지원하는 세 가지 HTML 기준 문서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5F8AD-BC16-4138-8863-6864344A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81200"/>
            <a:ext cx="32194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CD47E-F47C-426A-919A-4FF90DC4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81200"/>
            <a:ext cx="3219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A88E77-39AB-4D65-AE4C-FB2FB0ED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FCFF88-568C-43C9-9930-5434B0DA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76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16주 과정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로드맵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72B4B-BA1C-4D1E-A04B-EB6CED37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8200" y="3409950"/>
            <a:ext cx="276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5FBAF8-39C6-4B8C-A7DF-B9C21456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현재 주차·학습 질문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주차별 일정·누적 산출물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온라인 영상 대체 일정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B89013-050E-4051-9284-3027556A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curriculum/2026-2/web/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course-roadmap.html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CBEA5-5633-4291-8848-573AF911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7200" y="1981200"/>
            <a:ext cx="32194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AF556A-5474-41F5-AE12-1DD320BE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7200" y="1981200"/>
            <a:ext cx="3219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A5BEF0-D297-472F-BBAE-382A521C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288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734E8F-2D57-478D-ACF0-BCFC8E19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76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2페이지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제안서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452BCB-3DF1-4B93-9A67-D1D13591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95800" y="3409950"/>
            <a:ext cx="276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510DD1-C9BC-4A8A-B232-AC142822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385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문제와 사용자·기준선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입력·출력 계약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해법·평가·교수 질문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F73412-8B5D-40EA-8B55-8BF3B816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958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curriculum/2026-2/web/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project-proposal-2pager.html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8C9E97-B813-4F43-9A85-D2F19619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4800" y="1981200"/>
            <a:ext cx="32194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8C9CAC-8B16-44E0-B430-9AC8F56D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4800" y="1981200"/>
            <a:ext cx="3219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55C713-3C13-45E8-98C6-FC968F5D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288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AA6818-E752-452C-BC0D-97475152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47950"/>
            <a:ext cx="276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제품 요구사항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문서(PRD)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DF6C5-EFAE-4EAF-AFE9-8F003D4E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53400" y="3409950"/>
            <a:ext cx="276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2BF6E2-5CE3-409D-848C-92AC711A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기능·비기능 요구사항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데이터·권한·위험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수락·승격·중단 기준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354DA5-8066-4A6E-92AC-11F12287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958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curriculum/2026-2/web/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project-prd.html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D0F417-441F-4C17-A716-6F6566B7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276850"/>
            <a:ext cx="10972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9680D3-6AD6-4C2B-92C1-B784CDB9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W08 / SUBMISSION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4B3083-E44D-4303-B8E1-E3196A71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391150"/>
            <a:ext cx="771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별도의 중간고사 미시행 · 세 문서와 PPT 요약본을 기말 프로젝트 구현 기준선으로 제출</a:t>
            </a:r>
          </a:p>
        </p:txBody>
      </p:sp>
    </p:spTree>
    <p:extLst>
      <p:ext uri="{BB962C8B-B14F-4D97-AF65-F5344CB8AC3E}">
        <p14:creationId xmlns:p14="http://schemas.microsoft.com/office/powerpoint/2010/main" val="14834035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20C6E5-99CC-4F0A-A864-4D2FC4DC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D8D32-BAFA-4FD3-9DD9-46AE8E87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72A328-4720-4264-B3AD-5FFF4F3F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F0776-6A0B-4CF5-AA7D-89FEA280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D8087-78AE-4E13-8EF6-043E412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24930F-E52B-43BD-98EE-4B556EA7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교수 설계 리뷰와 수정 기록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C1CBC7-6393-4DA8-A7A4-B90C7045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초안 0.1 · 근거 확인 · 학생 결정 · 수정안 0.2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4B5663-C99B-486E-9692-E620B810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DRAFT 0.1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B0C3EA-A1C2-497A-9187-984CFFC2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현재 기획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26726E-2D4A-49B9-93CD-1F73D283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6385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5B586A-5DC9-42C8-833F-9897B6E9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190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가정과 선택지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확인할 질문 1–3개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D53565-A98F-43DC-9BF1-EA49E722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76550" y="3162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8A2B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DC210-4764-4588-8210-707E5F0F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3114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98A2B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565E27-3B59-431D-8D9B-599FDAAD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241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DESIGN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037861-C71F-4668-AF15-252462D5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813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교수 질문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EC918-FFCF-4E72-93A3-2F5044749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29000" y="36385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012604-7A58-4BED-BA2C-847CCFD2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2190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빈 근거와 경계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반례·추가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819A78-7A02-4979-9560-5A0CF5D8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695950" y="3162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8A2B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095236-F58E-4E6E-B2EE-1C8AB981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3114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98A2B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C7C905-0DCB-4100-90F3-0648E3A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241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8DF63-6A5A-4DE2-86AA-AAB520BB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813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학생 판단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379F75-89D1-4B79-8DAD-2642D921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48400" y="36385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B8D09B-A721-4A76-8563-5F59A040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05250"/>
            <a:ext cx="2190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채택 · 보류 · 반박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결정 이유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DEAFD4-DB0D-4E25-8F00-50C51E03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515350" y="3162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8A2B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B4342-BEEB-4B5C-8620-9FC2E36B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15400" y="3114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98A2B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B6947A-55A9-4686-878B-50F63E06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241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REVISION 0.2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7D6C00-CC25-46BC-B5AB-BC44A40E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813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문서 수정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DEF05B-9CD8-42F4-B8FF-49C33096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67800" y="36385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66D135-7D77-413C-8610-B81397CE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905250"/>
            <a:ext cx="2190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변경 전후와 근거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남은 위험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E63771-DE03-4FD7-87C9-92A00B9D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질의응답은 시험이 아닌 상시 설계 리뷰 · 최종 선택과 책임은 학생에게 귀속</a:t>
            </a:r>
          </a:p>
        </p:txBody>
      </p:sp>
    </p:spTree>
    <p:extLst>
      <p:ext uri="{BB962C8B-B14F-4D97-AF65-F5344CB8AC3E}">
        <p14:creationId xmlns:p14="http://schemas.microsoft.com/office/powerpoint/2010/main" val="1695129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4E3369-2C4F-43E9-A18A-5ADC766E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44D03-ECE8-4020-B041-1A551798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EE1D9-9002-420D-BCF0-A81F7075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88E4E-F41C-4252-A3F3-9FF0BBC2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41CDD2-18DC-4A88-9440-31003623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D63690-B1C5-4CA7-9040-733E0103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공휴일 주차의 온라인 수업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71868-1C2D-4AD9-855B-AAF07D2A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W04 / 2026.09.25 · 추석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A1E06A-4859-4A31-BA4A-C8F50A7E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근거 계약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635262-DF21-44CE-A9BE-57B3B9A6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DCC90D-E744-4B61-934F-066931FA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수업 일정 유지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온라인 강의영상 업로드로 대체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학습관리시스템 공지에 따른 시청·산출물 제출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98DC6D-20E9-46A1-9F70-47F60BF3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증거 · 데이터 출처·권한·검색 기준선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B5EF94-68FB-4630-8E08-FA0D3CB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W06 / 2026.10.09 · 한글날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132384-BF25-4706-89FD-7350827F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미세조정과 데이터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50938C-745D-41BD-9F1F-2BE3006F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55B8C4-D80D-4D5E-9103-33C98EE3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수업 일정 유지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온라인 강의영상 업로드로 대체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학습관리시스템 공지에 따른 시청·산출물 제출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C14CE8-F0D4-4688-8194-82B215C0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292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증거 · 모델 적응 판단·데이터 제외 기준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D0D97A-8A00-4798-AD77-F9C8D66D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187771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F723CD-D2EC-47A1-950A-D706496F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PROFILE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5B689-E421-48DB-A998-367F8109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ABE75-42DE-45CF-A962-750CEBA8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609569-A491-4F40-99FD-49FB34A7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B5358C-A3D3-4E03-924D-DD4E8F4D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F614B2-DFBF-4F64-BCF3-12C57EF7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AI 제품과 교육의 운영 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4AA3B7-428E-4B84-839A-F433FED6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차성재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3B4D91-3598-4AE3-9A8B-6239DC24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무신사 Core AI PM × 아주대 AI대학원 겸임교수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4CD444-E653-4121-8E4E-AC6FB9BD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Artificial Intelligence (AI) · Product Manager (PM)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970DC3-371F-4E4E-BC8B-A129C06D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6210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금융 · 자동화 머신러닝과 운영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의료 · 컴퓨터 비전과 데이터 운영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교육 · 거대 언어 모델 운영과 AI 컨택센터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커머스 · 에이전트형 AI 제품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EC9799-D37F-4605-8F94-4F6059D9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638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문제 정의 · 제품 계약 · 평가 · 운영 지표의 연결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121da13cf43ea"/>
          <a:stretch xmlns:a="http://schemas.openxmlformats.org/drawingml/2006/main"/>
        </p:blipFill>
        <p:spPr>
          <a:xfrm xmlns:a="http://schemas.openxmlformats.org/drawingml/2006/main">
            <a:off x="7734300" y="1428750"/>
            <a:ext cx="3390900" cy="3390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A32E21-3436-45BE-B5AC-4C35440B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5162550"/>
            <a:ext cx="424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FDACAB-D1E6-4BC8-B89E-456739ED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72100"/>
            <a:ext cx="424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PRODUCT · EDUCATION · OPERATION</a:t>
            </a:r>
          </a:p>
        </p:txBody>
      </p:sp>
    </p:spTree>
    <p:extLst>
      <p:ext uri="{BB962C8B-B14F-4D97-AF65-F5344CB8AC3E}">
        <p14:creationId xmlns:p14="http://schemas.microsoft.com/office/powerpoint/2010/main" val="21100252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7BB56C-032F-4704-93A4-79142632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PROFILE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E4FF55-9622-429C-B13E-7708A5C1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6D86C-E114-455B-9AD7-69602F16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2B6BDC-A119-4939-8E63-7EC457E8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3D98B-FBCC-4598-B61C-E7D8D036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C1D443-1440-47F4-824C-38E5E7B2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정형 데이터에서 생성형 AI까지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231C63-DF29-4D47-91F5-479A24EE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562100" y="3429000"/>
            <a:ext cx="906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B7909-3BBE-4701-83CB-60416537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192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B6A173-76BF-49DE-951D-563BFFE8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금융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5758F-7233-4928-8AA3-BD770333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자동화 머신러닝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머신러닝 운영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C6ADF0-C92A-47A9-A0E3-0651B439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418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CA4CAB-8005-424E-AC69-613DD827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400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의료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0E541E-4039-4C8C-915D-3CBEEADA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컴퓨터 비전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 운영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05121-CBE2-498A-BCDB-FEADF269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44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DEB246-6517-4E80-B489-631871BE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10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교육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866C53-0C5A-4E3F-9BC0-6750147F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거대 언어 모델 운영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AI 컨택센터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135293-CC9C-4BF1-B3F8-782CE50A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870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D77898-F71E-4A8E-9E5D-B2614E3C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커머스 · 현재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889EDF-9BF5-4A76-B130-8230CA0D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에이전트형 AI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제품 관리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B8D61E-7B48-4C32-A487-D32D21AB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도메인은 달라도 서비스 운영의 질문은 반복</a:t>
            </a:r>
          </a:p>
        </p:txBody>
      </p:sp>
    </p:spTree>
    <p:extLst>
      <p:ext uri="{BB962C8B-B14F-4D97-AF65-F5344CB8AC3E}">
        <p14:creationId xmlns:p14="http://schemas.microsoft.com/office/powerpoint/2010/main" val="28531709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706101-9363-4F6E-A0EC-4E238E8A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PROFILE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2CE55-3E6F-4619-BF23-4247255F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785771-BB75-4229-9841-6582BC5B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7E8A75-CE25-4E55-B519-2724D9A5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B78A4C-8EF8-430E-B11A-EC8B473A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5B952-E145-4024-8444-865337C5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도메인을 관통한 운영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FABFA-C980-4778-8DF5-1CB9AFE4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정확도 다음의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제품 운영 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E06D2-DD24-4E9C-8DE3-AEFA072B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4000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현업에서는 한 번의 좋은 응답보다 같은 조건의 재실행, 실패의 관찰, 정책 통제와 변경 설명이 필요하다.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CBBDE-A314-4765-B41A-D2427C3C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4859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BEDDC0-F61E-493A-8CAA-6FF35E19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4478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재현성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361EBA-A196-4290-9FEB-556259B8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48590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같은 조건의 재실행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79C3A-4185-40A2-90CD-616E3DD4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2114550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AE1DB2-242D-45CB-9379-F0E4BB20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290D2C-6691-455A-98E6-B5D74916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5146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관찰 가능성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B80764-4E68-4865-8DDC-B3A24E91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5270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실패 위치와 분포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7A353-7ED9-4A6B-9443-4B54A590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3181350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74FF84-7090-4F31-928D-BAC0E951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195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AB9FE-C192-4B0F-89F8-11FA60F6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통제 가능성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D7C405-2563-4D8F-B93C-8A4C1227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권한·정책·대체 경로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6ED34E-A081-4A46-AB52-367D5941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4248150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32931D-5B4C-4FF9-A08E-888CFE8B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6863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D82E1B-8D8D-4D06-B98D-657EC01E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482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 가능성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545D45-DE0B-4B40-8378-BF2A8F5B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8630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변경 이유와 판정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8DC634-14A3-4C9C-8C01-40D978C5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5314950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7AAB1A-0C37-4F8A-9D57-E83998F3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59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점수 · 서비스 행동 · 운영 증거의 분리</a:t>
            </a:r>
          </a:p>
        </p:txBody>
      </p:sp>
    </p:spTree>
    <p:extLst>
      <p:ext uri="{BB962C8B-B14F-4D97-AF65-F5344CB8AC3E}">
        <p14:creationId xmlns:p14="http://schemas.microsoft.com/office/powerpoint/2010/main" val="1870084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A3FC86-B9F8-430B-82DC-3082F924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F56477-6B48-41E6-A383-D499BB60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913B21-A868-4589-8F3B-9CDA6740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0F4DB0-D9BB-4EDC-B68B-A5A1AABF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1B98F6-F53E-4469-B881-81FFB858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E6FAFE-BA89-4D86-A2E1-AAC7E3D0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두 라이프사이클의 관리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5B4B74-FD56-4286-85FC-96EBF518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5811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DEABF1-B098-4452-93C7-87A81F2E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1543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비교 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A99B99-D56D-4693-AA00-51574464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19350" y="1581150"/>
            <a:ext cx="4343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40838-9C25-40A4-8889-92AF5FD2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581150"/>
            <a:ext cx="4076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모델·시스템 수명주기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4BDE9F-1799-4D55-931D-4ABAC54C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0" y="1581150"/>
            <a:ext cx="4819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CD684-F2EF-40DA-AA35-EA7C57CD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581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수업의 서비스 개선 폐루프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EC3CA3-4345-453F-B6E5-76247358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9550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7F435F-E575-4DEE-9555-859025BA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5430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단계 구조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ABC21D-FF1B-4050-AE2B-273C9757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19350" y="2095500"/>
            <a:ext cx="4343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522D5-D91B-4711-910D-AC070B95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95500"/>
            <a:ext cx="40767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학습(Training)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평가(Evaluation)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배포(Deployment)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4. 유지(Maintenance)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5. 종료(Retirement)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9CC085-D955-4EE6-82E7-99A0B6F1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0" y="2095500"/>
            <a:ext cx="48196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89360C-75ED-4A1E-B8DD-920777A2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95500"/>
            <a:ext cx="45529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기획·데이터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프롬프트·맥락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실행·배포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4. 평가·관찰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5. 개선·버전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5019A0-C947-4724-91E3-DB885DB4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27660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9B48C0-0DE6-491A-8169-1CE4A7B8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15430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관리 단위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A2AA50-CAC5-4A91-8311-57D25258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19350" y="3276600"/>
            <a:ext cx="4343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AC20B3-8C41-44D4-8AE9-D1788209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76600"/>
            <a:ext cx="40767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또는 전체 인공지능 시스템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생성부터 유지·종료까지의 상태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B81FEA-FD20-40DA-B7D2-A53F5671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0" y="3276600"/>
            <a:ext cx="48196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393986-E1D8-43EB-BA2C-B4F03B67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76600"/>
            <a:ext cx="45529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프롬프트·맥락·코드·설정·정책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행동과 실행 증거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5DA56-0801-446B-B086-9AC92290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45770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82A712-1B59-43FF-BAF8-8C5B0DD4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5430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수업의 사용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39B3DF-279C-48B6-BC70-FCDEDC29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19350" y="4457700"/>
            <a:ext cx="4343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954C1B-D7E5-4B6D-813A-39C5AF06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457700"/>
            <a:ext cx="40767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모델과 시스템의 전체 생애를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설명할 때 활용 가능한 분류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658A30-9F2B-4093-A1A4-C27572A7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0" y="4457700"/>
            <a:ext cx="48196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316B3B-DED4-4BFB-B58A-510C8672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457700"/>
            <a:ext cx="45529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매주 실행을 재현·비교·판정하고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버전을 설계하는 공통 좌표</a:t>
            </a:r>
          </a:p>
        </p:txBody>
      </p:sp>
    </p:spTree>
    <p:extLst>
      <p:ext uri="{BB962C8B-B14F-4D97-AF65-F5344CB8AC3E}">
        <p14:creationId xmlns:p14="http://schemas.microsoft.com/office/powerpoint/2010/main" val="565110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49DE3D-70B8-4D24-B1CB-0202AE6B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43AE2-0790-4DA3-B8B2-B6193EEE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BD9307-E62F-412E-B8DA-957FFC94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5AB934-5173-45B4-BEAE-5F50DF6B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D390DD-4882-4DAB-B740-AAB85311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99B8A-BB9D-4895-BE64-3FFDECEF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 운영 프레임: 서비스 개선 폐루프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ECACF-9564-40B7-80B0-82EFFFC7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83884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37A196-412D-4D89-8CDB-7DDB91C8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056481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522E61-10D1-4F21-9162-252E45AF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352110" y="4961183"/>
            <a:ext cx="103008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C8B3B0-A0D2-43B0-A164-2EC89519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359507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BAF729-E64C-4806-BC12-004C5A28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617063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04D976-73B1-404F-A20F-FBF9D1D3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2954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1CBA2D-5836-4D30-AA8B-BAAFE125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672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E9E1E-7E05-4F85-9564-CB631C73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2002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8A539A-E7E7-4CE0-8F2D-2B45B657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1698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6270DF-3B83-42F4-9893-2D9C7B5D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5028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E904F5-AA26-47BD-9906-9A6A7341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29908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SERVICE</a:t>
            </a:r>
          </a:p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54ACED-7A90-42CB-85C0-FF3BE871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52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COURSE 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8C964C-58E0-4453-8275-3FA2AFC9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336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16주 산출물을 연결하는 교육용 운영 좌표계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975F46-3E07-4494-9CC6-6CCF7B97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86650" y="342900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79647C-AA97-4DBE-81A3-7A679624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3380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업계의 단일 표준을 주장하지 않는다. 이미 학습된 기반 모델을 포함한 서비스를 반복적으로 관찰하고 개선하기 위한 공통 프레임이다.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7CCDE6-4FE3-4108-984F-EDAD7E27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91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판정 경계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038C1-9D96-42E0-98A5-62F65498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91150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계속 · 교체 · 종료</a:t>
            </a:r>
          </a:p>
        </p:txBody>
      </p:sp>
    </p:spTree>
    <p:extLst>
      <p:ext uri="{BB962C8B-B14F-4D97-AF65-F5344CB8AC3E}">
        <p14:creationId xmlns:p14="http://schemas.microsoft.com/office/powerpoint/2010/main" val="18781833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58993B-FC1F-4E05-9264-778C8038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9FEB28-46E1-4461-B001-FDB06388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62B32-5D91-40F0-A103-9CD82F1F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D99005-D0A9-48B5-ADDF-52D38281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A4795-BB3E-47D8-874C-105DA643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989B6-2B1B-4879-9D8C-420D6C6F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판정 가능한 개선의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600E25-F347-412E-B261-2AFC8DE2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F20B2-15EA-4833-976D-E40742B8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67793-5C83-4F32-B6C3-21AAA6EB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F3974B-0578-4E28-8517-C6D3EF0F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성공·금지 조건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967A1B-D9AD-4C65-93AA-DECE951C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ADAB80-D525-474A-9DEB-B0B89743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47AA07-4FDA-428F-A544-94EBFB54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099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705FD1-4D05-43E6-BAD2-27508B07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사용자·업무·데이터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F68D75-A685-4870-8033-9BE0C165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6A590-EE40-45B8-B73B-F2BD0D6E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B38EF-44AA-4E22-91A7-419800B8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103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749693-90A4-4A0D-B1BD-82CB20A4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 대상과 이유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E6CE7D-391C-4260-87E2-11FE9F80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0F96BB-36B0-4B6B-A37D-7E5FC85D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189404-BD95-499A-9544-40959FFA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680788-708D-4B5C-AD7A-722487D1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같은 축의 비교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DD26E1-E08C-46EC-A30E-4C8E6240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정답 암기가 아니라 다른 사람이 다시 판정할 수 있는 운영 계약</a:t>
            </a:r>
          </a:p>
        </p:txBody>
      </p:sp>
    </p:spTree>
    <p:extLst>
      <p:ext uri="{BB962C8B-B14F-4D97-AF65-F5344CB8AC3E}">
        <p14:creationId xmlns:p14="http://schemas.microsoft.com/office/powerpoint/2010/main" val="16688228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77EC3C-8FC9-490B-B661-CFD084B0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D621AC-E701-4C6F-B73F-0845B1AA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AE158E-AC7B-4E33-AD39-DDD5D222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B4E6F-6B09-4B34-ADFB-48E098D3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66D49-D919-4E0E-9AD7-746CA501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11134C-6B93-4622-BD4A-220BB254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1주차 완료 상태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FDE5C-446F-47A0-ADCF-4FC5DD08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619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B77D44-B3C6-4D5B-9537-D317DF6C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AD6469-975F-47C3-AF5B-21693CCF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621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E2FEF-84DF-474B-B6CC-80296D33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6002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상태 확인과 사용자 화면(User Interface, UI)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012C24-F97B-4652-8FAD-29D9A45C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1526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578801-7526-4C4D-B61F-4A6D2D33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4955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2331FF-88E8-445C-8C88-C5048B80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C5C0F1-7B95-4A39-BA8A-62A708C8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추적 두 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1BD29-B576-4BFA-9DA8-1B063297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같은 입력의 기준선과 변형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C4F216-3357-4451-9FC2-41D79DB6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0289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7AB385-575C-437A-8C16-8A3D7AD8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718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27ADA3-85E3-40CD-B3F4-EAD2BE7E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068288-F042-43BE-8ABC-A49D50B3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단일 변수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C7FB12-4882-4340-A60A-97DB9DBD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프롬프트 버전 또는 생성 온도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4C0E60-E784-4A32-B85F-031B59A1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9052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8E7C3A-A2BE-410B-AFC1-C2D1D5DD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2071D2-7CB9-4673-8A43-711F1150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4E71BB-513F-4736-B0A9-A8C13F54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91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비교 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C6CC5D-E38D-4F82-B4C3-4F80A580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출력·상태·응답 지연·토큰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17EDC2-D3AA-4077-B517-8BFC35A9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7815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502876-6239-4F2A-991A-4EFA6AF8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C2134D-B848-40F3-A901-88D2A364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F7F99A-AFF5-4611-BCC0-C9E54EED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673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 가설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54A0E5-4AFF-40A9-9BB3-18575E7D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1054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변경·기대·판정의 두 문장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AE4454-B27A-4BDE-A379-628327E7C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56578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2338343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92FBBF-60ED-4B78-9906-AA96DA90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3FF8DD-C972-49EA-A073-E12390A4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A9EAA-2B87-4E5A-B875-3BE4A7C8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7C5878-57E3-4F27-87EE-19663713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AEBF1-92B4-4D14-9CE7-E7529CEB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2AD73-4939-4C26-8106-1557F9AF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첫 호출의 전환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16F54-6599-435B-A0E1-ADBED2EC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99CD73-86F8-4C49-B444-E25C6CB6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호출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4F08D-3C17-48B6-86B7-6748ECDD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입력과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CFC4D-3188-40DB-8C0D-BD4790AC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52BAC7-98C4-4C6B-8218-5834EE52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5188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50C81E-03E1-4CD8-8AF7-4AD461F8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추적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4FA70D-F4DA-4098-B868-59A4E1A7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정체성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A2947-D83D-4257-9573-458F0D96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8D79CC-37FF-4EA1-800E-EE263FC3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00775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A3646-3B33-4975-A2AD-86DB76A4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86905C-6906-4D2A-A7A1-1D7875F8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같은 평가축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F0911B-02DD-4BC0-B4DB-A940FA0E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6813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CAE306-8740-4F43-815F-B37FED7C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6363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B0BB61-B17B-4173-8A18-60D03A0A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개선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CB0251-51CC-4C98-8B97-3A459AE1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버전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39D8CF-52AD-4D6D-9274-CF0CC133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 번의 생성 결과 → 팀이 다시 확인할 수 있는 실험 단위</a:t>
            </a:r>
          </a:p>
        </p:txBody>
      </p:sp>
    </p:spTree>
    <p:extLst>
      <p:ext uri="{BB962C8B-B14F-4D97-AF65-F5344CB8AC3E}">
        <p14:creationId xmlns:p14="http://schemas.microsoft.com/office/powerpoint/2010/main" val="157435517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173D82-91A1-443B-BC75-7218E5B8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031DA5-0922-4BFD-A788-181CAF6F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95DC67-D990-4162-BBF1-15504CDF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FD1334-B231-4E47-9B6E-3443C0B3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B6577A-2289-4DA8-90A2-D523D775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49D97-7C62-4210-A4DB-2C0E6300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 사례: 고객 피드백 도우미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B4542-8D57-4CBE-A64A-0BD7D5DE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0"/>
            <a:ext cx="36195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06139-763F-4A83-A336-CD5CA907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5A0A3-6C74-4E15-B409-BC15DAA4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“결제는 빨랐지만 교환 절차를 찾기 어려웠어요. 다음 주문 전에는 개선되면 좋겠어요.”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0433CD-B9A2-4000-856B-02CC94E9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621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OUTPUT 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C2E93-BABF-4EAC-A7EC-FCF21190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384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20E05B-1E47-4FD3-8B18-84C35EE1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40030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요약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8DC38-3832-4C69-8A99-1E3407A6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81600" y="29718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F2E332-7CC7-46FA-8E05-92C53803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19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A1068A-481D-4AD7-8620-CE392415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18135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신호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마찰 지점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행동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23CBA8-7FBC-44C4-8D74-F76E91E1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81600" y="37528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20A209-60BD-4A28-86B1-7AC6910A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005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DADA15-06E8-4DD2-A77D-2CDCD239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96240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실무 문장 재작성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6FD25A-2CA5-4FB3-9F24-7D400CD0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81600" y="4533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E71964-B3E3-4BDD-829E-DDCBB7AE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0" y="1714500"/>
            <a:ext cx="31051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8D296D-E46B-439D-A1D4-319C3787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621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OPERATING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F68CE7-57AC-4A87-937E-B95D92A0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38400"/>
            <a:ext cx="26479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trace_id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prompt_version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provider / model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status / latency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token_estimate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content_fingerprint</a:t>
            </a:r>
          </a:p>
        </p:txBody>
      </p:sp>
    </p:spTree>
    <p:extLst>
      <p:ext uri="{BB962C8B-B14F-4D97-AF65-F5344CB8AC3E}">
        <p14:creationId xmlns:p14="http://schemas.microsoft.com/office/powerpoint/2010/main" val="194465442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E8A862-6964-4B30-A5F1-2FE06B97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56FDF-6FE1-4543-92EB-14CDD2E1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89CBBC-0145-45E3-80C9-CE137E64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762208-9FF2-4214-99F0-BD97D46A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D9A008-A2AA-4B47-9098-F1CA904A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03DD12-0C35-4629-8274-9BE5039A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눈에 보이는 호출과 운영 체계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6572E-7E1A-4B8F-97F2-9A1543C5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VISIBLE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E3BAD-ED6A-4213-8241-82FFCFC2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프롬프트 → 모델 → 응답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FBDA89-2343-4714-8085-7EC5DB01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990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585929-DA4E-494A-9C92-E9F05386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OPERATING SYSTEM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6B9EDC-CD73-4399-97CC-1750B0B2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평가 데이터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185AF7-E5CE-497C-A614-5F8046DE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버전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9F0932-797C-4AD2-94D3-419A4704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평가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DB625F-086E-4C19-8FDC-6706E644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시간 초과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94D59A-1B48-403E-AC2C-1D10BDCB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대체 경로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7410F6-D273-4A9D-87F3-072CE5F2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안전성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1DCBC1-6FFD-4526-8323-908F3EFB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비용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53A58B-FBB4-4A54-9F23-34B8EE70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책임자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79CC1-2170-4038-A107-E3B5B4F5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데모의 화면보다 배포 판단에 필요한 운영 증거의 구조</a:t>
            </a:r>
          </a:p>
        </p:txBody>
      </p:sp>
    </p:spTree>
    <p:extLst>
      <p:ext uri="{BB962C8B-B14F-4D97-AF65-F5344CB8AC3E}">
        <p14:creationId xmlns:p14="http://schemas.microsoft.com/office/powerpoint/2010/main" val="18495132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7E079E-7FE3-4DF1-B6A7-2B557B78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EF4D1-20D8-4CA7-B958-B86D3ACB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FROM CAPABILITY TO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36AF6-1B58-4DFA-B2A2-A165594F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2AAC4-23F0-49E3-85ED-1163D7F7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능력의 형성과 신뢰성의 간극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4A40D-842C-44DE-BA62-9C89931D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규칙 · 데이터 · 연산 · Attention · Pretraining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75F87E-0ABD-4600-B3DA-BD8B4C76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18</a:t>
            </a:r>
          </a:p>
        </p:txBody>
      </p:sp>
    </p:spTree>
    <p:extLst>
      <p:ext uri="{BB962C8B-B14F-4D97-AF65-F5344CB8AC3E}">
        <p14:creationId xmlns:p14="http://schemas.microsoft.com/office/powerpoint/2010/main" val="95066688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54D313-9C74-4287-9849-C773BF5A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7E248C-BDDA-486F-BE94-60F64C40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65DB3C-BB39-47B2-97CB-73195E1D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862C50-6D81-4E0E-B9BF-8A5578A5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736525-9254-4C81-98F0-E72C84DF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994A4F-D7DD-4049-9B7E-222C8C18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AI 역사의 네 번의 병목 이동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E29D7-19E5-4C83-A118-90896463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562100" y="3429000"/>
            <a:ext cx="906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53871A-50E5-4F5F-BAB3-9DCFCF69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192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71B1D-6B54-4EFE-A48C-FFF62A1E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규칙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DDACCD-327B-4C6C-A634-5C86E197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사람이 규칙을 작성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1FD96-472B-4C5E-811B-67296673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8617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E44E0-E5B5-4746-81F0-2AEA98BE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학습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1B2E25-C062-4FC4-BE06-A6E1246F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데이터에서 패턴 추정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5F463-49AF-4379-B6AB-D8BB158E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325616-54AC-42E3-9B96-F43C2091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확장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0A893-A87F-4993-8B3F-CF28447A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표현·연산 규모 확장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604FA7-19BE-47A1-BD2A-D1FF9EE4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007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357497-231E-4D36-889C-FCF21FB0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생성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136DB8-5811-4F2E-B5DB-CA2E55D8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범용 자연어 생성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A8BAF7-E246-4640-9C5C-3B1BDBD4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870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478BC4-CBD0-4303-963C-97249979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운영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9B9A83-5B26-4E8A-8482-7A6AF03F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품질·비용·안전 통제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0CA38-BC95-4E55-9A7A-FD966F85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능력은 이전 운영 문제를 지우지 않고 새로운 관리 대상을 추가</a:t>
            </a:r>
          </a:p>
        </p:txBody>
      </p:sp>
    </p:spTree>
    <p:extLst>
      <p:ext uri="{BB962C8B-B14F-4D97-AF65-F5344CB8AC3E}">
        <p14:creationId xmlns:p14="http://schemas.microsoft.com/office/powerpoint/2010/main" val="94155112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75792A-1855-4CCB-BE0F-FC2F5076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E809CA-4C0C-4008-9E6F-0EDC910C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2C26C6-B803-4832-96A0-D160D179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CEB71-578E-4472-B9E8-F004376F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C87078-FB8D-4AC3-BCB7-E83512F8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1EF948-6F44-46B5-95A4-E228C68F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규칙 기반 시스템의 경계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99B97-5411-4BF3-A0EA-81F11AEA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EXPLICIT RULES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688D01-25C8-4EAF-8488-C7AD06D0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IF / THEN의 명시성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6FD58D-39A4-41D3-9D22-EAB4E043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3AD67-721E-44E1-ADF6-A0472590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동작을 직접 설명하고 통제하기 쉬움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작은 범위와 안정된 규칙에 강점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B01A4-B310-4D90-8CF1-6EA98256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EXCEPTION GROWTH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9E9DAF-B5C5-4E3A-8C8E-5B8BFFF0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예외의 조합 폭증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5976D1-57FE-42AB-9E08-D5F0F160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ABB0F4-92CA-4A66-ADE1-84A95C67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규칙 수와 상호작용이 빠르게 증가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모호한 언어·영상·패턴에 취약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67E146-01C0-43BC-8D4F-F2EA4D15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372698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0CDD03-5480-4033-A4E5-9878ED03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1A670-4D51-4881-9213-5836297D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ACBD11-B471-4885-A3DB-262BE39E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7F48F4-3532-48A7-9215-998E5FCB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AB0E39-76AF-4B0E-BBD2-4C2D639B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9AABF9-B5DD-4E3D-BB13-AC5806AA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기반 학습의 전환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A84385-81E2-4CE1-8BCF-185D1E62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DF069-0F46-4A9A-8464-72041659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사람이 규칙을 작성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623C3-B0C8-4355-B7C6-6725BC11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96BB6D-9126-40B4-BBFA-4017F935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도메인 규칙 → 코드 → 결과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오류 수정은 규칙의 직접 변경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7A5A26-CF2F-4DE5-A748-9F6D3C51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AFTER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D5B605-92B6-4247-97DA-0DA9E94D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데이터에서 패턴 추정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FA1DD2-B02E-4E6D-AC6C-DA4E5515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D28081-29B2-44B0-AD7E-13FCDFF1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 + 목표 → 학습 →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오류 수정은 데이터·목표·모델의 변경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67459E-D645-42E3-BD48-6333B7CD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7570446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AABE48-C369-46ED-808F-5D8E6BBA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4DF43A-A505-472B-82FF-486B4AE6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BAE5A5-2645-4B5C-BFA9-E3026682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99476-6A3A-482C-A61F-F6087ECB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CEC7F-1815-423A-B338-F132B7B9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0B50F0-36C9-47ED-A7B3-576DA2BC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딥러닝의 세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68E40-5D49-4F00-8B55-CE9D255B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8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32CF7-7280-4C24-B8D5-74A47A26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347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90134A-63D9-4D2B-BB26-C023882A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86150"/>
            <a:ext cx="347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FDD495-993F-435B-A894-CA5CD84A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290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다양한 학습 신호와 충분한 규모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6364DF-90FC-4304-983B-02F9E109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8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3A01B1-A423-44E4-93BD-D898741F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2609850"/>
            <a:ext cx="347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그래픽 처리 장치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975D6E-7BBF-42EF-9F09-754CD011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56100" y="3486150"/>
            <a:ext cx="347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97B35D-E90A-4A35-91F0-B7A002F4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8290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Graphics Processing Unit (GPU) 기반 병렬 연산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E13624-05C8-46F0-84F5-7E46AEE2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8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CD2A85-2577-4677-A84E-2388B6A6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609850"/>
            <a:ext cx="347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학습 구조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0E8392-BD6E-4DB3-9A82-EAF5D93C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02600" y="3486150"/>
            <a:ext cx="347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39A408-6C58-4D7A-8567-D491A13D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38290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역전파·아키텍처·최적화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83F06A-AD44-4D14-99B6-126D48D5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데이터 · 병렬 연산 · 학습 구조의 결합</a:t>
            </a:r>
          </a:p>
        </p:txBody>
      </p:sp>
    </p:spTree>
    <p:extLst>
      <p:ext uri="{BB962C8B-B14F-4D97-AF65-F5344CB8AC3E}">
        <p14:creationId xmlns:p14="http://schemas.microsoft.com/office/powerpoint/2010/main" val="163499654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911550-BD57-4703-93CC-084B68E3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790DBF-32EF-4D73-A107-02467128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A80CE1-1282-4107-82D3-3B66BEC2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56F21D-A1D9-4BA2-BC16-1B5CC892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6F3D4-E864-46BF-AF32-ECB13A70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80E08-D02F-441E-BD5E-C5CA9523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표현 학습의 변화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0656B8-9551-45ED-884F-0157DBA9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HAND-CRAFTED 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D7DEE7-CB97-410D-ADAF-55784803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사람의 특징 설계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79D11F-10D2-46B3-98E6-60D86FAE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F53C65-5393-46C3-BEAB-C8BDCFF8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원시 데이터 → 특징 추출 →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도메인 전문지식이 병목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2D7D16-4D2F-428D-AB70-D4305188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REPRESENTATION LEARNING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01A6E5-DF7E-4C4B-9A21-49439563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학습된 표현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F2924-2543-469A-9C66-AA633E796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C6BDDA-3DEF-4EB1-B54A-9FAD9D51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원시 데이터 → 계층 표현 → 출력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데이터와 목표의 품질이 병목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A91DEC-BE41-4281-B3EA-98977375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73874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19F2CE-92B9-493D-923A-57622B71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26BC9-D347-4096-8B6B-B408E5D6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C3A2E-C67A-47D3-9B4A-FA615B38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255548-4085-49EE-A211-AC85F2D9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18E4C-8156-452D-8681-2BD07024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24A2D-5E43-4317-9CD8-B262E4D7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시퀀스 모델의 순차 병목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F2DB3-0561-4386-8C67-8B3FCBEC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12BC93-C978-47E0-BDD8-1AEEC8D5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BEF03-3B9F-4FE1-90B3-22C47CAA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A2372-DE8B-4E53-80A9-AD5FE13B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961598-09FD-4E49-8053-4A482521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71A8D7-6870-45DF-BEE6-BDFEDA93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56D931-5ED2-4EBF-969B-E0A3E09D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3F539-9364-49A5-94E4-4F99EACE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2F0C2-DE07-4060-BA68-E786A14A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22B04-9E45-4C4A-AB59-98BEDEFD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6C53A8-CD00-4620-A3F4-1FAE4193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7158AF-D00C-412C-9AAC-02B9E513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52B377-26E0-4C45-BE4C-9F5C5138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8EDDFB-9C40-41CD-9E34-673B405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BC4410-B2A5-4DE6-AA63-ECE41BE9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긴 경로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9CECF4-CE5A-49AB-A70F-C1FABBB6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08D8A3-3656-4B0E-B768-FBE6D8F7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4F961B-C338-4ADD-A7FA-7B0D1890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3F9C84-A90F-42F9-8B3D-AFAE58D9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먼 관계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2AAF41-F30D-4B6C-91C8-4F7F2493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이전 위치의 계산을 기다리는 순차성 · 멀리 떨어진 정보의 긴 전달 경로</a:t>
            </a:r>
          </a:p>
        </p:txBody>
      </p:sp>
    </p:spTree>
    <p:extLst>
      <p:ext uri="{BB962C8B-B14F-4D97-AF65-F5344CB8AC3E}">
        <p14:creationId xmlns:p14="http://schemas.microsoft.com/office/powerpoint/2010/main" val="124770517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DAF6BF-C1E3-4332-9F2A-49E59454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C5DD8-E181-44F4-A3ED-380EAC79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7D4EB3-2A18-4017-9416-8BD8D477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2C443-7807-49FA-A2CE-5604CCC6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C25D2-CF71-465E-8AE3-40E09329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8A6029-EBDE-477A-AABB-FB3AD2AE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자기 주의의 핵심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D88789-C29F-472C-BB36-AB96923A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 토큰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B8F874-0FC7-4A39-996F-26F6F70D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62150"/>
            <a:ext cx="2057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7C5D9A-7860-4B1B-98A0-A6DAEF31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57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872A5-B1BD-4F56-8834-3593911A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38450" y="1962150"/>
            <a:ext cx="2057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A79452-D629-4C94-B4BD-0472C2B1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962150"/>
            <a:ext cx="2057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8F9F4-7E96-4286-9BA2-4112AB4F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1962150"/>
            <a:ext cx="2057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96EDF-623E-46C3-BB20-C78B8349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962150"/>
            <a:ext cx="2057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48CE29-580E-4430-AD27-FA3E92CB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6150" y="1962150"/>
            <a:ext cx="2057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CD6247-938C-4683-B3F0-DC57DC72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62150"/>
            <a:ext cx="2057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절차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A92AF7-C902-4DAB-84E4-A5C5349A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1962150"/>
            <a:ext cx="2057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4E003F-885C-4CA7-8D4D-DC97AF93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62150"/>
            <a:ext cx="2057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B7D06D-26FC-4768-BA86-E3B95F0E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현재 해석 위치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4942B4-F680-4474-BE42-06E99664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600450"/>
            <a:ext cx="2343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F9A17F-4B7A-4C85-BFC8-147191FD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1924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08D3E6-92A5-491C-9F47-948B2796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429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F34EA-E618-4520-A761-0F4BBC95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3829050"/>
            <a:ext cx="23241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BE2FB8-B2EE-4AA9-BDF1-9CEB754E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814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질의(Query)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817BCE-F589-4563-B9F2-287E83FA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81500"/>
            <a:ext cx="2019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현재 위치가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찾는 관계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8FE5D1-83EE-4055-A2B6-88A573F4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29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E69290-EB31-4795-B4F1-FFB296AA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3829050"/>
            <a:ext cx="23241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BC8881-C948-4AEC-ADD1-9AFCEABF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814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키(Key)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84CFA3-0902-4626-BFBC-91085C12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81500"/>
            <a:ext cx="2019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각 토큰의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비교 단서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3C92E8-A894-4EFE-88F4-EA87157B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29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822BE5-3718-46B9-AC19-069563E9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3829050"/>
            <a:ext cx="23241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4A845F-2A41-4CE9-BC08-24AC271D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814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값(Value)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6BE462-06F6-4519-B978-B7FA003B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81500"/>
            <a:ext cx="2019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선택된 정보의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전달 내용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B63238-5A6F-497E-A082-3C4C4E13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위치를 이해하기 위해 다른 위치를 얼마나 참고할지 계산</a:t>
            </a:r>
          </a:p>
        </p:txBody>
      </p:sp>
    </p:spTree>
    <p:extLst>
      <p:ext uri="{BB962C8B-B14F-4D97-AF65-F5344CB8AC3E}">
        <p14:creationId xmlns:p14="http://schemas.microsoft.com/office/powerpoint/2010/main" val="48177603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F7BD6F7-C081-4662-A065-5CF21072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B0CBCF-45D4-4209-B6CC-826E117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7EEF5-C081-4DA7-953E-839F96E3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5B1FF4-068F-4B54-BE15-05FA3181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163FD3-95B2-4FA2-8B31-AEDDED58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453E6-4D6C-47CA-AE2E-81CD93B3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토큰 관계의 가중치 지도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19B74-7113-4A9D-9C5D-0C5B1569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고객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5C829F-CE7F-46AD-9BD1-F717EF80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621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고객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6AD410-D476-4D76-91AB-39AA54F8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교환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66719C-D98D-4AE1-B393-58E3D6A8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479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교환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2117AF-C56C-4EB1-9BB9-26B17C8F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절차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20FA07-218C-47EE-AFBA-C6F0B027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33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절차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54D270-C823-4F2F-A957-8CCD81C6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9C022F-5BF7-41A3-B077-D34DCDA1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195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286B52-53F2-4155-800D-3A7797E6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개선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EB41DD-8E6C-43CF-8485-198F56A9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053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개선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2A9E15-F881-4546-AF75-14AF316D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32DF9-2E39-4F33-8EEC-E99EC21D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99F83-8FFC-4F48-A73F-A4695224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5D322A-A1FE-4318-AD14-E670EA5E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AFE6B2-4B1F-4078-A7ED-F6AD115D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D54DB4-AF1A-43E4-ABD0-A8C870F6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3CE268-5EB6-43FE-8BD4-853FFA37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9C728E-E17E-45BD-B146-F2683F05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89AF9D-E59A-4486-99EB-D8680BA7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2D4F2E-DDD6-488C-BA13-418D9021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7058F8-5226-4887-89C2-21BFF1AF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EF534D-20B2-421A-B148-28B4F59A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519D8A-DAEB-462B-BC88-34F0B006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2F9EE9-8CFD-4926-926D-815E9FDB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16ED1D-D75F-48FA-82B2-47FBF2CE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B68D85-DB98-4327-8A26-8B9B7129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3219C6-73AF-4588-B354-D955A734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800269-D8BA-4D1A-8394-EDC18B8A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C0A940-3BE6-4C2A-8CE1-72BCF03C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2D9635F-710A-46CB-AF23-6A5A0A26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FECB95-798C-41FC-918A-5EC5707E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2262F6-E178-437E-B5C5-0CFCDB5D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05935D-E7DD-48B3-B7F4-D6B7D726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4512CC-92FF-4EF9-970C-0ABC2D6D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0.7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5E370E-E7FF-4E7D-AF7C-8F314336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59E638-CC17-4955-ACBF-EBD734D1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621204-D262-4F7D-B377-2D47F7DF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2B10AF-9083-4DBD-9B4A-89CB21AB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0.8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BD2EC9-2A01-4C76-B4B8-164DB88F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2036DBF-B6CC-404B-AADB-4C67EB61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1C5485-51DE-4752-A1DE-EDD1DF1D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52E4A4A-FA16-4DB9-8924-1EF30491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E4CD05C-AA81-49BE-A248-80C18DD4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A9DAB8E-CB4E-47F4-93E1-7A29FD53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0EA3F1-EE2A-49AD-A2E4-3F6F6297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A4FCA17-61CB-4A15-BFBE-2294C7F66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CEF320-9ECA-44AF-AC81-CEA49944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FB6A9E-B7D9-4BFE-BDC0-990C2E23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EC391E5-6A70-426D-AF27-129C9076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4D3D44-3BA6-4E4A-919B-C1D0B2DF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7CA80FF-0F8B-4BA5-AD85-63CE9A6D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8F92F31-FE4B-4E10-B692-A54D68B5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DC78E69-16D3-490F-A9EE-218693E2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015A5CC-3215-4ECA-9857-61EF31EF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79E070B-3046-4982-91EA-9FB1EBED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52E6252-31D8-4E04-A4A1-3BDBB9A0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AF37B15-1BDF-4FFC-A1A8-B3340865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1087A3E-3114-4717-9752-A7D49428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CE16047-28FE-4344-9D1E-09D1F6E5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0640D93-C884-468A-94DC-B6F68B43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2E2BAC1-713F-4592-BDFF-DBA9935B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00250"/>
            <a:ext cx="33909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색의 강도 =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해석에 기여한 관계 가중치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D710A93-BF85-4518-B182-5A50EFC4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95800"/>
            <a:ext cx="3390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가중치는 설명용 예시이며 실제 모델의 자기 주의(attention) 값이 아님</a:t>
            </a:r>
          </a:p>
        </p:txBody>
      </p:sp>
    </p:spTree>
    <p:extLst>
      <p:ext uri="{BB962C8B-B14F-4D97-AF65-F5344CB8AC3E}">
        <p14:creationId xmlns:p14="http://schemas.microsoft.com/office/powerpoint/2010/main" val="3147358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B9D18F-451D-42DA-9216-6C48D511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143EE8-1780-466E-BA3F-2B53FBAF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A2DDCB-FCA0-4FD6-834C-2D8C90FE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3E5BF-FAFB-45FC-A818-CDE00F29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F5280-C254-452D-A895-DFA99E40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5761C-8969-476A-BB98-FAE75272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트랜스포머의 관계 계산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DF5F5E-3289-43CA-881E-424A67AE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938C75-0085-46A9-8760-BA2E4F83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토큰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EF4DC-A7B4-42C7-BC33-82E6EB3E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 위치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495060-F704-4188-BB48-2ED0231A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4EC64-50EE-4CEB-A149-E8C99259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C4A436-5215-49D9-BBDA-05FD03C1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Q · K · 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B115F-159B-467A-A6F1-6216EF54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관계 표현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DECDA8-174E-45E3-9362-5195673B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CBE74-8E78-4191-8743-70E6EDF3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C4E149-0219-42B9-896F-1E6DFDBE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자기 주의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0164BB-4C1F-4C32-B87C-6D26F89A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관계 가중 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1BE7D1-58CE-485B-97B5-00B2F223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3E284E-23BB-497A-967A-8BA56A43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00EE42-2CC6-4D31-843F-10D99283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FFN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D6B2A0-B2DA-4D24-B789-8BB71674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위치별 변환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5E441F-3559-494C-810B-A5B26B1D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3AAA1D-5C8F-4D44-A8B1-CC8670D9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59F5DF-285D-41A0-AE1E-80D1F4E7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97E45F-E1F8-4036-A00F-AE7D6A45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문맥 표현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D3E32B-ACBF-484A-80C2-9230F05F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Q=Query · K=Key · V=Value · FFN=Feed-Forward Network</a:t>
            </a:r>
          </a:p>
        </p:txBody>
      </p:sp>
    </p:spTree>
    <p:extLst>
      <p:ext uri="{BB962C8B-B14F-4D97-AF65-F5344CB8AC3E}">
        <p14:creationId xmlns:p14="http://schemas.microsoft.com/office/powerpoint/2010/main" val="148445274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6064B3-4FE3-4B4D-BAC7-F8774F02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1BCAA9-E093-4945-8B9B-9702DF78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F8D37A-BFAC-45E2-B555-8C55EE8B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9D2C0-5986-4ED3-B540-C4A51E14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6EE6F-7E19-4ADD-A5DA-0E560680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2E90C-8291-4B97-A764-235366A7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사전학습의 다음 토큰 목표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9336FE-AF15-44F4-8C4A-7C4082B2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24934B-9265-40CD-85E8-7F3F2F99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대규모 텍스트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973455-6108-464E-B3F4-14E5E4A8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학습 말뭉치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AC0B1-7330-40EB-96B3-B1717F7B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EE0FB-8274-49AA-80B2-64387D5F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FAA6DA-322B-4694-A482-E644891E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문맥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AA787A-9D6F-4BB8-B9F1-40223C56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토큰 시퀀스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9DF58F-D805-43BF-93F6-649366A4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31E6A4-CAA3-4CA1-B550-678D0313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3CA306-BC55-4675-9BCB-238C4850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확률 분포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7F4B9B-E074-471D-9F4F-508576F5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토큰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8C8B2-1444-4FC5-B80B-F9F89AAF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EC1320-CB32-49F2-860B-5942A6B6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C86071-40AC-49B1-B83E-3EC2FB5A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B23632-58D8-457C-9C3F-01ED3F41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손실 함수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EBE7F9-0780-4AC4-A2FA-6C23E255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49F15C-6F76-43D5-8990-BE6C4EF5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35C953-0426-40DB-A925-A4686A35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반복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3D7409-905A-4B52-84A3-ACED9324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가중치 갱신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E504FA-E687-4C69-B686-D16807D0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생성형 디코더 전용 대규모 언어 모델의 대표적인 사전학습 목표</a:t>
            </a:r>
          </a:p>
        </p:txBody>
      </p:sp>
    </p:spTree>
    <p:extLst>
      <p:ext uri="{BB962C8B-B14F-4D97-AF65-F5344CB8AC3E}">
        <p14:creationId xmlns:p14="http://schemas.microsoft.com/office/powerpoint/2010/main" val="213864020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62407B-A46F-4CAB-8F75-5A827C53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4D792-9DF6-400C-B36E-18191898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67FE2A-AEE8-42CD-B9D2-B71048F8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F46F71-0BFD-4782-93CE-72732AD4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94F60C-503F-48B6-A6CE-51C62113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9F7B9-7485-4482-AD94-F9EBBCC6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범용 언어 능력의 목록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38323-E21F-46A7-A121-85C45F77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796071-C007-4604-8E0A-8FC8271E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223CB-8AE7-446F-BE19-5635A63B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6A2403-1E42-4D77-8D66-DF7BEDF1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초안·아이디어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D8A95-9724-4151-9C90-C0332C04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EF7A8-EFCC-40EA-A491-DC593E11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4EA80A-CC89-4ADD-9D28-C96CFC4C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4988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A9FBC-FF69-4BBC-B501-DA6D7488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압축·핵심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75F96B-19C3-4E0C-9468-4D44E496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26F2E2-93F9-4F74-A676-25CFE9AD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AD2832-73E8-47A8-B855-06CD99A7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9016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6B96A1-D11E-45FC-BC1A-67D49095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문체·형식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06ED6B-950C-4AFD-BD31-2E242E26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DCCB26-53AC-4BC5-9B59-BDA2B829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7B6E5E-9D74-4A6E-83C3-92F1C044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044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246ABC-1732-491E-9AED-CE98B8D3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레이블·경로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9CFF08-13B8-405A-8C64-D9AA5848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1F2CFF-4094-464B-B14E-F510A54D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0A6782-0F78-4C7D-995C-7DADBDFE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7072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D5BC2F-D959-49D8-9228-37F88419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생성·해석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728CB2-7F8E-48C9-97E4-BA8D5125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하나의 모델이 여러 자연어 작업을 수행하는 범용성</a:t>
            </a:r>
          </a:p>
        </p:txBody>
      </p:sp>
    </p:spTree>
    <p:extLst>
      <p:ext uri="{BB962C8B-B14F-4D97-AF65-F5344CB8AC3E}">
        <p14:creationId xmlns:p14="http://schemas.microsoft.com/office/powerpoint/2010/main" val="11623737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527352-97D2-471A-9A07-C2FE0DD4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6D74E-901C-4399-A0F5-499818B0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6429D8-78AB-410B-ABA1-949B8E20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FFAAD-38D2-4AAB-971B-C27BA054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FCFBB-A14C-4E81-9D29-4C419AE8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2EBF93-64E7-49F2-B914-C9B8218D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보장의 공백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5A719-1FED-4CC9-AC96-2E3C93F4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모델 능력 · MODEL CAPABILITY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DCFAAE-DEAA-4DA7-AD8E-9A76F51E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생성 가능한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3F583-A021-487B-A72D-4FF6FD3B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A1800-0D9D-4BC6-B75F-01B2C2C1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요약 · 번역 · 질의응답 · 코드 · 멀티모달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확률적 일반화 능력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753629-3F66-4E0B-9A12-E83ACA27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서비스 신뢰성 · SERVICE RELIABILITY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5ED51-CAEC-4153-9CEF-1397AFC2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별도 계약이 필요한 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5E4DF1-4EAC-4BE4-BBD9-3DFAA12D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A183F2-051F-4FFE-B32C-B8C92C53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사실성 · 최신성 · 권한 · 지연 · 비용 · 안전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운영 환경의 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6E5246-D07F-4150-AAC3-09C19784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1226691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8B08A0-8218-4E1F-AA8F-ED51E427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272E8B-89ED-4718-97C2-199CB0F9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C8C10-32D9-4785-B364-45E8D5E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13BC6F-9EF6-40D3-B3F8-59D63BD5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9E8FA-CA41-40EA-A152-4F061968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A98A53-3613-4D0C-9EDF-6718CF10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생성형 시스템의 변동성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D228BA-4107-4DBA-968F-92A70A75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애플리케이션 코드도 실행 조건의 버전 조합에 따라 다른 결과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4D903-C7E9-4E34-B7C0-5021732B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5AABF-248A-4BA5-A141-F9993F1A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9718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6C6B75-E697-471A-90F3-071722B71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provider · tag · revision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A43E4-6886-48E7-BFA3-1CB5328B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제공자·모델 태그·개정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F868F0-1FA0-49DE-A838-CDBF11FB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098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4F2C03-B440-4C1D-ACFE-54C752DD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09950" y="29718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2F710E-EA7F-460A-85D9-F86273FD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retrieval · tool result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F0999B-CAF2-4478-BC52-A90F217C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052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검색 결과·도구 반환값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DC3587-4364-49F4-9B23-1606CC3B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 설정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37DAAB-C645-4BBD-9CB0-1DF96B5C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10300" y="29718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5889B1-339B-4FAA-97F5-3B47655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575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temperature · seed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8DA918-4A6D-4B09-BF9C-49F32343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온도·난수 시드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1A1E93-3120-4785-A0FD-BE2C90EF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098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2D19C7-28E8-4B40-9063-58BFEAB7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29718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7E86FF-758E-4C02-BC5F-30E57ED7D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575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template · example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9ED517-558E-4354-B5F0-99D70B4C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052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템플릿·예시·정책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19A0F4-5DC8-4083-ACF2-9999BFA9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모델만 기록하지 않고 네 버전을 하나의 실행 추적으로 결합</a:t>
            </a:r>
          </a:p>
        </p:txBody>
      </p:sp>
    </p:spTree>
    <p:extLst>
      <p:ext uri="{BB962C8B-B14F-4D97-AF65-F5344CB8AC3E}">
        <p14:creationId xmlns:p14="http://schemas.microsoft.com/office/powerpoint/2010/main" val="157506965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582B40-98FC-4BD7-A87D-8867A7FB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B8BF4-4A96-4544-A8C8-68A8D079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62179C-1877-4744-8D9B-E54B1327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09380A-3020-4040-8516-0ED35065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4B6C07-7496-4EE1-BD30-976CF627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FFBA87-9B4A-4E42-8591-2293A075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제품 정의의 잔여 과제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3F140A-647D-4BA5-A38A-002E3B5E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33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모델 능력  ≠  서비스 신뢰성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4058F-06C1-49E1-945A-CA72446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733550" y="3371850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C2BBD-EA76-40A7-B774-5B812D61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사용자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8BEAC8-660A-4C28-B894-14925FEF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누구의 결정을 지원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01C01D-DFE5-4C53-B014-F1BC4C79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3BF96D-0864-4174-8A3F-18049B7C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어떤 상황과 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7E3B0E-3B2A-4EDC-9514-947A6E71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성공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D76C23-6863-4EF6-B753-79EC2AAB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무엇을 얼마나 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7DDA80-1D91-4E32-91F5-6324E52F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5B6396-21B6-44A9-B30E-51BFC8D0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금지 행동과 책임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2E1988-F908-43F2-B21C-F40EAE38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남은 과제의 소유자는 모델이 아니라 제품과 운영 팀</a:t>
            </a:r>
          </a:p>
        </p:txBody>
      </p:sp>
    </p:spTree>
    <p:extLst>
      <p:ext uri="{BB962C8B-B14F-4D97-AF65-F5344CB8AC3E}">
        <p14:creationId xmlns:p14="http://schemas.microsoft.com/office/powerpoint/2010/main" val="9853974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B9FC7B-1F74-499C-9EBD-721E7455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FD2A4-6B82-405A-9AD4-B3D4E626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INTERVENTION LEVERS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5EECF7-A529-4D47-8479-C3AF2319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ABE4E-B3BB-4260-B365-8124260A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행동의 개입 레버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A04D12-C5EB-4E90-8F35-4BB4B910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프롬프트 · 검색 · 도구 · 모델 선택 · 사후학습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8441B6-E804-4DCA-8BF2-286CAF36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33</a:t>
            </a:r>
          </a:p>
        </p:txBody>
      </p:sp>
    </p:spTree>
    <p:extLst>
      <p:ext uri="{BB962C8B-B14F-4D97-AF65-F5344CB8AC3E}">
        <p14:creationId xmlns:p14="http://schemas.microsoft.com/office/powerpoint/2010/main" val="153472794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0CDEB3-300A-414A-9ECE-B9D86576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526315-469C-410F-BF98-2D3398E7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98CE7A-CC7D-4D3B-A3C6-E2FB2B7A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6B2CF9-DE3E-4761-B597-406D0484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E51BD-03AE-4794-B756-647B229B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ED1141-2897-43D5-BA5F-715B8A38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개입 레버의 비용·가역성 지도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FD9801-8085-4FED-84D1-A6E0A93F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비용·시간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529D76-9843-43B9-9780-616E1486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52500" y="228600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FB467D-81A0-451E-8E97-C1761269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2500" y="5238750"/>
            <a:ext cx="1000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BAE38D-F78A-48B9-8D6C-C1BFFDD6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467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되돌리기 어려움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7544CE-C1E4-4ED6-BA6A-CCD1E89C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460438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8F163-79B7-4174-9705-7EA6B269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09003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증강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4DE6CB-56DF-42C1-90BC-C7D60043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38838" y="3729990"/>
            <a:ext cx="971550" cy="971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5257BE-A57E-4AE9-94CD-6FA2DC44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01025" y="2958465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미세조정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E8B7D-917A-4838-A3EA-75B7A09F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526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파랑 = 이번 가설을 가장 싸고 빠르게 검증할 첫 변경점</a:t>
            </a:r>
          </a:p>
        </p:txBody>
      </p:sp>
    </p:spTree>
    <p:extLst>
      <p:ext uri="{BB962C8B-B14F-4D97-AF65-F5344CB8AC3E}">
        <p14:creationId xmlns:p14="http://schemas.microsoft.com/office/powerpoint/2010/main" val="24941302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CD5E90-1B5C-402B-8A05-556666EA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005C8C-DA28-4B70-ACCE-A2CFD439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361CE7-963D-400E-A3B0-3608610F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E1ED17-092D-4B80-8F52-B609C8A3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BEC4A-258C-4AE8-BF35-B40C5F4F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C00EFB-9925-49D3-8087-0D98B4E0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프롬프트의 통제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9A2D1-7B9C-49EA-9028-6557B09D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1009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3177B-8255-4106-AC45-5B7D41A7B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572A7-8214-4818-A8C3-EF1DA0F1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90700"/>
            <a:ext cx="6877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응답 관점과 책임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B0CB00-0E05-4993-AF14-53A1FB85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26289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4232F-07C5-4E49-82D2-1491E00F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289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90FD3A-970B-45D3-B0A9-85733137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5734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해야 할 일과 금지 행동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FCBCB9-3217-4B1F-AAD7-663BC316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3467100"/>
            <a:ext cx="7810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4BCC31-3E76-44B8-8987-E6FF8E73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4671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49F4A2-FD23-42BD-906A-FAE4DD43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67100"/>
            <a:ext cx="459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입력·출력 패턴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B90C76-1B37-4E27-BE54-BD64F3DC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4305300"/>
            <a:ext cx="666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B038E1-B44E-466B-936B-1AEB4925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053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출력 스키마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4F1F5D-1AE6-4D8B-BAFD-957C5EA5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05300"/>
            <a:ext cx="3448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형식·필드·길이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D1E571-54A4-4B1D-BE74-5703488C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weight 바깥에서 빠르게 변경·버전·rollback 가능한 제어면</a:t>
            </a:r>
          </a:p>
        </p:txBody>
      </p:sp>
    </p:spTree>
    <p:extLst>
      <p:ext uri="{BB962C8B-B14F-4D97-AF65-F5344CB8AC3E}">
        <p14:creationId xmlns:p14="http://schemas.microsoft.com/office/powerpoint/2010/main" val="170181923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944DDB-7D5A-45C0-82FB-7F7FEE71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84B41-143A-4F62-802E-C8205EA4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A3655-4D29-4363-B44B-78190E67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493D53-9069-4ACC-8256-D84B4007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2B10B-8658-4BF2-8C56-0418D705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9799EA-1D09-4B11-8120-6E7D403A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증강 생성의 외부 근거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C3A6A9-94E4-46DD-B724-5E7AA080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FBF35-1532-4A9B-BC5F-8628B3B9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질의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D568F-2B68-436A-8757-F3416E0B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사용자 질문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8DE4DC-C1D0-4BAF-9213-DAD1FD87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5FD12D-AAD1-4F58-A4D6-A674DC7F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C60A27-CBDA-43C6-B9ED-613C4586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4B9439-D737-476E-BE93-AD0AE72E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색인·필터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3FAB05-D114-40F7-AB04-BA3EFC54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837FE5-EFC9-4DD3-9C88-81F33D14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D04BD3-86B0-4843-B148-5631634A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AC5E9C-B93C-4C62-ACB5-F2E33B65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상위 검색 문서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99E329-865D-4EB9-BC6F-25DF7A26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4AAC07-9F9A-41AD-AF34-0C3E1D42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0BFB71-D93A-454B-BC11-BC1C0B04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8CD122-AB6D-46DD-B449-1037BCB7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프롬프트 보강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B41F83-68FE-4637-AF57-B3096F05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D0B8BC-DF5B-4DB3-8BE8-FD6EA9DC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C14860-6551-467B-A98F-ABBA95C4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응답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26DDBB-A006-4B0A-9884-7BC8974F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 기반 생성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53EA2E-0D2C-4AEC-BB76-A2AA6527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증강 생성(Retrieval-Augmented Generation, RAG)의 근거·최신성·권한 계약</a:t>
            </a:r>
          </a:p>
        </p:txBody>
      </p:sp>
    </p:spTree>
    <p:extLst>
      <p:ext uri="{BB962C8B-B14F-4D97-AF65-F5344CB8AC3E}">
        <p14:creationId xmlns:p14="http://schemas.microsoft.com/office/powerpoint/2010/main" val="183427150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C53C33-0A9F-4E9A-8C25-01D8BDA1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BA9E8-A353-40E8-9A94-7979492A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B08A2-E395-418D-AB6B-14D97982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B91617-EABD-4A43-9265-03A52ACC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6E1176-5FA0-48EE-9193-AD62824C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539BA-5385-49A0-974F-0364390E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도구 호출의 행동 경계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E19C4-01D3-4652-B3D9-8DF53DFC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모델 · 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DC0173-4667-494D-A6A5-2029E283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행동의 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6A353-6289-429B-BFCB-DA4F1A92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1BB945-19F8-4E16-9764-7EFEDB1B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도구 이름과 인수를 생성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확률적 판단 · 외부 변경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75CD7-3198-456D-ABAD-5353346C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실행 환경 · RUNTIME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B8A422-FF65-46A9-BDBC-FA989221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권한이 있는 실행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2DDEC-6100-4DD1-BD9A-47E2541C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867EAB-2FFE-4588-8EFF-7BC0804C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스키마 검증 · 승인 · 실제 응용 프로그래밍 인터페이스 호출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시간 초과 · 감사 · 멱등성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0303C7-AC51-463C-9628-8A8156FA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4854162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F3F48F-2CB9-467D-B211-7B1F2771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E7E31-AEF9-46CD-95A8-216CD231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1A7817-A070-4798-B763-F2C37B98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60E0F-F703-49DE-9FE4-79E32945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1BE576-88C3-4ED2-A108-FF3E7A15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59A83-3FB5-4B47-AB56-E2C1BA35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라우팅의 선택 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CA418-A3BF-49F5-B6F4-F54793D6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47850"/>
            <a:ext cx="276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509295-879F-49C2-8927-1E75DC68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2495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유형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736EF-B80E-4E36-80B7-E47C7538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47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6CD464-99D7-48D6-8321-2F5C35B8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47850"/>
            <a:ext cx="2590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우선 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766019-7E4C-4A0B-A436-3E733D9E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847850"/>
            <a:ext cx="535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28A59F-AF79-4A06-9ECC-CE1D5AAB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47850"/>
            <a:ext cx="508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선택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F201F5-1134-45E6-829E-06FCA216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622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325C65-E4BF-471B-A1C8-0FD2B484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짧은 분류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9C1D3B-A21C-4E39-A493-CBAB9FBA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23622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3D1AD7-2AED-4BB8-9C79-D92CE08A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622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지연 · 비용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52C3D0-F0B4-408A-9335-5B9AFFFE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23622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27AFDD-FD95-4BB8-89E6-B01EA87A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622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작은 모델 · 짧은 제한시간 · 일괄 처리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309381-2A99-497A-9CA1-C9076619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2004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4DDFA-F716-40EE-B637-E842B9C0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04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근거형 답변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25E40C-478C-424F-8ACC-2B1CC8CD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32004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134DDE-3733-4B55-84D6-7321EDB4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004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품질 · 안전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DB7A68-900F-4F88-94DC-48D550A6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32004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240D63-5A91-48A4-A7AD-161719C3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04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증강 생성 · 인용 · 보호 정책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4785AB-A0DE-49DB-B067-D17A9712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0386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85EAB3-2D44-4263-A678-1A40D286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복잡한 추론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B95142-E1D5-424D-9973-96F660E6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40386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9D4462-636C-4BB2-950D-306DB457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386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품질 · 토큰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3FDE81-9C97-4A1D-9623-60F5459E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40386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AC7AAF-D150-4C8B-B166-56C96689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386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긴 맥락 · 상위 모델 · 예산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D101AF-7F24-4EB4-8D75-5B863F37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768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312ECB-459A-484F-86E6-03E60B35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민감 데이터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569D6D-EE0E-43DE-9948-FDB96A0E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48768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71CCF3-7C2D-48E3-902B-2DC00367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8768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권한 · 위치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76DA1A-479F-4C9D-8477-1BD893C7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48768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298EDE-29C8-487E-AECE-5F41166C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768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로컬·사설망 · 로그 정책 · 마스킹</a:t>
            </a:r>
          </a:p>
        </p:txBody>
      </p:sp>
    </p:spTree>
    <p:extLst>
      <p:ext uri="{BB962C8B-B14F-4D97-AF65-F5344CB8AC3E}">
        <p14:creationId xmlns:p14="http://schemas.microsoft.com/office/powerpoint/2010/main" val="75694186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104332-860D-4FA5-9FD0-FC7F6AE6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B68BD-B592-45C7-B477-5A14D2B0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B2FB2-F8B4-440E-BE08-E63DD00A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CC0D2-62C6-4440-896F-415F6770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02B0C-BD53-447A-B0ED-367CBC2A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9BFB0-1EF7-4BB0-9B94-D9D78A6E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지도 미세조정의 행동 학습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A212BC-AB2E-4C80-B75E-0393D2AD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FC0A3-DC0F-481B-83DC-23158CC2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과업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A1C41E-060B-497B-B6A2-5580A87A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반복 행동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A3EBCC-83DC-433C-BE6A-3E0F4FBF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8C89CC-BDAD-4548-8B7A-F08A636C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34AF2-4FE5-41B2-B109-EEBEBE03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예시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8D4037-C1A3-4FD6-9A63-4D85B58F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좋은 입출력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C0D5DC-6A01-4406-A807-725CB32B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BF71DD-1965-48AD-9BBD-C3AC6E4B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BF88AE-E87E-457A-84C1-22322B7D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손실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45BABD-15BB-4FA2-9412-6204326A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정답 토큰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4837B-BC04-4CD1-9F7E-C64EA473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424F91-A3F7-4D69-B78A-7ACE6101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81D922-1FD1-4EFA-A4BA-D2A42C9C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갱신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FDD1C9-9FDA-49E8-A376-A34A1C70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모델 행동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49A433-B2B0-49CD-BB2E-F43A363D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AB7546-00E9-4E59-9A41-BB57F215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881000-EEC3-4A56-8D87-AE11BFE7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03EDFE-0453-497A-B735-D7986D56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분리 검증셋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59ED25-4BCC-4782-B6FA-598149C2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지도 미세조정(Supervised Fine-Tuning, SFT) · 반복 행동을 좋은 예시로 적응</a:t>
            </a:r>
          </a:p>
        </p:txBody>
      </p:sp>
    </p:spTree>
    <p:extLst>
      <p:ext uri="{BB962C8B-B14F-4D97-AF65-F5344CB8AC3E}">
        <p14:creationId xmlns:p14="http://schemas.microsoft.com/office/powerpoint/2010/main" val="82744257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C62E55-16BC-4B8B-9F03-3C521107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D388F-0A06-486D-A6E2-2D8A0D46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9E033-6DBE-4364-AB98-56E3B961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68889-C7C4-4562-8501-CA111C54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031ECA-630E-4D22-BF24-FAD1377F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AFF10-F4C0-490F-BC9E-C0CE82A0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지도 미세조정 데이터의 최소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2E835-D87D-4239-A3CE-B063B658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ED4FB7-E814-4730-9628-5CF14EFE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지시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BA32E5-FA46-430E-A2FE-AEC481F0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067050"/>
            <a:ext cx="30099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5B7A5C-2417-4E74-89D3-6335BBD3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2590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고객 피드백에서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신호·마찰·다음 행동 추출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3B00FD-4508-4628-90B0-9736B82C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338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C8138B-32F5-4BB5-AE40-19DC1B43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809750"/>
            <a:ext cx="403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9B12CC-2B87-441D-AE48-A1A042F1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812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입력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FAE8CE-9C07-4683-80AA-26BE82A5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76700" y="3067050"/>
            <a:ext cx="40386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F645CE-DD1E-4B9B-B7F2-6812ED0E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3619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분포를 닮은 합성·검수 입력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민감 원문 제외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18C2AC-1A00-4436-8377-B8EB0503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338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B9C913-B45D-4DF1-A750-9F4921DC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B556C9-B48F-4B77-831A-573737FB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기대 출력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FF91D8-7E2A-42DF-BE39-3151C2A4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3067050"/>
            <a:ext cx="30099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C3E5BA-AF56-4A58-8E81-94974A9C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95650"/>
            <a:ext cx="2590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고정 스키마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 있는 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CA1A4E-A48C-4CAE-8D37-66354A18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잘못된 예시는 잘못된 행동을 더 일관되게 재현</a:t>
            </a:r>
          </a:p>
        </p:txBody>
      </p:sp>
    </p:spTree>
    <p:extLst>
      <p:ext uri="{BB962C8B-B14F-4D97-AF65-F5344CB8AC3E}">
        <p14:creationId xmlns:p14="http://schemas.microsoft.com/office/powerpoint/2010/main" val="71732977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BEEF50-835A-45CB-AD10-9BA3D4F5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82243-7496-4F68-9C4D-774E6DFD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4C956F-47BB-447F-B823-44199F79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71FC0-5C33-435B-9419-E51C0605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C474F5-A146-4495-907E-86BDF93B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60B52C-D404-4265-AD75-5B9B6F2B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선호 데이터의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9F4D0-4CE3-4A79-BE60-5D9B5F99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선호 응답 · CHOSEN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9426BF-BC83-447A-81FE-0F7089FA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짧고 근거 있는 응답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42D29-C007-47A0-8590-74A354C8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E925BB-EF77-4C3A-8ABF-38BBBEB4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요청한 스키마 준수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입력에 없는 사실 없음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실행 가능한 다음 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85F74D-7176-4817-92EB-4979DE6D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비선호 응답 · REJECTED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496EBD-945C-43AF-94D5-2920E899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그럴듯하지만 불리한 응답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8EC476-CD56-4AFB-A8CE-1386A7B0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D8E20-2A94-4C7E-BC31-8D74B4A3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형식 누락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새 사실 추가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과도한 장황함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B26C9-3E42-4F9C-BF3D-0814503F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504427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34904C-933F-4DCB-B820-DDEF60DA9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A22A6-A35C-4D03-A7A1-D481EE98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CC82DC-7969-4F1B-9A3A-F7D46890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018D44-398C-460A-9180-E5DFF70D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4E6E8-D73C-4A1F-BA63-9E3F2F86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820D73-8E36-473C-8F0F-10317E4B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인간 피드백 기반 강화학습의 대표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2E6ABF-CE88-468A-B669-F51C782A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E7CDE3-6C17-4C30-B6CC-FA91087F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지도 미세조정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7B428F-7190-4030-B234-8FB5B0FB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초기 정책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7B4F8A-3BB9-488E-AB18-F0ADB23A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FF458F-BA41-4B1C-AE8E-71D194AD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BA6AE0-8C94-48B6-88DF-18CEAB47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선호 비교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CCF323-74D7-4716-A084-13A5F267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사람의 비교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BF9C28-F58C-402C-8D3C-6F2D7379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6E5743-5619-4D7B-A65A-E9E77119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23E5F0-9293-4945-B8B9-83AF1A08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보상 모델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EA7CB3-3180-45FF-B191-381A0C9D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선호 점수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4E180E-A9EB-43A7-95AA-3338D41B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C14CD7-EECD-45CD-990A-2B44ED21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F76C8C-3309-48EA-802D-BDC87CF9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57790F-E2B4-450D-AE7D-9D416774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정책 갱신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2B22D2-03E2-4217-BAED-E6F03474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4F016C-6B1D-4EE8-8AB9-0345F773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3AB95E-5326-4E19-AB8C-9A86941B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CEFF55-F47A-4941-9F57-8088EC74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행동·안전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028E4D-3FB5-4316-8784-C373BE72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Reinforcement Learning from Human Feedback (RLHF) · Proximal Policy Optimization (PPO)</a:t>
            </a:r>
          </a:p>
        </p:txBody>
      </p:sp>
    </p:spTree>
    <p:extLst>
      <p:ext uri="{BB962C8B-B14F-4D97-AF65-F5344CB8AC3E}">
        <p14:creationId xmlns:p14="http://schemas.microsoft.com/office/powerpoint/2010/main" val="141620682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AAB74F-D84D-4C72-8A6E-AF1C0A13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E0C31F-E0D2-4D70-8C8F-DBA6B1BA0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D89949-03E2-49D8-96C1-265B53BB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EE079-E6CF-4667-901A-3D0C1AB5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1E99A-8A7C-4149-B392-3120AD57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54E2D-7141-4AC1-80B8-9E788F41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직접 선호 최적화의 두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3837B-BD8E-4043-B340-3829C265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B1F3A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0B1F3A"/>
                </a:solidFill>
                <a:latin typeface="AppleGothic"/>
                <a:ea typeface="AppleGothic"/>
                <a:cs typeface="AppleGothic"/>
              </a:rPr>
              <a:t>PPO 기반 RLHF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0D1B7-1C44-4731-9CE4-C1AEE22A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09550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5B4B39-B711-4FDE-BD72-7ABA4D47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9550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선호 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0768C-FB58-40B2-9361-97BD145A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6700" y="22860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B8AE4A-E6F6-4340-A2DF-98CC7CD0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9600" y="209550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35504D-9A6A-415F-A544-18BF4158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800" y="209550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보상 모델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B4ACED-6656-41AE-99E6-C1CF30A5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2860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A83D4A-8DBC-4F55-8C5B-BA75C544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97900" y="209550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656471-55AC-4E60-A6A8-7524179A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100" y="209550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PPO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9355F2-7E6B-43D8-B32A-A96E993D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9085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Reinforcement Learning from Human Feedback · Proximal Policy Optimization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6992F9-5604-49BA-B641-336BF8BB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직접 선호 최적화(DPO)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47F954-1C2D-445F-B60D-598B59B1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413385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E4A140-83D7-402C-A355-F290F784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3385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선호 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35DABE-3DCE-4120-AA21-F6EBBCDD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6700" y="432435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389C1F-3E9A-4A16-B797-C490FD48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9600" y="413385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5E79BC-3274-4CA5-BAAE-FA294BF3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800" y="413385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참조 정책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0B19E2-AB61-4C87-B312-BC699FB7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32435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6E6B64-4EE4-469F-8920-3F733328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97900" y="413385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11BF6A-D7EA-4108-BD03-5825D3EB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100" y="413385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직접 손실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60610F-43B4-459E-9F28-042F00F9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2920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Direct Preference Optimization (DPO) · 참조 정책과 선호 쌍의 직접 최적화</a:t>
            </a:r>
          </a:p>
        </p:txBody>
      </p:sp>
    </p:spTree>
    <p:extLst>
      <p:ext uri="{BB962C8B-B14F-4D97-AF65-F5344CB8AC3E}">
        <p14:creationId xmlns:p14="http://schemas.microsoft.com/office/powerpoint/2010/main" val="64331877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D62A62-3631-4B2A-B1DD-314F9DD1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7973A-6C88-4B98-8818-44076932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7C2B1-E1DF-4BD5-BD77-A90A504E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2B2998-E888-40DE-A180-387B86B3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21E228-70CD-45F5-AAB2-0B3F6BE2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667E9A-6741-4C75-83D8-A37B0CC7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저랭크 적응의 변경 단위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6DD77-16AF-410D-A8A3-926399CE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809750"/>
            <a:ext cx="489585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3CFBB-C35A-4223-9763-FE6B73B0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574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BASE WEIGHT / FROZEN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A6307C-8F2D-4137-8DDB-0AAD4502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9E7207-D0AC-4861-AB14-CAEFB3C1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43856C-F58B-4829-A54A-16D66247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72B80D-EC85-4DD1-A4EC-A18469F4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D0F6C8-2A8B-451E-A50F-87ECC5ED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57007-E614-4CF7-804A-96935B4A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DD2C23-75AC-44A6-B676-3FBA6753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AA3274-0B46-448E-939D-285D7F6D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E5E36C-D830-494C-9F8E-C5B9EFBC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7A5F9-6DE8-4D3C-BCD3-47113B01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7E99FD-41B9-4AF8-9955-EA4FD10A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E00FD1-2CA1-4DAF-BB69-9072ECED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5AC16C-E9C7-46DA-9875-FB85BEEF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2987-37BF-4616-A603-9843F0ED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137556-E1D5-4922-8EB5-CD33CC79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C341FE-0E59-4286-AB09-5C2CC3C1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39227F-6FE5-4B6E-A92F-CE1DB338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4C49C9-51A8-43C9-89FF-231BB90C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F508DD-FD39-4DFA-A03E-75B3E671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1623AA-0760-46BB-A97F-B376D748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2F7D01-75B0-4809-B70D-49CBA181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29F661-E769-4A0C-B680-7C659E86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813EFA-59CC-4EF3-BCF7-5EE4792C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82C3D2-037F-4A56-B9B3-658AE92D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7A22EE-BE52-4525-9E34-4CA5DBC7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0861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31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+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DBFC11-D9F5-4777-851B-8A114166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2324100"/>
            <a:ext cx="4476750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A64B51-8D66-4638-81B4-320E4FF8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717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LOW-RANK ADAPTER / TRAINED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004CFB-1DD9-4E6B-9133-F1D75F54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3981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36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A × B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8DFDF7-C013-429A-AE9C-D6DB8873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768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작은 변경 단위 · 독립 저장 · 교체 가능한 실험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7CB45D-8C4F-4D1F-AA4F-127DAB13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Low-Rank Adaptation (LoRA) · Parameter-Efficient Fine-Tuning (PEFT)</a:t>
            </a:r>
          </a:p>
        </p:txBody>
      </p:sp>
    </p:spTree>
    <p:extLst>
      <p:ext uri="{BB962C8B-B14F-4D97-AF65-F5344CB8AC3E}">
        <p14:creationId xmlns:p14="http://schemas.microsoft.com/office/powerpoint/2010/main" val="71852049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31193B-70A0-42E9-B7B5-0B13A321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332754-07B7-4F4D-905F-9258F591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1B7E7E-31BF-4360-937F-4470DCF2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DE047D-96A1-46DF-AB00-E4D2E503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CD7B66-5ECD-4275-BFE5-175440B1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A0A20-A936-4E45-B360-B9574094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개입 순서의 기본 휴리스틱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0322E-F561-48DF-9F84-344860CC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낮은 비용의 검증에서 시작해 근거가 쌓일 때 다음 변경으로 이동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CBC5C-4D56-43ED-9C23-5F1D36DD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A5A342-54DA-46C7-86D4-643A0201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76450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384587-3B76-4487-A008-E3C8913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95500"/>
            <a:ext cx="710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현재 품질·비용·응답 지연·실패 분포의 기록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59667E-992B-4143-882F-FB28A599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52550" y="255270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60F711-3B5F-4ED2-AA28-080AC618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268C57-886C-4277-B5BD-74E0A608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43200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F7EA90-4E8F-4F38-A7BF-03DB25E9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0"/>
            <a:ext cx="710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모델 가중치 밖의 지시·예시·출력 형식 변경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642CE1-DCB9-434D-ADC0-FE80BECF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52550" y="321945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2CFD4C-BCDB-4CA5-A8CB-5CAC0FA4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34FE88-6937-459B-84CC-B1BD990B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09950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검색·도구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33C2CE-CCA3-4394-827E-0C1FA001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29000"/>
            <a:ext cx="710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외부 사실 근거와 실제 행동의 연결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02EF0C-5A3B-4F2E-BB38-FD33391B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52550" y="388620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EE22C8-F253-4767-88A6-E1B3A8F3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369FEC-123C-4836-B9BA-A44BE166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76700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선택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C71D16-F6ED-4AF6-9ADE-D66D7E06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710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능력·비용·지연·배포 제약의 교체 검증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C1F7C9-63BF-45D2-9D5D-10AA2197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52550" y="455295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4757FD-E2E8-464A-B431-8559C8C7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AC92FC-13E3-499C-9EBF-BB385C18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43450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미세조정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A0FBD3-BBBC-4FB2-934B-7B73A683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62500"/>
            <a:ext cx="710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반복 행동 패턴을 가중치에 반영할 근거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9B59B0-864C-4512-8B0C-1FE036EF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52550" y="521970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4AEB30-8BE2-4F20-BD19-4A4FC27D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데이터·평가셋·배포 이득이 없으면 미세조정보다 앞 단계의 개선</a:t>
            </a:r>
          </a:p>
        </p:txBody>
      </p:sp>
    </p:spTree>
    <p:extLst>
      <p:ext uri="{BB962C8B-B14F-4D97-AF65-F5344CB8AC3E}">
        <p14:creationId xmlns:p14="http://schemas.microsoft.com/office/powerpoint/2010/main" val="19959451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2907A4-05C3-46D6-AE0C-C4573F93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0EAFA3-7D5D-4131-8C88-16801ECA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OPERATING ASSETS &amp;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58B8DE-9200-4622-A417-DEE9E200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71883-FAFA-424E-B282-F2550835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운영 관심사와 관리 자산의 확장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901B1E-E820-48DF-8149-27D4E1CE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코드 · 데이터 · 모델 · 프롬프트 · 맥락 · 실행 추적 ·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68BB2-9CA2-4206-BC72-7AC1C492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46</a:t>
            </a:r>
          </a:p>
        </p:txBody>
      </p:sp>
    </p:spTree>
    <p:extLst>
      <p:ext uri="{BB962C8B-B14F-4D97-AF65-F5344CB8AC3E}">
        <p14:creationId xmlns:p14="http://schemas.microsoft.com/office/powerpoint/2010/main" val="27355069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A2B881-8999-4871-B17B-A5D2E631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07FA7-73B1-4BAA-B669-78218288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0FC72-7A68-4590-BE07-C31AEE7E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D9E1B-0C51-4A3B-87B4-1B021880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8E5A0-93FE-4C74-A0B1-E1B52623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435EF2-4765-4254-B992-78A7700E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세 운영 영역의 관심사 확장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A1CD4A-DB63-4F4C-A9CC-1167C24E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DevOps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2DF3B4-F790-4153-83CA-C58EBD63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19450" y="1876425"/>
            <a:ext cx="836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1754BB-D5FD-41C0-8631-F4EEA4FC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38300"/>
            <a:ext cx="796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CODE  ·  BUILD  ·  RELEASE  · 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0B896D-BFB2-4B59-B305-F1E7452B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33600"/>
            <a:ext cx="796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Development and Operations · 코드의 빌드·테스트·배포·관찰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7294B3-3ED8-4501-880A-DD5DA76B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MLOps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12D09D-DD95-406F-8E06-701388C4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19450" y="3133725"/>
            <a:ext cx="836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4BDC84-56F9-4798-B45E-5618D4D6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95600"/>
            <a:ext cx="796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DATA  ·  FEATURE  ·  MODEL  ·  EXPERIMENT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D6DCCE-00C0-4DFA-B887-EE807324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90900"/>
            <a:ext cx="796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Machine Learning Operations · 데이터·학습·모델의 버전과 품질 관문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CC2D1-8EF0-42EA-AB78-A6467B99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LLMOps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363599-D864-4B99-866D-A8189D94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19450" y="4391025"/>
            <a:ext cx="836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D7FF6C-1FEE-4439-B00B-A7757A6E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52900"/>
            <a:ext cx="796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PROMPT  ·  CONTEXT  ·  TRACE  ·  EVALUATION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2EACDC-7DFA-4EFE-B8A5-BF086317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48200"/>
            <a:ext cx="796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Large Language Model Operations · 맥락·응답·피드백·보호 정책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72FA80-53CF-4D7B-9CFA-075CC094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대체 관계가 아니라 운영 대상과 증거 구조의 누적</a:t>
            </a:r>
          </a:p>
        </p:txBody>
      </p:sp>
    </p:spTree>
    <p:extLst>
      <p:ext uri="{BB962C8B-B14F-4D97-AF65-F5344CB8AC3E}">
        <p14:creationId xmlns:p14="http://schemas.microsoft.com/office/powerpoint/2010/main" val="160695332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E027E7-F497-4758-81B5-AAD7F000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29FA5-3E7B-4D54-B41E-B9487CF0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6DFCBF-AF14-4D9F-9D19-B18676E5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AD9455-0779-40A7-B30A-2B98FFA3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49172-EC0E-4796-AD5A-EAC118CF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4AAB2C-DF5E-44A1-B54C-942491EF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 서비스의 추가 운영 자산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2029E7-A6A7-4778-9353-EF2D563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638300"/>
            <a:ext cx="27813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50BFD3-6DC6-4A6A-94DA-922D4A31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EXECUTION KEY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0471CF-A179-4019-A8BF-238192CB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1935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9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TRACE 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B982BA-496F-49A2-8A7E-5091F934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24200"/>
            <a:ext cx="2247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 번의 실행을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다시 찾는 식별자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B8DFC-2030-426B-9121-37CA583E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ff2c901e8a16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64C4CC-CDE6-42AB-B15B-407C725B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573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5BC583-3931-4BA0-BFCB-0D3C48F6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619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 버전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1CEB5F-6D83-4D8A-91B8-3A15FFF2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6573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템플릿 · 예시 · 정책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FD8600-C7B9-46C5-8741-1D5CB4FF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91050" y="22479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2DFA2-049A-40AD-AA41-38820B98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6098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A9C824-AAEC-42BA-BE4C-547C1BF2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71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맥락 참조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528B45-85B7-471C-AEDB-749DEE84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098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검색 문서 · 도구 반환값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6468C5-7FC5-4C23-B444-D2EB9F15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91050" y="32004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37B71B-0B2B-43A4-8446-0145C01A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623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F123E7-BE09-4546-9B97-152599AE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24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응답과 운영 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954595-13A1-4120-95C6-89BC152E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623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출력 · 상태 · 응답 지연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922B7C-0913-4C8A-ACEF-0C90C6B2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91050" y="41529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E034DE-29C4-4B9A-9150-2582BDF7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148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B35C3F-B147-46B2-9554-7F9040B7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76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평가와 피드백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613AE3-62C1-4784-B071-0EDFB017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점수 · 오류 유형 · 판정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3884D7-4F0B-489C-BD04-D40989AB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91050" y="51054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5569114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70F480-4987-4AE9-8C38-C6DA2B62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A3A40F-2116-4D85-ADBE-35802D0E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9DED0-4BB0-44E8-92CB-4DBFD33B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BF839-3010-422E-92CF-03161B35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172303-9037-44D1-A23D-4592E11C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C1089-41DC-4D0C-B281-1EAA6823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동일 코드의 서로 다른 동작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B9BBE7-B072-4E2E-BFEC-9C07E196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같은 코드 · SAME 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03B70-E85C-4E24-9CB7-FD47CE75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커밋 a1b2c3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63DF81-D4C7-4562-AE10-154BF655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65E7A0-5BF2-473A-B0FB-D0D875A8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접근 경로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요청 스키마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애플리케이션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823275-EA9B-49D3-B279-4124C8D3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다른 실행 · DIFFERENT 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749D5-F47D-488E-852E-1433592D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프롬프트 · 맥락 · 모델 · 설정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E0F4BC-476C-4DC6-B89B-CAC10A08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B0F04D-22E6-498B-BE3F-8818FE62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서로 다른 출력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서로 다른 응답 지연·토큰·상태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서로 다른 품질 판정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54B8F9-3146-4EB8-BCA2-CDC6D428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656296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E55FC5-C6B6-4843-BF8B-02EDA37F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F5F51-690A-4B4E-B411-8E542857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B1065-4351-49DF-BBB9-C4018CAF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DBFE5F-CD58-4C8C-AC99-376ABB53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E25FD-855E-410E-9298-DA193BCB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7478A-9643-446C-8B82-88505128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버전 조합의 실행 단위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95C443-BFAF-471C-B343-709DB8F0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추적 식별자 · TRACE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49461F-6C6E-46D5-B2C6-A16F9E22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ff2c901e8a16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0BC448-3F8E-4CA3-B865-97526861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81E0EB-FB48-46BF-BDC1-773E098F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프롬프트 버전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61068-D6F1-4FF6-980E-A184AE12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w01.signal.v1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C3402C-4775-41EE-9FA2-6297A3D9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64104F-3063-4F8F-8C24-4ECB869F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제공자 · 모델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0F88D-C07D-4B5C-924C-97282496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demo / trace-demo-1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BFFCF-7B81-4292-B9AF-5F1C607B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937182-EC16-4025-A1B1-141941CE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과업 · 설정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0DEDC2-9DCF-4578-826B-72B77313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extract / t=0.2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8E2992-CD04-462F-85CC-3B26507A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945D4F-41FF-4282-B160-B9204A85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상태 · 응답 지연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7F0344-AB0E-4F67-A2EB-8318512C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ok / 0.12 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DFEC82-DCDE-4EF6-9ABA-EBE782AE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E750F9-B6B4-4B87-8D19-F1331321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콘텐츠 참조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99E38C-9F78-44A1-BC1A-9CE14FC0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sha256:ffdf…fe72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4D4D6B-91C1-48EC-BF2E-11D9D02C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90C283-0FAB-4C6A-957E-91034607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출력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3A5A4C-84C4-4FD6-A32B-F4814710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execution 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5D57CA-ED2F-4F93-A3D1-20C92A76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470044-0FDD-478F-AA3C-C27CD39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추정 토큰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C3E402-3BA3-4BAE-A605-615768F1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estimate: 63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8506E0-63A3-4034-8BB7-D4DB7AA2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9E2C20-C7D5-44CD-9C56-31C988FE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생성 시각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8C194E-7268-477F-A9DB-AC8ECC69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UTC timestamp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19058D-E4C8-4015-81AD-2EA35644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BBC80E-BFB8-4439-84A3-2D816B60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5505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E198E7-7E71-4E51-A0F1-7B68E232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Trace ID = 버전 자산과 실행 증거를 연결하는 결합 키 · UTC = Coordinated Universal Time</a:t>
            </a:r>
          </a:p>
        </p:txBody>
      </p:sp>
    </p:spTree>
    <p:extLst>
      <p:ext uri="{BB962C8B-B14F-4D97-AF65-F5344CB8AC3E}">
        <p14:creationId xmlns:p14="http://schemas.microsoft.com/office/powerpoint/2010/main" val="1451851555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D211AD-F003-4433-94C3-B36A94A7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B3149-BF37-401B-98DF-713CF9FD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48270-177C-4F40-8644-A2B9F043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F785B-BC51-4D2A-8986-26B3BDA6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684B5-5279-45D6-B01D-8D7959DE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9154A-B17B-4AFD-B897-97805475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과목의 다섯 공통 판단 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75BA3A-D120-4C2F-A06D-B77B5D7C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1C8363-95B8-416A-9064-43586D14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049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품질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35033-2831-4808-9B0A-BBE9E96A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5811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업무 정답 · 근거 · 형식 · 유용성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8F8A4A-B313-4370-8582-1914C55D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20955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78E75-36AF-4A19-87F6-F2402C98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E499BC-68E9-4A0F-8FA6-65764917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812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응답 지연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F64C8-4CFE-4953-85BA-FD1E939B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574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평균 · 50번째 백분위 · 95번째 백분위 · 시간 초과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F33329-733A-47F2-82F7-D37FAB32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29718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A2A5C8-D94F-4F8A-A347-0CD2754B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7A5551-1CA3-49AD-AF83-DEEE912E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575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비용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401EAC-FBC1-4623-B776-DF989B64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337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토큰 · 모델 · 도구 · 캐시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10ADE6-37C2-45EA-985C-45883343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38481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C83A23-FDA3-410C-A5A9-08F1BA4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067F4C-0348-4D43-969D-CF7A5E79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338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안전성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6287A7-3CC1-4AD1-BD0F-68AC2482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210050"/>
            <a:ext cx="636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개인 식별 정보(Personally Identifiable Information, PII)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프롬프트 주입 · 권한 · 감사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C269F2-1629-4B66-9BDE-A224D28E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47244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95D57F-716C-4E56-A580-4660C785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52AB0E-FA54-4F61-9708-9E6ADAA1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101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재현성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0234D9-3214-43BB-B05F-044EB939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0863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환경 · 버전 · 실행 추적 · 커밋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6127DA-C674-4A43-9993-77205395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56007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60849255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DFE39C-409F-4F49-AFED-A15B8BAE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F11A5-5529-4ED6-9641-6CF2EC56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BA6137-CDD3-4F3D-A953-A498999A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C7396-D9AB-412E-A36B-E927BCA2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9DFCAD-A028-457F-88C9-21D17495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65DB6-D8D5-49F4-99E5-D70124A4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 지표의 상충 관계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06EE95-5A97-4BE2-9EFD-EA62CAD1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지표의 개선은 다른 지표의 비용을 함께 확인할 때만 운영 판단으로 완성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B3460-5157-4D53-AF8A-C66DF5E2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판단 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E3E46E-5AC9-45E1-824E-5F0E1027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383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 레버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7CE70C-C99A-445F-8F66-3BC515A7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함께 확인할 손실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A7C67D-141F-48D1-B805-4E1F0705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400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3321C-328C-42FE-8DD5-F40E0401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품질 ↔ 비용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CF78CA-F268-41AB-882C-31A9C401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717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상위 모델 · 긴 맥락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016B1B-1F9C-4634-A710-05FE2E64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57175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요청당 비용 · 처리량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75C391-3138-43AE-B9D4-0D0A0C9D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124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C9935F-B25B-4999-AE13-2571A525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품질 ↔ 응답 시간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D8B6F3-D9AD-4A8B-B0F0-C0167032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3528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검색 · 도구 · 판정 단계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909DE1-3A01-496D-A6B9-B7AB65A3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35280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대기시간 · 시간 초과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B344F4-9B18-4C32-97D6-0110ED37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905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D5AFB-351A-4DD7-9497-E3344D6D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안전 ↔ 처리 범위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1009AD-446A-4542-901A-9AD26D5A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338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차단 강도 · 사람 검토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44B26B-79A4-467F-AC5C-0284C90E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3385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정상 요청 누락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F3D724-3ABA-46F0-8E72-251B85B8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686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1BD109-A484-4AE0-9473-2A85A4BF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재사용 ↔ 최신성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14FF71-FA8D-4889-8BFB-9967554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14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캐시 적중 · 응답 재사용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F852C8-2EE3-4606-86A1-34285071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91490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정보 노후화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E6871E-55F6-4032-B9D1-E417078B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5467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E1374A-1AD4-4E1B-9F1F-D445FBFA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네 관계는 고정 법칙이 아니라 실험 전에 함께 관찰할 위험 가설</a:t>
            </a:r>
          </a:p>
        </p:txBody>
      </p:sp>
    </p:spTree>
    <p:extLst>
      <p:ext uri="{BB962C8B-B14F-4D97-AF65-F5344CB8AC3E}">
        <p14:creationId xmlns:p14="http://schemas.microsoft.com/office/powerpoint/2010/main" val="1511344107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A39874-D2C1-42E0-B539-DB91DE9C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902BA-5D45-4323-BB78-D82477E2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6805D-1ABC-420F-A691-44F7CF0D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E0346-2808-46C7-A280-09A504FA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E0EEA2-D50B-42FD-B642-E430E1EB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EF6366-9D9A-4B72-8FA8-7739DA21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품질 지표의 업무 의존성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1EEFC-23FB-4F4C-9C5A-42A006EC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478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E47DDA-A805-400D-90AF-7FBDE8EA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업무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939ECC-8056-4FF2-97AF-F7C64B3B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18478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FB6E9-F624-4977-AAC5-87CAAFDC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4785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우선 품질 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B741A5-EA2C-40AC-AABB-FD261D8A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1847850"/>
            <a:ext cx="4210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DE60B5-777C-4996-9B42-49C186A0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847850"/>
            <a:ext cx="3943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BA677D-10D6-4E73-8591-B8C54181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622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D6EDD-D487-41CB-800B-FDFF3804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8C1B78-246A-46D3-A78D-B6B078A0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23622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8985A5-0E25-4E4E-9C9E-99E1E1D8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622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충실성 · 압축률 · 핵심 보존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38FC28-ACF1-4890-AA39-C8473107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23622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B2F52E-F02E-4790-B63E-7632308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622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사실 추가 · 중요 정보 누락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3AE457-4235-4EFE-B364-AFF98DC9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2004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C3505-E110-49A6-9FE2-B2E7125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04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정보 추출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9E5CC2-180B-4C88-B0A3-5E5AA85B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32004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59C7AE-0E68-4068-AADB-47903124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004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스키마 준수 · 필드 정확성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8218FE-242B-4272-8167-91696A23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32004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68AA1F-F352-4171-997F-A09376CB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004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필드 누락 · 근거 없는 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C767D2-85AD-4595-9DD9-6C167CD0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0386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2726C1-0E36-469C-89EE-2C7A6486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검색 증강 답변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F0FD84-3982-4B51-804D-505C827E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40386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89C64F-600C-41D6-A462-5D65C2A8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386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근거성 · 인용 정확도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6D72F4-A397-4758-823E-37D69643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40386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AF1C4F-980B-4247-896C-92CA8D33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386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미검색 · 잘못된 인용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16CD25-A9B3-40F4-BA3A-39F039E4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768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C95BD8-3CDE-48ED-B728-C046E033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에이전트 행동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E68CDA-C1DC-40DF-BE71-073B92FA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48768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DF5E28-2E49-4A87-8215-26D77B2E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768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과업 성공 · 정책 준수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380A6B-0CDC-4960-B4BA-15CA7368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48768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5CEA44-B37B-4DCF-A86C-FE1A542B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8768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권한 없는 실행 · 중복 행동</a:t>
            </a:r>
          </a:p>
        </p:txBody>
      </p:sp>
    </p:spTree>
    <p:extLst>
      <p:ext uri="{BB962C8B-B14F-4D97-AF65-F5344CB8AC3E}">
        <p14:creationId xmlns:p14="http://schemas.microsoft.com/office/powerpoint/2010/main" val="1298189786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97DEF6-8045-4AAB-82C8-44B92F43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4EB6B-A6A6-4CEE-B10F-E0D4B4AA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61995A-C14B-4068-AD9C-1578731A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60D986-108B-4D63-BA82-5015009B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D1AD0C-1D0E-47FA-921F-7B868EC7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C1B21-14BD-41BF-AE6D-5607D548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지연시간의 분포 관점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D2D36A-191F-40C9-B11C-5B56FC28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66800" y="50863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56E7E-0D2C-4988-899E-E924166F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66800" y="2038350"/>
            <a:ext cx="0" cy="304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5B87C5-0F49-4D6F-898A-1128A1C2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52550" y="47434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97D3DE-364B-419E-A656-15399F87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19300" y="4343400"/>
            <a:ext cx="457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A5626F-1FF6-461C-838F-A5F585F8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3733800"/>
            <a:ext cx="457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164D3-3A24-4108-AFD2-BDA30A29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990850"/>
            <a:ext cx="457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6F0BF1-7502-4997-9AFD-3C890C4A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9550" y="2324100"/>
            <a:ext cx="4572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3FAF8-4FF4-4AB3-A780-DAED292A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2667000"/>
            <a:ext cx="45720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4B67C7-BCCE-462F-98CF-AE86D63E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3050" y="3314700"/>
            <a:ext cx="4572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8823F-CEAB-48E3-9CAC-E33ECE3A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19800" y="3943350"/>
            <a:ext cx="457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D4A9A9-DD07-48EF-83E7-0E262085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86550" y="4343400"/>
            <a:ext cx="457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0A2D2E-4EC3-4C78-8E80-B8680804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4572000"/>
            <a:ext cx="457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8C298-5116-4A64-A185-A9383D5F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4705350"/>
            <a:ext cx="457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183891-6A8E-4376-A3EE-8E60AF8B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4819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80DC9F-84DA-4F7B-892A-0F3CF881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2959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p50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4A7AD7-DCBF-4F96-B550-88AEAF75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2959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p95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7F8B0B-FDB5-43FA-9896-9D8C257E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2959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p99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BB8DCD-AFBE-4C7B-B3B7-AF5485DD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383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설명용 분포 · 실제 측정값 아님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135EC-7C52-4614-B5E9-956FF092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9550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평균만으로는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느린 꼬리 구간의 사용자 경험을 설명할 수 없음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049657-EB10-4CD8-87F1-92D760C4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62250"/>
            <a:ext cx="495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50번째 백분위 = 일반 경험 · 95/99번째 백분위 = 느린 꼬리 · 시간 초과 = 명시적 실패</a:t>
            </a:r>
          </a:p>
        </p:txBody>
      </p:sp>
    </p:spTree>
    <p:extLst>
      <p:ext uri="{BB962C8B-B14F-4D97-AF65-F5344CB8AC3E}">
        <p14:creationId xmlns:p14="http://schemas.microsoft.com/office/powerpoint/2010/main" val="271174414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4F209E-78CC-474E-8EE7-74E11908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55384-99F6-49A8-B5D2-2E382147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4B0497-1EF2-41CB-AF70-9402076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8F2E1-D393-4C1C-B68C-EDAD10FB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2E1E4-3BE3-4D8B-9C0E-76FE7BE6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A780CC-B232-4514-8A41-DB3BCFD3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단위 비용의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0EB5B-1ED4-42D5-8BDA-CD3F64BC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요청 비용 = 생성 + 워크플로 + 실패 − 재사용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EE49F-74B0-43AF-9F88-6F544562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733550" y="3371850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B8469-6432-4485-BFC0-6F7EA8E1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5ADCF4-F79C-4EC1-9D0D-9854D98C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입력·맥락·출력 토큰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373CC-4CE0-4DAB-A48B-80692670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워크플로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9D145B-7002-434E-9D15-FA723081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검색·재순위·판정·도구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6BA0DB-C843-4430-85AF-79D6941D8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5EDCD-EE86-48C0-87A7-7C7147D1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재시도·대체 경로·시간 초과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206975-358E-489F-BFE7-E5D2A192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재사용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1C88C7-AD40-4858-94BD-E2418DC7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캐시·일괄 처리·모델 선택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8C8E6C-4860-4728-828B-DE75EDE8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단가만이 아니라 한 요청이 실제로 거치는 전체 경로</a:t>
            </a:r>
          </a:p>
        </p:txBody>
      </p:sp>
    </p:spTree>
    <p:extLst>
      <p:ext uri="{BB962C8B-B14F-4D97-AF65-F5344CB8AC3E}">
        <p14:creationId xmlns:p14="http://schemas.microsoft.com/office/powerpoint/2010/main" val="6593528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BF5D64-9C19-4BEE-8C1D-7C08F792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6869A3-7D29-4C03-B825-60C93D97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606030-6265-4469-B853-54CDF7A2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E4349E-5678-4862-8174-71916730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ECF40A-1655-42E6-A52D-C2FF4EDA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56995A-E27F-4487-993F-0E17AB9F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안전성의 권한·데이터 경계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F4FB5-70C9-40E3-BAFB-641314F8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5A70B5-62A6-4CEA-B358-52BB5037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2190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411A3-38B2-4063-AFF7-54A71021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1866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2B98E9-F8CB-41BF-8C64-26AD9EF4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66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개인 식별 정보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CD353-A6C5-4D48-8EA5-E0AC6836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1866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A6010A-ACE7-4692-A02A-4C9228040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866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정책 분류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221B6E-387B-4A7C-9E86-DFF4CBA6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1866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18D8E3-AF2C-4F4C-A84B-D55BD34A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66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 주입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96334B-7AC4-4741-BE9C-A3FB8959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D89DB3-8FE9-47A1-87AD-4D3B7310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3333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4B7617-EB1C-4436-A2E4-468BCFCE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009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8C7CA4-3945-4D2C-9A69-857B161B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09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도구 허용목록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1D6FA5-E3B7-40B7-9672-8979D139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3009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28BB52-194D-48A5-B857-E23AE7A4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09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시간 초과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058FC0-5B84-421E-B2CA-692A326B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009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1340A9-58AB-4A34-845A-77A00F9A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09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검토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54FFA9-061A-46AB-9D81-9AD52D57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153277-8DF6-454D-BCEE-5206A6EE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4476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119C46-3183-46C1-BC0F-ACA0F26F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4152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288AF1-FC5D-48BA-8188-9E107599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152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2C5CBA-EA4A-4031-B8BE-61B6AC73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4152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48BE8D-95E0-4E19-B9F3-F6003A54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152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 표현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046E48-B640-498C-AD44-C5B99C65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4152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E52CE7-B4C3-47FA-9E00-9E5CADCE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감사 로그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88BA2C-2EDC-4617-A4F8-6907FC89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93030B-3D21-440E-B4CE-DD7E5C96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5619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E5EBAF-D115-4171-A297-F8E6148D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5295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F5F063-A3ED-40F1-ADCA-22707B9E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295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 최소화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E61021-49A1-4EB9-A444-6D84ACF9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5295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F54107-C121-4A26-B305-ACC02816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295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보존 기간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51F949-F103-4A5D-8887-E507FC54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5295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81AABC-19A4-49EB-A5B5-42651D7C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95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접근 통제</a:t>
            </a:r>
          </a:p>
        </p:txBody>
      </p:sp>
    </p:spTree>
    <p:extLst>
      <p:ext uri="{BB962C8B-B14F-4D97-AF65-F5344CB8AC3E}">
        <p14:creationId xmlns:p14="http://schemas.microsoft.com/office/powerpoint/2010/main" val="1876352944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848C60-CBDB-4464-BEAB-CB800F4E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91394F-3F36-4100-8F81-7D4D5414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CF163-FE4E-424D-A8CD-AFE280EE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9459A8-806D-4D9B-8659-B94AECB9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6667E-1968-4133-969D-604F7AB7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F25FE-C0E9-400C-A290-D676A8F6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재현성의 다섯 고정값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96D63-2B5B-4875-B2E9-9BE6D013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619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6A2DEF-B7EC-4131-8186-013BAFBA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10C22A-DF31-40C0-95EF-DD2EDE5B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621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환경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58726-100E-4EA4-8378-E53AD430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6002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Python · 패키지 · 운영체제 · 가속기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A1C92-DAE7-4F80-99E7-155D8766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1526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CE9B6-F661-4E68-A42D-79C13AC3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4955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2F3F4-E6AE-47C2-8375-EBD88D60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B4C274-FC2E-4BDE-92A7-C3887A95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A5CB3D-6AD0-4E30-A1F3-B8DF39ED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평가 데이터 개정 · 콘텐츠 지문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5CFA8F-BE53-4847-B29F-A3C56C0A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0289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44FC74-6D39-46AF-A93D-4F4D2C9C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718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B76F6C-2B07-4854-BFB8-FB6CB1F8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728913-A37F-49BF-AC2E-013E5BBF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5F8F53-BC75-4F9C-AF4C-05C2A484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프롬프트 식별자 · 버전 · 스키마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3A88FC-DC99-4375-98BF-28F3139F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9052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A18B4C-E9A0-4DCC-88B9-228799F0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CDCE1A-90D8-4291-BAF9-85829C9E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B5173-C318-4D49-A6C9-3FDCE7D0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91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79D33A-3C3A-42E5-9193-02509B25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제공자 · 모델 · 설정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BC2F26-CF06-439C-BAA6-D5A0F36B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7815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06ECA4-BB7F-4F11-A4E4-13D71DF7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0D381C-9014-4932-87C8-C8EAC09C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9AD775-C67D-42B6-BF61-EE2BEDED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673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DDA4F2-F04B-4E6B-BE76-C3800591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1054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커밋 · 접근 경로 · 정책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3075A0-4F7C-46D7-A2FC-9F184FFE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56578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94944623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19A77-DEC9-4846-9AB9-C0D7ABC7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07E0C1-D42B-465B-B49C-A7C0689C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808A62-8CE8-4670-AF0F-92509A6C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B10AE-4A72-4F78-840F-3CF5CA30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E937CE-0B3F-4019-A26B-484D8BB5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A82BBA-483C-4083-B02D-EC86BF01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개선 폐루프의 전체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17BEA-5849-4852-B1BC-877FEDA5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83884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218C9E-5F7D-4371-B36F-5E966171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056481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F75FE-11C2-4BBE-99AB-B34BD259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352110" y="4961183"/>
            <a:ext cx="103008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3FDF7-4932-43A5-83E9-E60AB8B4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359507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FEEB3-2B81-46B5-B463-1F16128D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617063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7B40DE-4976-4AA4-99C3-0181756C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2954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5F945E-5780-4F1F-916F-BAA12F4D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672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9CAAFE-735F-48B7-A302-404BD516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2002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0E3A10-8A21-4DE4-8C80-F369C9A9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1698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50AB0-2366-4269-A742-2D89E7D3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5028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AC8E95-3184-4719-8F57-EBDDC258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29908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SERVICE</a:t>
            </a:r>
          </a:p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E12F2-6E3D-4BB9-8124-34CDD890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52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COURSE 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5622C3-42FD-4692-B5A2-F218A211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336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관찰 결과가 다음 기획과 변경 가설의 입력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9D7C77-8FA4-4109-8840-5427F4CF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86650" y="342900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CCCC05-6945-4C31-B071-D1D0CD67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3380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품질·지연·비용·안전·재현성은 한 단계가 아니라 전 단계를 가로지르는 판단 축이다. 특정 마지막 노드는 없다.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064668-F1D9-4DAF-B2DA-7801947F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91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판정 경계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1DC7C8-7CB5-46ED-A063-14F8C32C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91150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계속 · 교체 · 종료</a:t>
            </a:r>
          </a:p>
        </p:txBody>
      </p:sp>
    </p:spTree>
    <p:extLst>
      <p:ext uri="{BB962C8B-B14F-4D97-AF65-F5344CB8AC3E}">
        <p14:creationId xmlns:p14="http://schemas.microsoft.com/office/powerpoint/2010/main" val="1923647194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26C21F-DF59-45E9-B223-A36DD77B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AEB6D6-F2A7-4B58-8020-F04F6A14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486AAA-203C-46AE-BD1B-E155D80F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1D675-2130-486D-BFEA-6D0DB6ED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99920-56B0-4A2C-88D6-FCC7F9FE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2FB7D2-A77B-4B51-9F75-0C3EB838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1단계 / 기획·데이터의 성공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EF1CC-BEE6-485A-96C1-AE046B83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PROJECT BRIEF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3646CF-6F66-4ACD-8239-8491A5F6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4000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누구의 어떤 결정을 돕는가?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9CBD70-374F-4F1D-A1A2-E234AF4B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4000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모델 선택보다 먼저 문제·데이터·평가의 범위를 프로젝트 브리프로 고정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95452D-F761-4AC2-B3CA-836934CC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192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49D46-8779-4029-9DDF-3AD64EEB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9700" y="2019300"/>
            <a:ext cx="27813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14B311-ACF0-4131-B09F-621F8410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19300"/>
            <a:ext cx="2438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대상 사용자와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지원할 의사결정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C51D9C-B0A1-4AFE-9297-D7404010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192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1F4A6B-DDF8-42CE-817B-39B96404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58200" y="2019300"/>
            <a:ext cx="27813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C4AA74-45DD-452B-9A4F-6F280B78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19300"/>
            <a:ext cx="2438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입력과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기대 행동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48DCB3-994B-4F12-8738-E46712F7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76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B1A41B-0871-4334-9AF4-8051538C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9700" y="4076700"/>
            <a:ext cx="27813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0DDD43-89D2-4D16-9230-34188436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076700"/>
            <a:ext cx="2438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성공·금지 조건과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 데이터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5D5EFE-6637-493A-AC61-C6E8302F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76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9ED979-5CF9-4CE0-8754-2B6BFA07E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58200" y="4076700"/>
            <a:ext cx="27813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8EA8F9-80A8-4BB1-9BE6-FB373C5A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076700"/>
            <a:ext cx="2438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권한·개인정보·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보존 경계</a:t>
            </a:r>
          </a:p>
        </p:txBody>
      </p:sp>
    </p:spTree>
    <p:extLst>
      <p:ext uri="{BB962C8B-B14F-4D97-AF65-F5344CB8AC3E}">
        <p14:creationId xmlns:p14="http://schemas.microsoft.com/office/powerpoint/2010/main" val="368746287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F2888F-F20B-4627-8C77-4CAB4C07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C9F478-9F11-4448-A0C8-6613A221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9FA5B-23EE-48F0-A1FF-7EDB63D5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2DFFB2-61C5-44B8-B2FA-61D87C55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576437-3253-4DBC-817A-A909C5C8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0F71CD-DE44-45C5-930C-6C95A285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2단계 / 프롬프트·맥락의 버전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1161DD-EFD4-4E72-9783-574C4372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000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69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4BCE-07B5-4055-823A-035EC207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52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OPERATING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CB54AF-7B68-45B3-A947-D90EB718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5265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무엇이 바뀌었고 왜 바뀌었는가?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16E711-9287-4A2A-AE5E-921D13C9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11D317-7A20-415B-9C99-6E892131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D14EBD-76DE-415E-94DB-E3FD2B25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 식별자·버전·책임자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9DF815-E72E-4E02-B9FF-84BB3AC6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159D6C-FAA2-4CA5-82FF-B995F8F4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DB922E-E6BC-4D30-AAA6-92E1DFD8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입출력 스키마·예시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2CDD3D-AC99-4F5A-A292-B2337D7E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CF30A3-BB5F-40F1-A88B-FE0D7258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9035A1-4928-4784-AEE2-58D25C66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검색·도구 맥락 참조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A29B11-208D-4C7D-A6D4-0A9121F5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읽기 좋은 프롬프트보다 고정 평가 데이터에서 비교 가능한 프롬프트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BEADDE-3E18-4D34-9CF8-5D7E2E6A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858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F2803D-A318-438A-8409-54F2981B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1 기획·데이터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864145-3D2D-409D-A07C-1E9F9606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8610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60782B-1E56-4C54-B243-DDDDE1F3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2 프롬프트·컨텍스트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39941E-A442-490A-84A0-B9045E15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863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50BE6B-A997-47A2-852A-CC60D537B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3 실행·배포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3D9C3C-D593-458B-9B66-A3300F56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8660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4C557B-9675-41EF-BC02-ADE44E3C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4 평가·관찰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49EBE7-8272-4EE7-911E-8268ECC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868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234B53-38C1-4B07-BEA6-618CDF67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5 개선·버전</a:t>
            </a:r>
          </a:p>
        </p:txBody>
      </p:sp>
    </p:spTree>
    <p:extLst>
      <p:ext uri="{BB962C8B-B14F-4D97-AF65-F5344CB8AC3E}">
        <p14:creationId xmlns:p14="http://schemas.microsoft.com/office/powerpoint/2010/main" val="78961089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43722A-017C-4AFD-9FBF-BBF61E90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51BED3-9D60-458E-874A-CC8D1A6A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2788AC-7666-4E29-8706-CBB4CB97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4FDD7-7CAA-4D9C-A91E-C4CD680E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55C10-4674-4641-A858-5F69C9C0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01403E-E14D-4472-8C3C-D36C881C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3단계 / 실행·배포의 실패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C14E9D-00BA-4871-9889-6D1F71C2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실패했을 때 어디로 흐르는가?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F25D38-9E55-4ADB-9018-40B92D00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정상 경로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4DD7D8-0507-434D-AAF6-DADDC06F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24790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AE06D-A87E-42C8-A636-A7E7C1634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24790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검증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4D7465-18F9-435F-B97F-7986BD3A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38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D0414-547D-49A5-A994-831AABCE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9650" y="224790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1CDF87-64AA-47DC-8230-35CA65BF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4790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모델·도구 실행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49526A-31C7-4BE3-97DB-D72D2F03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38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4B91E-8CBC-40B6-AA96-0CD33F6C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224790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88FB66-5889-4B96-A053-EE087E26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24790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응답 생성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8A277C-AD38-464A-950B-D77FCE12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38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F5CB41-597F-4498-A8EA-DE90D3E3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0650" y="224790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4E3534-C9A3-4AA5-B70A-01966415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추적 저장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EA6B08-1722-4D18-9F6A-2FEC58C1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실패 경로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34DC83-1CDC-41A6-A196-5128EF4E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67665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47C5AA-63A9-4279-A665-AB70C4CB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6766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오류 분류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642EF5-D973-40E8-8503-59A43B8C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67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B1EB08-7265-41A9-A7AC-A11029C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9650" y="367665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934D00-AC42-4C77-BB28-ACC5F343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6766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재시도·대체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FB4BF7-F49B-403D-978A-CA615CCE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9E416E-01A2-4761-9CD0-0A821784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367665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B15512-D54B-4E4B-8445-9EDC2DAB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6766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안전한 응답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08C57F-74EB-4B97-BABD-FB20D8CD3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67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913384-43E7-4FC9-A9C0-C23C35FB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0650" y="367665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612FA3-4962-433C-AFE2-B3630F37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담당자 확인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18039B-2E9C-471D-9558-07506E6E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정상선만 있는 아키텍처는 운영 문서가 아닌 데모 문서</a:t>
            </a:r>
          </a:p>
        </p:txBody>
      </p:sp>
    </p:spTree>
    <p:extLst>
      <p:ext uri="{BB962C8B-B14F-4D97-AF65-F5344CB8AC3E}">
        <p14:creationId xmlns:p14="http://schemas.microsoft.com/office/powerpoint/2010/main" val="1570594766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71209E-3121-4929-A6F7-42916F68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D93B8-0D68-48CF-9FCB-4C3E6524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566E45-CBF8-4D37-B287-FBCF854A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A1FFE-DC7B-4BFD-84C5-E195E4A6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3E8CAF-AB8F-4026-A652-ECBD365E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1D809D-15CA-4184-8169-47163328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4단계 / 평가·관찰의 분포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34C5FC-448A-4211-8974-15E5EA33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누가, 언제, 어떻게 실패하는가?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4225E-80EF-4A06-A8F8-E3D0300F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95500"/>
            <a:ext cx="619125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56FD9-7246-4EA7-9DE0-A59FB450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설명용 응답 지연 분포 · 실제 측정값 아님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3C710A-D3A1-4CAF-955D-C10C71CA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47750" y="4724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2EA14-9633-4CD9-BD97-3E9D5DAE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57300" y="4305300"/>
            <a:ext cx="323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C397A8-631A-4020-BB71-3480BD4B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71650" y="3848100"/>
            <a:ext cx="323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EB94F-5844-4D43-A849-CD427D61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219450"/>
            <a:ext cx="3238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2D2B95-A0AD-48FB-BBE5-043046C5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0350" y="2743200"/>
            <a:ext cx="3238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533243-1ECF-4D5B-82CC-3E68E59F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3028950"/>
            <a:ext cx="3238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72FB02-8C49-406A-88A1-C0C7C514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9050" y="3524250"/>
            <a:ext cx="323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C6BF0-D10D-4714-B635-C237FF328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943350"/>
            <a:ext cx="323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3E2E71-F43C-4C28-920A-C0DE3EBD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57750" y="42100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EF5420-0948-41E3-8329-64134ADA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44005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4BBF84-D835-48B6-86E2-89D88323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76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667085"/>
                </a:solidFill>
                <a:latin typeface="Menlo"/>
                <a:ea typeface="Menlo"/>
                <a:cs typeface="Menlo"/>
              </a:rPr>
              <a:t>50번째 백분위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55F523-ED0C-416A-8B71-923E5ED7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876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2563EB"/>
                </a:solidFill>
                <a:latin typeface="Menlo"/>
                <a:ea typeface="Menlo"/>
                <a:cs typeface="Menlo"/>
              </a:rPr>
              <a:t>95번째 백분위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69CFC4-0AB0-4B29-A6BF-736B1A85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829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C31AA2-9152-445B-8BCF-C04ECF0A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57450"/>
            <a:ext cx="3829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성공·실패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E95BFD-9D94-4E34-8325-D6B283B0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72350" y="3009900"/>
            <a:ext cx="382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22293E-E7FD-49A5-9AB0-5C383F91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829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운영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11869D-911D-4831-890E-3DE34E92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829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95백분위 · 오류율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78C025-CD1D-400A-B88D-548DD0ED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72350" y="4057650"/>
            <a:ext cx="382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01548E-1BD8-4284-B59E-59DAC4BF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229100"/>
            <a:ext cx="3829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자원·안전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BC7B2A-F0DD-4095-AD61-A84DBFEB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52950"/>
            <a:ext cx="3829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토큰 · 비용 · 위험 신호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6EF287-B256-4F55-8FCA-98FCDE51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72350" y="5105400"/>
            <a:ext cx="382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540D5D-2C2F-498A-8B85-731D594B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 점수와 함께 실패 분포·하위 집단·원본 실행 추적 확인</a:t>
            </a:r>
          </a:p>
        </p:txBody>
      </p:sp>
    </p:spTree>
    <p:extLst>
      <p:ext uri="{BB962C8B-B14F-4D97-AF65-F5344CB8AC3E}">
        <p14:creationId xmlns:p14="http://schemas.microsoft.com/office/powerpoint/2010/main" val="366467278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AAAE82-0A51-429F-AE3D-EAE8302E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9563D-8425-4D68-8FC0-E277CD00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E3F69C-AC45-4CC4-ACB7-4D719883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4B78C-C94D-492D-8904-7B7398BF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AE2A4-956D-4DE3-A626-6E482E45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C78466-32CC-4C0C-BDA3-A39ECEDB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5단계 / 개선·버전의 판정 기록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5087F1-58E4-4716-A3A7-0A788DC1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버전은 무엇을 검증하는가?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465DB4-C68F-445C-A910-83B60085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814FE-2E57-4122-9D18-396545CA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이전 기준선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805BFF-63F1-46F2-B2A4-3674BFFF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753B1E-8C84-4F89-9660-BE60BB2A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32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현재 실패와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고정 조건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546E4-4A29-4E56-9CF9-D8D8B732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09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BBE24-A834-4324-89AE-66733CEB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새 가설과 변경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E975F0-0EF5-4F56-8891-3435E79A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52800" y="34480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3431D0-F629-4127-9A61-BB3BEE34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752850"/>
            <a:ext cx="232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검증할 가설과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바꿀 한 가지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7D442-11E1-4DE4-8D3B-34052411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0DECB5-3F6B-41D6-AB31-7B79D240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증거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3A79E1-FFF3-4C91-A856-4B3DCDD4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34480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F64C78-ED8C-4EDB-9AD8-8EE27B13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232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비교 가능한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실행 추적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BE6294-C313-487A-89CA-ACA1648C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09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DADD75-B621-41C0-92AC-EC5FF1BC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판정과 다음 버전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F04019-7F53-4C04-AB1C-C3FA7619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839200" y="34480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97CE5D-C493-4B29-B68D-B04B7D65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752850"/>
            <a:ext cx="232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승격·보류·되돌리기와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다음 질문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2ADAEF-E9D6-4539-B31D-E8C57493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‘더 좋아 보임’이 아닌 변경 이유·결과·결정의 연결</a:t>
            </a:r>
          </a:p>
        </p:txBody>
      </p:sp>
    </p:spTree>
    <p:extLst>
      <p:ext uri="{BB962C8B-B14F-4D97-AF65-F5344CB8AC3E}">
        <p14:creationId xmlns:p14="http://schemas.microsoft.com/office/powerpoint/2010/main" val="1008251880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1D917A-A7EE-4E93-8E35-066F80D7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141F1-26FF-4E08-83FC-75616ACC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5C5A87-1C7C-49E6-A0E5-9FAE35B9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111C22-63B2-44E0-AD73-B8EB9CA4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0A4AB2-76F8-4732-87BE-A07F844F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72C70-D16B-4FCA-9EFD-1533235F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 변경의 최소 기록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DB80D-CF1E-492E-8248-1CB44525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09750"/>
            <a:ext cx="1600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10C8E-FD94-46E2-B44B-FCDACFBB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133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A3B36-F0F3-43CC-89A1-C6DE995B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18097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8656CB-C7B6-45CF-819E-03E34E04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09750"/>
            <a:ext cx="297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6BA862-EA87-4B6F-B9A2-C6A62E0C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18097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C38BEB-A9AC-407F-B97A-3341AA54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09750"/>
            <a:ext cx="297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CHANGE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C1985-31FD-4EED-B58E-CF66C299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809750"/>
            <a:ext cx="2895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105CC8-161A-49B6-A641-431E4133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975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0CEE1-427F-42E3-832C-5298A95E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43150"/>
            <a:ext cx="1600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18A66F-50C6-4CED-A068-FDDA5982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v0.1.0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7E1158-A3A0-4E66-B9A9-B0CE703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23431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146C0B-0FF4-492F-8DF8-2F2B60D2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431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교환 절차 누락 감소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CE0C21-EEFB-439D-95B8-E2B93F0F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23431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D73FCC-213C-4FD9-8F32-E2E2EB9C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431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스키마와 예시 추가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1D9EC5-C8A8-4F69-80ED-DF79E53C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2343150"/>
            <a:ext cx="2895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6550D9-0C61-464A-BA8D-A132DBF0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43150"/>
            <a:ext cx="2628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27AAE8-D833-4151-AF71-DF15F171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371850"/>
            <a:ext cx="1600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D73836-F2D3-48F7-B980-362AD55F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v0.2.0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D9F6CD-0C0A-4EFF-AE24-608C9AD5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33718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06D9-853A-45D5-8F60-AE5AB426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3718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마찰 필드 완전성 향상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FC56BF-6190-4046-B8B4-E70440EC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33718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61D014-3E69-483E-AF1A-90866646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718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 버전만 변경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CB2F5E-94A6-4BC2-B50D-14A493F7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3371850"/>
            <a:ext cx="2895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852A64-5477-4816-AC50-4B58FB27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71850"/>
            <a:ext cx="2628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승격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A617A9-40ED-41F1-9BAE-4AAC6545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400550"/>
            <a:ext cx="1600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F029A7-22DF-4ECE-B0F1-A04F932E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0055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v0.2.1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B0A5A5-02DE-4B67-AE7F-A5F34D9B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44005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BFB46F-16CE-49E4-96A3-9295523E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005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지연 증가 없는 표현 축약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064BC7-2665-462F-B0E9-6A765E20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44005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4CD7A5-BC86-4E18-8D8F-5CB83A59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005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최대 길이 조정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71B1BB6-9C71-4E4F-8D18-6A7D004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4400550"/>
            <a:ext cx="2895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EEF1CE-0360-4E1C-A0FF-B6777D3E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00550"/>
            <a:ext cx="2628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보류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211C5E-8498-4B7B-A8E9-3586A611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 번호보다 중요한 연결: 가설 → 변경 → 실행 추적 → 판정</a:t>
            </a:r>
          </a:p>
        </p:txBody>
      </p:sp>
    </p:spTree>
    <p:extLst>
      <p:ext uri="{BB962C8B-B14F-4D97-AF65-F5344CB8AC3E}">
        <p14:creationId xmlns:p14="http://schemas.microsoft.com/office/powerpoint/2010/main" val="569095440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17723D-A8E2-4346-AD13-2C68B30D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53FD0-F41F-4D10-B1DE-5F44858A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6B538-05BB-4CBD-A6A7-58FACC4F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18535-6454-4BC6-9295-35EFBC09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E7D8F-A7D8-418A-A59A-FD652E78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DB460F-6338-4967-BADB-D80A7998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폐루프와 학기 프로젝트의 정렬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294331-3957-4A77-B66F-6A9666C2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서비스 개선 단계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89566-E1CC-4579-BB29-8C6C8529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190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763186-03E8-4BAD-A4F0-EE724CBE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00406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7EA97-7966-4D92-A2A9-0EFD85CA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96596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기획·데이터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F0A605-A6E8-4EF3-ADEB-13A737B3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160" y="2476500"/>
            <a:ext cx="200406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DBCEE3-C589-495F-91DB-1D763988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160" y="2857500"/>
            <a:ext cx="196596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프롬프트·맥락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3E4967-0E21-4DD4-8639-1F584B18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8720" y="2476500"/>
            <a:ext cx="200406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E04054-C5D4-4651-87AF-1340A0CA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8720" y="2857500"/>
            <a:ext cx="196596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실행·배포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30D3C4-8714-44FA-9F90-AA16B5CA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3280" y="2476500"/>
            <a:ext cx="200406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57F046-F1E8-4346-B434-D88E2B6D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3280" y="2857500"/>
            <a:ext cx="196596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평가·관찰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C669BF-31B4-4979-ABA0-1B1BC233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2476500"/>
            <a:ext cx="200406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C0C821-36D8-430B-898C-1D7D8BA2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2857500"/>
            <a:ext cx="196596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개선·버전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08C560-A288-46BF-B6E7-26C21009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학기 마일스톤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5E5D8D-5812-4BF8-A96E-8495C03F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229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92C06F-0898-4E53-A6E5-69273682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W01–07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CE294D-FDF5-42A3-B323-D25C3FC6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514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 근거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누적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CF592C-269F-4078-8457-B742E852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51485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DCD227-DC6E-43AA-9834-417B248D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895850"/>
            <a:ext cx="2514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기획서 0.1 제출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설계 리뷰 기록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B00889-B23D-4AD6-87D9-0BAA4811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1485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W09–15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9B9629-F1BA-47C4-BCB1-AA2B7A13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95850"/>
            <a:ext cx="2514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구현·평가·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운영 검증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5E9F53-A1FB-4AF3-8843-81285C18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1485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W16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627A1B-8B95-45BC-BF05-9FAD145E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895850"/>
            <a:ext cx="2514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결과 발표·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포트폴리오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3AB84B-19FB-4C04-84DE-9A0E4044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기말 프로젝트 기획서 0.1 제출본 · 교수 설계 리뷰 기록 · 이후 구현 기준선</a:t>
            </a:r>
          </a:p>
        </p:txBody>
      </p:sp>
    </p:spTree>
    <p:extLst>
      <p:ext uri="{BB962C8B-B14F-4D97-AF65-F5344CB8AC3E}">
        <p14:creationId xmlns:p14="http://schemas.microsoft.com/office/powerpoint/2010/main" val="1627965177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D540FB-39E9-44C6-871C-79E12405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870709-A31A-42EA-AAE9-4340E11D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TRACE / 01 LAB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4E28CB-3516-4FB4-A950-86AC4953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EF579-233F-40AF-8DC3-50C1A923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첫 운영 루프의 실행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FC8681-76D9-4CA5-984F-0BBE3C75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Python 3.11.14 · FastAPI · 결정론적 데모 · Ollama · 실행 추적 ·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53CF76-5DCA-495E-BD65-7047AD2C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66</a:t>
            </a:r>
          </a:p>
        </p:txBody>
      </p:sp>
    </p:spTree>
    <p:extLst>
      <p:ext uri="{BB962C8B-B14F-4D97-AF65-F5344CB8AC3E}">
        <p14:creationId xmlns:p14="http://schemas.microsoft.com/office/powerpoint/2010/main" val="1928040291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E618CF-090E-4F32-B935-3770BC34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F70644-45A5-4B5F-8DDF-A4D1F741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F1EAC-9CCE-4633-9458-80F186BE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EBB28D-4D06-498B-87E1-A9BA2B80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04CC1-E5CF-4375-8F1C-675984EC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41D81D-CC22-4D0E-BBA9-D69EC4E2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TRACE/01의 서비스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C1D6B-7020-4511-BAB7-4BF37C1B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533650"/>
            <a:ext cx="19050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AB563C-0D47-4E32-8A1F-6930789D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7DAA93-CB5A-486D-BC70-DD717A5D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156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 화면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FB03DD-3F1D-47B8-8B64-A761F5D5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 · 결과 · 실행 추적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654DDF-2C24-4B5A-A3BB-B61454E1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0515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AF34D-1862-4153-B55F-2CC68CFB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2533650"/>
            <a:ext cx="2152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007DDC-93F6-48E3-A909-F23EFE77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E35599-F39D-4FC5-B2B6-90026B1F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FastAPI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C94BF8-719D-4CC0-8C30-96B2D1E7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004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데이터 구조 · 경로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0D96D9-C988-4D48-8A94-A086006E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10515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D060F3-37BC-45ED-834F-79504688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2533650"/>
            <a:ext cx="2324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DDB498-698F-4633-80B3-61AE738E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42CC8A-ABC5-4097-A310-1A2DF769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43250"/>
            <a:ext cx="1981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제공자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9BB8CE-A310-4382-8083-745063EC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0045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데모 모드 · Ollama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0F1BC1-5A29-4D16-8FE7-20511FBD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0515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FF979D-1F74-4A34-89FA-8F88E641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2533650"/>
            <a:ext cx="26479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5A98D5-8D03-4438-9916-414B0D3F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58E307-FA00-43B4-ABD2-69D6BC93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43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추적 저장소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3E39E4-E3CD-45A8-BD9F-63C61630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00450"/>
            <a:ext cx="2305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메모리 · 줄 단위 기록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BCE594-D90B-40C5-9F5A-C660A3D5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요청에서 생성 결과와 운영 메타데이터를 함께 반환</a:t>
            </a:r>
          </a:p>
        </p:txBody>
      </p:sp>
    </p:spTree>
    <p:extLst>
      <p:ext uri="{BB962C8B-B14F-4D97-AF65-F5344CB8AC3E}">
        <p14:creationId xmlns:p14="http://schemas.microsoft.com/office/powerpoint/2010/main" val="1209245623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C15B06-4DA9-4D60-BB4D-04C84C6C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ACBED6-1683-4787-87A7-1BCA6A47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8129B-BBA3-4467-AFFE-DA1F92B0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72BCD9-A849-42D4-9605-C5340189B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780D9-CA73-4B2F-9FB5-6681F50C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432878-F845-474C-A113-4F6D076D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실습 완료의 다섯 증거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0A2A95-BD29-4678-A498-B853330C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619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269A2-4C0B-4B8E-BD3C-A32C3037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D46DCC-1733-446C-AA7F-E3E8FEA6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621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3A3811-E76C-43CF-9457-8885D989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6002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GET /health → 정상 응답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8CC71E-1A45-446D-A834-674341A7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1526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3711E4-F542-4CC4-A6F6-E0E651B7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4955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B14BA4-E916-463C-A3B7-7942C6E5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9AA8F6-BBEC-4D46-957F-79128E4D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추적 2건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1AAE35-1C66-4C81-A286-EF161787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동일 입력의 기준선·변형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EC4D23-D536-426E-B151-6D61B8E6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0289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DBFF17-DF6C-450A-9AB9-8708CFC3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718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ABAB3C-3C5C-4C70-98BE-92774BF9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70CBC0-60A8-497B-90A3-28AB5C33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단일 변경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3FA84A-D52C-4364-B7E3-E1A7C907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프롬프트 버전 또는 생성 무작위성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BB107D-DB05-4D7C-85B5-5C1B91EC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9052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BCBFE0-F87B-4598-9A83-1E578C1F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6591BE-89C1-4E50-8BFF-3CE97C8F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6FE888-3109-4602-89DD-41B42585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91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비교 판단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5AD05B-934D-4D26-9036-F9641971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출력·상태·응답 지연·토큰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8BED8D-9552-4DAF-A0FC-6250F94F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7815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557E6F-F085-437B-9C0B-3A901162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21D4E4-E733-4523-B8C8-79ACB710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25331F-8888-4985-BD24-83CA26E9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673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가설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335415-690B-485C-85EA-C442BA76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1054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변경·기대·판정의 두 문장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EBEE4D-9042-4467-BDBF-0D0C3B86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56578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15034900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72EE22-8630-477A-B219-A9EE80B8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29152-1D7E-4106-B1F1-8F63B1D5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00B0DE-D2BC-4596-AC3C-695054CE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E7C2EF-C6B9-4226-B0D2-B030D75B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ACC42-9DCF-474A-9403-6501F38A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624AC3-3AA6-4CF6-BAF5-37523A37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16주 개발환경의 공통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49917B-8D67-4380-98DC-63AF22DF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1009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F8471-B8D9-40C1-B173-235EADA8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3.11.14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65F25-1F24-4E62-A567-878FD107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90700"/>
            <a:ext cx="6877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모든 주차의 기준 인터프리터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2F3C7-373C-49CC-A169-34FD4C11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26289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559D60-FAE1-4480-98CA-09F841E2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289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공통 기반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BFD05-E53D-4FCF-999E-EB1C7D57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5734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Jupyter · Requests · pandas · pytest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E1544B-4218-428B-9AA2-929D329C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3467100"/>
            <a:ext cx="7810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4F881-AE5A-4579-A559-8AACD7DE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4671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주차별 프로필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67E0A-CE77-4FC5-9716-0EC8BBCD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67100"/>
            <a:ext cx="459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응용 프로그래밍 인터페이스 · 검색 증강 생성 · 미세조정 · 에이전트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82F6BC-D531-4BD4-9E05-5818AD0C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4305300"/>
            <a:ext cx="666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22982-536D-4422-A841-D1A97B88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053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버전 잠금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BB887F-BCF4-49E2-BD91-565E0EAB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05300"/>
            <a:ext cx="3448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macOS · 64비트 Arm 아키텍처(ARM64) 등 검증된 조합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9DAEA5-F479-4803-B01A-14940855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하나의 거대 환경 대신 공통 기반과 충돌 주차별 프로필</a:t>
            </a:r>
          </a:p>
        </p:txBody>
      </p:sp>
    </p:spTree>
    <p:extLst>
      <p:ext uri="{BB962C8B-B14F-4D97-AF65-F5344CB8AC3E}">
        <p14:creationId xmlns:p14="http://schemas.microsoft.com/office/powerpoint/2010/main" val="104760573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6F6985-A6EA-4649-9DBD-0FC6EEF4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F1581-9DA7-467D-ABDB-6EF0CA2B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284CF-8BC9-47C2-A3C8-4BF514B9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019008-CA4B-4FAA-8088-3B4B5326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A281F0-FB45-4E0B-A134-2C142143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39CE8-EAC6-4E0E-8CFC-1ABE924F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완주와 선택 확장의 분기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4FCA2-6C50-4024-8B97-877B4BB7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0"/>
            <a:ext cx="1924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A2C6DB-7965-46A6-A8C8-D2F7BC8A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58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동일한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합성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6BCB6-B262-4CF8-BA9D-617EFB05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33650" y="2190750"/>
            <a:ext cx="895350" cy="1009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6708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2DDA8-A0AA-4E4E-9DB0-8AE8F14F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33650" y="3200400"/>
            <a:ext cx="895350" cy="1009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6708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89EDA-4C1D-48A3-949E-5809295D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676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필수 완주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E65311-66B5-441F-8B04-C96EAEBE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203835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26C638-65EE-43C4-B55D-68F69893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038350"/>
            <a:ext cx="2533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결정론적 데모 제공자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043728-BC93-4B74-9C39-351078BB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572250" y="2476500"/>
            <a:ext cx="876300" cy="1009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6708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243BB5-0691-48BC-A5F2-21768FD0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14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선택 확장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752993-1726-4F75-AF30-E83F033E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40767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9BE5CA-0838-4D65-8E3F-F3C83527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76700"/>
            <a:ext cx="2533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로컬 모델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AFBE70-8B1C-4329-83C9-71C6FB14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572250" y="3486150"/>
            <a:ext cx="87630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6708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51AF4-309C-407B-A785-D4A43C73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2667000"/>
            <a:ext cx="1581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4CEDE2-E7EB-4CCD-BB26-5EEA9963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1238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동일 실행 추적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데이터 구조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81DAF6-10A5-45A2-AA7F-82C82A31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28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68ABFA-3788-4C12-BF79-CF1B4AB7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0" y="2667000"/>
            <a:ext cx="1581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6E7C06-F252-473F-B27D-C0A9AA97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67000"/>
            <a:ext cx="1238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기준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F23B7C-BAE5-4AC1-962E-08AF3A04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설치 여부와 무관한 공통 실행 추적 · 같은 데이터 구조 · 같은 평가 기준</a:t>
            </a:r>
          </a:p>
        </p:txBody>
      </p:sp>
    </p:spTree>
    <p:extLst>
      <p:ext uri="{BB962C8B-B14F-4D97-AF65-F5344CB8AC3E}">
        <p14:creationId xmlns:p14="http://schemas.microsoft.com/office/powerpoint/2010/main" val="1374124237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E23388-6A93-49F0-B555-9C3180F0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72914B-1A3F-4CB7-8C08-7BA80C01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ED6E8C-775E-4B60-BE0E-5DDAE84B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56785-F58C-4B7C-A38B-A051DE08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E6B6E-F1D9-4B4A-A8ED-91CE4532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7D906-FA39-4B9F-BB4B-7718DEAF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Visual Studio Code 환경과 테스트 증거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DBDF18-69E5-4472-88D7-BBCA4C9D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90650"/>
            <a:ext cx="802005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f7960055934a6c"/>
          <a:stretch xmlns:a="http://schemas.openxmlformats.org/drawingml/2006/main"/>
        </p:blipFill>
        <p:spPr>
          <a:xfrm xmlns:a="http://schemas.openxmlformats.org/drawingml/2006/main">
            <a:off x="1053943" y="1428750"/>
            <a:ext cx="7131364" cy="4476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1E436E-4566-40DE-8250-C64E023A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049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현장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FD0F2B-080F-4553-A657-35FA29AC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19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인터프리터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DC2239-C41B-4B1B-865C-8CF6E915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812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3.11.14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DFAB1E-496A-47A6-8AD4-D9CA67B1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29337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194884-548B-4CD7-AC2D-C7E5B1BB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432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자동 테스트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1E00EE-1B54-454D-AA9B-E07D689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6 passed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6F9CA3-C3CA-4FA1-8C3C-B41D4A05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40576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7DF421-EAF7-493D-A6B1-E5CEB5BC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67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환경 설정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2F1B64-966A-4A9E-B2C4-A71780C4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629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.vscode 4종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84AD3D-EF47-43B6-B2D5-0B035555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51816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25148013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363A60-56D3-4D98-9ACF-6DD71E1C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CD64E6-02B9-42F2-9969-1F16E257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74918-710F-4F3C-96A5-E8D479E4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C36E5-00B8-4399-B105-42D05732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399F63-B773-49A5-A811-9C0584AA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7A2B3-735C-4DAD-842B-4884E9DC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응용 프로그래밍 인터페이스 요청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0B42C0-9A81-4DE7-B784-008944B2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90650"/>
            <a:ext cx="802005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5099ee0b8d43f7"/>
          <a:srcRect xmlns:a="http://schemas.openxmlformats.org/drawingml/2006/main" l="93" t="0" r="9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428750"/>
            <a:ext cx="7943850" cy="4476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6A54F-9653-454B-A8AE-EEB46ABA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049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계약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0F1A7-B117-42D8-9679-AFB5379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19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요청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CC6C5F-19B1-4E0A-A860-A446E5A7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812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POST /api/v1/generate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B1ED1F-CF78-4453-A19A-EF87D3EF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29337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18B4F6-1D82-46F5-9778-3B778924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432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본문 형식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29FE98-1EDC-4BE2-A92C-A0AA898A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application/json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26798F-40F7-49F5-8B0F-B0AD33B7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40576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0CF34B-2C16-459C-A50A-44608E4C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67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잘못된 요청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53BCB2-A0C5-4E5E-94E3-2FB313C8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629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422 검증 오류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4DC01A-52A4-4AC1-A2FE-3EA3C92C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51816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47515074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D8B459-7E19-40C5-B054-B79D473C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5F573-F5C8-4D61-B01E-30A647F9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638519-9AA7-4B9A-832A-74016046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3D2B10-F1B3-4994-9749-06CD24EB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3A164-9CE3-44DB-ACC6-91A55B9C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09D0FE-A6C6-43FD-A702-6FB4A9E2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네 관찰 경로의 역할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CF171-784A-4507-A85F-78225190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A8B446-0F41-42B8-A604-4006376C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/traces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0B4293-B2EC-4484-A9D3-81A1AB3B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056B9C-F18A-4232-BCE0-222E63BD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개별 실행과 원본 메타데이터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4DF34-5F05-48F2-8962-42FA603E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1B4558-3D98-42DF-8894-ACCE936F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/stats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4FB6DF-4DD9-4222-9448-E4D02342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099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217C14-181B-480D-BC48-5C6886DC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수업용 통계 집계와 비교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5AF665-82D3-4A7C-A40A-3A26B3A4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51B85A-4892-42D7-BE66-457C5D53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/metrics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1F66BF-D2D5-4BC8-87D4-FEBBBE80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103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7338BC-D04C-443C-B3E0-942F3681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Prometheus 수집 형식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18358D-FDEA-46FA-A2E7-EA136BC7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5DBB43-3B78-40A0-B510-FDD534E7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/docs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0F8D9B-E62E-46B3-95C6-7E4C2BAD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273E3E-AC6B-48EE-AEBD-14868F8D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요청·응답 데이터 구조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AD469F-8F37-498B-A476-4974B311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한 건 · 사람의 비교 · 운영 수집 · 계약 확인의 서로 다른 관점</a:t>
            </a:r>
          </a:p>
        </p:txBody>
      </p:sp>
    </p:spTree>
    <p:extLst>
      <p:ext uri="{BB962C8B-B14F-4D97-AF65-F5344CB8AC3E}">
        <p14:creationId xmlns:p14="http://schemas.microsoft.com/office/powerpoint/2010/main" val="296981570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ADC973-46E5-47D9-84B9-CD20762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B54209-A21D-4B10-B617-1F004205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358629-F1C0-4A96-8C9E-4227D372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9493D6-BCCA-4E18-9A93-68793B0E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5056B6-FAED-46FA-903F-C31806B9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C1B6C3-7D1F-4DF8-B102-EE98389B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실습 사용자 화면의 입력 구성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B9E1A-2E94-488F-B11C-E874B638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90650"/>
            <a:ext cx="1097280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2acc97d9d4d79"/>
          <a:srcRect xmlns:a="http://schemas.openxmlformats.org/drawingml/2006/main" l="0" t="13481" r="0" b="13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428750"/>
            <a:ext cx="1089660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15655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631BF-6611-4306-9062-ADC1B468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531321-1C00-4760-8425-E48FD231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E09A1-F487-4E3C-A124-78343C17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055CE1-7937-4051-A90C-DC5BDF0B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3DE6B6-0A64-4BD8-ABE9-46DF1155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C4EC9-1824-45AB-9CA1-EABB61073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결과와 추적 증거의 동시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07B612-92D4-41B1-98A2-209A8A9C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90650"/>
            <a:ext cx="802005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2f4e58e5284041"/>
          <a:srcRect xmlns:a="http://schemas.openxmlformats.org/drawingml/2006/main" l="93" t="0" r="9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428750"/>
            <a:ext cx="7943850" cy="4476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007FF-3389-4B8C-9A36-CBDCE8FC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049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실행 추적 ff2c901e8a16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1236DB-20A8-489E-8D82-93CD65A6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19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실행 상태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A654D2-B2FF-47F0-A07D-62095A8B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812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945B1-F941-4BF6-BDAD-A649BD03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29337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0549E2-9296-4E0C-B84F-7BE106D2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432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응답 지연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FE8B0C-0755-4AB8-93BD-EDA1987D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0.12 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926834-2D99-4C67-95AE-507B645A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40576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E6E684-851D-430C-A095-8C142722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67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추정 토큰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1739DE-70BA-4305-AF81-9E3800B7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629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EBC5AD-67F1-49D2-88E2-F4E557DA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51816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2288630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854744-E9B6-44C8-A6B6-51C3B87A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5BE772-8783-4615-8C0B-95F56D02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C0409-58AF-47FD-A9CE-BFA76BB5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AABEC9-3FBF-4003-9CC0-EA239950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5BC6D-E5CC-4BE6-A322-893D1D29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597D24-8AB3-4C4E-A275-B028AE5A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기준선·변형의 단일 변수 실험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8921D-E4F5-4611-B4DD-014C1FDF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52600"/>
            <a:ext cx="2114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A1A5D1-F8BC-4360-B4C3-7C93769E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885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1FFBDC-D402-4B34-A370-10B30DD7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1752600"/>
            <a:ext cx="3543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41F94-12D0-4167-9570-74D10066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52600"/>
            <a:ext cx="3314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RUN A / BASELINE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B1B6FD-3733-41EA-9502-BB209796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1752600"/>
            <a:ext cx="1333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A48F2-4BE9-4D78-99FC-E97A56B4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52600"/>
            <a:ext cx="110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BF5784-F9D1-4A78-AC76-EF963DFC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1752600"/>
            <a:ext cx="3981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B335AD-0DC9-4A51-8F08-52932BAE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52600"/>
            <a:ext cx="3752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RUN B / VARIANT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B2BF3E-19C3-491A-9D68-2448038F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2860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203BD8-382A-47D8-AEDC-7314A2B4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301103-3A65-4DE4-94BC-E175181C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2860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AA6ED6-85B4-484E-A992-E52ECF80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동일 합성 고객 피드백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42FD1A-11C2-47DC-A924-D8AE159B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2860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437E7C-03A5-44DB-A2B3-6C03A0B3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860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=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FECE8F-EAE9-4FFE-B48B-B3793E10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22860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825952-1384-4AC0-8CAE-049A2646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860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동일 합성 고객 피드백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C24127-A315-4B58-834B-B421DFFB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9718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F4F7A5-83C8-484D-97F0-DE864065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작업·모델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C50E07-0E7A-4785-A123-F97AAA43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9718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CD35D0-7522-4B32-8E2C-7DE44AF7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718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구조 추출 · llama3.1:8b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AD928A-5242-4999-A0C2-F1891760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9718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DDC982-EF2F-41B4-A0A5-2EABE6F3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718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=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AB77C9-CC0A-4E74-8FF2-1F59C632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29718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89DF7D-2C6C-4AAD-B64E-BFB872EB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718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구조 추출 · llama3.1:8b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275A6A-EB6F-47AF-9FC2-57E3C191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6576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E1DFA3-7DBD-4A8B-A42B-78097B2B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생성 무작위성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999E11-70CC-422B-9DCF-E8746ECB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6576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09F1D2-FA3D-4B12-9588-69CC9D65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576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온도 0.2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FBA33E-2F6F-48D2-B40C-B68A362E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6576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1E6480-3845-4622-9CD6-7F7870E0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576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781B9F-9C6E-4602-B47E-A00E7CBA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36576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C8BB8C-A111-4437-9909-3E87867F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576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온도 0.8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E676CA-05FC-440F-BCE5-EE3429DD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434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301FD0-08C7-4FEC-9A3D-BD8DDED2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관찰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9D5B5F-69FB-42B8-A800-6F80ED5C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43434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E221DA-99EE-4FC6-91E3-F679BFC5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434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구조 · 사실성 · 지연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61BCB9-A888-4697-B809-0D3387F4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3434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B4922BD-8AF2-451E-8F5A-5A06F2FC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434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3E497A-0CB1-4345-BA7F-01194EE1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43434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5B0D5E5-F297-451B-9AA7-D6599868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434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구조 · 사실성 · 지연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88602AE-83B6-48BA-9088-80C9B046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결정론적 데모는 기준선 · 생성 무작위성 차이는 Ollama 선택 경로에서 관찰</a:t>
            </a:r>
          </a:p>
        </p:txBody>
      </p:sp>
    </p:spTree>
    <p:extLst>
      <p:ext uri="{BB962C8B-B14F-4D97-AF65-F5344CB8AC3E}">
        <p14:creationId xmlns:p14="http://schemas.microsoft.com/office/powerpoint/2010/main" val="14038150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ADD561-7088-428E-BCD8-1C5EF884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14A7B9-0D74-4AAA-B6AC-069CC12C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DFF8E8-9B7D-4A8B-A8D3-7A8BCBC5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72F66-98D7-4128-B083-BD807AA3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D89C55-84A5-4308-A32F-7313485B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B2EC9-A6CC-4B3E-90CF-299C4046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화면 기반 판정 증거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BB9B8-C0C4-4FDF-8A50-E3332836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근거성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72E144-CA1C-4F7F-87C3-2F598C57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7907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관찰됨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C152FA-AAF9-426C-90EA-7B5BEAF0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790700"/>
            <a:ext cx="588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출력의 핵심 신호와 마찰 요인이 합성 입력에 근거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D9E22D-477A-4D45-BD45-434DFE60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4193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FAD4F0-2FBE-4130-B9BB-6868D47D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형식 계약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0829AE-3E0A-4E35-A41D-30D3DA2C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B1F3A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0B1F3A"/>
                </a:solidFill>
                <a:latin typeface="Menlo"/>
                <a:ea typeface="Menlo"/>
                <a:cs typeface="Menlo"/>
              </a:rPr>
              <a:t>3개 필드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A99B12-0D40-426B-A570-9471BE39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81300"/>
            <a:ext cx="588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핵심 신호 · 마찰 요인 · 다음 행동의 구조화 출력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C7F8B-C05B-4250-BD76-049AF996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099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A0F472-98AF-4F3A-B6A6-9A0DC4C0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상태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F98E7F-0C12-4D42-9153-DF3BA4F0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7719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B1F3A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0B1F3A"/>
                </a:solidFill>
                <a:latin typeface="Menlo"/>
                <a:ea typeface="Menlo"/>
                <a:cs typeface="Menlo"/>
              </a:rPr>
              <a:t>정상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96748B-5425-4777-BEAB-C993C545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588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오류 없이 결과와 실행 추적을 함께 반환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5580A9-1E58-4590-AEA4-ECBCDED2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4005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8CC485-4E5C-4F57-9DE6-09685E5B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응답 지연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DF5C9B-CCF1-456D-ADF1-17AF8F34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625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0.12 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2BE49C-BF20-4904-8169-37D42B26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62500"/>
            <a:ext cx="588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현재 로컬 결정론적 데모 호출의 관찰값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92F6E4-5763-4C83-ABB3-D894977C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53911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7DAFAE-2AA7-46C2-ACA9-2C516087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가상 점수 대신 화면에서 확인한 상태·형식·응답 지연과 근거 판단</a:t>
            </a:r>
          </a:p>
        </p:txBody>
      </p:sp>
    </p:spTree>
    <p:extLst>
      <p:ext uri="{BB962C8B-B14F-4D97-AF65-F5344CB8AC3E}">
        <p14:creationId xmlns:p14="http://schemas.microsoft.com/office/powerpoint/2010/main" val="413257272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5FEFC0-39F2-4B9A-B3C8-F023D090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996FDC-5FB9-4090-8078-8C7F2956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EC3BBA-0914-41ED-A235-BCF076CD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6BF8E-3E68-4E78-9B61-87F77243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BCCC9D-504B-46C0-AAF7-A477509B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E8835B-07CC-4409-A3AD-1E960E7F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구조 추출의 판정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35869A-73FD-4FF8-97A5-2A3C4E96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3505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85EB5-4A37-42B9-9741-4429128E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350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신호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572F3-5A40-47DC-B509-E2C19510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16230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E0AD93-7158-4566-ACA9-6C0650A9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505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사용자가 실제로 말한 핵심 관찰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09086-60A3-4835-A8E4-C3B79B39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존재 · 입력 근거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7781BD-9DD0-4229-800D-E013E150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90700"/>
            <a:ext cx="3505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7E211B-CB39-4E7D-8253-5C76FD4D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71750"/>
            <a:ext cx="350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마찰 요인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B87D69-4923-4883-A9B0-51ADF3B2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43400" y="316230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E4D4CF-437F-45B8-9D95-D8A2DCF0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3505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결정이나 행동을 막는 구체적 불편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549733-EAEE-4405-BA00-2D48914B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구체성 · 행동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29FED1-B3E7-40FF-B8CF-ECD53091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90700"/>
            <a:ext cx="3505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162565-B015-45F3-A0CA-617CB745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71750"/>
            <a:ext cx="350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행동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584979-1035-42DE-BC9E-743C82F9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77200" y="316230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497021-DAB2-48BE-9827-3774DB0D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67100"/>
            <a:ext cx="3505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다음 실험 또는 제품 행동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54F1D5-3FAC-43DB-A93C-4BB3FDA8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43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담당 · 검증 가능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68C4E1-B693-42FD-85BD-FF209655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출력 데이터 구조가 형식 평가의 최소 기준 · 내용의 근거성과 별도 판정</a:t>
            </a:r>
          </a:p>
        </p:txBody>
      </p:sp>
    </p:spTree>
    <p:extLst>
      <p:ext uri="{BB962C8B-B14F-4D97-AF65-F5344CB8AC3E}">
        <p14:creationId xmlns:p14="http://schemas.microsoft.com/office/powerpoint/2010/main" val="207122233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CA0718-6B41-437B-A78C-AD2DC4C6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28CE0-E385-455F-A18C-B70E4173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7D3EAC-85AB-4E9B-AA3C-BD4D4198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782B6-1A9C-4B2D-BC02-3B55ED3A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C29FD7-D077-4CC1-B525-2489DA5B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64302-EAC3-4279-8009-350C9830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실패 유형별 복구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32DBDA-19C3-4C99-9F30-943FB0F3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422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D79B3-3492-4929-942F-E57ACEC0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6192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데이터 구조 오류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531B7-D576-42FC-B893-83DA96B0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192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C04C0-CD38-44CC-87E2-FD1DDEEB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192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작업·제공자·온도 범위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6BAF22-8103-4261-9E75-00A50899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22098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B3AB7-9184-44D1-BD40-A2E518DD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503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C4414-4973-4624-A2B1-5A4F7F6F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098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Ollama 연결 또는 모델 부재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99D91-D87D-446E-88DC-95D0D61C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098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D5B3C3-D4C9-47AA-9108-4F8E1B78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098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데모로 완주 → Ollama 실행·모델 다운로드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0EB766-ED66-4225-995A-2E1B8089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32004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334E1A-E086-420A-8E9A-2030D70D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시간 초과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286FDC-0E9E-449E-A99D-9135D850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004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응답 제한시간 초과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CC3DC0-37A9-485D-B825-A8E2A6FC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004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D423E8-8FEF-48B6-92B8-8EEA11CD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004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실행 추적 확인 → 입력 길이·모델·제한시간 점검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083A47-AB63-4559-ACE8-8D6C0DC7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41910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7654AD-E8FB-4A8E-81A0-F9BF1621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차이 없음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D1C599-6841-458C-8793-6091B767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910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두 실행의 비교 불가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D1F443-F6CD-4106-AE61-D7E40FC3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910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993838-8D78-45E6-95BC-B1536250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910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입력·평가축 고정 → 변수 하나만 변경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602AF2-E5EB-4088-BE5E-ECDCC22D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51816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05893725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88E2FC-C89B-4EEC-B41F-C66A500D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FIRST OPERATING RECORD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9E4D4-1486-4853-BAC1-9DF4937E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첫 포트폴리오 기록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5E899-29A7-407D-B2E4-6CC03324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C191B-96A5-4742-B8A0-18A8CC10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384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문제 후보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1E3D47-C6E1-4808-8585-81A5941E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38400"/>
            <a:ext cx="7486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기말 프로젝트로 검증할 사용자·문제 후보 1개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82344-2099-4ECE-B476-B047F3B2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90650" y="29908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5E82A9-2A76-4C79-94E8-CDF03DD5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8E619-F479-4ED0-8B5B-22D99D64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290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실행 증거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358499-C91E-49D9-B42A-AD24D03A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7486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오늘 만든 실행 추적 2건과 비교 판단 1개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728333-6F41-44DE-B389-BDF36719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90650" y="39814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8AEC84-061A-434F-A8ED-26E8D14A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93BF3-8BEA-48B8-84C8-9EE93C5F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19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교수 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3B375A-5DB7-4315-8611-214EC5FD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19600"/>
            <a:ext cx="7486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질의응답에서 확인할 질문 3개와 수정 이력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91B685-CB2B-45E4-850B-66D1DA67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90650" y="4972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0D644-F97A-45A5-83DC-A658CF00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561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48B5A1-0E93-4E99-9CEF-0BF20E8F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W08 · 기말 프로젝트 기획서 0.1 제출본 · 교수 설계 리뷰 기록 · 이후 구현 기준선</a:t>
            </a:r>
          </a:p>
        </p:txBody>
      </p:sp>
    </p:spTree>
    <p:extLst>
      <p:ext uri="{BB962C8B-B14F-4D97-AF65-F5344CB8AC3E}">
        <p14:creationId xmlns:p14="http://schemas.microsoft.com/office/powerpoint/2010/main" val="1659145190"/>
      </p:ext>
    </p:extLst>
  </p:cSld>
</p:sld>
</file>

<file path=ppt/theme/theme1.xml><?xml version="1.0" encoding="utf-8"?>
<a:theme xmlns:a="http://schemas.openxmlformats.org/drawingml/2006/main" name="ChatGPT">
  <a:themeElements>
    <a:clrScheme name="BLACK WHITE NAVY BLUE">
      <a:dk1>
        <a:srgbClr val="050505"/>
      </a:dk1>
      <a:lt1>
        <a:srgbClr val="FFFFFF"/>
      </a:lt1>
      <a:dk2>
        <a:srgbClr val="0B1F3A"/>
      </a:dk2>
      <a:lt2>
        <a:srgbClr val="F7F8FA"/>
      </a:lt2>
      <a:accent1>
        <a:srgbClr val="2563EB"/>
      </a:accent1>
      <a:accent2>
        <a:srgbClr val="0B1F3A"/>
      </a:accent2>
      <a:accent3>
        <a:srgbClr val="667085"/>
      </a:accent3>
      <a:accent4>
        <a:srgbClr val="E0F0FE"/>
      </a:accent4>
      <a:accent5>
        <a:srgbClr val="191919"/>
      </a:accent5>
      <a:accent6>
        <a:srgbClr val="98A2B3"/>
      </a:accent6>
      <a:hlink>
        <a:srgbClr val="2563EB"/>
      </a:hlink>
      <a:folHlink>
        <a:srgbClr val="0B1F3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NAVY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2026-09-04T02:58:19.7680000Z</dcterms:created>
  <dcterms:modified xsi:type="dcterms:W3CDTF">2026-09-04T02:58:19.7680000Z</dcterms:modified>
</coreProperties>
</file>