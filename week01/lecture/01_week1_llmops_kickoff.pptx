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fec8576c10482e" /><Relationship Type="http://schemas.openxmlformats.org/officeDocument/2006/relationships/extended-properties" Target="/docProps/app.xml" Id="R65c8832900bc4386" /><Relationship Type="http://schemas.openxmlformats.org/officeDocument/2006/relationships/officeDocument" Target="/ppt/presentation.xml" Id="Rc00aed4afc4e45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4ea48c80364577"/>
  </p:sldMasterIdLst>
  <p:notesMasterIdLst>
    <p:notesMasterId xmlns:r="http://schemas.openxmlformats.org/officeDocument/2006/relationships" r:id="R071f5599d40b44fb"/>
  </p:notesMasterIdLst>
  <p:sldIdLst>
    <p:sldId xmlns:r="http://schemas.openxmlformats.org/officeDocument/2006/relationships" id="256" r:id="R93017928cefe4046"/>
    <p:sldId xmlns:r="http://schemas.openxmlformats.org/officeDocument/2006/relationships" id="257" r:id="R71932604f3fd4b5d"/>
    <p:sldId xmlns:r="http://schemas.openxmlformats.org/officeDocument/2006/relationships" id="258" r:id="R9844698ceb8f4ebb"/>
    <p:sldId xmlns:r="http://schemas.openxmlformats.org/officeDocument/2006/relationships" id="259" r:id="R7fa58979f4864147"/>
    <p:sldId xmlns:r="http://schemas.openxmlformats.org/officeDocument/2006/relationships" id="260" r:id="R7ec93da76a08420a"/>
    <p:sldId xmlns:r="http://schemas.openxmlformats.org/officeDocument/2006/relationships" id="261" r:id="Rec72320c102840ca"/>
    <p:sldId xmlns:r="http://schemas.openxmlformats.org/officeDocument/2006/relationships" id="262" r:id="R615265eef35b451e"/>
    <p:sldId xmlns:r="http://schemas.openxmlformats.org/officeDocument/2006/relationships" id="263" r:id="R61a265af9d454790"/>
    <p:sldId xmlns:r="http://schemas.openxmlformats.org/officeDocument/2006/relationships" id="264" r:id="R9fc82a769e4540ae"/>
    <p:sldId xmlns:r="http://schemas.openxmlformats.org/officeDocument/2006/relationships" id="265" r:id="R0f8916a9a6b748a5"/>
    <p:sldId xmlns:r="http://schemas.openxmlformats.org/officeDocument/2006/relationships" id="266" r:id="Rdc41e16f539e4529"/>
    <p:sldId xmlns:r="http://schemas.openxmlformats.org/officeDocument/2006/relationships" id="267" r:id="R3359190779964f97"/>
    <p:sldId xmlns:r="http://schemas.openxmlformats.org/officeDocument/2006/relationships" id="268" r:id="Rc7e93b44d1cf494d"/>
    <p:sldId xmlns:r="http://schemas.openxmlformats.org/officeDocument/2006/relationships" id="269" r:id="Rb6d6e53c0bc84bcc"/>
    <p:sldId xmlns:r="http://schemas.openxmlformats.org/officeDocument/2006/relationships" id="270" r:id="R00c685e4f0394339"/>
    <p:sldId xmlns:r="http://schemas.openxmlformats.org/officeDocument/2006/relationships" id="271" r:id="R3270404c1fa34b5a"/>
    <p:sldId xmlns:r="http://schemas.openxmlformats.org/officeDocument/2006/relationships" id="272" r:id="Rd51b11f5a3334d05"/>
    <p:sldId xmlns:r="http://schemas.openxmlformats.org/officeDocument/2006/relationships" id="273" r:id="Rd55fd87becfa433a"/>
    <p:sldId xmlns:r="http://schemas.openxmlformats.org/officeDocument/2006/relationships" id="274" r:id="Rec4b82d59f5c48f8"/>
    <p:sldId xmlns:r="http://schemas.openxmlformats.org/officeDocument/2006/relationships" id="275" r:id="R3fd1a42d7dec48c6"/>
    <p:sldId xmlns:r="http://schemas.openxmlformats.org/officeDocument/2006/relationships" id="276" r:id="R6d485db069794827"/>
    <p:sldId xmlns:r="http://schemas.openxmlformats.org/officeDocument/2006/relationships" id="277" r:id="Rd165ee88aaa1406c"/>
    <p:sldId xmlns:r="http://schemas.openxmlformats.org/officeDocument/2006/relationships" id="278" r:id="Rb790904807694691"/>
    <p:sldId xmlns:r="http://schemas.openxmlformats.org/officeDocument/2006/relationships" id="279" r:id="R78571ba1368844eb"/>
    <p:sldId xmlns:r="http://schemas.openxmlformats.org/officeDocument/2006/relationships" id="280" r:id="Rce3d8f14d8c94472"/>
    <p:sldId xmlns:r="http://schemas.openxmlformats.org/officeDocument/2006/relationships" id="281" r:id="R5cf45b5d245f4b0b"/>
    <p:sldId xmlns:r="http://schemas.openxmlformats.org/officeDocument/2006/relationships" id="282" r:id="R85ad805619d548ad"/>
    <p:sldId xmlns:r="http://schemas.openxmlformats.org/officeDocument/2006/relationships" id="283" r:id="R870ec9a371e04ef1"/>
    <p:sldId xmlns:r="http://schemas.openxmlformats.org/officeDocument/2006/relationships" id="284" r:id="Re82f5d17d25b4678"/>
    <p:sldId xmlns:r="http://schemas.openxmlformats.org/officeDocument/2006/relationships" id="285" r:id="Rc49eff369af94800"/>
    <p:sldId xmlns:r="http://schemas.openxmlformats.org/officeDocument/2006/relationships" id="286" r:id="R7907093db65d4fc5"/>
    <p:sldId xmlns:r="http://schemas.openxmlformats.org/officeDocument/2006/relationships" id="287" r:id="R79dff9bc80134f8c"/>
    <p:sldId xmlns:r="http://schemas.openxmlformats.org/officeDocument/2006/relationships" id="288" r:id="R2d7666db17724f07"/>
    <p:sldId xmlns:r="http://schemas.openxmlformats.org/officeDocument/2006/relationships" id="289" r:id="Ra12558259f2c4033"/>
    <p:sldId xmlns:r="http://schemas.openxmlformats.org/officeDocument/2006/relationships" id="290" r:id="R9009f1f8edf140ae"/>
    <p:sldId xmlns:r="http://schemas.openxmlformats.org/officeDocument/2006/relationships" id="291" r:id="R9f088807e949493b"/>
    <p:sldId xmlns:r="http://schemas.openxmlformats.org/officeDocument/2006/relationships" id="292" r:id="R4b72869920e84a8d"/>
    <p:sldId xmlns:r="http://schemas.openxmlformats.org/officeDocument/2006/relationships" id="293" r:id="R89048b1977e149f4"/>
    <p:sldId xmlns:r="http://schemas.openxmlformats.org/officeDocument/2006/relationships" id="294" r:id="R0294fca68d6240f4"/>
    <p:sldId xmlns:r="http://schemas.openxmlformats.org/officeDocument/2006/relationships" id="295" r:id="R1bbb0bf5fb0f4e49"/>
    <p:sldId xmlns:r="http://schemas.openxmlformats.org/officeDocument/2006/relationships" id="296" r:id="R4506e486fccd4f4b"/>
    <p:sldId xmlns:r="http://schemas.openxmlformats.org/officeDocument/2006/relationships" id="297" r:id="R8eab7211dffb4769"/>
    <p:sldId xmlns:r="http://schemas.openxmlformats.org/officeDocument/2006/relationships" id="298" r:id="R3b78e44484844e88"/>
    <p:sldId xmlns:r="http://schemas.openxmlformats.org/officeDocument/2006/relationships" id="299" r:id="R2d0559ca1ae84617"/>
    <p:sldId xmlns:r="http://schemas.openxmlformats.org/officeDocument/2006/relationships" id="300" r:id="Rb6a68a03db7c4464"/>
    <p:sldId xmlns:r="http://schemas.openxmlformats.org/officeDocument/2006/relationships" id="301" r:id="R699d495d854742d0"/>
    <p:sldId xmlns:r="http://schemas.openxmlformats.org/officeDocument/2006/relationships" id="302" r:id="Rbae5069798094914"/>
    <p:sldId xmlns:r="http://schemas.openxmlformats.org/officeDocument/2006/relationships" id="303" r:id="Re0679bb6f0f34353"/>
    <p:sldId xmlns:r="http://schemas.openxmlformats.org/officeDocument/2006/relationships" id="304" r:id="R6d4c8175cb634d5f"/>
    <p:sldId xmlns:r="http://schemas.openxmlformats.org/officeDocument/2006/relationships" id="305" r:id="Rfe35a48b7126483b"/>
    <p:sldId xmlns:r="http://schemas.openxmlformats.org/officeDocument/2006/relationships" id="306" r:id="R5977d9aad7104f87"/>
    <p:sldId xmlns:r="http://schemas.openxmlformats.org/officeDocument/2006/relationships" id="307" r:id="Rd5abf16a2e1b443e"/>
    <p:sldId xmlns:r="http://schemas.openxmlformats.org/officeDocument/2006/relationships" id="308" r:id="R7b7e501b44ad4c16"/>
    <p:sldId xmlns:r="http://schemas.openxmlformats.org/officeDocument/2006/relationships" id="309" r:id="R56365fff2a29487b"/>
    <p:sldId xmlns:r="http://schemas.openxmlformats.org/officeDocument/2006/relationships" id="310" r:id="Rde427552cf194e3c"/>
    <p:sldId xmlns:r="http://schemas.openxmlformats.org/officeDocument/2006/relationships" id="311" r:id="R7cbb7598dfdc453a"/>
    <p:sldId xmlns:r="http://schemas.openxmlformats.org/officeDocument/2006/relationships" id="312" r:id="R89aa85ace0614618"/>
    <p:sldId xmlns:r="http://schemas.openxmlformats.org/officeDocument/2006/relationships" id="313" r:id="Rd738f08014604276"/>
    <p:sldId xmlns:r="http://schemas.openxmlformats.org/officeDocument/2006/relationships" id="314" r:id="R72d4f51ab68b4eef"/>
    <p:sldId xmlns:r="http://schemas.openxmlformats.org/officeDocument/2006/relationships" id="315" r:id="R6dfdd88fe1114070"/>
    <p:sldId xmlns:r="http://schemas.openxmlformats.org/officeDocument/2006/relationships" id="316" r:id="R1e2aabe16129434e"/>
    <p:sldId xmlns:r="http://schemas.openxmlformats.org/officeDocument/2006/relationships" id="317" r:id="R83350c6ad1e74614"/>
    <p:sldId xmlns:r="http://schemas.openxmlformats.org/officeDocument/2006/relationships" id="318" r:id="Ra0baa327481d4105"/>
    <p:sldId xmlns:r="http://schemas.openxmlformats.org/officeDocument/2006/relationships" id="319" r:id="R6bb2d0e20490417f"/>
    <p:sldId xmlns:r="http://schemas.openxmlformats.org/officeDocument/2006/relationships" id="320" r:id="R1c8e2e252f344d8b"/>
    <p:sldId xmlns:r="http://schemas.openxmlformats.org/officeDocument/2006/relationships" id="321" r:id="R068f05a4d90b4070"/>
    <p:sldId xmlns:r="http://schemas.openxmlformats.org/officeDocument/2006/relationships" id="322" r:id="R9cd629d93c734f7a"/>
    <p:sldId xmlns:r="http://schemas.openxmlformats.org/officeDocument/2006/relationships" id="323" r:id="R731fce3c83834761"/>
    <p:sldId xmlns:r="http://schemas.openxmlformats.org/officeDocument/2006/relationships" id="324" r:id="R463517b36690477c"/>
    <p:sldId xmlns:r="http://schemas.openxmlformats.org/officeDocument/2006/relationships" id="325" r:id="R8bc705f4545f46de"/>
    <p:sldId xmlns:r="http://schemas.openxmlformats.org/officeDocument/2006/relationships" id="326" r:id="Rccacacae3b9b44d0"/>
    <p:sldId xmlns:r="http://schemas.openxmlformats.org/officeDocument/2006/relationships" id="327" r:id="R4bfdd3e244c244f0"/>
    <p:sldId xmlns:r="http://schemas.openxmlformats.org/officeDocument/2006/relationships" id="328" r:id="R1eacaa39656d411a"/>
    <p:sldId xmlns:r="http://schemas.openxmlformats.org/officeDocument/2006/relationships" id="329" r:id="Raaa6d89163b34fee"/>
    <p:sldId xmlns:r="http://schemas.openxmlformats.org/officeDocument/2006/relationships" id="330" r:id="Rce039da89d774842"/>
    <p:sldId xmlns:r="http://schemas.openxmlformats.org/officeDocument/2006/relationships" id="331" r:id="R9eac0bc9a38f419b"/>
    <p:sldId xmlns:r="http://schemas.openxmlformats.org/officeDocument/2006/relationships" id="332" r:id="Re087c0bd87e84dd6"/>
    <p:sldId xmlns:r="http://schemas.openxmlformats.org/officeDocument/2006/relationships" id="333" r:id="Rd76ac647fffb417f"/>
    <p:sldId xmlns:r="http://schemas.openxmlformats.org/officeDocument/2006/relationships" id="334" r:id="Ra9b885c35fdd42b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7a368157444b25" /><Relationship Type="http://schemas.openxmlformats.org/officeDocument/2006/relationships/slideMaster" Target="/ppt/slideMasters/slideMaster1.xml" Id="R1f4ea48c80364577" /><Relationship Type="http://schemas.openxmlformats.org/officeDocument/2006/relationships/notesMaster" Target="/ppt/notesMasters/notesMaster1.xml" Id="R071f5599d40b44fb" /><Relationship Type="http://schemas.openxmlformats.org/officeDocument/2006/relationships/presProps" Target="/ppt/presProps.xml" Id="Rbe3c3a79201c4420" /><Relationship Type="http://schemas.openxmlformats.org/officeDocument/2006/relationships/tableStyles" Target="/ppt/tableStyles.xml" Id="Rebf311b99edf4612" /><Relationship Type="http://schemas.openxmlformats.org/officeDocument/2006/relationships/slide" Target="/ppt/slides/slide1.xml" Id="R93017928cefe4046" /><Relationship Type="http://schemas.openxmlformats.org/officeDocument/2006/relationships/slide" Target="/ppt/slides/slide2.xml" Id="R71932604f3fd4b5d" /><Relationship Type="http://schemas.openxmlformats.org/officeDocument/2006/relationships/slide" Target="/ppt/slides/slide3.xml" Id="R9844698ceb8f4ebb" /><Relationship Type="http://schemas.openxmlformats.org/officeDocument/2006/relationships/slide" Target="/ppt/slides/slide4.xml" Id="R7fa58979f4864147" /><Relationship Type="http://schemas.openxmlformats.org/officeDocument/2006/relationships/slide" Target="/ppt/slides/slide5.xml" Id="R7ec93da76a08420a" /><Relationship Type="http://schemas.openxmlformats.org/officeDocument/2006/relationships/slide" Target="/ppt/slides/slide6.xml" Id="Rec72320c102840ca" /><Relationship Type="http://schemas.openxmlformats.org/officeDocument/2006/relationships/slide" Target="/ppt/slides/slide7.xml" Id="R615265eef35b451e" /><Relationship Type="http://schemas.openxmlformats.org/officeDocument/2006/relationships/slide" Target="/ppt/slides/slide8.xml" Id="R61a265af9d454790" /><Relationship Type="http://schemas.openxmlformats.org/officeDocument/2006/relationships/slide" Target="/ppt/slides/slide9.xml" Id="R9fc82a769e4540ae" /><Relationship Type="http://schemas.openxmlformats.org/officeDocument/2006/relationships/slide" Target="/ppt/slides/slide10.xml" Id="R0f8916a9a6b748a5" /><Relationship Type="http://schemas.openxmlformats.org/officeDocument/2006/relationships/slide" Target="/ppt/slides/slide11.xml" Id="Rdc41e16f539e4529" /><Relationship Type="http://schemas.openxmlformats.org/officeDocument/2006/relationships/slide" Target="/ppt/slides/slide12.xml" Id="R3359190779964f97" /><Relationship Type="http://schemas.openxmlformats.org/officeDocument/2006/relationships/slide" Target="/ppt/slides/slide13.xml" Id="Rc7e93b44d1cf494d" /><Relationship Type="http://schemas.openxmlformats.org/officeDocument/2006/relationships/slide" Target="/ppt/slides/slide14.xml" Id="Rb6d6e53c0bc84bcc" /><Relationship Type="http://schemas.openxmlformats.org/officeDocument/2006/relationships/slide" Target="/ppt/slides/slide15.xml" Id="R00c685e4f0394339" /><Relationship Type="http://schemas.openxmlformats.org/officeDocument/2006/relationships/slide" Target="/ppt/slides/slide16.xml" Id="R3270404c1fa34b5a" /><Relationship Type="http://schemas.openxmlformats.org/officeDocument/2006/relationships/slide" Target="/ppt/slides/slide17.xml" Id="Rd51b11f5a3334d05" /><Relationship Type="http://schemas.openxmlformats.org/officeDocument/2006/relationships/slide" Target="/ppt/slides/slide18.xml" Id="Rd55fd87becfa433a" /><Relationship Type="http://schemas.openxmlformats.org/officeDocument/2006/relationships/slide" Target="/ppt/slides/slide19.xml" Id="Rec4b82d59f5c48f8" /><Relationship Type="http://schemas.openxmlformats.org/officeDocument/2006/relationships/slide" Target="/ppt/slides/slide20.xml" Id="R3fd1a42d7dec48c6" /><Relationship Type="http://schemas.openxmlformats.org/officeDocument/2006/relationships/slide" Target="/ppt/slides/slide21.xml" Id="R6d485db069794827" /><Relationship Type="http://schemas.openxmlformats.org/officeDocument/2006/relationships/slide" Target="/ppt/slides/slide22.xml" Id="Rd165ee88aaa1406c" /><Relationship Type="http://schemas.openxmlformats.org/officeDocument/2006/relationships/slide" Target="/ppt/slides/slide23.xml" Id="Rb790904807694691" /><Relationship Type="http://schemas.openxmlformats.org/officeDocument/2006/relationships/slide" Target="/ppt/slides/slide24.xml" Id="R78571ba1368844eb" /><Relationship Type="http://schemas.openxmlformats.org/officeDocument/2006/relationships/slide" Target="/ppt/slides/slide25.xml" Id="Rce3d8f14d8c94472" /><Relationship Type="http://schemas.openxmlformats.org/officeDocument/2006/relationships/slide" Target="/ppt/slides/slide26.xml" Id="R5cf45b5d245f4b0b" /><Relationship Type="http://schemas.openxmlformats.org/officeDocument/2006/relationships/slide" Target="/ppt/slides/slide27.xml" Id="R85ad805619d548ad" /><Relationship Type="http://schemas.openxmlformats.org/officeDocument/2006/relationships/slide" Target="/ppt/slides/slide28.xml" Id="R870ec9a371e04ef1" /><Relationship Type="http://schemas.openxmlformats.org/officeDocument/2006/relationships/slide" Target="/ppt/slides/slide29.xml" Id="Re82f5d17d25b4678" /><Relationship Type="http://schemas.openxmlformats.org/officeDocument/2006/relationships/slide" Target="/ppt/slides/slide30.xml" Id="Rc49eff369af94800" /><Relationship Type="http://schemas.openxmlformats.org/officeDocument/2006/relationships/slide" Target="/ppt/slides/slide31.xml" Id="R7907093db65d4fc5" /><Relationship Type="http://schemas.openxmlformats.org/officeDocument/2006/relationships/slide" Target="/ppt/slides/slide32.xml" Id="R79dff9bc80134f8c" /><Relationship Type="http://schemas.openxmlformats.org/officeDocument/2006/relationships/slide" Target="/ppt/slides/slide33.xml" Id="R2d7666db17724f07" /><Relationship Type="http://schemas.openxmlformats.org/officeDocument/2006/relationships/slide" Target="/ppt/slides/slide34.xml" Id="Ra12558259f2c4033" /><Relationship Type="http://schemas.openxmlformats.org/officeDocument/2006/relationships/slide" Target="/ppt/slides/slide35.xml" Id="R9009f1f8edf140ae" /><Relationship Type="http://schemas.openxmlformats.org/officeDocument/2006/relationships/slide" Target="/ppt/slides/slide36.xml" Id="R9f088807e949493b" /><Relationship Type="http://schemas.openxmlformats.org/officeDocument/2006/relationships/slide" Target="/ppt/slides/slide37.xml" Id="R4b72869920e84a8d" /><Relationship Type="http://schemas.openxmlformats.org/officeDocument/2006/relationships/slide" Target="/ppt/slides/slide38.xml" Id="R89048b1977e149f4" /><Relationship Type="http://schemas.openxmlformats.org/officeDocument/2006/relationships/slide" Target="/ppt/slides/slide39.xml" Id="R0294fca68d6240f4" /><Relationship Type="http://schemas.openxmlformats.org/officeDocument/2006/relationships/slide" Target="/ppt/slides/slide40.xml" Id="R1bbb0bf5fb0f4e49" /><Relationship Type="http://schemas.openxmlformats.org/officeDocument/2006/relationships/slide" Target="/ppt/slides/slide41.xml" Id="R4506e486fccd4f4b" /><Relationship Type="http://schemas.openxmlformats.org/officeDocument/2006/relationships/slide" Target="/ppt/slides/slide42.xml" Id="R8eab7211dffb4769" /><Relationship Type="http://schemas.openxmlformats.org/officeDocument/2006/relationships/slide" Target="/ppt/slides/slide43.xml" Id="R3b78e44484844e88" /><Relationship Type="http://schemas.openxmlformats.org/officeDocument/2006/relationships/slide" Target="/ppt/slides/slide44.xml" Id="R2d0559ca1ae84617" /><Relationship Type="http://schemas.openxmlformats.org/officeDocument/2006/relationships/slide" Target="/ppt/slides/slide45.xml" Id="Rb6a68a03db7c4464" /><Relationship Type="http://schemas.openxmlformats.org/officeDocument/2006/relationships/slide" Target="/ppt/slides/slide46.xml" Id="R699d495d854742d0" /><Relationship Type="http://schemas.openxmlformats.org/officeDocument/2006/relationships/slide" Target="/ppt/slides/slide47.xml" Id="Rbae5069798094914" /><Relationship Type="http://schemas.openxmlformats.org/officeDocument/2006/relationships/slide" Target="/ppt/slides/slide48.xml" Id="Re0679bb6f0f34353" /><Relationship Type="http://schemas.openxmlformats.org/officeDocument/2006/relationships/slide" Target="/ppt/slides/slide49.xml" Id="R6d4c8175cb634d5f" /><Relationship Type="http://schemas.openxmlformats.org/officeDocument/2006/relationships/slide" Target="/ppt/slides/slide50.xml" Id="Rfe35a48b7126483b" /><Relationship Type="http://schemas.openxmlformats.org/officeDocument/2006/relationships/slide" Target="/ppt/slides/slide51.xml" Id="R5977d9aad7104f87" /><Relationship Type="http://schemas.openxmlformats.org/officeDocument/2006/relationships/slide" Target="/ppt/slides/slide52.xml" Id="Rd5abf16a2e1b443e" /><Relationship Type="http://schemas.openxmlformats.org/officeDocument/2006/relationships/slide" Target="/ppt/slides/slide53.xml" Id="R7b7e501b44ad4c16" /><Relationship Type="http://schemas.openxmlformats.org/officeDocument/2006/relationships/slide" Target="/ppt/slides/slide54.xml" Id="R56365fff2a29487b" /><Relationship Type="http://schemas.openxmlformats.org/officeDocument/2006/relationships/slide" Target="/ppt/slides/slide55.xml" Id="Rde427552cf194e3c" /><Relationship Type="http://schemas.openxmlformats.org/officeDocument/2006/relationships/slide" Target="/ppt/slides/slide56.xml" Id="R7cbb7598dfdc453a" /><Relationship Type="http://schemas.openxmlformats.org/officeDocument/2006/relationships/slide" Target="/ppt/slides/slide57.xml" Id="R89aa85ace0614618" /><Relationship Type="http://schemas.openxmlformats.org/officeDocument/2006/relationships/slide" Target="/ppt/slides/slide58.xml" Id="Rd738f08014604276" /><Relationship Type="http://schemas.openxmlformats.org/officeDocument/2006/relationships/slide" Target="/ppt/slides/slide59.xml" Id="R72d4f51ab68b4eef" /><Relationship Type="http://schemas.openxmlformats.org/officeDocument/2006/relationships/slide" Target="/ppt/slides/slide60.xml" Id="R6dfdd88fe1114070" /><Relationship Type="http://schemas.openxmlformats.org/officeDocument/2006/relationships/slide" Target="/ppt/slides/slide61.xml" Id="R1e2aabe16129434e" /><Relationship Type="http://schemas.openxmlformats.org/officeDocument/2006/relationships/slide" Target="/ppt/slides/slide62.xml" Id="R83350c6ad1e74614" /><Relationship Type="http://schemas.openxmlformats.org/officeDocument/2006/relationships/slide" Target="/ppt/slides/slide63.xml" Id="Ra0baa327481d4105" /><Relationship Type="http://schemas.openxmlformats.org/officeDocument/2006/relationships/slide" Target="/ppt/slides/slide64.xml" Id="R6bb2d0e20490417f" /><Relationship Type="http://schemas.openxmlformats.org/officeDocument/2006/relationships/slide" Target="/ppt/slides/slide65.xml" Id="R1c8e2e252f344d8b" /><Relationship Type="http://schemas.openxmlformats.org/officeDocument/2006/relationships/slide" Target="/ppt/slides/slide66.xml" Id="R068f05a4d90b4070" /><Relationship Type="http://schemas.openxmlformats.org/officeDocument/2006/relationships/slide" Target="/ppt/slides/slide67.xml" Id="R9cd629d93c734f7a" /><Relationship Type="http://schemas.openxmlformats.org/officeDocument/2006/relationships/slide" Target="/ppt/slides/slide68.xml" Id="R731fce3c83834761" /><Relationship Type="http://schemas.openxmlformats.org/officeDocument/2006/relationships/slide" Target="/ppt/slides/slide69.xml" Id="R463517b36690477c" /><Relationship Type="http://schemas.openxmlformats.org/officeDocument/2006/relationships/slide" Target="/ppt/slides/slide70.xml" Id="R8bc705f4545f46de" /><Relationship Type="http://schemas.openxmlformats.org/officeDocument/2006/relationships/slide" Target="/ppt/slides/slide71.xml" Id="Rccacacae3b9b44d0" /><Relationship Type="http://schemas.openxmlformats.org/officeDocument/2006/relationships/slide" Target="/ppt/slides/slide72.xml" Id="R4bfdd3e244c244f0" /><Relationship Type="http://schemas.openxmlformats.org/officeDocument/2006/relationships/slide" Target="/ppt/slides/slide73.xml" Id="R1eacaa39656d411a" /><Relationship Type="http://schemas.openxmlformats.org/officeDocument/2006/relationships/slide" Target="/ppt/slides/slide74.xml" Id="Raaa6d89163b34fee" /><Relationship Type="http://schemas.openxmlformats.org/officeDocument/2006/relationships/slide" Target="/ppt/slides/slide75.xml" Id="Rce039da89d774842" /><Relationship Type="http://schemas.openxmlformats.org/officeDocument/2006/relationships/slide" Target="/ppt/slides/slide76.xml" Id="R9eac0bc9a38f419b" /><Relationship Type="http://schemas.openxmlformats.org/officeDocument/2006/relationships/slide" Target="/ppt/slides/slide77.xml" Id="Re087c0bd87e84dd6" /><Relationship Type="http://schemas.openxmlformats.org/officeDocument/2006/relationships/slide" Target="/ppt/slides/slide78.xml" Id="Rd76ac647fffb417f" /><Relationship Type="http://schemas.openxmlformats.org/officeDocument/2006/relationships/slide" Target="/ppt/slides/slide79.xml" Id="Ra9b885c35fdd42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ae3483f99947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BLACK WHITE NAVY BLUE">
      <a:dk1>
        <a:srgbClr val="050505"/>
      </a:dk1>
      <a:lt1>
        <a:srgbClr val="FFFFFF"/>
      </a:lt1>
      <a:dk2>
        <a:srgbClr val="0B1F3A"/>
      </a:dk2>
      <a:lt2>
        <a:srgbClr val="F7F8FA"/>
      </a:lt2>
      <a:accent1>
        <a:srgbClr val="2563EB"/>
      </a:accent1>
      <a:accent2>
        <a:srgbClr val="0B1F3A"/>
      </a:accent2>
      <a:accent3>
        <a:srgbClr val="667085"/>
      </a:accent3>
      <a:accent4>
        <a:srgbClr val="E0F0FE"/>
      </a:accent4>
      <a:accent5>
        <a:srgbClr val="191919"/>
      </a:accent5>
      <a:accent6>
        <a:srgbClr val="98A2B3"/>
      </a:accent6>
      <a:hlink>
        <a:srgbClr val="2563EB"/>
      </a:hlink>
      <a:folHlink>
        <a:srgbClr val="0B1F3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NAVY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579328341f943ef" /><Relationship Type="http://schemas.openxmlformats.org/officeDocument/2006/relationships/notesMaster" Target="/ppt/notesMasters/notesMaster1.xml" Id="R71adb0ac4d0140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c315605dbb549fc" /><Relationship Type="http://schemas.openxmlformats.org/officeDocument/2006/relationships/notesMaster" Target="/ppt/notesMasters/notesMaster1.xml" Id="R5aab315eba87490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c68e595591b49b8" /><Relationship Type="http://schemas.openxmlformats.org/officeDocument/2006/relationships/notesMaster" Target="/ppt/notesMasters/notesMaster1.xml" Id="Rf1228a20775746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26d34d5cb74a9a" /><Relationship Type="http://schemas.openxmlformats.org/officeDocument/2006/relationships/notesMaster" Target="/ppt/notesMasters/notesMaster1.xml" Id="R69d2aa2f69fb42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71160ca6af04541" /><Relationship Type="http://schemas.openxmlformats.org/officeDocument/2006/relationships/notesMaster" Target="/ppt/notesMasters/notesMaster1.xml" Id="R9f0239087f2a43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74ab252dc6c4070" /><Relationship Type="http://schemas.openxmlformats.org/officeDocument/2006/relationships/notesMaster" Target="/ppt/notesMasters/notesMaster1.xml" Id="Rad01b87e6f754c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de31260be34023" /><Relationship Type="http://schemas.openxmlformats.org/officeDocument/2006/relationships/notesMaster" Target="/ppt/notesMasters/notesMaster1.xml" Id="R3d7d87a0cc1745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da3c29f7c5439b" /><Relationship Type="http://schemas.openxmlformats.org/officeDocument/2006/relationships/notesMaster" Target="/ppt/notesMasters/notesMaster1.xml" Id="Rcd6f979df3754f9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8020e0abfed4d50" /><Relationship Type="http://schemas.openxmlformats.org/officeDocument/2006/relationships/notesMaster" Target="/ppt/notesMasters/notesMaster1.xml" Id="Rf8b11b68347b4df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acf7f1ea77c4508" /><Relationship Type="http://schemas.openxmlformats.org/officeDocument/2006/relationships/notesMaster" Target="/ppt/notesMasters/notesMaster1.xml" Id="R9b8910576a07483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9843bec69144cc6" /><Relationship Type="http://schemas.openxmlformats.org/officeDocument/2006/relationships/notesMaster" Target="/ppt/notesMasters/notesMaster1.xml" Id="Rcfe96e64a496472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7f15179496a44a4" /><Relationship Type="http://schemas.openxmlformats.org/officeDocument/2006/relationships/notesMaster" Target="/ppt/notesMasters/notesMaster1.xml" Id="Refec7ae7385b4c9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8e8a00d64ef41c6" /><Relationship Type="http://schemas.openxmlformats.org/officeDocument/2006/relationships/notesMaster" Target="/ppt/notesMasters/notesMaster1.xml" Id="R102263f24b8c4a4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4a67cf354a54fa5" /><Relationship Type="http://schemas.openxmlformats.org/officeDocument/2006/relationships/notesMaster" Target="/ppt/notesMasters/notesMaster1.xml" Id="R367f90947975425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41f506bc78b4aa6" /><Relationship Type="http://schemas.openxmlformats.org/officeDocument/2006/relationships/notesMaster" Target="/ppt/notesMasters/notesMaster1.xml" Id="R7e6ea20818054c8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de2d73c121a4d85" /><Relationship Type="http://schemas.openxmlformats.org/officeDocument/2006/relationships/notesMaster" Target="/ppt/notesMasters/notesMaster1.xml" Id="Rf1bd4da13d60403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fb888d37f7d433e" /><Relationship Type="http://schemas.openxmlformats.org/officeDocument/2006/relationships/notesMaster" Target="/ppt/notesMasters/notesMaster1.xml" Id="R424458649c3d4bf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49f460e30fb42c4" /><Relationship Type="http://schemas.openxmlformats.org/officeDocument/2006/relationships/notesMaster" Target="/ppt/notesMasters/notesMaster1.xml" Id="R205cddbaa20741d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acc751da58b4772" /><Relationship Type="http://schemas.openxmlformats.org/officeDocument/2006/relationships/notesMaster" Target="/ppt/notesMasters/notesMaster1.xml" Id="R0e7ffa49f198431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34c9e81b88748f3" /><Relationship Type="http://schemas.openxmlformats.org/officeDocument/2006/relationships/notesMaster" Target="/ppt/notesMasters/notesMaster1.xml" Id="R31305a49c146446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206e0ae53de4093" /><Relationship Type="http://schemas.openxmlformats.org/officeDocument/2006/relationships/notesMaster" Target="/ppt/notesMasters/notesMaster1.xml" Id="Re10c4ef3b06d448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aebd7c3af964472" /><Relationship Type="http://schemas.openxmlformats.org/officeDocument/2006/relationships/notesMaster" Target="/ppt/notesMasters/notesMaster1.xml" Id="Re98e88f25349460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76784c0d155437c" /><Relationship Type="http://schemas.openxmlformats.org/officeDocument/2006/relationships/notesMaster" Target="/ppt/notesMasters/notesMaster1.xml" Id="R95ea0aab04ad4bb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2c41579dfa04499" /><Relationship Type="http://schemas.openxmlformats.org/officeDocument/2006/relationships/notesMaster" Target="/ppt/notesMasters/notesMaster1.xml" Id="Rea7cffa20e7f47c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d361326d1fa425e" /><Relationship Type="http://schemas.openxmlformats.org/officeDocument/2006/relationships/notesMaster" Target="/ppt/notesMasters/notesMaster1.xml" Id="R427eb43d8608465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419cf285fa5499c" /><Relationship Type="http://schemas.openxmlformats.org/officeDocument/2006/relationships/notesMaster" Target="/ppt/notesMasters/notesMaster1.xml" Id="Ra890181f2a57430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c0f274ec05f4ba4" /><Relationship Type="http://schemas.openxmlformats.org/officeDocument/2006/relationships/notesMaster" Target="/ppt/notesMasters/notesMaster1.xml" Id="Rb80655a753f34c1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f8fa19d065d4eac" /><Relationship Type="http://schemas.openxmlformats.org/officeDocument/2006/relationships/notesMaster" Target="/ppt/notesMasters/notesMaster1.xml" Id="R04b9351890c7438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ac7608c56c341e5" /><Relationship Type="http://schemas.openxmlformats.org/officeDocument/2006/relationships/notesMaster" Target="/ppt/notesMasters/notesMaster1.xml" Id="R3048767f6cf6458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eace85c62b2465e" /><Relationship Type="http://schemas.openxmlformats.org/officeDocument/2006/relationships/notesMaster" Target="/ppt/notesMasters/notesMaster1.xml" Id="R07401bd87f934a6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0d1fe60b3344e6f" /><Relationship Type="http://schemas.openxmlformats.org/officeDocument/2006/relationships/notesMaster" Target="/ppt/notesMasters/notesMaster1.xml" Id="R22841ccb71a049b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e6783fca28a432d" /><Relationship Type="http://schemas.openxmlformats.org/officeDocument/2006/relationships/notesMaster" Target="/ppt/notesMasters/notesMaster1.xml" Id="R159c4da1021e4b2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4f2399bac924d1c" /><Relationship Type="http://schemas.openxmlformats.org/officeDocument/2006/relationships/notesMaster" Target="/ppt/notesMasters/notesMaster1.xml" Id="R588c16074f1f4f2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8bf1ad4eb7543d3" /><Relationship Type="http://schemas.openxmlformats.org/officeDocument/2006/relationships/notesMaster" Target="/ppt/notesMasters/notesMaster1.xml" Id="R20260dc0a78746c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d087f4c263b4032" /><Relationship Type="http://schemas.openxmlformats.org/officeDocument/2006/relationships/notesMaster" Target="/ppt/notesMasters/notesMaster1.xml" Id="R4a6c781bdb2643b8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fac3fad253b43e3" /><Relationship Type="http://schemas.openxmlformats.org/officeDocument/2006/relationships/notesMaster" Target="/ppt/notesMasters/notesMaster1.xml" Id="R3ccf59e56c2f4d4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11d903a72b174aa8" /><Relationship Type="http://schemas.openxmlformats.org/officeDocument/2006/relationships/notesMaster" Target="/ppt/notesMasters/notesMaster1.xml" Id="R81c9855575f54ff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f5b733709e7b46b0" /><Relationship Type="http://schemas.openxmlformats.org/officeDocument/2006/relationships/notesMaster" Target="/ppt/notesMasters/notesMaster1.xml" Id="Reb9f6be0c7f54ab5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fef776ee78f2425e" /><Relationship Type="http://schemas.openxmlformats.org/officeDocument/2006/relationships/notesMaster" Target="/ppt/notesMasters/notesMaster1.xml" Id="R1707345dda6c4ad4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b17189f6d99b4315" /><Relationship Type="http://schemas.openxmlformats.org/officeDocument/2006/relationships/notesMaster" Target="/ppt/notesMasters/notesMaster1.xml" Id="R00b7eeefbda0409a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5aea1deac4824297" /><Relationship Type="http://schemas.openxmlformats.org/officeDocument/2006/relationships/notesMaster" Target="/ppt/notesMasters/notesMaster1.xml" Id="R12a9312b67cd435a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18c1485eca0a44a9" /><Relationship Type="http://schemas.openxmlformats.org/officeDocument/2006/relationships/notesMaster" Target="/ppt/notesMasters/notesMaster1.xml" Id="R437ac868ec8f4fb2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206c4bc063b44c9d" /><Relationship Type="http://schemas.openxmlformats.org/officeDocument/2006/relationships/notesMaster" Target="/ppt/notesMasters/notesMaster1.xml" Id="R58026a07a3284403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df4140c87084e08" /><Relationship Type="http://schemas.openxmlformats.org/officeDocument/2006/relationships/notesMaster" Target="/ppt/notesMasters/notesMaster1.xml" Id="R0332427da98c444a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359f03f2047944b3" /><Relationship Type="http://schemas.openxmlformats.org/officeDocument/2006/relationships/notesMaster" Target="/ppt/notesMasters/notesMaster1.xml" Id="Rfd83ac3a70824421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2eb9afe96c824506" /><Relationship Type="http://schemas.openxmlformats.org/officeDocument/2006/relationships/notesMaster" Target="/ppt/notesMasters/notesMaster1.xml" Id="Rc1849ea40e1b453f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09dfa63ef0074fad" /><Relationship Type="http://schemas.openxmlformats.org/officeDocument/2006/relationships/notesMaster" Target="/ppt/notesMasters/notesMaster1.xml" Id="R28c2d9b2013f4646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2e5c83fe35bd4564" /><Relationship Type="http://schemas.openxmlformats.org/officeDocument/2006/relationships/notesMaster" Target="/ppt/notesMasters/notesMaster1.xml" Id="R06c223d210644ecf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5dd42f89d1294ecc" /><Relationship Type="http://schemas.openxmlformats.org/officeDocument/2006/relationships/notesMaster" Target="/ppt/notesMasters/notesMaster1.xml" Id="Rd9cadd5b1cda4aee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970a5b68cb0b4f89" /><Relationship Type="http://schemas.openxmlformats.org/officeDocument/2006/relationships/notesMaster" Target="/ppt/notesMasters/notesMaster1.xml" Id="R2c0b113550c34e83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360fecf4e9dd48e8" /><Relationship Type="http://schemas.openxmlformats.org/officeDocument/2006/relationships/notesMaster" Target="/ppt/notesMasters/notesMaster1.xml" Id="Rab13ca86adc14323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568f99cf23e746f6" /><Relationship Type="http://schemas.openxmlformats.org/officeDocument/2006/relationships/notesMaster" Target="/ppt/notesMasters/notesMaster1.xml" Id="Rdb9ebef1f5364545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9442d8280ecf4bdd" /><Relationship Type="http://schemas.openxmlformats.org/officeDocument/2006/relationships/notesMaster" Target="/ppt/notesMasters/notesMaster1.xml" Id="R438814b379754b9e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0c8ec3e5f0874d78" /><Relationship Type="http://schemas.openxmlformats.org/officeDocument/2006/relationships/notesMaster" Target="/ppt/notesMasters/notesMaster1.xml" Id="R1934c27e69494ae9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8f4fd0b68f574217" /><Relationship Type="http://schemas.openxmlformats.org/officeDocument/2006/relationships/notesMaster" Target="/ppt/notesMasters/notesMaster1.xml" Id="Rfe8d4a51910d40e4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b8d98a5d2388406e" /><Relationship Type="http://schemas.openxmlformats.org/officeDocument/2006/relationships/notesMaster" Target="/ppt/notesMasters/notesMaster1.xml" Id="R1dd96d09c37243a8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1f799da173e04a17" /><Relationship Type="http://schemas.openxmlformats.org/officeDocument/2006/relationships/notesMaster" Target="/ppt/notesMasters/notesMaster1.xml" Id="R8c994a56538a4b2f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de5c43bbc8074dd5" /><Relationship Type="http://schemas.openxmlformats.org/officeDocument/2006/relationships/notesMaster" Target="/ppt/notesMasters/notesMaster1.xml" Id="Rba3741120a114d5d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f9b1aa4472fa46ef" /><Relationship Type="http://schemas.openxmlformats.org/officeDocument/2006/relationships/notesMaster" Target="/ppt/notesMasters/notesMaster1.xml" Id="Ra91ea5a403f34770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f58b884116804a01" /><Relationship Type="http://schemas.openxmlformats.org/officeDocument/2006/relationships/notesMaster" Target="/ppt/notesMasters/notesMaster1.xml" Id="R0232fd712206412c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c55a820319e74c94" /><Relationship Type="http://schemas.openxmlformats.org/officeDocument/2006/relationships/notesMaster" Target="/ppt/notesMasters/notesMaster1.xml" Id="R5c80a08f71774064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9b774380f6134659" /><Relationship Type="http://schemas.openxmlformats.org/officeDocument/2006/relationships/notesMaster" Target="/ppt/notesMasters/notesMaster1.xml" Id="R2cf2efdc33c447f5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456b56c22c304fe7" /><Relationship Type="http://schemas.openxmlformats.org/officeDocument/2006/relationships/notesMaster" Target="/ppt/notesMasters/notesMaster1.xml" Id="Rc8211be43e9e402d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74d5a7bdc7324094" /><Relationship Type="http://schemas.openxmlformats.org/officeDocument/2006/relationships/notesMaster" Target="/ppt/notesMasters/notesMaster1.xml" Id="R0189954a035d44de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cf2d0eb6c6b444d8" /><Relationship Type="http://schemas.openxmlformats.org/officeDocument/2006/relationships/notesMaster" Target="/ppt/notesMasters/notesMaster1.xml" Id="Rfc9c2040bb4c48d6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7704069543104991" /><Relationship Type="http://schemas.openxmlformats.org/officeDocument/2006/relationships/notesMaster" Target="/ppt/notesMasters/notesMaster1.xml" Id="R048c7704702246cf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afb067e7c9c1422f" /><Relationship Type="http://schemas.openxmlformats.org/officeDocument/2006/relationships/notesMaster" Target="/ppt/notesMasters/notesMaster1.xml" Id="R0bf4bf2140224f8b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31a8ea606aa54730" /><Relationship Type="http://schemas.openxmlformats.org/officeDocument/2006/relationships/notesMaster" Target="/ppt/notesMasters/notesMaster1.xml" Id="Redf7cc9236ef4f61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7b1d4e6c9ac34111" /><Relationship Type="http://schemas.openxmlformats.org/officeDocument/2006/relationships/notesMaster" Target="/ppt/notesMasters/notesMaster1.xml" Id="Raa213429e1714d3b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8fa2222a5b4e4a6a" /><Relationship Type="http://schemas.openxmlformats.org/officeDocument/2006/relationships/notesMaster" Target="/ppt/notesMasters/notesMaster1.xml" Id="Rff1e585e97834644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a3bf1ae685c64f01" /><Relationship Type="http://schemas.openxmlformats.org/officeDocument/2006/relationships/notesMaster" Target="/ppt/notesMasters/notesMaster1.xml" Id="Rc6e08db2794345a0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b0e304d5de0c4ae5" /><Relationship Type="http://schemas.openxmlformats.org/officeDocument/2006/relationships/notesMaster" Target="/ppt/notesMasters/notesMaster1.xml" Id="Rb9dbf4f6193e4735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1369099774514d2b" /><Relationship Type="http://schemas.openxmlformats.org/officeDocument/2006/relationships/notesMaster" Target="/ppt/notesMasters/notesMaster1.xml" Id="Reaefb5185f354159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e916892dfba941d0" /><Relationship Type="http://schemas.openxmlformats.org/officeDocument/2006/relationships/notesMaster" Target="/ppt/notesMasters/notesMaster1.xml" Id="Rae6aaea6c078447a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754d682f113b4ede" /><Relationship Type="http://schemas.openxmlformats.org/officeDocument/2006/relationships/notesMaster" Target="/ppt/notesMasters/notesMaster1.xml" Id="Raec0904e2ed94114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a6825abb75944b10" /><Relationship Type="http://schemas.openxmlformats.org/officeDocument/2006/relationships/notesMaster" Target="/ppt/notesMasters/notesMaster1.xml" Id="R5016ef9ee71040f4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07d2b58436a745ab" /><Relationship Type="http://schemas.openxmlformats.org/officeDocument/2006/relationships/notesMaster" Target="/ppt/notesMasters/notesMaster1.xml" Id="R4623dadb1e3f4088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88fca99220074255" /><Relationship Type="http://schemas.openxmlformats.org/officeDocument/2006/relationships/notesMaster" Target="/ppt/notesMasters/notesMaster1.xml" Id="R0515603129984b0e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c34a83c73c134417" /><Relationship Type="http://schemas.openxmlformats.org/officeDocument/2006/relationships/notesMaster" Target="/ppt/notesMasters/notesMaster1.xml" Id="Rb501e2fa0b5f4f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수업의 목표는 모델 이름 암기가 아니라 한 번의 실행을 trace로 남기고 비교 가능한 개선으로 바꾸는 일이다.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목록은 한 줄 화살표가 아니라 1–5 세로 목록으로 읽는다. 사실 오류로 단정하지 않고 모델 또는 시스템 수명주기를 설명하는 가능한 분류라고 소개한다.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https://docs.aws.amazon.com/wellarchitected/latest/generative-ai-lens/generative-ai-lifecycle.html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두 분류는 경쟁하는 정답이 아니다. 관리 대상과 목적이 다르므로 단계명도 달라진다. 기존의 ‘강의 기준과 달라서 오답’이라는 표현을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61–67)</a:t>
            </a:r>
          </a:p>
          <a:p xmlns:a="http://schemas.openxmlformats.org/drawingml/2006/main">
            <a:r>
              <a:t>- https://docs.cloud.google.com/architecture/deploy-operate-generative-ai-applications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일대일 대응을 강요하지 않는다. 특히 maintenance는 수업 프레임의 실행·관찰·개선에 걸치며 retirement는 별도 판정 경계다.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62–67)</a:t>
            </a:r>
          </a:p>
          <a:p xmlns:a="http://schemas.openxmlformats.org/drawingml/2006/main">
            <a:r>
              <a:t>- https://learn.microsoft.com/en-us/azure/architecture/ai-ml/guide/manage-foundation-models-lifecycle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2025년 2학기 실제 1주차 자료 s.62–67을 16주 산출물과 운영 증거에 맞춰 재정리한 기준임을 명시한다.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62–67)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https://airc.nist.gov/airmf-resources/airmf/5-sec-core/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자의적인 교수 기준이 아니라 재현 가능한 비교의 조건으로 설명한다. 네 요소 중 이번 주에 새로 남기는 핵심은 버전이 포함된 trace다.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설치 여부가 아니라 산출물 묶음으로 완료를 정의한다. 로컬 모델 설치가 늦으면 demo provider로 먼저 완주한다.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- repo:week01/lab/week01_trace01_lab.ipynb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이번 주 전체 흐름을 네 동사형 기능 라벨로 보여주되 장표 제목은 명사형으로 유지한다. TRACE가 호출과 비교를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공개 가능한 수준의 역할과 교육 배경만 소개한다. 현직 회사·팀명, 내부 프로젝트·지표, 연락처는 포함하지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https://github.com/smilesjcha/homepage_sjcha/blob/main/constants.ts</a:t>
            </a:r>
          </a:p>
          <a:p xmlns:a="http://schemas.openxmlformats.org/drawingml/2006/main">
            <a:r>
              <a:t>- Instructor-approved public bio boundary (2026-08-25)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경력의 상세 성과가 아니라 데이터·기술·운영 단위가 어떻게 확장되었는지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4–9)</a:t>
            </a:r>
          </a:p>
          <a:p xmlns:a="http://schemas.openxmlformats.org/drawingml/2006/main">
            <a:r>
              <a:t>- Instructor-approved public bio boundary (2026-08-25)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모델 정확도만으로 운영 판단이 끝나지 않는다는 현업 관점을 네 질문으로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Capstone만 마지막이라서 강조하지 않는다. 파랑은 현재 Week 01의 출발 자산을 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16주 주제를 여섯 역량 축으로 압축한다. 보안과 비용은 마지막 단계가 아니라 모든 축을 가로지르는 조건이다.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세부 점수와 일정은 해당 학기 LMS를 단일 기준으로 사용한다. 이 장은 수업 전반의 제출 증거 원칙만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11–15)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같은 사례를 이론과 실습 전체에서 유지해 인지 부하를 낮춘다. 실제 고객 원문이 아닌 합성 문장을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 없는 5%·95% 수치를 제거한다. 화면 위아래의 구조만으로 호출과 운영 체계의 차이를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https://docs.cloud.google.com/architecture/deploy-operate-generative-ai-applications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연대기 암기 대신 다음 병목이 무엇이었고 어떤 운영 문제가 새로 생겼는지에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17–43)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개별 연도를 외우기보다 규칙·학습·규모·생성·운영의 병목 이동으로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17–40)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규칙 기반 AI를 낡은 기술로 폄하하지 않는다. 설명 가능성과 통제의 장점, 복잡성과 예외의 한계를 함께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18–24)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학습 기반 시스템은 동작 일부를 데이터와 최적화 과정으로 옮긴다. 따라서 데이터와 실험이 새 운영 자산이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24–35)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딥러닝의 도약을 단일 사건이 아니라 데이터·연산·알고리즘의 결합으로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28–40)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사람의 역할이 사라진 것이 아니라 특징 선택에서 데이터·목표·평가 설계로 이동했음을 강조한다.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29–40)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Transformer 이전의 모든 모델을 단순화하지 않되, recurrent 처리에서의 순차 계산과 장거리 의존성 문제를 직관적으로 소개한다.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https://arxiv.org/abs/1706.03762</a:t>
            </a:r>
          </a:p>
          <a:p xmlns:a="http://schemas.openxmlformats.org/drawingml/2006/main">
            <a:r>
              <a:t>- repo:AS-IS 2025 2nd semester/[AI_PR_PR_10] 01 LLM LifeCycle and OT.pptx (slides 36–39)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Self-attention을 ‘모든 token을 한꺼번에 본다’로만 설명하지 않는다. 위치 간 관계 가중치를 계산하고 학습 시 위치 병렬화가 가능하다는 직관을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https://arxiv.org/abs/1706.03762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숫자는 개념 설명용 가상 값이다. attention weight 자체를 신뢰 가능한 설명이나 인과로 과해석하지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https://arxiv.org/abs/1706.03762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Transformer의 장점을 병렬화와 장거리 관계로 소개하되 decoder 추론은 token별 autoregressive 생성이라는 경계를 함께 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https://arxiv.org/abs/1706.03762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모든 기반 모델을 동일하게 일반화하지 않고 decoder-only 생성형 LLM의 대표적인 causal language modeling 목표로 범위를 제한한다.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https://arxiv.org/abs/1706.03762</a:t>
            </a:r>
          </a:p>
          <a:p xmlns:a="http://schemas.openxmlformats.org/drawingml/2006/main">
            <a:r>
              <a:t>- repo:AS-IS 2025 2nd semester/[AI_PR_PR_10] 01 LLM LifeCycle and OT.pptx (slides 41–44)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범용 능력을 제품 품질과 동일시하지 않는다. 각 작업은 별도의 입력 계약과 평가 기준을 요구한다.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41–43)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모델이 할 수 있다는 사실과 서비스가 반복적으로 잘해야 한다는 요구를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https://docs.aws.amazon.com/wellarchitected/latest/generative-ai-lens/generative-ai-lifecycle.html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코드가 같아도 prompt, context, model, sampling 조합이 바뀌면 동작이 달라질 수 있다. 이 조합을 trace로 묶는 이유를 예고한다.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Pretraining이 제공하지 않는 사용자·상황·성공·금지 조건을 제품 계약으로 정의해야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모델을 바꾸기 전에 변경 가능한 레버의 위치·비용·가역성을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42–51)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절대적인 기술 순위가 아니라 비용·시간·rollback 용이성의 교육용 휴리스틱이다. 규제·지연·온디바이스 제약은 순서를 바꿀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44–51)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Prompt는 서비스 행동의 외부 제어면이다. 좋은 문장보다 template, version, schema와 test set으로 관리하는 관점을 예고한다.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51)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RAG를 모든 환각의 해결책으로 말하지 않는다. 검색 품질, 근거 연결, 최신성·권한을 별도 평가해야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semester/01_AS-IS_주차별_통합_강의안.md#04주차--basic-of-rag--vectordb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모델이 tool call을 제안하는 것과 코드가 실제 외부 행동을 수행하는 것을 분리한다. 권한과 검증은 runtime의 책임이다.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semester/01_AS-IS_주차별_통합_강의안.md#12주차--agent-chaining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하나의 ‘최고 모델’이 아니라 요청의 품질·지연·비용·데이터 제약에 맞는 선택이 routing의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https://docs.aws.amazon.com/wellarchitected/latest/generative-ai-lens/generative-ai-lifecycle.html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SFT를 지식 주입의 만능 도구로 설명하지 않는다. 명확한 반복 행동과 평가셋이 있을 때의 적응 레버로 소개한다.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https://arxiv.org/abs/2203.02155</a:t>
            </a:r>
          </a:p>
          <a:p xmlns:a="http://schemas.openxmlformats.org/drawingml/2006/main">
            <a:r>
              <a:t>- repo:AS-IS 2025 2nd semester/[AI_PR_PR_10] 01 LLM LifeCycle and OT.pptx (slides 44–49)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instruction, input, ideal output의 세 요소를 고정한다. 학습 데이터와 평가 데이터의 분리를 함께 강조한다.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https://arxiv.org/abs/2203.02155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선호 데이터의 최소 단위는 하나의 정답이 아니라 같은 prompt에 대한 chosen/rejected 쌍과 명확한 rubric이다.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InstructGPT에 사용된 대표적인 reward model + PPO 경로로 범위를 한정한다. 모든 RLHF 구현이 동일한 세부 구조라는 뜻은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https://arxiv.org/abs/2203.02155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DPO는 별도 reward model과 on-policy RL 없이 preference pair와 reference policy를 사용해 직접 최적화한다.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- https://arxiv.org/abs/2203.02155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LoRA는 base weight를 고정하고 low-rank update를 학습한다. 고정된 절감률을 주장하지 않고 설정에 따라 달라짐을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제약이 없을 때의 실험 휴리스틱으로 설명한다. 규제, 지연, 온디바이스, 라이선스 요건에 따라 routing이나 fine-tuning이 앞설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LLMOps가 MLOps를 대체하는 선형 발전사가 아니라 기존 운영 관심사에 생성형 AI 자산이 추가되는 확장임을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52–60)</a:t>
            </a:r>
          </a:p>
          <a:p xmlns:a="http://schemas.openxmlformats.org/drawingml/2006/main">
            <a:r>
              <a:t>- https://docs.cloud.google.com/architecture/deploy-operate-generative-ai-applications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DevOps, MLOps, LLMOps를 세대 교체처럼 말하지 않는다. GenAIOps는 기존 MLOps 역량을 보완한다.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53–60)</a:t>
            </a:r>
          </a:p>
          <a:p xmlns:a="http://schemas.openxmlformats.org/drawingml/2006/main">
            <a:r>
              <a:t>- https://learn.microsoft.com/en-us/azure/architecture/ai-ml/guide/mlops-maturity-model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응답은 버전 자산이 아니라 실행 증거다. 버전 가능한 prompt·config·dataset과 실제 실행 response·latency·status를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- repo:week01/lab/app/telemetry.py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버전만으로 생성 실행을 재현할 수 없다. 실제 조합을 trace로 남겨야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trace를 단순 로그 한 줄이 아니라 prompt, provider/model, config, output과 운영 지표를 연결하는 실행 단위로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- repo:week01/lab/app/telemetry.py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업계의 고정된 다섯 KPI라고 주장하지 않는다. 이 과목에서 모든 실험을 비교할 때 공통으로 확인할 판단 축이다.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품질 향상 주장에는 지연·비용·안전·재현성의 regression 확인이 따라야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https://docs.aws.amazon.com/wellarchitected/latest/generative-ai-lens/generative-ai-lifecycle.html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단일 범용 품질 점수보다 task의 실패 비용과 output contract에 맞는 지표를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semester/01_AS-IS_주차별_통합_강의안.md#03주차--prompt-evaluation--version-management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예시 분포이며 실측값이 아니다. 평균과 tail percentile을 구분하고 작은 표본에서는 raw trace도 함께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semester/03_AS-IS_슬라이드_텍스트_원문.md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수식은 개념 구조이며 정산 공식이 아니다. 공급자별 과금 단위와 캐시 정책은 해당 시점의 공식 문서를 별도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https://docs.aws.amazon.com/wellarchitected/latest/generative-ai-lens/generative-ai-lifecycle.html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안전은 마지막 검수 단계가 아니라 입력, 실행, 출력, 저장 전 구간의 횡단 조건이다.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https://airc.nist.gov/airmf-resources/airmf/5-sec-core/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seed 하나만으로 생성 서비스 전체 재현성이 보장되지 않는다. 실행 조합과 버전 자산을 함께 고정한다.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오프닝의 기준 정의를 앞에서 배운 운영 자산과 판단 축으로 확장해 회수한다. 반복 설명이 아니라 적용된 통합 그림이다.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62–67)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https://airc.nist.gov/airmf-resources/airmf/5-sec-core/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성공 지표가 4단계에서 처음 생기는 것이 아니라 1단계에서 정의되고 4단계에서 측정됨을 강조한다.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63)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프롬프트뿐 아니라 retrieved context와 tool 정책도 실행을 바꾸는 외부 자산으로 관리한다.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64)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실행과 배포는 endpoint 생성만이 아니라 실패 branch, 상태 확인, 책임 주체까지 포함한다.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65)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offline evaluation과 production observation을 구분하되 동일한 version과 trace에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66)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실패한 실험도 다음 선택을 줄인다면 유효하다. retirement는 이 단계 뒤의 자동 종착점이 아니라 별도 운영 판정이다.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67)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예시 값은 실제 성능 결과가 아니다. 학생은 자신의 trace와 판단으로 같은 구조를 채운다.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repo:week01/lab/week01_trace01_lab.ipynb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 capstone을 위치 때문에 파랑으로 강조하지 않는다. 파랑은 현재 1주차의 성공 계약과 trace 기반선만 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semester/01_AS-IS_주차별_통합_강의안.md#15주차--capstone-project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실습은 설치 성공이 아니라 실행 서비스, trace, 비교표, 개선 가설까지 하나의 운영 루프로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UI, FastAPI, provider, trace store의 역할을 따라간다. demo와 Ollama가 같은 provider contract를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repo:week01/lab/app/telemetry.py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번 호출보다 한 개의 비교표가 완료 기준이다. 설치 지연 시 demo provider로 우선 완주한다.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- repo:week01/lab/week01_trace01_lab.ipynb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Python은 &gt;=3.11,&lt;3.12로 고정하고 3.11.14를 canonical patch로 사용한다. 서로 충돌하는 Pinecone, RAG, finetuning, observability 환경을 profile로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repo:.python-version</a:t>
            </a:r>
          </a:p>
          <a:p xmlns:a="http://schemas.openxmlformats.org/drawingml/2006/main">
            <a:r>
              <a:t>- repo:requirements/README.md</a:t>
            </a:r>
          </a:p>
          <a:p xmlns:a="http://schemas.openxmlformats.org/drawingml/2006/main">
            <a:r>
              <a:t>- repo:requirements/constraints.txt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provider는 설치 실패를 우회하는 장난감이 아니라 재현 가능한 기준선이다. Ollama는 모델 다운로드와 실행이 가능한 경우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- https://docs.ollama.com/api/chat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저장소 루트에서 명령을 실행한다. health 확인 전에는 UI나 Ollama 문제로 건너뛰지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- repo:requirements.txt</a:t>
            </a:r>
          </a:p>
          <a:p xmlns:a="http://schemas.openxmlformats.org/drawingml/2006/main">
            <a:r>
              <a:t>- https://docs.python.org/3.11/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UI가 아니라 API schema가 서비스 계약의 기준이다. 유효하지 않은 task나 범위 밖 temperature는 422로 검증된다.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각 endpoint의 목적을 구분한다. /traces는 실행 내역, /stats는 교육용 집계, /metrics는 수집 시스템, /docs는 API 계약 확인이다.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- repo:week01/lab/app/telemetry.py</a:t>
            </a:r>
          </a:p>
          <a:p xmlns:a="http://schemas.openxmlformats.org/drawingml/2006/main">
            <a:r>
              <a:t>- https://fastapi.tiangolo.com/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화면에서 1 입력과 provider, 2 응답, 3 trace metadata, 4 집계 지표 순서로 읽는다. screenshot은 메뉴 위치와 성공 신호가 읽히는 크기로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repo:week01/lecture/assets/trace01-ui.png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필드의 의미를 실제 schema로 확인한다. 실 서비스에서는 provider usage 또는 model tokenizer를 canonical token 값으로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- repo:week01/lab/app/telemetry.py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temperature 하나만 바꾸고 나머지를 고정한다. demo provider는 의도적으로 temperature를 무시하므로 출력 불변도 유효한 관찰이다.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semester/practice/week01/week01_ollama_practice.ipynb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https://docs.ollama.com/api/chat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가상의 예시 점수임을 명확히 한다. 문장 자연스러움만 보지 않고 충실성, 핵심 보존, 형식, 지연을 함께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repo:AS-IS 2025 2nd semester/practice/week01/week01_ollama_practice.ipynb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필드 존재 여부와 입력 근거를 분리해 본다. 완벽한 문장보다 누락·추가·검증 가능성의 판정이 우선이다.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오류를 숨기지 않고 status와 복구 경로를 운영 증거로 남긴다. 503일 때 수업을 중단하지 말고 demo로 필수 경로를 완료한다.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학생은 변경할 한 가지, 기대 변화, 판정 기준을 두 문장으로 남긴다. 이 기록이 다음 주 PromptOps의 첫 prompt version 자산이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repo:week01/lecture/01_week1_강의안.md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46ec2d0c6a49e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d45ed578f949ea" /><Relationship Type="http://schemas.openxmlformats.org/officeDocument/2006/relationships/slideLayout" Target="/ppt/slideLayouts/slideLayout1.xml" Id="R46e9b16f372b450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e9b16f372b450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BLACK WHITE NAVY BLUE">
      <a:dk1>
        <a:srgbClr val="050505"/>
      </a:dk1>
      <a:lt1>
        <a:srgbClr val="FFFFFF"/>
      </a:lt1>
      <a:dk2>
        <a:srgbClr val="0B1F3A"/>
      </a:dk2>
      <a:lt2>
        <a:srgbClr val="F7F8FA"/>
      </a:lt2>
      <a:accent1>
        <a:srgbClr val="2563EB"/>
      </a:accent1>
      <a:accent2>
        <a:srgbClr val="0B1F3A"/>
      </a:accent2>
      <a:accent3>
        <a:srgbClr val="667085"/>
      </a:accent3>
      <a:accent4>
        <a:srgbClr val="E0F0FE"/>
      </a:accent4>
      <a:accent5>
        <a:srgbClr val="191919"/>
      </a:accent5>
      <a:accent6>
        <a:srgbClr val="98A2B3"/>
      </a:accent6>
      <a:hlink>
        <a:srgbClr val="2563EB"/>
      </a:hlink>
      <a:folHlink>
        <a:srgbClr val="0B1F3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NAVY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aed60aba7446c5" /><Relationship Type="http://schemas.openxmlformats.org/officeDocument/2006/relationships/notesSlide" Target="/ppt/notesSlides/notesSlide1.xml" Id="Ree13a09a420d41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b3e50f4ff448b4" /><Relationship Type="http://schemas.openxmlformats.org/officeDocument/2006/relationships/notesSlide" Target="/ppt/notesSlides/notesSlide2.xml" Id="R4f4cab1f257246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686b97e17c4d1c" /><Relationship Type="http://schemas.openxmlformats.org/officeDocument/2006/relationships/notesSlide" Target="/ppt/notesSlides/notesSlide3.xml" Id="R14bdc1d19b0f431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de41d59f5d4b9b" /><Relationship Type="http://schemas.openxmlformats.org/officeDocument/2006/relationships/notesSlide" Target="/ppt/notesSlides/notesSlide4.xml" Id="Rc97d9632fd2241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f57af707384eab" /><Relationship Type="http://schemas.openxmlformats.org/officeDocument/2006/relationships/notesSlide" Target="/ppt/notesSlides/notesSlide5.xml" Id="Rb27064fdb65c462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0de790801a4b3a" /><Relationship Type="http://schemas.openxmlformats.org/officeDocument/2006/relationships/notesSlide" Target="/ppt/notesSlides/notesSlide6.xml" Id="Rac3f3d3be9c04e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677901eb654e8b" /><Relationship Type="http://schemas.openxmlformats.org/officeDocument/2006/relationships/notesSlide" Target="/ppt/notesSlides/notesSlide7.xml" Id="Rf839c7ecd61b43f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2dd1c0e54e426b" /><Relationship Type="http://schemas.openxmlformats.org/officeDocument/2006/relationships/notesSlide" Target="/ppt/notesSlides/notesSlide8.xml" Id="R6ccffb08e4a54b9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76adeceae041d5" /><Relationship Type="http://schemas.openxmlformats.org/officeDocument/2006/relationships/image" Target="/ppt/media/image.png" Id="R08c47414e146406f" /><Relationship Type="http://schemas.openxmlformats.org/officeDocument/2006/relationships/notesSlide" Target="/ppt/notesSlides/notesSlide9.xml" Id="Rc55afa18bfee4af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7abf6291b54acb" /><Relationship Type="http://schemas.openxmlformats.org/officeDocument/2006/relationships/notesSlide" Target="/ppt/notesSlides/notesSlide10.xml" Id="R3732b0678d06452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8b39128d1745e7" /><Relationship Type="http://schemas.openxmlformats.org/officeDocument/2006/relationships/notesSlide" Target="/ppt/notesSlides/notesSlide11.xml" Id="Rcb2b5870e85147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15819bb5fc4eff" /><Relationship Type="http://schemas.openxmlformats.org/officeDocument/2006/relationships/notesSlide" Target="/ppt/notesSlides/notesSlide12.xml" Id="R76ce023a87a743a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53f516b5a04351" /><Relationship Type="http://schemas.openxmlformats.org/officeDocument/2006/relationships/notesSlide" Target="/ppt/notesSlides/notesSlide13.xml" Id="Rb7ed8132d3b74a6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fd2f37ace84c3a" /><Relationship Type="http://schemas.openxmlformats.org/officeDocument/2006/relationships/notesSlide" Target="/ppt/notesSlides/notesSlide14.xml" Id="R3a3e58d0cc464fb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8c7cb7745441c1" /><Relationship Type="http://schemas.openxmlformats.org/officeDocument/2006/relationships/notesSlide" Target="/ppt/notesSlides/notesSlide15.xml" Id="Rf1f910089819472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592988ad994377" /><Relationship Type="http://schemas.openxmlformats.org/officeDocument/2006/relationships/notesSlide" Target="/ppt/notesSlides/notesSlide16.xml" Id="R7fc4065248aa461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558b0f95b4adc" /><Relationship Type="http://schemas.openxmlformats.org/officeDocument/2006/relationships/notesSlide" Target="/ppt/notesSlides/notesSlide17.xml" Id="Rd5c8afbdebf740e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f8f49bc5b14d7b" /><Relationship Type="http://schemas.openxmlformats.org/officeDocument/2006/relationships/notesSlide" Target="/ppt/notesSlides/notesSlide18.xml" Id="R0437ed075b274c2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827dd0a0c24c1a" /><Relationship Type="http://schemas.openxmlformats.org/officeDocument/2006/relationships/notesSlide" Target="/ppt/notesSlides/notesSlide19.xml" Id="R7818298c1199464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a9634de1fe4fee" /><Relationship Type="http://schemas.openxmlformats.org/officeDocument/2006/relationships/notesSlide" Target="/ppt/notesSlides/notesSlide20.xml" Id="R3fa4a54f059c4d7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be334674884bc8" /><Relationship Type="http://schemas.openxmlformats.org/officeDocument/2006/relationships/notesSlide" Target="/ppt/notesSlides/notesSlide21.xml" Id="R75d2adf1b1744e7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d778d87b6b4ee2" /><Relationship Type="http://schemas.openxmlformats.org/officeDocument/2006/relationships/notesSlide" Target="/ppt/notesSlides/notesSlide22.xml" Id="R0c807e64880146a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60f73de580455c" /><Relationship Type="http://schemas.openxmlformats.org/officeDocument/2006/relationships/notesSlide" Target="/ppt/notesSlides/notesSlide23.xml" Id="R8716f859a38e433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6a981040d6466f" /><Relationship Type="http://schemas.openxmlformats.org/officeDocument/2006/relationships/notesSlide" Target="/ppt/notesSlides/notesSlide24.xml" Id="R61c54ca7ed36413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db7c6d0fd54296" /><Relationship Type="http://schemas.openxmlformats.org/officeDocument/2006/relationships/notesSlide" Target="/ppt/notesSlides/notesSlide25.xml" Id="R83ec81e515f846b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638d8cfab545cf" /><Relationship Type="http://schemas.openxmlformats.org/officeDocument/2006/relationships/notesSlide" Target="/ppt/notesSlides/notesSlide26.xml" Id="Rd3abb34b2d0e43f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e0ab4f7a54a83" /><Relationship Type="http://schemas.openxmlformats.org/officeDocument/2006/relationships/notesSlide" Target="/ppt/notesSlides/notesSlide27.xml" Id="Rb6966658795947e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660ff32d24c07" /><Relationship Type="http://schemas.openxmlformats.org/officeDocument/2006/relationships/notesSlide" Target="/ppt/notesSlides/notesSlide28.xml" Id="R122aa036c5b0413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7834e6fcf94443" /><Relationship Type="http://schemas.openxmlformats.org/officeDocument/2006/relationships/notesSlide" Target="/ppt/notesSlides/notesSlide29.xml" Id="R690bc65f5702440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fa7e2929bc4fb4" /><Relationship Type="http://schemas.openxmlformats.org/officeDocument/2006/relationships/notesSlide" Target="/ppt/notesSlides/notesSlide30.xml" Id="R80197af22e8a407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a6b0db48ea4283" /><Relationship Type="http://schemas.openxmlformats.org/officeDocument/2006/relationships/notesSlide" Target="/ppt/notesSlides/notesSlide31.xml" Id="R7509efcda6194f6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bb07413d1f4cc4" /><Relationship Type="http://schemas.openxmlformats.org/officeDocument/2006/relationships/notesSlide" Target="/ppt/notesSlides/notesSlide32.xml" Id="R22c1437b7ed94ad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64110e04e7451a" /><Relationship Type="http://schemas.openxmlformats.org/officeDocument/2006/relationships/notesSlide" Target="/ppt/notesSlides/notesSlide33.xml" Id="R4af87025130c417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6e23915af74087" /><Relationship Type="http://schemas.openxmlformats.org/officeDocument/2006/relationships/notesSlide" Target="/ppt/notesSlides/notesSlide34.xml" Id="R7559f9e9cb7a4a71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23154b040541f5" /><Relationship Type="http://schemas.openxmlformats.org/officeDocument/2006/relationships/notesSlide" Target="/ppt/notesSlides/notesSlide35.xml" Id="Rc30abe03b8aa475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b500f3075f4b4e" /><Relationship Type="http://schemas.openxmlformats.org/officeDocument/2006/relationships/notesSlide" Target="/ppt/notesSlides/notesSlide36.xml" Id="R722ec4fc068e4c78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8e10e04a48446b" /><Relationship Type="http://schemas.openxmlformats.org/officeDocument/2006/relationships/notesSlide" Target="/ppt/notesSlides/notesSlide37.xml" Id="Ra2fc37aaff66420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77bf0ace7d484d" /><Relationship Type="http://schemas.openxmlformats.org/officeDocument/2006/relationships/notesSlide" Target="/ppt/notesSlides/notesSlide38.xml" Id="Rb79388f9039d472b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3de089014b4be2" /><Relationship Type="http://schemas.openxmlformats.org/officeDocument/2006/relationships/notesSlide" Target="/ppt/notesSlides/notesSlide39.xml" Id="R988183fae4fc416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aa6385d844ecc" /><Relationship Type="http://schemas.openxmlformats.org/officeDocument/2006/relationships/notesSlide" Target="/ppt/notesSlides/notesSlide40.xml" Id="Re974021ccb084350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f1f342baa74ae9" /><Relationship Type="http://schemas.openxmlformats.org/officeDocument/2006/relationships/notesSlide" Target="/ppt/notesSlides/notesSlide41.xml" Id="R34fd3f2688ce4224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29a6ad155e4a98" /><Relationship Type="http://schemas.openxmlformats.org/officeDocument/2006/relationships/notesSlide" Target="/ppt/notesSlides/notesSlide42.xml" Id="Ra4bd81305e1a4ca6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f50de3eff24e45" /><Relationship Type="http://schemas.openxmlformats.org/officeDocument/2006/relationships/notesSlide" Target="/ppt/notesSlides/notesSlide43.xml" Id="R9cf2c58eb49a4f3d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b2d573d1734906" /><Relationship Type="http://schemas.openxmlformats.org/officeDocument/2006/relationships/notesSlide" Target="/ppt/notesSlides/notesSlide44.xml" Id="R0fc6b7e39d2648f4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4da60f9f514294" /><Relationship Type="http://schemas.openxmlformats.org/officeDocument/2006/relationships/notesSlide" Target="/ppt/notesSlides/notesSlide45.xml" Id="Rf565600a65724b70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dab54979714464" /><Relationship Type="http://schemas.openxmlformats.org/officeDocument/2006/relationships/notesSlide" Target="/ppt/notesSlides/notesSlide46.xml" Id="R1814f3e5ad5d41e9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6c00006358475b" /><Relationship Type="http://schemas.openxmlformats.org/officeDocument/2006/relationships/notesSlide" Target="/ppt/notesSlides/notesSlide47.xml" Id="Re3ac4614981b41c8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f6d7350f845e8" /><Relationship Type="http://schemas.openxmlformats.org/officeDocument/2006/relationships/notesSlide" Target="/ppt/notesSlides/notesSlide48.xml" Id="Rcc7315e97dc04aba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617ad0d63b4c04" /><Relationship Type="http://schemas.openxmlformats.org/officeDocument/2006/relationships/notesSlide" Target="/ppt/notesSlides/notesSlide49.xml" Id="R5a09a331840243f4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d35f8464da47dc" /><Relationship Type="http://schemas.openxmlformats.org/officeDocument/2006/relationships/notesSlide" Target="/ppt/notesSlides/notesSlide50.xml" Id="R7d99edf3ed17490b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2d5cbcf3794fdc" /><Relationship Type="http://schemas.openxmlformats.org/officeDocument/2006/relationships/notesSlide" Target="/ppt/notesSlides/notesSlide51.xml" Id="R2fc5f4bfd5054f79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31a074eb8848b9" /><Relationship Type="http://schemas.openxmlformats.org/officeDocument/2006/relationships/notesSlide" Target="/ppt/notesSlides/notesSlide52.xml" Id="Ra20c2795553d457a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e02c5fe0ca477f" /><Relationship Type="http://schemas.openxmlformats.org/officeDocument/2006/relationships/notesSlide" Target="/ppt/notesSlides/notesSlide53.xml" Id="R8b5ea1cdaa2d43ad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cce8957dba4690" /><Relationship Type="http://schemas.openxmlformats.org/officeDocument/2006/relationships/notesSlide" Target="/ppt/notesSlides/notesSlide54.xml" Id="Re6f40f4b49ce471e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67fa0b248c43e8" /><Relationship Type="http://schemas.openxmlformats.org/officeDocument/2006/relationships/notesSlide" Target="/ppt/notesSlides/notesSlide55.xml" Id="R03f029e6426b440b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7cdc27984045a6" /><Relationship Type="http://schemas.openxmlformats.org/officeDocument/2006/relationships/notesSlide" Target="/ppt/notesSlides/notesSlide56.xml" Id="Re4e46319f88648b1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904d8f564b40f3" /><Relationship Type="http://schemas.openxmlformats.org/officeDocument/2006/relationships/notesSlide" Target="/ppt/notesSlides/notesSlide57.xml" Id="Rffaee358fe6f421c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1b557a79f847cb" /><Relationship Type="http://schemas.openxmlformats.org/officeDocument/2006/relationships/notesSlide" Target="/ppt/notesSlides/notesSlide58.xml" Id="Rd6161c8924344486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0206b5b9634ff1" /><Relationship Type="http://schemas.openxmlformats.org/officeDocument/2006/relationships/notesSlide" Target="/ppt/notesSlides/notesSlide59.xml" Id="Rf7162c60e8b74f40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f0e0bd9d9a474a" /><Relationship Type="http://schemas.openxmlformats.org/officeDocument/2006/relationships/notesSlide" Target="/ppt/notesSlides/notesSlide60.xml" Id="Rfefb1d4e5fe74631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5cffc583ff40dd" /><Relationship Type="http://schemas.openxmlformats.org/officeDocument/2006/relationships/notesSlide" Target="/ppt/notesSlides/notesSlide61.xml" Id="R76a3ac8ca63d4f19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71b325cc504383" /><Relationship Type="http://schemas.openxmlformats.org/officeDocument/2006/relationships/notesSlide" Target="/ppt/notesSlides/notesSlide62.xml" Id="R5514a328b5544f83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23dd84141c41b2" /><Relationship Type="http://schemas.openxmlformats.org/officeDocument/2006/relationships/notesSlide" Target="/ppt/notesSlides/notesSlide63.xml" Id="Ra759f94e802c4696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7196c5f6b749a7" /><Relationship Type="http://schemas.openxmlformats.org/officeDocument/2006/relationships/notesSlide" Target="/ppt/notesSlides/notesSlide64.xml" Id="R2ffd2786295c43df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6b0467a6d40cc" /><Relationship Type="http://schemas.openxmlformats.org/officeDocument/2006/relationships/notesSlide" Target="/ppt/notesSlides/notesSlide65.xml" Id="R5a7837eb8cbd4132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2e6bcf25f04066" /><Relationship Type="http://schemas.openxmlformats.org/officeDocument/2006/relationships/notesSlide" Target="/ppt/notesSlides/notesSlide66.xml" Id="Re7bcfcd488d044dc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9311d2065b4922" /><Relationship Type="http://schemas.openxmlformats.org/officeDocument/2006/relationships/notesSlide" Target="/ppt/notesSlides/notesSlide67.xml" Id="R5281e50b00a64d6b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614cc3407a4dcf" /><Relationship Type="http://schemas.openxmlformats.org/officeDocument/2006/relationships/notesSlide" Target="/ppt/notesSlides/notesSlide68.xml" Id="Rc4d8d2f4ec6e423a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61cb90adc948f7" /><Relationship Type="http://schemas.openxmlformats.org/officeDocument/2006/relationships/notesSlide" Target="/ppt/notesSlides/notesSlide69.xml" Id="R07901ef792e24c53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55a9ed0e4947d5" /><Relationship Type="http://schemas.openxmlformats.org/officeDocument/2006/relationships/notesSlide" Target="/ppt/notesSlides/notesSlide70.xml" Id="Rad45a6d3148c46c7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f4f5134fe7497c" /><Relationship Type="http://schemas.openxmlformats.org/officeDocument/2006/relationships/notesSlide" Target="/ppt/notesSlides/notesSlide71.xml" Id="R6431ecff5db44559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8566e993e8482e" /><Relationship Type="http://schemas.openxmlformats.org/officeDocument/2006/relationships/notesSlide" Target="/ppt/notesSlides/notesSlide72.xml" Id="R35c1222088c34929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793c392064305" /><Relationship Type="http://schemas.openxmlformats.org/officeDocument/2006/relationships/image" Target="/ppt/media/image2.png" Id="Rb4bd7f61753f46bc" /><Relationship Type="http://schemas.openxmlformats.org/officeDocument/2006/relationships/notesSlide" Target="/ppt/notesSlides/notesSlide73.xml" Id="R81de8275f4664e77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f1c8a61e1b4d28" /><Relationship Type="http://schemas.openxmlformats.org/officeDocument/2006/relationships/notesSlide" Target="/ppt/notesSlides/notesSlide74.xml" Id="R84d58c0acbc04839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6665002cdb4840" /><Relationship Type="http://schemas.openxmlformats.org/officeDocument/2006/relationships/notesSlide" Target="/ppt/notesSlides/notesSlide75.xml" Id="R2ebf4ae3433b461f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4c9bee238049f6" /><Relationship Type="http://schemas.openxmlformats.org/officeDocument/2006/relationships/notesSlide" Target="/ppt/notesSlides/notesSlide76.xml" Id="R9ed54fbfd29f4d06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275713f7194521" /><Relationship Type="http://schemas.openxmlformats.org/officeDocument/2006/relationships/notesSlide" Target="/ppt/notesSlides/notesSlide77.xml" Id="R92bf611cba3d4fe5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89f7b318c34a45" /><Relationship Type="http://schemas.openxmlformats.org/officeDocument/2006/relationships/notesSlide" Target="/ppt/notesSlides/notesSlide78.xml" Id="R9633ccc8252c4940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2bde3d65d34a6e" /><Relationship Type="http://schemas.openxmlformats.org/officeDocument/2006/relationships/notesSlide" Target="/ppt/notesSlides/notesSlide79.xml" Id="Rafb587442af648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D96798-B5B4-4B75-8037-B0A2CEC9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ORIENTATION &amp;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79EAFE-758C-4E3E-B7E3-422593E83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952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호출 너머의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2C6FB0-DABB-421D-AE08-3FB40021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9906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54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LLM 운영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8D1B59-AB68-4CE6-80F4-86A5E325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5814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CB0F64-7DE7-47FC-9B4C-085145FE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01  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A0ED7C-DB61-4762-BB33-71997BB0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43243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A7FDC0-EBE0-462D-A601-4BF6DAD3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9433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02  COMPARE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27B7DA-14F8-418F-BB92-D22AF49B6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52800" y="43243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5A312A-1605-4BD2-9680-5D6BC035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433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03  EVALUATE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396C8F-2B0C-45FF-B05A-CEB5488C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43243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527685-8521-453A-A261-4DC8E47A4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9433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04  IMPROVE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A85A51-B70B-434E-B6B9-162AC519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839200" y="43243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A19592-BA07-4519-8F7E-1A8CBA56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800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TRACE · 비교 실험 · 16주 서비스 개선 폐루프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48EAED-C85E-443E-A918-D4CD2BEB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019800"/>
            <a:ext cx="3867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차성재 · 아주대학교 · WEEK 01</a:t>
            </a:r>
          </a:p>
        </p:txBody>
      </p:sp>
    </p:spTree>
    <p:extLst>
      <p:ext uri="{BB962C8B-B14F-4D97-AF65-F5344CB8AC3E}">
        <p14:creationId xmlns:p14="http://schemas.microsoft.com/office/powerpoint/2010/main" val="4883097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61BA74-3A89-4773-BE83-89009530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STANDARD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2C4BC-B45A-4183-A5AC-C334368B3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31BA9C-5909-4C95-BE9A-8FC0D38D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490651-A094-4146-ABED-C70063D1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A2DAC2-60E3-4ABE-9270-5F6A6374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8C47B5-E068-419F-ADB2-6956528E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맥락 없는 질문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DA02E4-690B-4D51-878F-2A9D63DAF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“LLMOps의 5단계는?”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C7FC4B-62C7-4416-B234-DB204EEF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대상도, 목적도, 근거도 없는 질문은 서로 다른 분류를 같은 정답처럼 비교하게 만든다.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DB69E2-8A20-436E-B4E6-F228485D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810250" y="152400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FFBFD8-0E12-40AC-BC0F-07DF1D82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049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A94D10-2049-4FB7-B6C9-6F427A03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4859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TRAINING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62EB47-6C1F-44C6-B9DD-4207732D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324600" y="2019300"/>
            <a:ext cx="4857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B427C0-3277-4177-825C-09B02473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050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5B989E-3A38-4C18-8391-EE22DB9C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860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EVALUATION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A3BC6D-B7B8-489F-B744-3FDEA0A2E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324600" y="2819400"/>
            <a:ext cx="4857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C0D044-946F-4B7C-AE38-2CA6A6A3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A99E70-BB6D-4468-BF2C-4A2898DE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861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DEPLOYMENT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C143D6-349C-4157-8B8B-B56B7691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324600" y="3619500"/>
            <a:ext cx="4857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B991CB-FCE7-4375-A5DC-828E9921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052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714C55-9353-4184-B44D-E549D6AC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862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MAINTENANCE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27F17B-D77C-4BD3-ADF8-857C8C2D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324600" y="4419600"/>
            <a:ext cx="4857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886F87-846B-4853-9FB8-D81AC8C1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053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6C3392-28FB-4111-9648-4B9F462E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6863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RETIREMENT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422035-3FA6-4A30-AFA3-86CC0FBC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6578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MODEL / SYSTEM VIEW · A POSSIBLE TAXONOMY</a:t>
            </a:r>
          </a:p>
        </p:txBody>
      </p:sp>
    </p:spTree>
    <p:extLst>
      <p:ext uri="{BB962C8B-B14F-4D97-AF65-F5344CB8AC3E}">
        <p14:creationId xmlns:p14="http://schemas.microsoft.com/office/powerpoint/2010/main" val="8769934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5B4CC4-98F8-4E72-BA70-FED5028C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STANDARD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B27B27-9148-4F9E-853A-9BE9C4728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9BEE6B-54BA-4857-9F57-A57F33B1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8C2495-3473-4C4F-8347-56785419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769A47-3EEB-44C3-8211-5E460190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65E976-3DE7-4F3A-A840-07057E3F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다섯 단계의 범위 혼선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F74496-F218-4387-B08A-56485A25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MODEL / SYSTEM 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01CBAC-C98C-4E06-B98B-4AED6AD45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생성부터 종료까지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0129CD-58EF-4140-BC93-03B28D44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1DF5B4-AA32-4344-A859-07C26B4F2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학습 · 평가 · 배포 · 유지 · 폐기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관리 대상: 모델 또는 전체 AI 시스템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9FB24C-FF34-4A73-9490-70DA7896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종료점 중심의 수명주기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0835BD-118C-473D-895E-511190D0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COURSE / SERVICE VIEW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63F2AC-5352-4F59-822D-4E787DA9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운영 중 반복 개선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02169A-A6A9-4650-BD14-A0EC5E3F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553430-A427-4E60-8E0F-946C89F94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기획 · 컨텍스트 · 실행 · 관찰 · 버전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관리 대상: LLM 애플리케이션과 실행 증거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0FBDC0-8CE0-403D-BE2D-A6F77D38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4292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다음 실험으로 돌아가는 폐루프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AD00FE-F1DA-4F45-B49B-0C622F56D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467080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635AC8-252D-4555-BC64-4EE9A046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STANDARD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FF9E6F-9C37-4924-BEFC-6530F1C34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11C9A9-D3C4-4DFB-8EF8-13003F127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596859-5161-4070-9FB0-E1CEECAFF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C647DF-6874-49FF-83D7-ADCB5510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9212AF-1CDD-4C54-A704-44DDD4A5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두 라이프사이클의 적용 범위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2A49BA-0233-4D51-AC5E-A76D4012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47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A32A49-1668-487E-B072-6DA292A0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1828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비교 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005D69-9A67-4D27-9A07-7AA128A7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100" y="1847850"/>
            <a:ext cx="419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A2751B-423C-4193-A3BE-1B4616A68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47850"/>
            <a:ext cx="3924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모델·시스템 수명주기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173341-0620-4DEF-8681-844AE2DE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1847850"/>
            <a:ext cx="4686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BD5CCA-7077-46F6-B1F1-7E762307B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847850"/>
            <a:ext cx="4419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과목의 서비스 폐루프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F9BCF0-D2D3-4417-AF37-C27365E5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62200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BF2BF1-414B-4688-9C8C-7A41D3B0A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828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관리 단위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92FB47-855D-4BFD-B9E5-F512FF885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100" y="2362200"/>
            <a:ext cx="4191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B3BAD5-9626-4F3E-A19B-FD6025904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62200"/>
            <a:ext cx="3924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또는 전체 AI 시스템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656178-DD22-4398-BB8B-14AC822CE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2362200"/>
            <a:ext cx="46863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B118DF-A737-4B3A-82EB-8249425A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362200"/>
            <a:ext cx="4419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prompt·context·code·config·policy와 실행 trace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8ECC88-0000-4D65-B366-8FC2D523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200400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014D6A-A118-4572-96FD-79DCE789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0400"/>
            <a:ext cx="1828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주요 목적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25D055-0067-43E6-9846-B5DCD79E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100" y="3200400"/>
            <a:ext cx="4191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4604DE-D6B1-4C26-B788-29753634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200400"/>
            <a:ext cx="3924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구축·배포·유지·종료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C631C0-5B3C-4263-B12C-0C3F0E27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3200400"/>
            <a:ext cx="46863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CB4373-1870-4C9E-BD75-191DEB23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200400"/>
            <a:ext cx="4419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실행의 재현·비교·판정·개선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11023B-600D-4F51-B2AB-75A96A8D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038600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06997F-4997-44D5-901C-6AAC6DF6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38600"/>
            <a:ext cx="1828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종료 관점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9D9A7F-4AD4-4E4D-A69C-C5E5998A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100" y="4038600"/>
            <a:ext cx="4191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1ADA31-583A-4EB4-9695-67EEEC45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038600"/>
            <a:ext cx="3924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Retirement를 단계로 포함 가능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46064C-2459-48FA-8A9C-38A83F9C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4038600"/>
            <a:ext cx="46863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7979F2-4A67-4008-AC78-074ECDC5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38600"/>
            <a:ext cx="4419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종료·이관·보존은 폐루프 밖의 운영 경계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888CC5-79DF-40B6-BF88-7018F56D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876800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D5A8E8-AB82-4090-B4F9-45472E96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1828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학습 위치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CEF323-ACD0-4DCB-AD6C-1E695CED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100" y="4876800"/>
            <a:ext cx="4191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CA866C-7EB5-4512-82C7-F7F49C75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876800"/>
            <a:ext cx="3924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Training이 시작점일 수 있음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A18EB49-93BE-415C-8900-A0E81874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4876800"/>
            <a:ext cx="46863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19E2F1-51B6-4B12-BF45-90ACF9C9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876800"/>
            <a:ext cx="4419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Fine-tuning은 여러 개선 레버 중 하나</a:t>
            </a:r>
          </a:p>
        </p:txBody>
      </p:sp>
    </p:spTree>
    <p:extLst>
      <p:ext uri="{BB962C8B-B14F-4D97-AF65-F5344CB8AC3E}">
        <p14:creationId xmlns:p14="http://schemas.microsoft.com/office/powerpoint/2010/main" val="9136615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C50491-E2B7-4EF6-AE31-7D1B9B5C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STANDARD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929697-A897-46AA-A7DC-B2FFA5E8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BD2A77-DA59-425E-8372-6F6E526D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741B2D-56E7-4903-B252-41401317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A9ECC6-9C9B-4A13-AA0C-3196722F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B3AB8F-DF00-4054-827F-394222FF7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과목의 기준: 서비스 개선 폐루프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50EE19-7721-419C-B234-E909A4C5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83884" y="2093475"/>
            <a:ext cx="833353" cy="6054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5B038F-7C35-4DA1-94B0-F804BC17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5056481" y="3491617"/>
            <a:ext cx="318312" cy="97966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770C1-43CB-4007-B59A-E4F1707E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352110" y="4961183"/>
            <a:ext cx="103008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80EE92-6C9C-455D-AE28-63F78E03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2359507" y="3491617"/>
            <a:ext cx="318312" cy="97966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079938-C63A-461E-98D2-A4B48A64E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617063" y="2093475"/>
            <a:ext cx="833353" cy="6054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62825F-07EA-45AB-BB5F-5E2A27FC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129540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기획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C9DE96-5FC5-4021-9DB1-C7DF2D75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38672" y="2506417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CTX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68507B-3A10-4073-A326-B77235A6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02002" y="4465883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57509C-C6C3-485D-9CA7-4F575D3A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1698" y="4465883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관찰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5CF8AA-F201-4125-AEFE-3875B56E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5028" y="2506417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개선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A5562C-5B93-43F7-93C5-AF226C79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4700" y="29908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SERVICE</a:t>
            </a:r>
          </a:p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LOOP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EAA9B8-B3E3-4312-94DD-93143094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526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COURSE STANDARD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3F3C08-2281-456D-A6CC-80B74E53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33600"/>
            <a:ext cx="371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16주 산출물을 연결하는 교육용 운영 프레임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60A1C2-BFCB-468C-A083-D6D2B459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486650" y="342900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AFEDDC-2CC9-4BF4-B14F-CE3EF36E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73380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업계의 단일 표준을 주장하지 않는다. 이미 학습된 기반 모델을 포함한 서비스를 반복적으로 관찰하고 개선하기 위한 공통 좌표계다.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E11B68-53B1-4683-A746-52D3CEAA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391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판정 경계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BADF6C-99AF-4021-AA92-136B36A1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91150"/>
            <a:ext cx="253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계속 · 교체 · 종료</a:t>
            </a:r>
          </a:p>
        </p:txBody>
      </p:sp>
    </p:spTree>
    <p:extLst>
      <p:ext uri="{BB962C8B-B14F-4D97-AF65-F5344CB8AC3E}">
        <p14:creationId xmlns:p14="http://schemas.microsoft.com/office/powerpoint/2010/main" val="8072454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F2DC5E-7C9E-4AF3-BA43-325D0153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STANDARD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C57736-4114-42AC-BCA8-3B9766A5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0FBF0C-D4D8-47FB-802D-372F1245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B0237A-4EF4-4092-B8DB-4A449FA6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10A5C7-AE6B-47E6-85B6-259E0103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6FBC23-802F-49E4-BFF3-D63494AB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판정 가능한 개선의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482083-8C24-45F3-9318-44B599FF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6571E1-87CC-4F50-ACBC-A04E6718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18F5C4-BA70-4EEE-870B-891A9C26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4F35BF-31C8-4B42-A42F-8AC6CF786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성공·금지 조건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A00083-7637-4BF3-8AF3-0F9E3FEF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A0239B-9E6F-41C8-AA5B-1C7C2DA9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맥락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8AB01-343D-4754-8C20-6BF06EBF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0995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B499A5-44FD-47BA-AAA2-295ED9888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사용자·업무·데이터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7FC2B0-3E4E-45D4-BEA9-CF537D9E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4CD97B-E63B-4A72-B82A-A7307E8A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A6A2BA-263E-4EF8-96FD-024768E7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1030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CC2658-EC12-40D1-B5E7-FC4DB9BB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변경 대상과 이유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207E0E-B6D3-43B1-AF0F-15A1DE0F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40DFD3-C504-4117-8081-A6A95752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009402-0B3F-4063-9CAD-DDA09FFB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087446-EAA1-43AA-96B3-0357C2BF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같은 축의 비교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85E1A3-2A1D-4D3B-9E4A-6B40F6B9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정답 암기가 아니라 다른 사람이 다시 판정할 수 있는 운영 계약</a:t>
            </a:r>
          </a:p>
        </p:txBody>
      </p:sp>
    </p:spTree>
    <p:extLst>
      <p:ext uri="{BB962C8B-B14F-4D97-AF65-F5344CB8AC3E}">
        <p14:creationId xmlns:p14="http://schemas.microsoft.com/office/powerpoint/2010/main" val="8519417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D5B735-D249-410D-9D0E-0791E7A57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B63099-F40F-4231-8AE6-FD4C57294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05CB7F-D052-4408-ABF1-F6888D48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C908C-86C2-443C-AB71-E82B6193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A27D55-3278-4232-AB08-C64CE3CF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4668D5-1164-4325-9248-43FF8576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1주차 완료 상태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A50107-034A-4F35-824B-29D1343E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16192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0A110C-4AA4-4871-8D14-BA6D7FFD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BA6706-1833-4699-80AD-E69B9737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621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A47C27-CC63-4FC1-8221-4DFD19F9D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6002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GET /health와 브라우저 UI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372132-1EA1-4D14-A7D6-043C85DA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21526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946DC0-A550-4173-AC28-592F97FAB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4955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D585D9-6FF4-4565-8584-B11B3877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C6C3F9-2BD8-4846-8176-D73D53F36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384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 두 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61A45F-5A48-45B5-B3B8-BB2C20B9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765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같은 입력의 baseline·variant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1D622C-7E67-4EC1-B0C8-A0612276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0289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19D241-24CD-4684-BFE7-AFF71A43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3718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BF28C2-F89D-4108-83C1-FECEA717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DDD603-997B-4CCC-B8C6-6CAFBF47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14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단일 변수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31DA3F-AF29-41F7-AB1A-24DD2D09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3528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prompt version 또는 temperature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71A867-00CA-4B95-870E-CB8F9566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9052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C04D32-B0B5-4497-84D8-A887AEDE1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42481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0084AC-3218-4069-AFD7-5D153DD9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E521CD-22FB-4262-986C-F09CAC3A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910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비교 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9676A0-BF2A-4802-906E-701E093B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291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output·status·latency·token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490BE4-90AA-4749-9612-12457046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47815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CDF15F-802A-4396-B425-1FC221B4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1244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12C015-5FFC-4D9F-B042-B7D89D09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24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F6909F-F7A5-4893-9BFB-F00A839A5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0673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개선 가설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385BFD-7D8A-44B1-AF72-6A477F0D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1054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변경·기대·판정의 두 문장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B882BC-D8C6-4BCB-AE81-89D759C22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56578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82037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AAD5CB-9BD2-4A7B-A2FA-ED437048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CBFD37-0870-474A-BABE-71665A59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F4122D-A92C-45BE-B58D-A6F758E9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1B1C71-948A-404B-BD6C-FBAD597D1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D0A599-495F-462E-8E9C-461A06E3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55E0CE-27FA-4216-B8BE-CA46C1B2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첫 호출의 전환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3A19DD-F2D1-46DE-9534-01171327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586038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42557-B1DD-4B2F-AD5F-860FBFE8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231933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66E85D-66C7-4267-AC4D-EF5E5356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2319338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입력과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F26F31-05F2-440E-A7A1-4895FC38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638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113FDC-F94B-4CFC-A7D6-86578186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5188" y="2381250"/>
            <a:ext cx="2586038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64D83B-7119-4D70-86CB-2201F326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538" y="2571750"/>
            <a:ext cx="231933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TRACE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679206-2A74-4DBB-9A2A-FE085DAF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538" y="3048000"/>
            <a:ext cx="2319338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정체성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3846F5-9FC4-4A41-B518-F3DB2DC0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B898CA-BF73-4E19-8372-9C69053B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00775" y="2381250"/>
            <a:ext cx="2586038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7A2FB9-3EBB-4104-8FE0-9B0C5C40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571750"/>
            <a:ext cx="231933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COMPARE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78E5C7-73D9-4367-B863-CE9E3FFD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2319338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같은 평가축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7C48E4-2FB3-44E4-84B9-3554E279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6813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F833F5-1608-44C3-B168-4B6C6722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96363" y="2381250"/>
            <a:ext cx="2586038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7F2971-C477-434B-ADC9-9DE2ADF5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2571750"/>
            <a:ext cx="231933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IMPROVE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AA6E8B-1F61-4906-875B-36018AB2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3048000"/>
            <a:ext cx="2319338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version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F5F890-D804-4520-8FBD-F2D281F82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한 번의 생성 결과 → 팀이 다시 확인할 수 있는 실험 단위</a:t>
            </a:r>
          </a:p>
        </p:txBody>
      </p:sp>
    </p:spTree>
    <p:extLst>
      <p:ext uri="{BB962C8B-B14F-4D97-AF65-F5344CB8AC3E}">
        <p14:creationId xmlns:p14="http://schemas.microsoft.com/office/powerpoint/2010/main" val="15237861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4F075A-9D83-4D11-BAE1-765036E2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INSTRUCTOR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B628EF-A3E6-4B05-87F6-33FFB4A6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4A1D39-C80A-497B-BAEC-B043D60F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830F7C-CB13-4900-871C-1B054A13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12F797-6A62-4651-B457-FDCF1E43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9411C4-5B61-4DA8-A92D-D4A000C7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강사의 네 도메인 운영 경험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2729A7-8A7A-4788-AB85-4DD711B1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차성재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A371E5-9D88-4A86-BFDA-D363CBAD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619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AI PRODUCT MANAGER · ADJUNCT PROFESSOR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53AA00-EDA5-4DDB-8E9F-6CC011A79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58102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금융 AutoML·MLOps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의료 Computer Vision·DataOps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교육 LLMOps·AICC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커머스 Agentic 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3AFE76-15FB-4DD2-AFD9-D29E4CBB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AI를 데모가 아닌 문제 정의·제품 계약·평가·운영 지표로 연결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47414e146406f"/>
          <a:stretch xmlns:a="http://schemas.openxmlformats.org/drawingml/2006/main"/>
        </p:blipFill>
        <p:spPr>
          <a:xfrm xmlns:a="http://schemas.openxmlformats.org/drawingml/2006/main">
            <a:off x="7734300" y="1428750"/>
            <a:ext cx="3390900" cy="33909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2C1FD5-054F-4C06-BF7A-5394D9E2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5162550"/>
            <a:ext cx="424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8BFAF2-E566-4CA6-A937-4E875389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372100"/>
            <a:ext cx="424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PRODUCT · EDUCATION · OPERATION</a:t>
            </a:r>
          </a:p>
        </p:txBody>
      </p:sp>
    </p:spTree>
    <p:extLst>
      <p:ext uri="{BB962C8B-B14F-4D97-AF65-F5344CB8AC3E}">
        <p14:creationId xmlns:p14="http://schemas.microsoft.com/office/powerpoint/2010/main" val="18158982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21D9E1-7661-47B8-9B2C-4F79230A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INSTRUCTOR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D318F8-6E4B-4F12-89B9-1C704EB6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03D322-7EDE-4AC9-8DB2-2B9DA377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319302-9B8E-4744-BCAD-BF6013D1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02DA4B-73A2-4138-8124-6978C4A9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D08A7B-BFCC-4D5D-9A11-6815B2FF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정형 데이터에서 생성형 AI까지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2B9375-4E42-44E5-AE4D-317FD054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81050" y="34290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DDA8C2-04F6-451D-B4F1-82F13AF8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95FB9D-742B-4F14-B0BE-F876FCB1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95250" y="19431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FINANCE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B6F45B-E670-4144-B202-F61002143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71450" y="23431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AutoML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MLOps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371122-84ED-4E96-A288-EB35575F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6242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94FE14-CF00-4C28-A5BC-027C74FC8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8862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HEALTHCARE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D7D4D4-CF31-4365-8116-B9C8A6B8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2862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Computer Vision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DataOps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4A79BC-7510-4726-AFE3-7CE5CE6E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667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479840-9174-482E-993C-04AC2D74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431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EDUCATION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882482-39D9-414F-BA91-0BE466F9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431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LLMOps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AICC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E2FFDB-CFD8-42DD-9E74-9E505918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1092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553556-EBFF-4593-AE95-396B733F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8862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COMMERCE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B12452-C889-413B-BDF3-92EF693E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42862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Agentic AI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Product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B48309-E5A9-4178-82C1-D1E67E7B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도메인은 달라도 서비스 운영의 질문은 반복</a:t>
            </a:r>
          </a:p>
        </p:txBody>
      </p:sp>
    </p:spTree>
    <p:extLst>
      <p:ext uri="{BB962C8B-B14F-4D97-AF65-F5344CB8AC3E}">
        <p14:creationId xmlns:p14="http://schemas.microsoft.com/office/powerpoint/2010/main" val="19742019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0561C5-D69E-4B9D-ADBD-161161C9B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INSTRUCTOR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C80BBF-322B-40F5-AD91-84DB51BB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E5870F-5321-4E5B-9EAD-F74F1AA1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CB9F0C-1E94-47F0-A14F-C37411B4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C22DA5-7098-4C03-AA78-AE0AE6F7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50387D-D0FC-4BF0-8037-A902CDDD5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도메인을 관통한 운영 질문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1FE75F-770F-4430-A307-B35ED232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3000" y="2990850"/>
            <a:ext cx="2266950" cy="2266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228600" tIns="228600" rIns="228600" bIns="2286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정확한가?</a:t>
            </a:r>
          </a:p>
          <a:p xmlns:a="http://schemas.openxmlformats.org/drawingml/2006/main">
            <a:pPr algn="ctr"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4864BF-EF1F-4515-9F49-90571DD6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71800" y="2324100"/>
            <a:ext cx="1981200" cy="1800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8A2B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FFB34C-044E-4339-B59E-A7822281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050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재현성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7655A6-ADBD-4C95-8177-1C874FED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193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같은 조건의 재실행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178E93-5AF6-46C3-93EE-F3D5C97D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19950" y="2324100"/>
            <a:ext cx="1638300" cy="1800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8A2B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66E6B1-840E-4128-A3EF-C2A221E7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050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관찰성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624F41-E1BA-4EE3-B406-4EB1A50EF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193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실패 위치와 분포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D4019B-9E08-48E1-9417-9C658C1D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971800" y="4124325"/>
            <a:ext cx="1981200" cy="581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0F971F-5795-43E9-B780-98AB3956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862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통제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7047B5-3398-4073-97C1-6E30F1597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권한·정책·fallback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744744-BDFD-44F0-8AD1-66E881A7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219950" y="4124325"/>
            <a:ext cx="1638300" cy="581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8A2B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F856EA-DCA3-4CDE-8F9E-1072202D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862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330D17-1BD7-4EF5-82CE-76F86B3A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006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변경 이유와 판정</a:t>
            </a:r>
          </a:p>
        </p:txBody>
      </p:sp>
    </p:spTree>
    <p:extLst>
      <p:ext uri="{BB962C8B-B14F-4D97-AF65-F5344CB8AC3E}">
        <p14:creationId xmlns:p14="http://schemas.microsoft.com/office/powerpoint/2010/main" val="40868326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54324A-C28E-44FB-915B-D1FC6C7D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COURSE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003912-F3F1-4C2C-8DA9-3770C2AA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B85E1F-8A35-42CF-AAC6-AC4E300F5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71F19-7816-48C8-8D0F-46E6AEF6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0BF843-8AFC-4C70-91B8-7DCD0E35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066091-FFC7-4152-B105-9F45E58D6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16주 누적 산출물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CD317C-A38A-4B8D-BA4C-5FE5E204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76300" y="327660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2C94A1-2A40-472B-B9CB-522BF34C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DF1777-744D-4477-AA1B-7CBBE77E6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20002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W01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FEF8BB-A41B-4A33-96CE-6B8B5071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" y="23431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TRACE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BASELINE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B1D9B3-758E-4C21-940E-E310F354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32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E58CD9-5D50-4E56-9C29-6FE9BA92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147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W02–03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177CD1-B25F-45B1-B0B9-473C79B3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576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C0B1EA-1F60-4021-8170-C5FE456F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A4CFE4-09AD-49DE-8A89-56102439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002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W04–07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25DA3C-FA98-4C16-B34D-DEAC5727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3431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RAG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04D1B8-A0BD-4E4C-BCDE-DEC1C6A6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18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52C4F7-8727-49A5-A8BA-3EF0329E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147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W09–10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154F7D-42D8-4C63-8840-BFFAFB228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576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API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OBSERVE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2B4FEB-EA76-465D-83B1-D4C5A6AC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011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CAE8B6-C0E3-4308-975E-B0D0F8D1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002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W11–14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CB184C-CDC2-4D54-B68A-FF41B07A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431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EVAL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GOVERN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C279E5-33C8-4604-859C-C4A11B73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204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BC535D-7222-4324-8448-691089ED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7147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W15–16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45516F-6351-4E13-85B4-FD84415C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576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OPERABLE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CAPSTONE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A38491-3780-4C56-981D-A6DB30FDF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매주의 notebook·log·version이 하나의 서비스 계약으로 누적</a:t>
            </a:r>
          </a:p>
        </p:txBody>
      </p:sp>
    </p:spTree>
    <p:extLst>
      <p:ext uri="{BB962C8B-B14F-4D97-AF65-F5344CB8AC3E}">
        <p14:creationId xmlns:p14="http://schemas.microsoft.com/office/powerpoint/2010/main" val="112054690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DCD26D-2814-4A1C-84B0-5DF327AA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COURSE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653242-8E2C-4EDD-A715-9517B4AB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56A681-3E98-4BE1-8D67-130D5481F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86F334-461A-4260-A76B-6BF9F7148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3AEE98-B77B-43C7-BF62-B6162B89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EB59F0-15F9-4C3E-B9CB-7711B7FA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커리큘럼의 여섯 능력 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5D8E64-B33C-45DD-A1F2-87CB9D571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71AACA-BDE5-4955-A7E1-9D22D45B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PROMPT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FFC503-E6C5-45F2-9E7C-5092140F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4480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A9DD5E-51B9-4689-AA51-D50C9379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1638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지시·형식·version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89EEE5-F19A-43B8-B3E1-86831FD1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0764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0B8787-9314-4D9A-A01D-7BCA9E9AB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66700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RAG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F95B48-B838-419A-9EF4-85A75C75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76500" y="34480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A62AA0-6658-403B-9731-B1D4AE45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90950"/>
            <a:ext cx="1638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근거·검색·재순위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E5F4A2-9BD3-4BEC-A6F3-923509DC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764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67240A-FCDD-4575-9993-58A94C13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6700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ADAPT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E8C650-1D77-4090-95F8-E1345F51C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43400" y="34480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2CEE02-F1F5-40EC-BE77-D90EDBD4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790950"/>
            <a:ext cx="1638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SFT·DPO·PEFT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BC60E0-D83D-4317-84F6-6A72A506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764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C409A7-5D6F-45F3-A204-2ADDCD49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6700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SERVE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11AE87-92CB-4368-BF8F-09ED51077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10300" y="34480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E87C55-06E7-47A9-91E9-1B77BA21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90950"/>
            <a:ext cx="1638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API·추론·관찰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E6D15-7367-4730-86C3-07F11F28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764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85118A-0C8D-470E-871F-0ACABFB6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6700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EVAL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0817B3-5445-4807-B755-EA74EEF5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077200" y="34480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F20301-04A1-4A6A-989F-DDC4DA22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90950"/>
            <a:ext cx="1638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dataset·rubric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B52BD6-20C2-492F-943F-A62D8A69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0764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7E3FBA-CB84-485D-97E3-89D34E001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66700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GOVERN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105D11-2CA1-4AD1-BBC0-170CEFF0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44100" y="34480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264482-06E6-4C73-B305-A1489D35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90950"/>
            <a:ext cx="1638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안전·비용·권한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11D9A3-A8A2-4821-8105-92C2CD74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서로 떨어진 기술 목록이 아니라 같은 폐루프의 여섯 역량</a:t>
            </a:r>
          </a:p>
        </p:txBody>
      </p:sp>
    </p:spTree>
    <p:extLst>
      <p:ext uri="{BB962C8B-B14F-4D97-AF65-F5344CB8AC3E}">
        <p14:creationId xmlns:p14="http://schemas.microsoft.com/office/powerpoint/2010/main" val="28938127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77D457-B74E-43BC-804B-8CF19D44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COURSE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028133-74E9-4ECC-ABC7-950CD5BC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9ACC09-E745-4907-8DD0-78E8E1D0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50B4F-5335-469C-B343-A273FA37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DB6492-65B4-4221-BDF0-532AE5D24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DB72DD-E4AA-46E5-BA47-23526688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재현·비교·설명 중심 평가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5ED326-F87E-434A-B8D4-2B499ECB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4785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3C6A49-2B7A-44C8-826A-7CF94B4F8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2781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제출 산출물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87F021-E130-454D-80D1-C0B0484C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7600" y="1847850"/>
            <a:ext cx="400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CE5865-71F7-4B48-9599-134D3CC0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847850"/>
            <a:ext cx="3733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평가 질문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434FE-A630-42D9-868B-C9643D71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1847850"/>
            <a:ext cx="3924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CA9B0E-2A98-4F62-94E3-7642C2A0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47850"/>
            <a:ext cx="365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근거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97AFE3-75BB-4988-8F05-DCE1E110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62200"/>
            <a:ext cx="3048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34EBC3-6CF9-44D2-9FEE-FD4E52518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README · 환경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3856FE-96C4-4769-95B4-A7EFB035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7600" y="2362200"/>
            <a:ext cx="4000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F03FC5-04D5-46B1-851E-EF6A7F04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36220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다른 사람이 다시 실행 가능한가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B9FAAD-9321-4F3B-9845-1EC89FB5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2362200"/>
            <a:ext cx="3924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3D788B-C981-430C-AFF1-04E9031A3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362200"/>
            <a:ext cx="3657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Python·package·실행 위치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67FA4B-33B2-4D67-8F16-47846E83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143250"/>
            <a:ext cx="3048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A1C256-3F61-4D89-909B-B2B7A73C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432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Config · Version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DFC03C-B48C-41C3-8E62-D8D0ECCE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7600" y="3143250"/>
            <a:ext cx="4000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F45E9E-AD2D-4968-A9A5-D8B7899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1432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무엇이 바뀌었는가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DF9CCF-C67B-4CC7-93E9-53E2AE1CE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3143250"/>
            <a:ext cx="3924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101770-B336-48A3-9EA6-D48F2060A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143250"/>
            <a:ext cx="3657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prompt·model·data·commit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C0BF5D-D38E-4201-9158-0C69DC394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924300"/>
            <a:ext cx="3048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C57915-4DA1-45D4-A0A6-958ADCB6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2430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 · Result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048625-5C77-4670-B169-5B1ED29B6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7600" y="3924300"/>
            <a:ext cx="4000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830781-6C82-4AD8-9701-1E2E668F7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92430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축에서 비교 가능한가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56F538-E5E3-475F-A602-2DABEBA5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3924300"/>
            <a:ext cx="3924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804880-9E46-4432-8322-54CC0146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924300"/>
            <a:ext cx="3657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status·latency·token·output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C17479-A614-4DC9-8BDB-FB8EF942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705350"/>
            <a:ext cx="3048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0AAF53-D630-4677-B7D7-FC85CA88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053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판단 · 다음 가설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8DC3B1-8A99-40E5-B638-5307A568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7600" y="4705350"/>
            <a:ext cx="4000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5C83E1-64A0-4132-B5A7-831016EE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7053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왜 승격·보류·rollback인가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A3279D7-465B-423D-9A10-04522AD5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4705350"/>
            <a:ext cx="3924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A47805-FBDD-4AFE-BDB9-5C789942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705350"/>
            <a:ext cx="3657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실패·trade-off</a:t>
            </a:r>
          </a:p>
        </p:txBody>
      </p:sp>
    </p:spTree>
    <p:extLst>
      <p:ext uri="{BB962C8B-B14F-4D97-AF65-F5344CB8AC3E}">
        <p14:creationId xmlns:p14="http://schemas.microsoft.com/office/powerpoint/2010/main" val="158289564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01FB7A-DD7C-4DBB-A19D-8C6A00ABB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2798DE-B764-4D0F-93A9-7461C78D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CDDB0B-8732-436F-B1CD-AE8198E0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5A4996-A1E8-4AFE-AE11-A8DCCED99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E7C8B5-56D9-491F-9B2A-24EF19D9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CAA0A1-9245-488E-A3DD-966FB3CB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기준 사례: 고객 피드백 도우미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369ADB-9D9A-4B4B-9AC3-52B9F3FA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0"/>
            <a:ext cx="36195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2A4BD3-A5AA-4682-8B88-F077C1AA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621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60F5A2-C9F7-4EE1-8BB0-6A6B8CBB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81250"/>
            <a:ext cx="3162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“결제는 빨랐지만 교환 절차를 찾기 어려웠어요. 다음 주문 전에는 개선되면 좋겠어요.”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9B49A0-FA2A-46D7-82ED-4255F130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621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OUTPUT CONTRACT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B81BEE-F4AB-4856-9EFD-ADA60D96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384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74FA88-577E-4B68-B23E-245044DB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400300"/>
            <a:ext cx="295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요약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14C74A-BD32-4EBE-936A-D95256B1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81600" y="29718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900203-3717-427C-A121-3E364946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194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4DA2A3-62D0-4F06-94AE-1F9228EA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181350"/>
            <a:ext cx="295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SIGNAL · FRICTION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NEXT ACTION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B5F00C-FE04-45C1-83EB-C7F32DA2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81600" y="37528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A22C69-6EAC-439C-AA4D-D5840DD8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005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0E26EE-3EC1-422F-8FDD-F66DA33A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962400"/>
            <a:ext cx="295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실무 문장 재작성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62C612-584E-4361-AFF2-20163848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81600" y="45339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16C628-D51D-476C-852B-C616A2A5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77250" y="1714500"/>
            <a:ext cx="31051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95C8FA-095D-4B46-93C9-6C0783E63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621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OPERATING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E646C7-C41A-46D9-8F5B-F9B02B23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38400"/>
            <a:ext cx="26479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trace_id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prompt_version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provider / model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status / latency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token_estimate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content_fingerprint</a:t>
            </a:r>
          </a:p>
        </p:txBody>
      </p:sp>
    </p:spTree>
    <p:extLst>
      <p:ext uri="{BB962C8B-B14F-4D97-AF65-F5344CB8AC3E}">
        <p14:creationId xmlns:p14="http://schemas.microsoft.com/office/powerpoint/2010/main" val="102598755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A71A4B-5171-48A3-B4D0-F7F4AB15B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17EF5D-FB25-4804-943F-29EEFDC3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46C9E8-84A6-4C16-913A-BF1FCFCDE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565B22-991A-4515-9776-DCA5DBB5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944620-D69A-400A-9A39-D71B5D9C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7E6DDC-C6BE-4D36-A93F-0D0875ED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눈에 보이는 호출과 운영 체계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30AB9F-26EE-4B04-965E-37D21B5C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VISIBLE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9E9B80-13A6-4C16-80CF-260E7107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5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PROMPT → MODEL → ANSWER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E74041-F40F-4AEE-9A08-1DE0DD34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990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0D2888-7C26-4EF8-8B09-A75419169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OPERATING SYSTEM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03FFF7-1BD4-4DAC-90D0-C5510B52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DATASET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9F2C22-330E-4008-8030-E1E9306F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810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VERSION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848480-6542-41AD-A0FC-9CD293C4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10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EVALUATION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0D0A9-FD66-4D79-9753-E7EE065D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10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TIMEOUT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A42CD7-68B9-440A-89DB-F2D7E57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FALLBACK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1240D4-3B65-4FA2-BD58-6A9CEEB8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591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SAFETY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159051-A1A0-4F87-B5D3-F2490805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91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COST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2BF6D9-CE2B-43DF-AA61-A357E822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591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OWNER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DCD657-3D45-4F28-A49A-A513BD40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데모의 화면보다 배포 판단에 필요한 운영 증거의 구조</a:t>
            </a:r>
          </a:p>
        </p:txBody>
      </p:sp>
    </p:spTree>
    <p:extLst>
      <p:ext uri="{BB962C8B-B14F-4D97-AF65-F5344CB8AC3E}">
        <p14:creationId xmlns:p14="http://schemas.microsoft.com/office/powerpoint/2010/main" val="21034406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08D1E8-1BF7-4775-A3FC-A61F5116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2000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88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E2506E-ACBE-4D17-A44D-020DC98DE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9334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FROM CAPABILITY TO RELIABILITY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7E3E3F-DBA2-4529-AFFF-DCE6E6B11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724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8EB563-3EA7-4D64-B87D-29B4EE1B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66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능력의 형성과 신뢰성의 간극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5336F4-A037-481A-98F4-FDFE49C9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규칙 · 데이터 · 연산 · Attention · Pretraining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9AF6A5-F73A-4DEA-8CD4-638F6B57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W01 · 17</a:t>
            </a:r>
          </a:p>
        </p:txBody>
      </p:sp>
    </p:spTree>
    <p:extLst>
      <p:ext uri="{BB962C8B-B14F-4D97-AF65-F5344CB8AC3E}">
        <p14:creationId xmlns:p14="http://schemas.microsoft.com/office/powerpoint/2010/main" val="133022034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B9C8D7-5851-45A8-89FD-C76296688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DFF5CE-101B-4AE7-BC77-A27D0352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EA864F-1555-4B50-B80E-D7A88F38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B50F16-2B1A-4BAC-A4BF-17174349C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D8627E-E1A7-4C53-8240-BCB34508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58D394-AE50-4B1B-AED2-4C1DAD17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AI 역사의 네 번의 병목 이동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755178-2998-4D1D-AEBB-C29706AE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81050" y="34290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6396FE-33F3-47B4-B803-65B9F85E7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257098-57F1-4C6C-BCC5-979BB157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95250" y="19431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FD8E65-4A84-4F9A-91D1-37D262B8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71450" y="23431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사람이 규칙을 작성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FF808A-55A6-4825-AADC-3A0821C1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363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873610-529B-4CA5-9FFC-4CF1F0713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7938" y="38862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LEARN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894AFF-C045-4185-B3B7-F21F56D7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738" y="42862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데이터에서 패턴 추정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A2F947-D404-45E1-A2D3-BEE134FB3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24550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8AE896-DF60-4CE3-81FC-F10068A7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9431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SCALE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296E9E-02C4-4C5B-976B-A4B63FDB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23431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표현·연산 규모 확장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F256D1-65EB-4929-9144-0E1C8561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67738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F60B25-1071-449F-9F40-4726E584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4313" y="38862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GENERATE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648717-3C26-446B-A3A0-E00395DC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8113" y="42862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범용 자연어 생성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00FDCD-F00F-4D8A-BE07-C8F52554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1092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1CC571-40BD-4536-8458-BF6D3CE1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9431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OPERATE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C78EBC-E651-4950-9A37-64B2CD94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3431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품질·비용·안전 통제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C705A5-73BD-439A-B159-531879A2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 능력은 이전 운영 문제를 지우지 않고 새로운 관리 대상을 추가</a:t>
            </a:r>
          </a:p>
        </p:txBody>
      </p:sp>
    </p:spTree>
    <p:extLst>
      <p:ext uri="{BB962C8B-B14F-4D97-AF65-F5344CB8AC3E}">
        <p14:creationId xmlns:p14="http://schemas.microsoft.com/office/powerpoint/2010/main" val="121012453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3AB63B-D1CD-4845-AA3A-FF83F072F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C2B7D4-107C-41EF-9087-B9D65252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1D6B94-DAA8-4A9C-B47F-6F93712B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C52D28-EDC7-48DE-8765-0173D302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AA3746-1994-4E28-A442-223C9356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0132BE-AFC5-4899-94B7-C1030B485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규칙 기반 시스템의 경계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E7DD17-F812-4E84-B508-7D774725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EXPLICIT RULES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8749F6-35BF-4B0D-9C49-C2FC6F7A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IF / THEN의 명시성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96E2E-D6BE-4A6E-A4C0-E114C614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501064-6B5D-4DF1-882D-B9CC6658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동작을 직접 설명하고 통제하기 쉬움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작은 범위와 안정된 규칙에 강점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07B0A3-5DE6-49D5-BD1B-3D282A46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EXCEPTION GROWTH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AEF401-EC31-4F81-9339-29913AEF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예외의 조합 폭증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2A9B60-1084-46E2-87B8-90125FA5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31BD7E-D5E4-4A71-B00A-022F0219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규칙 수와 상호작용이 빠르게 증가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모호한 언어·영상·패턴에 취약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BD58B-3C13-4283-93AC-810CEE3D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3269256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F20ECC-D711-420F-86E8-7653A747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79A513-E5C3-4E9D-AFC9-7E9EBB69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278CE2-9B94-40A7-B97B-15F8E0D5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7E4180-69CB-4088-A2A1-092644A91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6B94D5-C7B7-47E1-B9F8-DEA85D2E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9807F8-E603-4EFA-94AF-17664D8B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 기반 학습의 전환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FF1A54-693A-434A-B9C5-6D9533BDE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70396F-AD31-4869-8CFD-8EB48F636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사람이 규칙을 작성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044869-2E1E-4CDC-8E40-EB88DB59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EC349F-BD50-4B5E-95FD-61E05C4A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도메인 규칙 → 코드 → 결과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오류 수정은 규칙의 직접 변경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EE4EC0-19B4-4043-9F49-CC05B0967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AFTER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769A14-1F74-44D4-B481-BF577A93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데이터에서 패턴 추정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3F9A0C-6906-4257-8D10-7E9C07E0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6BE3CA-0AAE-4AF3-BA18-BAEE725F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데이터 + 목표 → 학습 →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오류 수정은 데이터·목표·모델의 변경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A52D98-C4C6-4129-8426-CD70C0BF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6260655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F0CCBE-F239-4F55-99E4-410EC6F3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8AABEC-D058-4936-98B0-47DE9FD27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88F7F6-273B-4368-837E-777C79AD4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E612E8-48D2-4766-81AE-7F2CFE3D8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E036A0-2FCC-45D3-8309-AF201BB4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F78C9E-AF5E-4DFE-BF87-D2CE0282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딥러닝의 세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9CDC5A-8FBC-4D81-BE64-9971C697F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2762250" y="2514600"/>
            <a:ext cx="321945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8A2B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19DA5-3F2C-45C3-AA70-862C63F8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10300" y="2514600"/>
            <a:ext cx="321945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8A2B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017C9F-F58B-4E98-9D84-507500ED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62250" y="4933950"/>
            <a:ext cx="666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8A2B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F53695-1B7D-442D-9BC0-52699EBE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24450" y="167640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CC9BFE-655E-46C8-BB22-C4891872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052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다양한 학습 신호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FDE0A4-9929-49E5-BA53-9BBD7BF20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33550" y="449580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GPU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D4B217-0682-4DBD-BA41-A7F9F75D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816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대규모 병렬 연산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BA68C5-586D-400E-8C80-F9A8431E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15350" y="449580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6DDA03-24E4-404F-ABAC-D5DAA4FB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5816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역전파·아키텍처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8526A2-8263-44D4-B7B8-8EC59E7C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733800"/>
            <a:ext cx="2400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규모의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결합</a:t>
            </a:r>
          </a:p>
        </p:txBody>
      </p:sp>
    </p:spTree>
    <p:extLst>
      <p:ext uri="{BB962C8B-B14F-4D97-AF65-F5344CB8AC3E}">
        <p14:creationId xmlns:p14="http://schemas.microsoft.com/office/powerpoint/2010/main" val="105273272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5AA591-03B0-4CAC-A388-8E674774E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004BC4-52FF-4BC8-9E34-BFC8AF56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8424FA-B459-494B-A38D-ADFAD82C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C8D4A5-2323-434A-A23B-FD950A1D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7D218A-860F-40C2-919A-556954439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07A8CD-D004-48E2-937A-C2E03F8EC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표현 학습의 변화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8DBA56-1891-4CF0-A9B0-DB9522A8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HAND-CRAFTED FEATURE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8B38FE-ED71-4CFE-9DBD-175B92C6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사람의 특징 설계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D09E6E-D4DF-4EF6-90F4-93FF4A4CA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C98860-665B-4B0D-BE1C-25B8F14A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원시 데이터 → 특징 추출 →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도메인 전문지식이 병목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B8DC23-519A-4FF0-B1DF-8760CECDE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REPRESENTATION LEARNING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1BB167-8309-43C4-B2CD-07D85F80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학습된 표현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EB64E9-E231-4759-A27A-08B65425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AB6DEF-72AF-465A-AF56-C8E0C4DD9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원시 데이터 → 계층 표현 → 출력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데이터와 목표의 품질이 병목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86C0A0-069C-468B-BF2F-85047A29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903357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7F4841-11F6-48C3-8B69-14BACEB9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FBD4EF-90D0-427D-A75E-9A6C84F3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F12873-E912-4FD6-96B9-EEEE4F9CA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4E3AD6-7D9C-4625-9228-0989FCF1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6A2A7B-0E26-4520-AA9F-7B8889E0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8A472F-7232-416A-A115-0006413D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시퀀스 모델의 순차 병목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063C8-C1D6-4C58-94A9-CE482D1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E43862-F216-45BF-A2AE-057335886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762283-5617-4B9A-9C1B-A68BFFDE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state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0FC421-59CF-45DC-AC2B-C23FFFE7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7AA609-0790-49AF-BBDB-AE4EC5B5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11F44B-7740-45C1-9A45-6EDC24EA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AC5F06-307E-46D5-B00D-691C6E3A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state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EAC8D0-23DD-4744-8B41-753F8A87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80EBF7-A121-497B-89D1-91D700B3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D1DD43-CDD8-4312-8A25-322AA958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221ECA-DAFC-4DF2-9974-E9AC1B22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state 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36044A-AFCF-4D00-9A2E-4F790317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61E91C-1C72-4CE3-AC3D-1C84E690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A9739-BC49-4863-8E25-F40334A5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E45075-39DD-431B-81BF-5E51E964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긴 경로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0E7069-9DDA-4B76-86F4-EC9B4CEA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4CCE72-65AE-4806-93F7-8A8F186D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F4CF94-B757-4F43-BA98-A8FBAE08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 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1A5A5A-852C-47E4-B6A0-36A6207D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먼 관계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87FB1E-B20D-4238-BC53-079B8BD9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이전 위치의 계산을 기다리는 순차성 · 멀리 떨어진 정보의 긴 전달 경로</a:t>
            </a:r>
          </a:p>
        </p:txBody>
      </p:sp>
    </p:spTree>
    <p:extLst>
      <p:ext uri="{BB962C8B-B14F-4D97-AF65-F5344CB8AC3E}">
        <p14:creationId xmlns:p14="http://schemas.microsoft.com/office/powerpoint/2010/main" val="13896151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6E3D26-7C99-476F-9AE1-24507412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10DC53-8AA4-40B7-B54B-A77AA9C7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93678D-855D-4BE9-8609-E63BBA52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A08F5C-C63D-45BD-B0D7-AF6077FC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28A4A4-98DB-4CF4-9AA7-5247B8C5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A6C0E0-2EC2-48E4-8A3F-A4BA2514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Self-Attention의 핵심 질문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7B98E8-87D5-4579-BCBE-D04D043C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24450" y="1809750"/>
            <a:ext cx="1943100" cy="1943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3810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현재 token</a:t>
            </a:r>
          </a:p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해석의 기준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0F43AE-3E00-4422-A92C-5DAE02A6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466850" y="3752850"/>
            <a:ext cx="4629150" cy="895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98A2B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75E582-F0A2-4AD1-AB39-2913496D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4648200"/>
            <a:ext cx="1562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8BE108-895F-4B26-82F9-B2ED038D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고객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2FB4DA-EC5E-4BA6-8ED5-6A1C2F3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638550" y="3752850"/>
            <a:ext cx="2457450" cy="895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98A2B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80DEAC-9D78-4CA6-AF46-7BAA5E80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4648200"/>
            <a:ext cx="1562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892E1B-B42A-4E03-B8DC-F2EB097C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4820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1ED1F4-5195-45E9-AED1-31E97EA1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5791200" y="3752850"/>
            <a:ext cx="304800" cy="895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98A2B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13EBE3-0EB3-4325-BA48-B20AA2F9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4648200"/>
            <a:ext cx="1562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F69FEE-F2AF-43E2-B58C-CC61366F4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64820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B39C50-53F6-497C-907B-1689F194F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3752850"/>
            <a:ext cx="1847850" cy="895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75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77842C-C14F-4133-9E01-CEE118C6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2800" y="4648200"/>
            <a:ext cx="1562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C8D503-8EC1-4962-87C9-A8DD3592E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64820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절차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E65A48-2964-4F1D-8BC2-9CCF714D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3752850"/>
            <a:ext cx="4000500" cy="895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98A2B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43294E-3A77-4D37-9690-1BE4BA63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15450" y="4648200"/>
            <a:ext cx="1562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C3778D-0FBD-4FA1-986E-94994755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64820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불편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3A9B04-5680-4BFA-A5B9-5FA99702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위치를 이해하기 위해 다른 위치를 얼마나 참고할지 계산</a:t>
            </a:r>
          </a:p>
        </p:txBody>
      </p:sp>
    </p:spTree>
    <p:extLst>
      <p:ext uri="{BB962C8B-B14F-4D97-AF65-F5344CB8AC3E}">
        <p14:creationId xmlns:p14="http://schemas.microsoft.com/office/powerpoint/2010/main" val="150578218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0051370-488D-4C1D-B066-477BC3F6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C1AFDD-F627-4C8B-A25B-FD1208818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0848BC-FAC9-4ADA-8547-293198377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E88566-09DA-4CF2-A0CD-1D655170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D3E120-E5CB-4E65-9C6F-D752A2D0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23F29-F0E7-41FE-9479-17E75710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토큰 관계의 가중치 지도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39A66B-2EAE-434C-BD38-106E6426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고객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ED1F55-67EA-40E2-A986-6E1B646B4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621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고객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F088C1-64EC-4488-8105-B30F6D46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428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교환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B31520-9E76-43E4-BF47-FDBF64B6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479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교환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98B276-CEDC-4159-8496-B901132C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428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절차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D90796-19F7-47D2-BB55-AA22101C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33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절차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099451-FF7B-40AE-BF2A-B9439288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28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불편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8D0F36-5F9F-4317-8A2F-3F736046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195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불편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4A5810-F06C-4BEC-AB22-3745EC0AB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428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개선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5A5AC7-B302-479A-94B6-E22E3B5D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053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개선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936580-6466-485E-B592-41FA41C47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1752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2867F8-D92F-4E9C-B8C9-088CACD2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7526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CA1334-D853-431A-BB45-76C47D0F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1752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60336E-E59A-474B-8325-4E39EB3E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7526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E942C5-2DDF-41D0-A434-89A45E70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1752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solidFill>
              <a:srgbClr val="E0F0F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C5AA25-FD3F-4F4C-BE4C-2BF81704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7526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189D7B-1CFD-463C-A34E-9FCE3D0C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1752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8AB74C-0A10-4FAE-B584-04071DECC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526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D29BBF-C1CB-43BF-B50A-D64BBEA8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1752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solidFill>
              <a:srgbClr val="E0F0F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CEDE55-B92C-4889-B64A-F3715C76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AC5D1D-56CA-4526-9582-8461A70BC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24384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4DAEE3-EFDC-4675-B695-5E3A7AF07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384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422492-EDE7-4133-8501-2CE7A02B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24384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36F426-DDB5-44F0-AE81-44A7A3B9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384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637F03-18DC-40AF-9BE1-BECB1948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24384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28CC92-36F8-410F-B5F2-E7E1F2E2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384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6744F5-1AB7-4184-ADA6-E990CE55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24384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6F10D1-5314-4563-8D06-D0F1EFA62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384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135596-9AC7-4EE0-B66D-E522AF02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24384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4EF2AD0-B686-47AD-A8FE-44CA798C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4384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47FC49-D959-4910-A956-72B72213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3124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solidFill>
              <a:srgbClr val="E0F0F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163754-E179-4D39-92C5-7BFF10E16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24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53E0C46-DE14-4A3B-A102-97AD44D7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3124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5D22F4-7C63-4F6B-BFBE-D2EE3AEC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24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0.7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60D62FB-082C-4E6E-82B9-F22646B0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3124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F860C6-A9D3-492A-9692-7FCCC6E0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24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57F3B8A-475B-4852-8E28-F3C7339E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3124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4CD5681-11A8-40DC-A3F7-569D7F24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24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0.8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7A19D44-6629-48D2-871C-662DFA8A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3124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B6B969C-AB22-4AE1-B64D-C418E6D1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124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A52E1D0-0903-4F9E-AEFF-FDB86D1C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3810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0DB91C7-3D4E-4C23-B708-3A50582D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8100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15CFC69-BE21-420F-ADC6-2AFA7D19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3810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021F4AF-8F7C-4E0D-9E3C-09638FBB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100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80BEB45-B85B-41DE-8290-3D942F1B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3810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EB59086-87A6-44A0-9F07-6A6291CF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8100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9C78BCF-BC70-46B8-B2FF-34A547F5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3810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F01F405-7F9B-4593-9273-5E8F5B9B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100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0.9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9A671C4-4F5B-48E7-A3A2-C8207164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3810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9498D1D-C8A1-4DEB-9C91-832394BD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100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4E0DCA1-CFAC-4B8C-BCE4-791E8F874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44958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solidFill>
              <a:srgbClr val="E0F0FE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6818133-59DD-4BB5-8591-0781DF00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4958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0.1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5E8F68F-A969-4BAE-8DCD-306C3A62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44958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840F13-B7FD-4D59-A618-0ED43609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958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C41070D-664F-4240-B07F-0A1AC2EA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44958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014DFEE-8F51-47DE-A8F7-035A1A4BB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958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95C48BE-9B17-4936-91CA-CE090C33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44958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76E7386-02DE-486C-9CC6-8166BD4B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4958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594E48F-4981-442B-B9EE-18AC97B9E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44958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45D0C7F-ED11-48DF-A613-3C8FD90D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4958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0.9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392ABC2-AFEA-434C-B33D-94015B64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00250"/>
            <a:ext cx="33909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색의 강도 =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해석에 기여한 관계 가중치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5810406-0606-40FC-BE06-0035DE734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95800"/>
            <a:ext cx="3390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가중치는 설명용 예시이며 실제 모델의 attention 값이 아님</a:t>
            </a:r>
          </a:p>
        </p:txBody>
      </p:sp>
    </p:spTree>
    <p:extLst>
      <p:ext uri="{BB962C8B-B14F-4D97-AF65-F5344CB8AC3E}">
        <p14:creationId xmlns:p14="http://schemas.microsoft.com/office/powerpoint/2010/main" val="61639652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F5B500-CBB6-476F-A859-2461BF5EA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16590-69CB-478F-8594-FD8238D7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BFBE6E-9412-49EA-A6D2-D3BEB548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6D2CFD-0803-48BE-B1AA-77BA2C60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7C628B-BBEC-4D16-BCEC-4433FEEE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51559A-E460-4AF6-B0A6-F61A90CC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Transformer의 관계 계산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7DE4F7-8951-4E7B-B48B-EA2782D2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BD6F22-0D41-4659-A097-9C7956B8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TOKENS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69D540-9116-410A-85DC-A7FD98549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입력 위치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EB7AE8-DF49-4699-B19C-20E733AD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F33C99-25DE-4B54-B193-CB661472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84B6C0-27D1-41A7-9FCA-5FA9F196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Q · K · V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FFB016-759B-47D9-B4C2-CB7BBD51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관계 표현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F5E251-C40D-4A34-A8A3-2A2D6039E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11F614-5A56-4524-BB38-3F78583B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95B6F8-4A18-4847-A94B-5C35311E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ATTENTION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6229F0-2431-4D89-A49A-58E595AA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가중 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195576-8EEC-4055-AEE2-2AA19196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3D3612-30BE-4E8A-BEB6-AFCBD24D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FD3FA1-CA66-4CA7-B75F-9E1B8AA4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FFN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F9E135-F397-49B7-8044-389AADA7A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위치별 변환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1EF986-AAF4-47D9-823C-D81B07BA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8E2268-0974-4AE3-B9EC-83D2047D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B2AE4C-AB05-4B77-B234-1AAA58B4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9E0556-0FA4-40DA-96C9-8D19CB09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문맥 표현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368EB8-1E9B-4F0D-AB8C-1ADF5AB8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학습 시 시퀀스 위치 병렬화 · decoder 생성 시 autoregressive 반복</a:t>
            </a:r>
          </a:p>
        </p:txBody>
      </p:sp>
    </p:spTree>
    <p:extLst>
      <p:ext uri="{BB962C8B-B14F-4D97-AF65-F5344CB8AC3E}">
        <p14:creationId xmlns:p14="http://schemas.microsoft.com/office/powerpoint/2010/main" val="16921444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729A23-1111-4009-A733-EEC643D4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028F46-6897-4BEC-9717-7316E6C8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E14544-F11B-4531-B83A-6530B95D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C69E66-DC8F-4901-91D4-03EE9BA2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B1837E-BE3D-4BD0-835E-CE2D968EF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42A82B-94CA-49AC-A493-C765D8CFD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Pretraining의 다음 Token 목표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84BA90-D987-44FE-BB23-030A2903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0EF7CE-CF7D-4CFE-A9B3-9767274C4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대규모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5996DA-8281-4D66-BBE0-11E2929EB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text corpus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CEA956-B687-4553-888E-651CF72E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0D2E0B-607E-4486-A371-692723156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E22BA1-1CA2-411C-94B3-711C920A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문맥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6CB885-7FF8-47CD-B9BE-8275FE5C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 sequence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F9130C-0C96-4DEC-92BB-8973CD1D0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BD8645-4AA8-416C-9614-0D448F5D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EAD7D0-E011-4258-A02D-4D78CB36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확률 분포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704B35-CE8E-45CF-8983-DDD99ECD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next token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922F66-1064-4371-95A9-B3B183C5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5B83E3-1593-4D8D-B521-D87C8859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6CBE0F-AF21-4842-BC85-29F6B6F3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오차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3102B4-5EEB-43A6-9CBE-A2D0F9B0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1D336C-B37F-47F0-AAE7-D0689B35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115232-6981-4BC1-92A3-FFCBA4B8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2832DC-9248-4FF2-96E0-B8602403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반복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33F441-B8F9-43AC-B9E1-7C35F163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weight update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54E57C-CF1A-4CBC-B32B-16E5437C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대부분의 생성형 decoder-only LLM에서 범용 언어 능력을 형성하는 대표 목표</a:t>
            </a:r>
          </a:p>
        </p:txBody>
      </p:sp>
    </p:spTree>
    <p:extLst>
      <p:ext uri="{BB962C8B-B14F-4D97-AF65-F5344CB8AC3E}">
        <p14:creationId xmlns:p14="http://schemas.microsoft.com/office/powerpoint/2010/main" val="51322915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E1BBB8-00CD-47EB-85F2-350CF3B9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9B7D48-E1A9-4DAE-B38D-CBDDAD3B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0BA2A-0A06-459C-939A-27856257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A36C6A-0E9D-4352-9940-3D169CF6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67C25B-D04E-445E-B8AD-8667FACF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31F682-A06C-4445-A678-F4A33773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범용 언어 능력의 목록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341A4D-EC8C-4892-9051-ACBB5575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01168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9BB779-B12D-49D7-9ADA-5293621D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0116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CBF28-048A-4C15-91EE-BB10139A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448050"/>
            <a:ext cx="2011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DE7077-669E-47D9-8C90-AD45E1A7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01168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초안·아이디어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682187-C1D1-43B8-9039-F16B7F14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076450"/>
            <a:ext cx="201168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B973FA-C66E-4467-B8EA-04839E4F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667000"/>
            <a:ext cx="20116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453D33-F05C-4D4E-96D3-5BE56A08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49880" y="3448050"/>
            <a:ext cx="2011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1E6037-0ACF-47D1-A823-AD7F8C917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3790950"/>
            <a:ext cx="201168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압축·핵심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50AEE1-FF40-43A1-BF88-740D4C56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160" y="2076450"/>
            <a:ext cx="201168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78277C-F749-4C90-8DDD-E825F928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160" y="2667000"/>
            <a:ext cx="20116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433480-0BB8-49AE-8DF9-2B615602E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90160" y="3448050"/>
            <a:ext cx="2011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B73E2B-4839-4975-8BDE-2481FD49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160" y="3790950"/>
            <a:ext cx="201168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톤·형식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888E4C-A1D2-49E1-8578-F08B27659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440" y="2076450"/>
            <a:ext cx="201168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1A01E0-2040-4B98-9391-418783A33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440" y="2667000"/>
            <a:ext cx="20116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79BE39-786F-4A99-9D5D-BC147C820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0440" y="3448050"/>
            <a:ext cx="2011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25D764-95A0-4817-9CD3-3D55F956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440" y="3790950"/>
            <a:ext cx="201168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label·route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BD0B79-E5A4-401D-8872-F4659638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0720" y="2076450"/>
            <a:ext cx="201168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3406D3-0650-49B7-A7A4-FD3DDF4D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0720" y="2667000"/>
            <a:ext cx="20116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ED982B-ADF1-45E7-A850-9716F46A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570720" y="3448050"/>
            <a:ext cx="2011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624AE0-F343-4825-ABE8-6EAC5B3F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0720" y="3790950"/>
            <a:ext cx="201168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생성·해석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8234F7-0C3C-4494-87FE-743C87C6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하나의 모델이 여러 자연어 작업을 수행하는 범용성</a:t>
            </a:r>
          </a:p>
        </p:txBody>
      </p:sp>
    </p:spTree>
    <p:extLst>
      <p:ext uri="{BB962C8B-B14F-4D97-AF65-F5344CB8AC3E}">
        <p14:creationId xmlns:p14="http://schemas.microsoft.com/office/powerpoint/2010/main" val="119491421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E46C66-861D-47C0-8557-BD02E6DC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B26F2-AEC9-4E46-942C-0943E74E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31161F-8F27-4614-BB31-8A64688E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DAFB82-8564-4096-B6F2-CE897E870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42237B-CE2F-4DF3-84E0-94D8E28D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1A344C-4F79-445B-82D6-48A72407A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서비스 보장의 공백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7BBF9D-1F0C-4EB9-83AB-141397AE0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MODEL CAPABILITY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CEA370-D607-425B-9443-3FE96C49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생성 가능한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2DFDD3-CD6A-4010-8953-E4321BB8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D6ED13-624E-4C68-B224-9976F7CE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요약 · 번역 · 질의응답 · 코드 · 멀티모달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확률적 일반화 능력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4F4AB4-F167-4623-B178-08CD4328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SERVICE RELIABILITY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BFDAF7-1A33-4288-8381-81BCB378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별도 계약이 필요한 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2E237A-675A-445C-8507-4ACB8B02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93F6D6-50F8-4345-A5B1-6A6A39AB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사실성 · 최신성 · 권한 · 지연 · 비용 · 안전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운영 환경의 판정 기준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F902EA-B716-4882-9C2F-3BFFFED67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8623210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58199D-C46A-43DE-AE9B-9AA766EA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3ABC39-CA73-499A-A8EA-46F5223E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F86A1B-7FCA-436C-85BB-13767A4D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630609-CB89-4D0E-A6B4-683F1B2E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91F033-8F55-40BC-9FA6-11BAE198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671600-B012-43CA-8A1B-461D4AB5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생성형 시스템의 변동성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0F5FF9-D03F-4896-9391-B379FD2C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3000" y="2990850"/>
            <a:ext cx="2266950" cy="2266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  <p:txBody>
          <a:bodyPr xmlns:a="http://schemas.openxmlformats.org/drawingml/2006/main" lIns="228600" tIns="228600" rIns="228600" bIns="2286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같은 코드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다른 실행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926B2A-F11D-4793-B19E-D1444264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71800" y="2324100"/>
            <a:ext cx="1981200" cy="1800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CDDFA1-B7AE-4E49-AC66-6365C59E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050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72B7E1-AC62-4073-ADA2-A99F4214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193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provider·tag·revision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E36AF6-27FB-426A-9BA3-EE3F60695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19950" y="2324100"/>
            <a:ext cx="1638300" cy="1800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3123F-AE1B-4F59-A957-F233FD94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050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CONTEXT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8BAD0D-151C-462A-953A-274D85AF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193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retrieval·tool result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5D0952-DE43-4ABF-BA72-B161D1AC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971800" y="4124325"/>
            <a:ext cx="1981200" cy="581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A2EE85-2343-42E1-A498-42BADE0F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862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SAMPLING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C14095-566E-4957-B33C-B9B37BDD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temperature·seed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9EA34B-27B6-4077-9A6A-BB96EAE7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219950" y="4124325"/>
            <a:ext cx="1638300" cy="581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DF0895-087C-4F63-A979-B182A165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862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7297F1-2729-492D-88E6-262FE4415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006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template·example</a:t>
            </a:r>
          </a:p>
        </p:txBody>
      </p:sp>
    </p:spTree>
    <p:extLst>
      <p:ext uri="{BB962C8B-B14F-4D97-AF65-F5344CB8AC3E}">
        <p14:creationId xmlns:p14="http://schemas.microsoft.com/office/powerpoint/2010/main" val="162469832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B5E64E-D49E-4592-864B-C8A1E5DE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1DE658-07A1-48E9-90CB-77C235DB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1D45BC-0DB5-4121-A081-FF0687A25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E2933-172B-403C-9C00-00B7F278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96410B-D699-467B-8413-CDDC8E4A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F684A6-B48E-43AC-926C-3CDEF50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제품 정의의 잔여 과제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BBEE25-B5AB-4548-9642-5B304E512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3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33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MODEL CAPABILITY  ≠  SERVICE RELIABILITY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0BFBA1-E4F6-4D86-A148-9547159B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733550" y="3371850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C37DEC-97E7-4D0A-BEFE-0B09CEB7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USER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88013B-7FD6-483B-AD27-BA38271CD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누구의 결정을 지원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23D9CF-5F11-4278-A641-9CFDF344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80C0B3-81D6-434F-8250-4C99A1B2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어떤 상황과 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C8A1F5-0510-4912-A2F7-8F103040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SUCCESS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EB54B0-9268-4F93-B538-0467B4281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무엇을 얼마나 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F52924-0BFB-4CDB-869E-4AF60773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C4A4B6-2DA4-44EA-968B-8CBFB8C1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금지 행동과 책임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4DBB25-172B-4EE0-8B2A-03B448F0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남은 과제의 소유자는 모델이 아니라 제품과 운영 팀</a:t>
            </a:r>
          </a:p>
        </p:txBody>
      </p:sp>
    </p:spTree>
    <p:extLst>
      <p:ext uri="{BB962C8B-B14F-4D97-AF65-F5344CB8AC3E}">
        <p14:creationId xmlns:p14="http://schemas.microsoft.com/office/powerpoint/2010/main" val="36556325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4720D6-3CB9-47A5-8DD2-7C35BF3D6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2000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88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FEBE33-4225-4B7D-9F73-4337AB5B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9334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INTERVENTION LEVERS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421A9F-52D9-42B3-8139-D496D868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724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D88482-34DE-408E-8381-793ABA9C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66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서비스 행동의 개입 레버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DD9C16-E918-4F31-8FAB-EB237BF2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Prompt · Retrieval · Tool · Routing · Post-training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0455A4-78C5-4D69-B041-3467F449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W01 · 32</a:t>
            </a:r>
          </a:p>
        </p:txBody>
      </p:sp>
    </p:spTree>
    <p:extLst>
      <p:ext uri="{BB962C8B-B14F-4D97-AF65-F5344CB8AC3E}">
        <p14:creationId xmlns:p14="http://schemas.microsoft.com/office/powerpoint/2010/main" val="211583771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E32D7F-812D-4CF3-8136-A340F14A5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214D1A-AECC-4D02-9F8A-20322A01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295F04-7DDA-4F8C-A8C2-BF2955FD8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A52237-57E4-4568-B42D-D0B612CEC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51AB78-4609-4E97-A838-EEB4CE1F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E9092D-4F7F-4C55-AC53-E6DCD57D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개입 레버의 비용·가역성 지도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1F5917-7789-4B46-85FA-17C3EEA7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비용·시간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61D8BC-F356-4A9C-9BC1-9DB2EE438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952500" y="228600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FE70AD-B3E3-423E-93FA-AD31BB81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52500" y="5238750"/>
            <a:ext cx="1000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7FEDCC-7569-423F-B1B3-51DB9A93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4673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되돌리기 어려움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13512B-250B-4E23-8BD7-6BD5777D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6900" y="4604385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PROMPT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980A4B-8455-452F-A339-7899C253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409003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RAG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FA8A20-B137-47DA-B67D-FF1433F9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38838" y="372999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ROUTING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308800-9598-4B65-BAF7-E54FBA96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01025" y="2958465"/>
            <a:ext cx="1123950" cy="1123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FINE-</a:t>
            </a:r>
          </a:p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TUNING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2801EB-39FF-4B0E-A4F7-E02A7621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7526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파랑 = 이번 가설을 가장 싸고 빠르게 검증할 첫 변경점</a:t>
            </a:r>
          </a:p>
        </p:txBody>
      </p:sp>
    </p:spTree>
    <p:extLst>
      <p:ext uri="{BB962C8B-B14F-4D97-AF65-F5344CB8AC3E}">
        <p14:creationId xmlns:p14="http://schemas.microsoft.com/office/powerpoint/2010/main" val="90549753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9359C9-AA56-4E59-92A7-35C48C34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225FA1-799B-470C-B405-3EE47CA56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B33318-A475-4728-8081-F00EA2FC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7594AC-D61E-47DE-BFFC-A7D38502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5586B6-010C-464D-99EB-898619DAB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46C32D-D20B-41DA-B02D-9E53F62B8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Prompt의 통제 범위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34D1CA-9C5F-4C3E-8A23-9A621CB5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90700"/>
            <a:ext cx="1009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33C82F-A3B3-4D68-BE26-0FDBB3868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ROLE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9FBA8E-242D-48FA-92BA-B7611188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90700"/>
            <a:ext cx="6877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응답 관점과 책임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AB0A01-6615-4BEC-98D1-94FFA690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1100" y="2628900"/>
            <a:ext cx="8953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C86175-831B-465B-9C89-6C27AA4B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289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INSTRUCTION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FEAA1E-AD65-4100-9895-61E3951E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28900"/>
            <a:ext cx="5734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해야 할 일과 금지 행동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414292-C74D-42CC-8094-24B8E5BD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3467100"/>
            <a:ext cx="7810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41D2CB-B3C5-4AFC-89D3-D32014ED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4671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EXAMPLE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AE200D-FBF9-4AEE-A96D-EB0B1EB8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67100"/>
            <a:ext cx="4591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입력·출력 패턴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9BB458-E172-40A3-A6C5-4604BD83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4305300"/>
            <a:ext cx="666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873CD4-B055-4494-8437-D7C05885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053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OUTPUT SCHEMA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5876D9-AE51-4C2A-966F-651947785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305300"/>
            <a:ext cx="3448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형식·필드·길이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E47CB7-7054-4088-A5C0-86BBF26D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weight 바깥에서 빠르게 변경·버전·rollback 가능한 제어면</a:t>
            </a:r>
          </a:p>
        </p:txBody>
      </p:sp>
    </p:spTree>
    <p:extLst>
      <p:ext uri="{BB962C8B-B14F-4D97-AF65-F5344CB8AC3E}">
        <p14:creationId xmlns:p14="http://schemas.microsoft.com/office/powerpoint/2010/main" val="180316268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23F78D-7967-4870-8AFA-5D71F74F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C4DA65-033A-4D7B-B5ED-5D824415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35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EB210C-3134-47CE-B7FE-2C10AF75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4B1633-C0DC-4AD1-97C6-BD91DD91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FA133-C326-4EEE-8726-EFD74948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4223DB-31DD-4278-AB71-2254F654A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Retrieval의 외부 근거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4783AE-51DF-417B-BE83-6A243E0D2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9E97EB-914C-4277-8F82-8EA31787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QUERY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59D355-2276-4733-A169-AB724A31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사용자 질문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F00B12-5151-4B93-86A2-6B4EA7EB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04570C-3EE9-47BB-850C-306DEFAC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058227-EBB7-44BC-90F4-09E0262D0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SEARCH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679C0A-5B18-468A-A12B-2F136C3A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index·filter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F15A8D-2E9E-4F8A-A02D-DED74F290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542710-DC85-4DCB-B2C8-091350406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2E74FF-4014-437E-A32C-F73077F1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F4D652-E787-4F1E-949A-5C95844E0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Top-k 근거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16457A-AF97-43EE-900D-3A29D659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C7E2B5-9436-43B7-8A32-76EE88DD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97E317-732D-4664-85A0-2309E586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CONTEXT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F6E6E7-7CC9-4864-8540-A1D19362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prompt 보강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4CB2B9-9CA8-494E-A276-445424C3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378094-9E74-4F28-980D-D2DCB025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96CB94-8DA9-4519-B310-A47FCDDD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ANSWER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93E9E2-BD6E-403A-A554-7CCF46A2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근거 기반 생성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7C91DD-18CC-45FF-8201-C8BB0F4E6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최신·사내·출처 지식은 모델 weight보다 외부 context로 공급</a:t>
            </a:r>
          </a:p>
        </p:txBody>
      </p:sp>
    </p:spTree>
    <p:extLst>
      <p:ext uri="{BB962C8B-B14F-4D97-AF65-F5344CB8AC3E}">
        <p14:creationId xmlns:p14="http://schemas.microsoft.com/office/powerpoint/2010/main" val="23138781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454F64-65A5-4056-8891-DA63394B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2A9300-2BA6-4C62-86C2-8B20A32DE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B62E5F-6C70-4044-98F6-68B9D12A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597DD0-09AE-40D7-B73E-274AE915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6FCF83-7795-4658-A3F6-A1953F9D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D69D1A-1561-44CF-9583-22C23777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Tool의 행동 경계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BC58BA-2858-4940-89F6-08282EA9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MODEL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039DB-DE83-43AC-AC6D-593E39D0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행동의 제안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E74CC3-AED8-4C90-BFD1-FBD81010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FEF910-6B1A-4D42-88D8-3F660FAB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tool 이름과 argument를 생성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확률적 판단 · 외부 변경 없음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9F695A-8E72-4A5F-AB2E-E7713297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RUNTIME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8A0EF8-62F9-4F77-9848-B0E1F2AB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권한이 있는 실행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43D7AB-12AB-4B3B-A2D5-852C15C73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DCF55E-23F6-485A-8DB1-678E443F9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schema 검증 · 승인 · 실제 API 호출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timeout · audit · idempotency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EE7D38-6E1C-4D7F-9235-2B822C0E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066696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F282C29-6B5C-4B25-81EF-977AE39B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FC74A2-658F-4C7E-A345-20D27A25C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37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5BD55B-896F-4BF6-B802-1944AD44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BDA0C8-C128-4545-9B2D-614BB802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F441D3-A609-4FF2-AD76-723FB6EC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DC917D-BEED-4657-A6A6-3430F13C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Model Routing의 선택 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7AB79D-FA59-4789-9EBD-C6BDA86B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47850"/>
            <a:ext cx="2762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A0850C-9154-441B-8113-C250094F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2495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요청 유형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75AEF4-A677-488E-A3AF-724743AC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1847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678C40-1F62-4EED-B196-D233F34E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47850"/>
            <a:ext cx="2590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우선 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DEC8ED-5499-4476-A105-8CC7A560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1847850"/>
            <a:ext cx="5353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BCA43F-7BE5-4232-8785-488337E9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47850"/>
            <a:ext cx="508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Routing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8A2A22-C13D-4962-B6CD-5D49EF4C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62200"/>
            <a:ext cx="276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E156CB-2EAA-4BB3-8F59-A4D85A26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495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짧은 분류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BFB896-356D-4903-8605-F9A95474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236220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D8D595-E9BF-4D3F-A92D-512486C0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62200"/>
            <a:ext cx="2590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지연 · 비용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09827E-A3EF-49DD-B364-82468CCE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2362200"/>
            <a:ext cx="5353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982445-BED6-4FAB-9C0B-008E9696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62200"/>
            <a:ext cx="5086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작은 모델 · 짧은 timeout · batch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02E9BF-D9B0-4757-A2AC-2B4B7502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200400"/>
            <a:ext cx="276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CA1205-2A48-430C-B674-274986E0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0400"/>
            <a:ext cx="2495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근거형 답변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7ECD63-B093-46B6-8BEC-1E9D2E71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320040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C048D8-B1B9-4207-B855-B3D1BB6C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00400"/>
            <a:ext cx="2590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품질 · 안전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5F0747-6634-4EFE-B7AC-3900EBFD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3200400"/>
            <a:ext cx="5353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55C616-AD0F-47AA-9A47-1C1A4CD8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00400"/>
            <a:ext cx="5086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RAG 지원 · citation · guardrail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44406B-51C1-4871-BB79-382D3DCC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038600"/>
            <a:ext cx="276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B913EE-ACE6-473F-994C-73C505EC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38600"/>
            <a:ext cx="2495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복잡한 추론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A19E91-2985-4BDF-99B3-449BCE2C8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403860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419B32-F1C8-4EB6-A485-BCD3CEC49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038600"/>
            <a:ext cx="2590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품질 · token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1261DD-AD73-48D9-BB2E-4082AD8C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4038600"/>
            <a:ext cx="5353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03E18A-176A-45B1-9286-A2282269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38600"/>
            <a:ext cx="5086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긴 context · 상위 모델 · budget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6B4040-68EF-47C5-ACA8-F6AB0A780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876800"/>
            <a:ext cx="276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AC7ADE-FAD4-4E4B-A66E-032C378A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2495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민감 데이터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2D4384-73F0-4C84-810D-BDB91C5D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487680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1044BC-CA75-4719-A722-E811D0DC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876800"/>
            <a:ext cx="2590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권한 · 위치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1352BD-AE5E-4866-9B00-28980BD3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4876800"/>
            <a:ext cx="5353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3BAD130-B145-4D83-A9C2-8B725FB9E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876800"/>
            <a:ext cx="5086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local/VPC · logging policy · masking</a:t>
            </a:r>
          </a:p>
        </p:txBody>
      </p:sp>
    </p:spTree>
    <p:extLst>
      <p:ext uri="{BB962C8B-B14F-4D97-AF65-F5344CB8AC3E}">
        <p14:creationId xmlns:p14="http://schemas.microsoft.com/office/powerpoint/2010/main" val="3829761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93257D-8277-416E-8794-9A5DC180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E28D2F-2D74-4C07-B25B-9D74B035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38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B57658-058F-4217-BBDF-22FD6041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2FDE9E-C50A-4E4A-9BE3-2C3A1078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11A449-BFA9-48CB-BC59-8023D2E2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CDE0BA-C4AE-4F60-B52D-096DD693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SFT의 행동 학습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0B7508-C0A8-4C51-A9C9-8DA6AB44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BC3D9A-4229-42AA-9CFB-F527C32E3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AE78A0-08A9-4A8F-9F6C-03B27B22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반복 행동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082048-A2A6-4AE6-9D55-5A48215E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A3817E-12D6-49FE-954D-FE7E3BB8C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EEE2BA-F8BE-462A-9675-63A0BCB2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EXAMPLES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E057D7-063E-41FB-AD22-7D7E5035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좋은 입출력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03CB29-EDF4-498E-803E-AF57AE73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89FABA-B87B-48D6-87AD-405DB5C4A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71991C-C0C2-4CD7-A0F2-2ABB19AA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77BF89-A102-4F86-AF36-FE6744E2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정답 token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F155F1-B961-4DC5-812F-460C19CD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D86758-84EE-480D-BBBD-EB245840E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9B6CBB-65D0-41C1-BF85-D43418976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UPDATE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A16AF1-CCB4-4F92-8718-AD572FE3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model behavior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89BBE3-50D4-4DB8-A6A3-1B1D6146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1083DB-93FD-47A2-9262-FE5475B9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400144-E83E-4825-8C59-88CB9BBBC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A45F4D-1922-4B0A-ADE7-DAD70CB2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holdout set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BB1950-D9DB-4AF3-AAC8-668F505A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반복되는 형식·말투·도메인 행동을 예시로 적응</a:t>
            </a:r>
          </a:p>
        </p:txBody>
      </p:sp>
    </p:spTree>
    <p:extLst>
      <p:ext uri="{BB962C8B-B14F-4D97-AF65-F5344CB8AC3E}">
        <p14:creationId xmlns:p14="http://schemas.microsoft.com/office/powerpoint/2010/main" val="316350261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9B8294-C5CC-4808-8E58-31396C22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F46653-5A0D-41CA-BEA6-A8045601B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39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2C2F29-3784-44A6-AC6C-2418D2F49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FD0B2-85BC-417D-BB8B-2FBC4226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6CABEE-1EE8-4EB9-9EB8-41887D5D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729F19-469D-48E4-BD67-0FF6A309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SFT 데이터의 최소 계약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C9C01C-CD78-421E-B3AF-08D9F248F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CBBE71-F157-4B1E-8AFF-AD8DC3E5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INSTRUCTION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D9BC30-015D-48C8-893C-617B6727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067050"/>
            <a:ext cx="30099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4A2B1F-530E-4DE8-B638-BF10319C1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95650"/>
            <a:ext cx="25908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고객 피드백에서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Signal·Friction·Next Action 추출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80AFAF-7979-4BC4-BBEA-37BD2FF3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338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778F57-4BC5-48C5-8482-267E16B9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809750"/>
            <a:ext cx="403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B866CF-2B40-4AF9-84D1-CA214F4C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38125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8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INPUT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9C2A1D-B52F-47F8-B6A1-6944F035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76700" y="3067050"/>
            <a:ext cx="40386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372F9-0993-4E43-A56F-25288407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3619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분포를 닮은 합성·검수 입력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민감 원문 제외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B84595-21B3-4C33-8817-82E4FCF0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7338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+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92CF80-F551-44ED-96FD-5C160583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09750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DDCB2D-A583-46B4-9722-C8744AC5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8125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IDEAL OUTPUT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9338C4-39F4-4A38-B9A3-8180F819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0" y="3067050"/>
            <a:ext cx="30099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A8CD35-F00A-418C-B56F-675EC1EC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95650"/>
            <a:ext cx="25908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고정 schema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근거 있는 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19BEB9-610D-479D-8FB4-85765CA7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잘못된 예시는 잘못된 행동을 더 일관되게 재현</a:t>
            </a:r>
          </a:p>
        </p:txBody>
      </p:sp>
    </p:spTree>
    <p:extLst>
      <p:ext uri="{BB962C8B-B14F-4D97-AF65-F5344CB8AC3E}">
        <p14:creationId xmlns:p14="http://schemas.microsoft.com/office/powerpoint/2010/main" val="40003227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257E40-5FFF-4DFA-AFEA-C70E9760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0E22DE-FB20-4751-9BA2-15C896B3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D78FC-0E08-408D-ACF6-BFFBE90EB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5AFFE1-EF14-4ACC-8C63-47CAA4BA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FA3451-B708-4B42-B06F-D3209F3F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CC4CF0-6CA5-4829-9489-2096A690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선호 데이터의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F0BC18-4D96-4E2E-9146-92976290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CHOSEN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102660-9916-4F77-8FF5-11A5D8D7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짧고 근거 있는 응답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67976D-32E9-466E-9F02-8150DC03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C4982F-358B-4629-87E5-794A7DF6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요청한 schema 준수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입력에 없는 사실 없음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실행 가능한 next action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3AAE7-611C-4DF6-ADE4-256FCA48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REJECTED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A4AEEF-A0E0-4118-A870-97A2A418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그럴듯하지만 불리한 응답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79A4FB-518C-42E6-B32B-7E3F666C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97D716-E4DB-47E2-8D3A-AD7CC3BC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형식 누락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새 사실 추가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과도한 장황함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5C98C4-BB6E-416B-BCD0-CD18E31B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4531985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002017-B969-45C5-9525-327EBCD3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C0035C-96A7-4581-8575-3E2792A56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41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E611A4-F7FB-41F5-BC15-0361011E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91B668-D72C-4192-BE68-4487B220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EE8A37-4507-4161-B659-3F96A654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B80F89-2DAF-468F-847F-13150263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대표적인 PPO 기반 RLHF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717CD6-7848-41DF-993E-42AAAC4B0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B51CBD-831C-4BDF-B45D-C4BEC1626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SFT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BD5D09-254D-4A02-91E3-775C368C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초기 policy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14A38F-CD48-477A-A027-1CD20670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F7D2F4-11A9-4F04-A4E8-AC5F151B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CF3C33-0A80-4C12-8472-E09BE6BE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PREFERENCE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7B4721-42CC-490B-BD45-07D2D96B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사람의 비교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052FC9-041C-452E-B157-AE9829DB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AD1B2D-FCC6-4612-A80C-CDD062569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2E9DF6-E90E-4F99-AC44-2BC5EF9B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REWARD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F472BD-9A68-4375-9949-DE99C6D4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reward model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A27A44-7DE0-490B-99C6-F61D777E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682B43-5CF6-4686-9123-5D94D2AEA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E6E772-E868-4FBD-84CD-489D03FC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PPO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3086F7-2787-4CC7-B878-CB2AA920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policy update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7BE454-2A61-41EC-9CA7-30BD41EF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7FD13C-3A4F-484C-9F72-046146E9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3AA9AA-265B-40B7-B83F-53543BA0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EVAL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46AA63-B6A1-4994-896E-A1023AEB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행동·안전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4C9AC6-C387-46A1-971B-CEC6BB85E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RLHF 전체를 하나의 알고리즘과 동일시하지 않는 대표 파이프라인</a:t>
            </a:r>
          </a:p>
        </p:txBody>
      </p:sp>
    </p:spTree>
    <p:extLst>
      <p:ext uri="{BB962C8B-B14F-4D97-AF65-F5344CB8AC3E}">
        <p14:creationId xmlns:p14="http://schemas.microsoft.com/office/powerpoint/2010/main" val="108779342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0FAE24-4736-4BEB-AE51-A0F48FDE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CF8E80-4D75-409C-90FB-415599AE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42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E2A21E-8B51-4F67-B434-A15F27E1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9F9C59-00A2-40D6-A98F-4334F97B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503038-4F58-462D-96BA-280576EB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5A43A6-170D-429E-94EE-55CFB41FA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DPO의 직접 선호 최적화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A54A10-E7DA-4A71-B1EB-F2A66A6C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B1F3A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0B1F3A"/>
                </a:solidFill>
                <a:latin typeface="AppleGothic"/>
                <a:ea typeface="AppleGothic"/>
                <a:cs typeface="AppleGothic"/>
              </a:rPr>
              <a:t>PPO-BASED RLHF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159B43-2871-4107-B0F8-EF359304E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209550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87C2E2-CE4A-4325-BD5C-97AE5961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9550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2038B-99FA-4D02-8D03-1A163F2F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6700" y="22860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BF2706-DAF1-4AC7-923C-C2388BE9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89600" y="209550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6988AE-D041-43A4-B271-C0AABEE4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800" y="209550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REWARD 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5E8BA9-A8C7-4067-92F1-B6A09DA6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2860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8CB303-B63C-41B0-AA6F-E8D220C3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97900" y="209550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148972-2F8C-4731-89AB-9E15E3AD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4100" y="209550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PPO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E49D6A-AE02-4264-A7BA-4A476786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90850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별도 reward model과 policy optimization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5DC7EF-A333-477B-9C3B-5F362189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DPO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AAE671-5D91-461C-85C9-FD0821E1C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413385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21233B-5E28-435F-95E6-C3E5C9B01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3385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PAIR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2F0625-E318-4AFF-B595-D0A7E145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6700" y="432435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DB0689-5FE1-44A4-8E85-7F3E256F9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89600" y="413385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82F259-5FE8-49F3-BFAF-73491286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800" y="413385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REFERENCE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B40987-2DD8-4204-87D3-9A7A72E7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32435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EF38EF-7BB4-4B17-9435-7413A131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97900" y="413385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51FD19-6C3D-4A01-86C9-9952D7AF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4100" y="413385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DIRECT LOSS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3A57EA-3509-49CF-8ACB-6EDD3567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29200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preference pair와 reference policy로 직접 최적화</a:t>
            </a:r>
          </a:p>
        </p:txBody>
      </p:sp>
    </p:spTree>
    <p:extLst>
      <p:ext uri="{BB962C8B-B14F-4D97-AF65-F5344CB8AC3E}">
        <p14:creationId xmlns:p14="http://schemas.microsoft.com/office/powerpoint/2010/main" val="351787536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0CF0395-4027-45B4-8E41-846A31AC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09E5C5-54B5-494A-8F7D-75D0540C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43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821E49-48B4-4C30-8C7A-56E354E5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D6F6AF-05B7-4190-B96B-70DFC197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8E99D-E769-4A2F-8FCF-826624F5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724713-3C8F-459F-9F02-2239EF34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LoRA의 저랭크 변경 단위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5E0D0E-BFA0-4E44-A456-F1F1142D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809750"/>
            <a:ext cx="4895850" cy="321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2B5F40-B96D-4EFC-987D-D53BAA23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574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BASE WEIGHT / FROZEN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0E8672-E6AC-4873-8A66-41169CB1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0ABB17-4010-4731-BCD2-D58791C8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7640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A145EE-07F3-4F6A-AF18-CD9F603B0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315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060A35-FB5B-470D-8A83-5F97CB96C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AD9597-420A-446E-999D-46C2C9CE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117136-3028-4359-99A7-966FE77F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513225-98C1-408D-8331-EE017A960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224F53-1E2F-4373-81BE-EB62778E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7640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77F089-9712-4122-A391-C8C837BA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315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D304DD-2DE8-41A5-ADBF-7227EBCD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1D0003-236F-4260-8783-75E66153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117AC1-E2CB-4ACD-A246-15E182B7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3FE91B-6FFB-49B9-BD69-9CBF10B7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33FF73-0106-4363-BDFA-D5BC9411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7640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265956-9B94-41C0-B2F8-31770C66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315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0D12D2-A731-43EA-8BD4-D6DB5839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E96590-21E9-4D66-AE35-0AC48FA3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C2F2E8-FE62-431D-8802-1CE4E7C4F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850EEF-4B66-47A7-82E6-697D1A05F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FD0655-E748-4C60-82FB-BD3A259B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7640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BC5F01-6CF0-4FFB-A8E5-BF9C52DB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315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5E9E8A-74E8-448A-B6C6-C4CE234D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02A3C3-2D6C-43AE-87CC-6210DC6E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B902EF-E78B-4D54-8017-2220599A8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6D2001-D3D9-4716-BE5E-2FDA0834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08610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1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31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+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CDEE31B-27BD-4F2B-A600-58B04A36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48450" y="2324100"/>
            <a:ext cx="4476750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278612-D595-41E2-87AF-5FD29CB1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717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LOW-RANK ADAPTER / TRAINED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CD95CD-4B88-4EC9-8301-CE41AA67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05150"/>
            <a:ext cx="3981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36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A × B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5EF8C68-65C7-4CC1-AA3C-5E5DE43F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76800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작은 변경 단위 · 독립 저장 · 교체 가능한 실험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8135FA2-21E2-4D6E-AA2D-D3BD564B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PEFT의 운영 이점: 작은 artifact · 빠른 교체 · base 공유 · 실험 단위 분리</a:t>
            </a:r>
          </a:p>
        </p:txBody>
      </p:sp>
    </p:spTree>
    <p:extLst>
      <p:ext uri="{BB962C8B-B14F-4D97-AF65-F5344CB8AC3E}">
        <p14:creationId xmlns:p14="http://schemas.microsoft.com/office/powerpoint/2010/main" val="1180333348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3E8AFC-B1F0-4013-8A37-0C8AF756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B64C14-A554-45A8-87C1-D214184C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44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F323A2-0FF3-4546-AAD9-552F74AB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13B4BE-92C7-4E4C-85F4-812325C2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6F909-F750-4524-877A-7C13EDE6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6B04FA-FC26-4C94-8B3A-707106E16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개입 순서의 기본 휴리스틱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1E313-983C-4A7C-BB1D-D59166A5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비용·시간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7866A2-8840-4CF7-A182-F08A67DCD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952500" y="228600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39C543-096C-4AB1-8955-6421B477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52500" y="5238750"/>
            <a:ext cx="1000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A97178-DA05-40C7-8715-4553B425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4673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되돌리기 어려움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4EE3BC-4189-4538-869A-8CF477B3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95438" y="465582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BASELINE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19A56D-09A3-4DDC-B055-E46CB8EA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86163" y="434721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PROMPT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43053D-9F7E-4917-A965-1EA8F9A03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67375" y="3832860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RAG / TOOL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2FF458-DBAE-44A4-9B5E-F6A959E87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77125" y="3472815"/>
            <a:ext cx="9525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ROUTING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B92BFF-85B0-445F-A09F-D43C0CC6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05900" y="280416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FINE-</a:t>
            </a:r>
          </a:p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TUNING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949E6A-9FAE-493E-9780-C7F4E421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7526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데이터·평가셋·배포 이득이 없으면 Fine-tuning보다 앞 단계의 개선</a:t>
            </a:r>
          </a:p>
        </p:txBody>
      </p:sp>
    </p:spTree>
    <p:extLst>
      <p:ext uri="{BB962C8B-B14F-4D97-AF65-F5344CB8AC3E}">
        <p14:creationId xmlns:p14="http://schemas.microsoft.com/office/powerpoint/2010/main" val="95957423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3C787F-02B0-421F-BC2D-83854344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2000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88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B3BF4D-8F59-4109-8DAE-FE01734B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9334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OPERATING ASSETS &amp;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0B9D4B-48D5-4A56-875D-340C9ADF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724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05A2C8-D4A1-4836-A50A-2257D3B6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66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운영 관심사와 관리 자산의 확장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2C2B45-A8F3-4013-8B82-F267FDBC0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Code · Data · Model · Prompt · Context · Trace · Evaluation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223D64-AFAE-4C9D-8581-0C14EF22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W01 · 45</a:t>
            </a:r>
          </a:p>
        </p:txBody>
      </p:sp>
    </p:spTree>
    <p:extLst>
      <p:ext uri="{BB962C8B-B14F-4D97-AF65-F5344CB8AC3E}">
        <p14:creationId xmlns:p14="http://schemas.microsoft.com/office/powerpoint/2010/main" val="33772667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55D65B-22D3-4C36-A1A2-BB2F349B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2A4145-47C3-4FF0-9581-641F612F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46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C68AA1-06E5-4C8A-BC71-C23FBDAF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76C0B1-93F1-4001-9AD5-80C16E61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F6F74-BEE9-48F0-9407-BDBC1F6A7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1AB73F-6CE2-46EA-88D3-67570AB6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DevOps·MLOps·LLMOps의 관심사 확장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F46CBC-FD9F-4074-BAA1-219818E5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DEVOPS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B6B291-79DA-4614-92BC-F771500A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19450" y="1876425"/>
            <a:ext cx="836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293114-6968-494E-ADE7-1B9FB250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38300"/>
            <a:ext cx="796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CODE  ·  BUILD  ·  RELEASE  ·  RUNTIME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BE1B1A-C75D-49B9-A5C2-C48FC73F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33600"/>
            <a:ext cx="7962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소프트웨어 변경의 반복 가능한 build·test·deploy·observe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3F2047-41A4-4ADE-8E72-56BB1A8B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MLOPS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BBC317-3781-4A6B-938C-E37D2502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19450" y="3133725"/>
            <a:ext cx="836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FF0D75-C15B-47E4-9846-7CEF2A05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95600"/>
            <a:ext cx="796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DATA  ·  FEATURE  ·  MODEL  ·  EXPERIMENT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DBDFD6-820E-4657-9888-224D414E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90900"/>
            <a:ext cx="7962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데이터·학습·모델의 version과 품질 gate 추가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F6B2B-CBA9-4C5C-8494-7F714337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22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LLMOPS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886A4C-1E42-4604-94FE-7628EF4B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19450" y="4391025"/>
            <a:ext cx="836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1D06E9-9E99-4885-BB45-1C0BFEA95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152900"/>
            <a:ext cx="796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PROMPT  ·  CONTEXT  ·  TRACE  ·  EVALUATION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E7D7E9-0A9B-48FF-B85D-6194BE63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48200"/>
            <a:ext cx="7962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생성 실행의 맥락·응답·feedback·guardrail 추가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56257F-DB7E-4238-9F02-ED390CB39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대체 관계가 아니라 운영 대상과 증거 구조의 누적</a:t>
            </a:r>
          </a:p>
        </p:txBody>
      </p:sp>
    </p:spTree>
    <p:extLst>
      <p:ext uri="{BB962C8B-B14F-4D97-AF65-F5344CB8AC3E}">
        <p14:creationId xmlns:p14="http://schemas.microsoft.com/office/powerpoint/2010/main" val="62192027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432989-E5D7-47F0-8278-83722CFE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809795-74D7-4A24-9EE6-98C59561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47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51E289-2D7F-420A-AE12-1986DE89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429874-8A27-491D-8D2D-B1374D32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E981A1-C597-4CF5-BEB5-DD9711356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F122A-7541-441C-89E4-ADEC49935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LLM 서비스의 추가 운영 자산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F46EAC-D6EE-4030-85DD-7A2163C3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3000" y="2990850"/>
            <a:ext cx="2266950" cy="2266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  <p:txBody>
          <a:bodyPr xmlns:a="http://schemas.openxmlformats.org/drawingml/2006/main" lIns="228600" tIns="228600" rIns="228600" bIns="2286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TRACE ID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한 번의 실행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9935C2-4819-4332-9161-184EEBC40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71800" y="2324100"/>
            <a:ext cx="1981200" cy="1800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624CE4-8519-4704-8D0B-29F9A9CD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050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0C8559-22AE-4003-81F8-9EA1A781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193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template·version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95A959-8F77-4414-BC99-29F7D1EC4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19950" y="2324100"/>
            <a:ext cx="1638300" cy="1800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40640D-2BAD-4355-98DA-684E570B7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050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CONTEXT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1C0621-EED8-4458-965D-207D9AB51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193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retrieval·tool refs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A1BE01-7D7F-4F33-9B54-8CFA3379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971800" y="4124325"/>
            <a:ext cx="1981200" cy="581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D43DC9-03BC-49D8-92ED-420424C6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862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RESPONSE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4D5E9E-78F5-4D52-A440-B36B16B3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실행 결과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5A2611-809B-4A16-8586-DBD7238D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219950" y="4124325"/>
            <a:ext cx="1638300" cy="581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BB676D-71D7-4308-B034-E808CAFF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862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EVALUATION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BB3EA1-676A-4D35-A25D-CB8B383A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006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score·feedback</a:t>
            </a:r>
          </a:p>
        </p:txBody>
      </p:sp>
    </p:spTree>
    <p:extLst>
      <p:ext uri="{BB962C8B-B14F-4D97-AF65-F5344CB8AC3E}">
        <p14:creationId xmlns:p14="http://schemas.microsoft.com/office/powerpoint/2010/main" val="177502763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748137-3792-4BE4-B868-97152F4B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09533-AF63-4D88-8156-90757EF7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48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614266-8D80-455D-904E-61BA41FB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0CEBC6-C000-48FA-803E-E20E3385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FE21EA-085A-461A-ACA2-9EE65404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913AED-5714-4C1D-8883-F85B31453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동일 코드의 서로 다른 동작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609497-0774-4AFF-B321-A3D7F2F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SAME 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C508B4-1DA9-4D0B-A350-ACE1DDE0C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commit a1b2c3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9ED60-AB94-44CF-9713-D7860B07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FAE402-5243-4547-B5BC-BA751FB73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동일 endpoint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동일 request schema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동일 application 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1F829F-7251-4E9C-BA81-4017DC29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DIFFERENT RUN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FB74D9-F38E-472E-880C-107A0160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prompt · context · model · config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CBFEBC-B107-4C85-B7D2-DCECF2663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5B715E-2899-4932-B156-50312D17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서로 다른 output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서로 다른 latency·token·status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서로 다른 품질 판정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692DDF-D6B9-4906-8CEB-D6D0655E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62178654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91D5A1-E5E3-4C4B-8E65-9B7CB678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5B2A8C-BB0F-4BFD-8CBC-6DFB29DB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49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2A68A9-4FEF-41A5-8DE5-3378C5B4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87571-86E0-42FF-8492-AE26F907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4C6963-3869-4820-B296-0F475D9C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2AA124-267D-4386-BBAD-1BF6F7351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버전 조합의 실행 단위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36D072-297E-42EB-AD5B-043412C8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TRACE 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04433C-F071-422F-8556-8CDB1DAD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54a2d4bbf911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6C537E-DAE3-42A3-B0E7-21122C3E4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5908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1D4557-68FA-4241-B582-740CC018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7526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PROMPT VERSION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8B307D-ED0B-443E-8EE1-EBCCAB04E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95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w01.signal.v1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711965-C4D9-469B-AF25-18DACD8FC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19600" y="25908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8E301A-FD48-4986-BB21-64B07EBF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526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PROVIDER / 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73F3EB-CF4C-4589-8FA2-264C8074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95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demo / trace-demo-1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5E9D3A-E4ED-42CA-AB2E-962405C6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25908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8ADD18-0C97-4889-9057-89B590B6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TASK / CONFIG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B1CA9A-9111-4D1D-985C-06194808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extract / t=0.2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264A87-F0B9-4329-9DD6-7D5C7ADF5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6957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EA1401-4D7A-451C-AE9F-C022D338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575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STATUS / LATENCY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5CAAF6-3B58-470E-89F4-49BA3A81A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004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ok / 0.21 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51B5BE-E60C-435A-8084-89520D797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19600" y="36957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52098B-63CF-47C4-8E30-D5A663F7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575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CONTENT REF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149021-0933-4DE5-9962-AC01A65A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004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sha256:54a2…f911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49D3F3-63D1-40C2-92ED-31FF9FCF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36957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73B87B-6D7F-4057-A2F8-D33837FE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FE7566-6048-4611-9E61-43E3DF20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execution 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65AB4F-EA04-402E-9BCA-463B8520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48006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A40FA1-27A5-4DA8-863D-A5282E11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624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TOKEN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1BAB05-DF7A-430B-A15F-E20C8659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053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estimate: 74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25094A-0E52-4DE7-903C-242B010F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19600" y="48006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C2F2BF-5D8C-4E75-905C-F135CFD1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624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CREATED AT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54804F-3F70-4E20-BDAF-0FA75693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053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UTC timestamp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4BF79F-65D9-458F-AC21-22BF2CB14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48006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F4A3FED-E111-4919-9C99-07251F8D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429250"/>
            <a:ext cx="10972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36B6A19-3D75-459B-8FE3-D85F2A2E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10591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Trace ID = 버전 자산과 실행 증거를 연결하는 join key</a:t>
            </a:r>
          </a:p>
        </p:txBody>
      </p:sp>
    </p:spTree>
    <p:extLst>
      <p:ext uri="{BB962C8B-B14F-4D97-AF65-F5344CB8AC3E}">
        <p14:creationId xmlns:p14="http://schemas.microsoft.com/office/powerpoint/2010/main" val="27936722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AE1956-EBCD-48F5-9A41-23E0FCCD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58E19-9D4E-4EF6-815E-503AC650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6A7711-4F3A-486C-AB21-B28D36FA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0FBD6F-2D2E-4E76-A317-6878783D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DE779B-AB7F-45B6-9BEC-A45F8ED3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DEEFAE-CE68-43F2-ACA3-9F2A487F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과목의 다섯 공통 판단 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827562-279E-4459-AC3E-2C91B95D2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81AE5E-B62F-40C8-B5E0-3D97BA95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049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232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QUALITY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525E08-D428-4D21-A7B3-C061E2A85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581150"/>
            <a:ext cx="636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업무 정답 · 근거 · 형식 · 유용성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C82CD4-4AC6-407C-A025-229888B8F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33500" y="2095500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46FAE0-3271-469D-910E-8C12F818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4D9332-C8BB-427A-898D-0D734B71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812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LATENCY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560D8C-B296-43F2-8F82-CC5D7BDA4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457450"/>
            <a:ext cx="636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평균 · p50 · p95 · timeout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6282E8-6CF9-4CAF-BA15-75BD1237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33500" y="2971800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3AB5DC-2C87-441F-A3E7-CD535FF61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795DDD-0759-4899-8E53-D2F71C9D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575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COST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93CA03-0958-4D20-B57A-94652E33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33750"/>
            <a:ext cx="636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 · model · tool · cache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1FBC7D-6115-4680-B9C3-0CC071F8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33500" y="3848100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BC5DF6-9B0A-432F-AD03-8DFBE23B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6679EE-437F-4A11-95A5-6D800812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338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SAFETY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6CB114-8F3F-488A-8DE2-DDA08ED5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210050"/>
            <a:ext cx="636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PII · injection · 권한 · audit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1875FA-2634-4072-B1FE-EB1DD0A9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33500" y="4724400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17EE8B-C7B1-47C8-8B76-30391F71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422A65-04F2-49DC-A716-D1E64784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101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REPRODUCIBILITY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4A9606-EA91-4FFD-AA21-FEDAEE43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086350"/>
            <a:ext cx="636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environment · version · trace · commit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568D5F-8880-4BEE-BF7E-4C230004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33500" y="5600700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36325376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08CCF7-ED62-476F-8F35-FE53E954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0166BD-E691-4CB8-B4F3-E27896A4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D4E444-E95F-4727-ADA1-D619148A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8E415F-7F0F-4A96-8801-C64404A2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AD58B-EC64-4B66-A8E5-A34192F6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E7100-CEBE-49F0-B969-B3A1103BC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판단 축 사이의 트레이드오프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57D2D2-C4BA-436E-8CFD-9870C4A8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2324100"/>
            <a:ext cx="2514600" cy="2514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3810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한 축의 개선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전체의 개선?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D0F48C-EC5C-4D46-901C-C8A53D2C8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QUALITY ↔ COST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CFEDA5-62A0-4DC7-AF84-13C33015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2571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상위 모델·긴 context의 비용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7F2AEA-D5B0-4516-83EC-20DCB193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33750" y="2076450"/>
            <a:ext cx="2266950" cy="1238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8A2B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F1EBC9-3DAB-457C-8D89-74E8F11C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097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QUALITY ↔ LATENCY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CAF692-4238-4AA9-842C-78793367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24100"/>
            <a:ext cx="2571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검색·tool·judge의 지연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684DF7-F2A1-4F23-9358-F5C44D18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53300" y="2076450"/>
            <a:ext cx="1504950" cy="1238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97AB53-BE78-4596-BC7C-C5BA9822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SAFETY ↔ COVERAGE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3F2790-38DB-4F5A-BD83-A5A0FE822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91100"/>
            <a:ext cx="2571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과도한 차단의 누락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21DF6C-EEEF-4ABD-B979-F1BD95CA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333750" y="3314700"/>
            <a:ext cx="2266950" cy="142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8A2B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4A1046-CCBF-4135-81FC-155EAE4A3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767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CACHE ↔ FRESHNESS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F06E51-3D69-4956-B66A-C08B30E1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991100"/>
            <a:ext cx="2571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재사용과 최신성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47C520-1B0F-413D-955E-BB75A345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353300" y="3314700"/>
            <a:ext cx="1504950" cy="142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8A2B3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51328562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3A5BF62-A35B-42DE-9CC7-EEDE9573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B6F940-FAE4-438F-B0D8-F3407F6B2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006EA3-10A6-4376-A72C-FB731F86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AF6B90-1553-41BA-B326-7E2E8BBB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B1AA6E-5408-4A96-82F6-AD9E55E41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F322B3-59C5-46BA-93FF-5D8E11C3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품질 지표의 업무 의존성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715597-0B06-4857-B53A-731DE32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4785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FE8841-AE43-4F2B-88F0-98AE1178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Task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3CAE3C-6341-4B23-848B-C820C2D0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184785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FD4311-B0DE-44BD-8E26-D35ADBC1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47850"/>
            <a:ext cx="3829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우선 품질 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5FE558-D084-4B14-BD95-808C1B78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2350" y="1847850"/>
            <a:ext cx="4210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5B0180-BDAB-48A7-9C25-5FE3FC64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847850"/>
            <a:ext cx="3943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9F680F-3F26-43DA-BE39-D5BF275C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62200"/>
            <a:ext cx="266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EB2357-098A-4F84-9478-0714AE1E2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400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96FBCB-9AB6-4A06-BC29-E231AED3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236220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7C757A-DD13-42B6-8519-8BF34EA58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62200"/>
            <a:ext cx="3829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충실성 · 압축률 · 핵심 보존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50B28C-5467-4A26-8F41-9B232769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2350" y="2362200"/>
            <a:ext cx="4210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8C14CA-7076-4407-A296-B11DA611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62200"/>
            <a:ext cx="3943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 사실 추가 · 중요 정보 누락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15EBE6-083B-457A-9F40-D7D843B7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200400"/>
            <a:ext cx="266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7789F5-8FFC-4222-A664-BA99220E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0400"/>
            <a:ext cx="2400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정보 추출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87CC40-8C93-4A1A-B46C-1DC6FB9E5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320040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C65F55-6B33-431F-AC0D-9964D573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00400"/>
            <a:ext cx="3829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 준수 · field 정확성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819157-2690-4589-8093-121E3932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2350" y="3200400"/>
            <a:ext cx="4210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973DFA-D8AB-4B4D-A60C-97023EF3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00400"/>
            <a:ext cx="3943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필드 누락 · 근거 없는 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5AF2E4-B984-4E95-BFFC-A1DCB3CF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038600"/>
            <a:ext cx="266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606C96-8682-4C54-AAAA-65674B26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38600"/>
            <a:ext cx="2400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RAG 답변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57117A-5204-4F9B-A7F9-70B3E1B5A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403860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EAB229-C06D-4AE7-9BBE-88B66216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38600"/>
            <a:ext cx="3829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groundedness · citation accuracy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01DABD-BE05-42E6-B2B8-CDE00F8D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2350" y="4038600"/>
            <a:ext cx="4210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659A15-686A-4310-8292-15807F0C5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038600"/>
            <a:ext cx="3943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 미검색 · 잘못된 인용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0E651E-A569-47D7-BB07-B4E09E22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876800"/>
            <a:ext cx="266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2F9293-44B2-4097-A605-DA67B0A0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2400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 행동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0AF799-0CA4-4710-9B6B-82DFB85F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487680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58F2C0-3033-43C5-A633-BFE7B5B6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76800"/>
            <a:ext cx="3829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task success · policy compliance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ABF4A9-DD28-436D-A724-BA48B871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2350" y="4876800"/>
            <a:ext cx="4210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627085-5A88-4BF4-8E38-1A3F207D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876800"/>
            <a:ext cx="3943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권한 없는 실행 · 중복 action</a:t>
            </a:r>
          </a:p>
        </p:txBody>
      </p:sp>
    </p:spTree>
    <p:extLst>
      <p:ext uri="{BB962C8B-B14F-4D97-AF65-F5344CB8AC3E}">
        <p14:creationId xmlns:p14="http://schemas.microsoft.com/office/powerpoint/2010/main" val="121885980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2C2F12-ABE6-4D36-8272-D3908F7B8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D03F0-30D2-4DA0-9F47-FDEA0C4A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BC9CB6-0816-415D-9CE0-AD380CB8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97868F-6E4D-4DE0-BF3A-5195F942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2F15E4-ACD5-4589-8856-68044891B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32E171-80B5-4E9D-B435-819C2DE0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지연시간의 분포 관점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39C5C8-405B-4D3A-95B5-01EAB244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66800" y="508635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086B3A-3426-4D5A-A288-D0B7FB44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066800" y="2038350"/>
            <a:ext cx="0" cy="304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6A120D-6CC3-4F3A-A036-882D33B0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52550" y="4743450"/>
            <a:ext cx="45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F698AD-E3E7-4CBF-A41B-D70C974A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19300" y="4343400"/>
            <a:ext cx="457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B139F6-C253-4C69-9155-394F67A0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86050" y="3733800"/>
            <a:ext cx="457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9B5359-5FD5-4DF3-A73F-046AB54E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2990850"/>
            <a:ext cx="457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77583B-71B2-45F2-B741-34C113C9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9550" y="2324100"/>
            <a:ext cx="4572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BB4923-295C-4382-A956-27B1962A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2667000"/>
            <a:ext cx="457200" cy="2419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EE3393-83C6-48AE-805B-F8E831BE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3050" y="3314700"/>
            <a:ext cx="4572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B82A98-D5A8-4EFC-BD2B-B8FFC6CB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19800" y="3943350"/>
            <a:ext cx="457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4EEB8D-AC9A-4B00-B45B-7BFB9864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86550" y="4343400"/>
            <a:ext cx="457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4C2404-B31D-4F4E-BAF9-2AEBB2AB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4572000"/>
            <a:ext cx="457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691432-A7C9-4BF0-9A1C-9B9887D7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0050" y="4705350"/>
            <a:ext cx="457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998E90-4C7D-46CA-B5F0-6722B5820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4819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414C40-17B0-4D68-B5BD-B23B1C1A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29590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p50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C3E2A3-E0C3-4E94-9427-274BDBEC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29590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p95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4A60DF-894A-4759-A726-554303B7B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29590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p99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7079B8-43AF-4832-97AE-761AF96E1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954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평균만으로는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느린 꼬리 구간의 사용자 경험을 설명할 수 없음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7083C5-4E9C-40F9-842B-13D1A5C6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62250"/>
            <a:ext cx="495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p50 = 일반 경험 · p95/p99 = 반복되는 최악 구간 · timeout = 명시적 실패</a:t>
            </a:r>
          </a:p>
        </p:txBody>
      </p:sp>
    </p:spTree>
    <p:extLst>
      <p:ext uri="{BB962C8B-B14F-4D97-AF65-F5344CB8AC3E}">
        <p14:creationId xmlns:p14="http://schemas.microsoft.com/office/powerpoint/2010/main" val="1728052791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F6EB2D-BB2C-43C2-9C88-F4C7B2F85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0D2330-4484-48CB-AF8E-C65EC953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54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D843D-BB45-4E33-9A36-AB2C938F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D5483D-D6CE-4098-9A28-FD8437FF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43D86E-354C-4356-AC5D-8C00643D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D20308-DBE5-495F-A728-3BE916C2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요청 단위 비용의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ADA4EE-A4BB-490B-A12C-A142955D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7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27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REQUEST COST = INPUT + OUTPUT + RETRIEVAL + TOOL + RETRY − CACHE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E50BC4-183D-4099-8C53-64E2D8B7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733550" y="3371850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E8305C-49A4-43CF-A8C9-27C2418B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859D86-5463-4E35-BD52-B14C4470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prompt·context·response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0A8AD8-3182-48B8-86A7-91A1052DD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WORKFLOW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299AB3-5868-4BDF-BB93-7370A07C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search·rerank·judge·tool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921E03-601E-4C4B-B2F6-8A88AA2D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FAILURE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BD2477-B823-4052-907A-D481F3DB4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retry·fallback·timeout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EFC7F8-1EB2-46B3-88CA-8523D981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A5978-9A85-478E-AA13-547B9595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cache·batch·routing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6F4625-CE29-4111-AE13-490BDCF4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 단가만이 아니라 한 요청이 실제로 거치는 전체 경로</a:t>
            </a:r>
          </a:p>
        </p:txBody>
      </p:sp>
    </p:spTree>
    <p:extLst>
      <p:ext uri="{BB962C8B-B14F-4D97-AF65-F5344CB8AC3E}">
        <p14:creationId xmlns:p14="http://schemas.microsoft.com/office/powerpoint/2010/main" val="2034376753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DBC2A50-7D08-443C-8F1F-7F03139F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247696-4BA2-44BE-8314-2BECB6AA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E051F0-B677-49D2-98B4-07EEAE513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CCA5D3-8A5F-4FAF-8C2B-DE88427A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ACCC41-8CBE-488D-8ABD-3FC7A2C4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C79B57-1B8A-45C5-982A-21A414D6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안전성의 권한·데이터 경계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274192-E190-4285-A6D0-432E8445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85CE2F-A5F6-4F18-B707-76B8CED4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95550" y="2190750"/>
            <a:ext cx="908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28009E-97E9-4C50-9970-429F16D3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1866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346512-725A-4A3F-98DC-7372B958D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66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PII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AE98AC-194A-479A-9E01-EEB4BE23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1866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4D1AE8-DF12-42DA-98C4-62F56DD2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866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정책 분류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0392B-8001-4A71-B12C-5A72A8FF7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1866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1D5B9F-ED1E-48CF-873B-4680E683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66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 injection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4800B6-34CD-4F66-B389-34829F1D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RUNTIME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8CF0BA-2179-4C15-BDE6-4F029F52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95550" y="3333750"/>
            <a:ext cx="908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EA3396-1C44-4C5F-B30A-C8E7F74E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3009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8CB1A8-7D40-4AA8-902D-B7C040B6B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009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tool allowlist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0EAEEC-0A57-43D4-88EC-77796123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3009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D5397D-A876-4EFB-9E2D-A1E72513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009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timeout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3BB765-55AF-4C53-9AD3-09418B23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3009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9DFF5E-3109-4A06-88E7-42D23D4D0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09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9FFFF2-3397-46C4-B5FC-B903E3CF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CD5128-266C-4188-B767-FBA73F736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95550" y="4476750"/>
            <a:ext cx="908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A7DFE4-9B94-49D3-90DF-B411997A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4152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53A586-0068-4341-A3DC-463F15A05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152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grounding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760A99-2AD3-4582-BE0E-5EE1B04D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4152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D30A54-838B-4D53-A1FF-9FB752EA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152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 표현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F2D8BA-0F4D-43A5-88D0-7472EE75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4152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CDEDC8-5A2A-476A-A8D1-4A59AEA7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audit log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173FF4-3B8F-4148-A4F4-C97BDCDE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STORAGE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1F58F8-94F1-489D-9082-FEE9EE27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95550" y="5619750"/>
            <a:ext cx="908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C73C7C-1728-4FCB-9260-566D6AB86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5295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759E0B-D679-4FE0-84B7-92CB02F8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295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원문 최소화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06F778A-9988-46B8-986A-EC6A882ED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5295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278AD7-0F37-47B4-941D-3F815707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295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retention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F0D9EF-879D-4E15-BE76-96813777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5295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D6E4BB-3012-49F5-8FD2-BC636FEC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295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access control</a:t>
            </a:r>
          </a:p>
        </p:txBody>
      </p:sp>
    </p:spTree>
    <p:extLst>
      <p:ext uri="{BB962C8B-B14F-4D97-AF65-F5344CB8AC3E}">
        <p14:creationId xmlns:p14="http://schemas.microsoft.com/office/powerpoint/2010/main" val="180371498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B7652E-B9D3-4815-A09C-99E6C3D89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447923-5B09-40F7-A89D-E597AC2C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B8BA2A-6F15-4742-8B96-E21F829D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2F3108-FFB2-4A00-B370-5BD4C5C1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8DDD0B-8FA5-4E54-B5C1-D3CD84D6B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50944D-AFCE-4C4C-9EE6-6712C5D8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재현성의 다섯 고정값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FD8596-BCE0-45B5-AD17-EF350DBF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16192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2C5E35-9E66-4588-B02C-0112C630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F7705B-5885-4289-8EEF-34F51223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621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환경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B0819D-7D21-4452-989A-F85005F09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6002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Python · package · OS/accelerator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B970B4-F325-4596-B3D9-A98D8392E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21526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7B6BF6-E05C-4E66-A17A-C55CB408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4955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FB8974-AC0B-4FD7-B3D6-DF8DEEC6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36823C-DD25-472B-A66C-414729BD4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384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B3DFAA-CD24-46A8-99EA-3B6BCE16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765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dataset revision · fingerprint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4D6D96-A9EB-41B1-82CF-C938D49C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0289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8F79CB-C42E-4A88-A92C-FD76BF98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3718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AEA9E5-5BF4-4B28-9574-E02D7FA23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340E3A-F9BB-444E-A3F1-B2B16FEE2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14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지시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3FB455-A9BE-4A78-AECB-11392264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3528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prompt id · version · schema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A820C7-4ACF-4D17-9D84-F108DCDB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9052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3562D9-6846-4AA7-A018-27CEE959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42481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5A9965-A415-46BE-BA92-5B8D701B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428BA5-B8CD-4CB7-ADA1-940472B6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910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3BD2BF-6C27-48ED-8284-26A8FE2C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291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provider · model · config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3F5FB9-C5E5-4378-AAE3-E371CF6B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47815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3652B9-13CB-48A2-B53F-C1590BAE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1244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113E04-0EA2-4048-9602-6DC31B71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24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51340B-DA10-40A9-AB4F-9E5849F1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0673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216C4A-C164-4745-B688-769E3AF42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1054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commit · endpoint · policy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D86BE8-B125-4EAC-9D65-D5C435B8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56578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77712073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FACE63-4372-4D2E-9DD1-715C3ECB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6213E3-24E7-4455-B0A5-2E9FD51D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57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6EFCF3-0DF8-454F-89C9-B186D6E4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185EEA-DDE0-4AAB-9CFD-C62451C5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5334B3-DE2F-45C8-9188-6BC47C0B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C4EB21-7E36-4FC0-9876-119A9A41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서비스 개선 폐루프의 전체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511C47-8A47-49BF-B686-696362EE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83884" y="2093475"/>
            <a:ext cx="833353" cy="6054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865F14-BE3B-425A-B36C-29A371C4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5056481" y="3491617"/>
            <a:ext cx="318312" cy="97966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87F660-1E56-4E8F-9370-79A02FA0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352110" y="4961183"/>
            <a:ext cx="103008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7C948E-BCA7-4D54-B3B3-86E7E46D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2359507" y="3491617"/>
            <a:ext cx="318312" cy="97966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663046-9FC4-4664-93EA-EABE184AA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617063" y="2093475"/>
            <a:ext cx="833353" cy="6054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BAE692-3622-4B01-B8E2-E59BBC9E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129540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기획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E7DCA6-9B91-474E-9307-B565FD2B3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38672" y="2506417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CTX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E69630-153F-4B7C-9336-4F409AAC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02002" y="4465883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FAC000-4A47-4466-9C1C-5DE8CAF4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1698" y="4465883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관찰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0FA01C-BCFE-48CF-8DD6-31635517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5028" y="2506417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개선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7B5CFA-05F4-4892-9C40-F7033813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4700" y="29908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SERVICE</a:t>
            </a:r>
          </a:p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LOOP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4E6873-0394-4EC5-9F5D-E0549BA1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526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COURSE STANDARD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C18FC3-56D5-4122-8B5D-1821BA54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33600"/>
            <a:ext cx="371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관찰 결과가 다음 기획과 변경 가설의 입력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6371D3-A08E-4967-9A73-D5A0C0A8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486650" y="342900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065816-8AA2-47DD-8131-41EA49FD7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73380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품질·지연·비용·안전·재현성은 한 단계가 아니라 전 단계를 가로지르는 판단 축이다. 특정 마지막 노드는 없다.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6FD905-F20A-48BC-9A30-19F0C468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391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판정 경계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6D3BC8-B3CB-4099-8557-82D0973B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91150"/>
            <a:ext cx="253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계속 · 교체 · 종료</a:t>
            </a:r>
          </a:p>
        </p:txBody>
      </p:sp>
    </p:spTree>
    <p:extLst>
      <p:ext uri="{BB962C8B-B14F-4D97-AF65-F5344CB8AC3E}">
        <p14:creationId xmlns:p14="http://schemas.microsoft.com/office/powerpoint/2010/main" val="1155717808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CD2C24-9207-44D5-8F15-610FBAB9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85616B-13E9-4F00-BE0F-6174D2BE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58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D2FEC2-AFE0-4910-836F-4ED354C0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845501-9F0B-4755-9F84-3032FB91E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8C6157-612C-448F-81E7-5FBEC550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EC0EB0-20ED-4C57-892A-CB284A342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1단계 / 기획·데이터의 성공 계약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72F4E0-14C8-4AD4-9320-197F07B75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89636" y="2548017"/>
            <a:ext cx="637551" cy="4632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559B7E-503F-4E93-A913-AA601DCD5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06549" y="3697194"/>
            <a:ext cx="243523" cy="74948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5AF3FC-1715-441E-B6FD-A1F8405B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034972" y="4870633"/>
            <a:ext cx="7880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524D1E-E88F-4874-9D96-D12A3384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2207929" y="3697194"/>
            <a:ext cx="243523" cy="74948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9F743C-01A7-46D6-B243-EF866A1A3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430814" y="2548017"/>
            <a:ext cx="637551" cy="4632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B3938-E81A-4C27-B616-FCE41233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0375" y="1857375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1</a:t>
            </a:r>
          </a:p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기획</a:t>
            </a:r>
          </a:p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8DD01F-D1A8-4D7E-8C7C-1DC4B438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59197" y="2844617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CTX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548C0D-A5E6-4437-A2C6-69110804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40173" y="4442008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9A0CEA-E627-43DE-9B3D-EF8244A6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60577" y="4442008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관찰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A93BD5-085A-473D-B0B6-6E27D74A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41553" y="2844617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개선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9B7989-1067-4DE8-8F67-352AC97D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76550" y="316230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SERVICE</a:t>
            </a:r>
          </a:p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LOOP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B8709E-8F59-46BA-93E3-B2C64960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526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PHASE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80CA93-D685-426B-A51D-F7CC14B73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133600"/>
            <a:ext cx="4591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누구의 어떤 결정을 돕는가?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27C55D-06E5-447C-8673-BF872762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610350" y="3086100"/>
            <a:ext cx="459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9C0010-8F26-4D1F-BD6B-9D3935F3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290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1357E1-BC1F-45CC-9481-2B6082FF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371850"/>
            <a:ext cx="3981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대표 입력과 expected behavior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4252D3-9C58-489C-B2E1-6A865313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148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1AB953-C0A6-4B0D-9434-37B30498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057650"/>
            <a:ext cx="3981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성공·금지 조건과 평가셋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053153-A6CC-4D4C-8034-B59A8260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006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AABEB6-3DB5-4764-96EC-10C10F71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743450"/>
            <a:ext cx="3981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PII·license·retention 경계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4A9548-3191-4A16-A256-0F04DC3B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486400"/>
            <a:ext cx="4591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모델 선택보다 먼저 문제·데이터·평가의 범위 고정</a:t>
            </a:r>
          </a:p>
        </p:txBody>
      </p:sp>
    </p:spTree>
    <p:extLst>
      <p:ext uri="{BB962C8B-B14F-4D97-AF65-F5344CB8AC3E}">
        <p14:creationId xmlns:p14="http://schemas.microsoft.com/office/powerpoint/2010/main" val="82888262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C15C3C-A851-407B-9F54-41E1F8CA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D3F0C-8235-4E8F-BDF3-3E555084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689072-F4D3-4788-AF9A-2EEE1EA5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9FC377-BEEE-40A4-89F4-F0BD4DDA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CA9B48-B8BF-441A-8D4C-1943F11F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FE7F70-6683-4733-B0D7-A80A98DE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2단계 / 프롬프트·컨텍스트의 버전 계약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F7E49D-6969-4A6A-A09E-99D4CDDD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2000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69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B24D5C-B52E-4270-9F02-9CDA0C7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52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OPERATING 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56233B-4AFD-4DE3-A078-9C4CCE14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15265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무엇이 바뀌었고 왜 바뀌었는가?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C437A0-5CC8-4E31-80EB-6AFA022D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E8C218-4102-4481-9B64-5D1A1189D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752850"/>
            <a:ext cx="3505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35596E-DEC1-4EBA-8549-31414C26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3162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 id · version · owner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66D0A1-E4A9-4F88-BF58-483615844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956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4C2230-47A2-436C-AD83-778E32B9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3752850"/>
            <a:ext cx="3505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3B7B8A-7A81-4E25-9AFD-CCAF37C9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52850"/>
            <a:ext cx="3162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input/output schema · examples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39E835-9C1E-4165-AFC1-D6BD0E5E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956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EDF2BA-2AD4-4115-8334-2A554C9C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77200" y="3752850"/>
            <a:ext cx="3505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F34FC7-DA45-4391-9E9B-002B0146B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52850"/>
            <a:ext cx="3162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retrieval·tool context reference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7DACCB-D1FF-4EE1-9F12-187D6668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읽기 좋은 prompt보다 고정 test set에서 비교 가능한 prompt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02EAAA-9668-46C8-A204-27D32F259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8585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0D5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275D54-A8B0-4A69-9011-ECABBE60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1 기획·데이터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5ACC96-2FFF-4BBF-B577-3C530A5B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8610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D970F3-36AD-4EA5-8498-8B9052EB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2 프롬프트·컨텍스트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020E63-1859-460A-8AE5-844357B1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8635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0D5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263DFE-1F73-4911-89DA-A61E42C7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3 실행·배포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AA146D-68BC-467C-8A79-0863FB19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8660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0D5D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AFE250-CD65-4829-97CF-383856F0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4 평가·관찰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F4DF03-1D15-4ACF-A13E-3FE8D7C8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8685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0D5D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E03D63-35E7-41CE-B24D-86C6A4DF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5 개선·버전</a:t>
            </a:r>
          </a:p>
        </p:txBody>
      </p:sp>
    </p:spTree>
    <p:extLst>
      <p:ext uri="{BB962C8B-B14F-4D97-AF65-F5344CB8AC3E}">
        <p14:creationId xmlns:p14="http://schemas.microsoft.com/office/powerpoint/2010/main" val="109182693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A5A875-DAB1-47C3-841E-1876E4FF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621CDE-AE67-4B59-8B64-ED494BCE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745073-69C3-49D8-B22F-33F22754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D7B446-37B1-4FA2-9381-839EE04DB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CDC6A1-335C-4759-93A8-36C31792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688110-0077-486B-9583-BCECE2ED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3단계 / 실행·배포의 실패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EB195D-AC62-4AA3-99AC-7B8F46C9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89636" y="2548017"/>
            <a:ext cx="637551" cy="4632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7D6496-AC71-4B99-AF52-F59BAE346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06549" y="3697194"/>
            <a:ext cx="243523" cy="74948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C8A388-D9ED-49FF-AB86-ED7ABEC5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034972" y="4870633"/>
            <a:ext cx="7880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0E42C5-C41D-4127-9B51-52E87463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2207929" y="3697194"/>
            <a:ext cx="243523" cy="74948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4D1328-23CB-4385-9282-57C0E4A8B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430814" y="2548017"/>
            <a:ext cx="637551" cy="4632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64693C-3825-4C96-BCE8-2433A0D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0375" y="1857375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기획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7063EF-AAA6-44F9-BD84-EEEC0508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59197" y="2844617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CTX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0D2DC5-FAD2-4B8C-A84E-42CEAD9F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40173" y="4442008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3</a:t>
            </a:r>
          </a:p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4ED507-D19A-4B37-8616-3187698D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60577" y="4442008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관찰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52A17D-2787-48C5-BA68-F532E8CC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41553" y="2844617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개선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24335A-54B4-45BC-ACC9-32E5A966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76550" y="316230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SERVICE</a:t>
            </a:r>
          </a:p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LOOP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D7CD33-838D-41CD-A504-DFA0945E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526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PHASE 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968A2A-0629-499A-AF4A-0D1A63A3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133600"/>
            <a:ext cx="4591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실패했을 때 어디로 흐르는가?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82E808-E651-46FF-A72C-E4F74C78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610350" y="3086100"/>
            <a:ext cx="459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4A57C2-5914-45DC-962E-C5AE059AE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290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346493-28CC-4290-86C6-041F302C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371850"/>
            <a:ext cx="3981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request/response contract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A2C3FA-77B4-47A9-8B1E-FD8AE415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148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339446-CE58-4BD1-B2D1-375129DEB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057650"/>
            <a:ext cx="3981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timeout · retry · fallback branch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8A5E1B-6D84-4141-B76E-99264BF1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006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BC721E-B8AE-4075-A2E8-5C265412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743450"/>
            <a:ext cx="3981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health · release · owner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5270E1-8CC2-4E93-B4F1-FFA8485AB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486400"/>
            <a:ext cx="4591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정상선만 있는 architecture는 운영 문서가 아닌 데모 문서</a:t>
            </a:r>
          </a:p>
        </p:txBody>
      </p:sp>
    </p:spTree>
    <p:extLst>
      <p:ext uri="{BB962C8B-B14F-4D97-AF65-F5344CB8AC3E}">
        <p14:creationId xmlns:p14="http://schemas.microsoft.com/office/powerpoint/2010/main" val="5599343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4BA763-F82D-4009-9AC8-7D6A54A6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0F8BB3-8CB1-4229-A4B1-88479BB8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61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2C278B-51E7-453E-B917-C6A06B79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50B2C5-DE1F-4C34-80D6-41BABAC9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C7CF1B-948E-4DF2-8D94-301F79FF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1E88F4-BF8E-4C5C-BE92-FA4F0D3D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4단계 / 평가·관찰의 분포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47457F-F0FD-42B1-964F-9F043F05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2000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69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A35748-8019-4ABA-9A39-4FDE52014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52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OPERATING 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E4DE7F-E605-4C10-8B66-0FBCFDFF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15265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누가, 언제, 어떻게 실패하는가?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023DE4-0C42-419D-8CB5-D9021728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5B2C1B-CFB5-4AC2-AC33-BCF1EA03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752850"/>
            <a:ext cx="3505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510EA1-1055-49DA-BF33-281FE64A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3162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quality · 대표 성공·실패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DEE499-712D-428B-B49F-4CDE1426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956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F38983-A1AD-418F-8519-52971C55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3752850"/>
            <a:ext cx="3505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C0F2F3-66BA-4A78-9609-434E071B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52850"/>
            <a:ext cx="3162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p50 · p95 · error rate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A9F3F4-B1BA-4E02-80EF-4D12209F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956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1F2824-0D1A-470C-863F-1D9B9F62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77200" y="3752850"/>
            <a:ext cx="3505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A3BE50-CFA1-4AEB-B703-FFFDF161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52850"/>
            <a:ext cx="3162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token · cost · safety signal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4AA0A0-198B-4689-9544-82D77301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평균 점수와 함께 실패 분포·subgroup·raw trace 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85C784-603E-432C-B106-1A2041DF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8585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0D5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2C3264-68C5-49EC-97A7-54131B13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1 기획·데이터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F581A0-6816-4A04-871F-459C259E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8610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0D5D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2F09F9-3643-4F65-9342-C6E6A538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2 프롬프트·컨텍스트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545B4F-6615-41F6-917C-3E841B99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8635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0D5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74C113-AFA2-4071-936F-70CD65A6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3 실행·배포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DDCCBA-594A-43A4-81D7-4E9AED738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8660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563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CD7E8F-E975-4EE2-B36F-F8A598B4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4 평가·관찰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E4E47A-129D-4BD6-8FB3-C8BDA142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8685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0D5D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1118DD-396B-4101-AE2B-BA524F45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5 개선·버전</a:t>
            </a:r>
          </a:p>
        </p:txBody>
      </p:sp>
    </p:spTree>
    <p:extLst>
      <p:ext uri="{BB962C8B-B14F-4D97-AF65-F5344CB8AC3E}">
        <p14:creationId xmlns:p14="http://schemas.microsoft.com/office/powerpoint/2010/main" val="1728360642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2449EA-7CF0-4DA2-9EA5-5A3F0881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8E7DAF-0921-498D-88E4-29297F69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62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3951B5-706F-4742-B274-E3AEDE215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E6DFAC-0E8C-468E-8797-065FCFE0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EA4C88-26EC-4785-B930-9E62879F8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C21824-F26D-491F-9182-E60E88807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5단계 / 개선·버전의 판정 기록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5F873A-941C-43FD-B96C-590C510C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89636" y="2548017"/>
            <a:ext cx="637551" cy="4632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4DEA2A-070A-4AD3-8AA2-55322BC4A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06549" y="3697194"/>
            <a:ext cx="243523" cy="74948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B78DAD-29FB-4D03-BA1F-7CCEA800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034972" y="4870633"/>
            <a:ext cx="7880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E92B29-C8A6-4A8D-9BFC-2AF0FBC7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2207929" y="3697194"/>
            <a:ext cx="243523" cy="74948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B59FEC-B887-425B-9DBA-BAB34E1C7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430814" y="2548017"/>
            <a:ext cx="637551" cy="4632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93C779-440C-48F7-9BB0-D71AA168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0375" y="1857375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기획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2827A8-8EED-4342-9388-89B8A977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59197" y="2844617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CTX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431CC5-693E-4839-ACBB-8E8258BE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40173" y="4442008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1511A5-F7F1-4EA9-9DB2-62D402E2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60577" y="4442008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관찰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7BC82C-5066-4BEB-980C-6C80648D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41553" y="2844617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5</a:t>
            </a:r>
          </a:p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개선</a:t>
            </a:r>
          </a:p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85911D-F293-4B81-907A-D7E5942D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76550" y="316230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SERVICE</a:t>
            </a:r>
          </a:p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LOOP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9CE686-7EF6-45F1-AAF7-A40FC7844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526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PHASE 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2F15F5-2FAE-442A-AC6B-5B264188F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133600"/>
            <a:ext cx="4591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version은 무엇을 검증하는가?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3E797F-9DEB-4973-B428-4F204E06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610350" y="3086100"/>
            <a:ext cx="459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C90152-0FEA-4F59-A44B-E0B23138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290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58553E-DE26-4248-BE9F-981BABA3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371850"/>
            <a:ext cx="3981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v1 → 가설 → 단일 변경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D83420-4F10-49B4-96F2-9F4A6732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148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8B67D7-EEA6-4352-9A18-175E671E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057650"/>
            <a:ext cx="3981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판정 → v2 release 또는 rollback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8415B8-CB6A-4C5C-ACB4-F5F6481A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006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C82E75-AC40-46F2-AB87-09C90111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743450"/>
            <a:ext cx="3981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trade-off와 다음 실패 가설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FABF04-9C21-4B25-BBC0-841E14222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486400"/>
            <a:ext cx="4591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‘더 좋아 보임’이 아닌 변경 이유·결과·결정의 연결</a:t>
            </a:r>
          </a:p>
        </p:txBody>
      </p:sp>
    </p:spTree>
    <p:extLst>
      <p:ext uri="{BB962C8B-B14F-4D97-AF65-F5344CB8AC3E}">
        <p14:creationId xmlns:p14="http://schemas.microsoft.com/office/powerpoint/2010/main" val="352081127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D87158E-630C-45E1-93E5-C04A7B94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F5CA32-D838-4B18-B689-45900E76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63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6341B5-52E0-42E7-986D-57708D6C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468B75-4552-4BC6-BA31-BE8BC60D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11C0B-DDD6-4A0B-B4D3-FAAA7C32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ED688D-36D4-4017-BEDE-0D84E72CE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버전 변경의 최소 기록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9E0F3C-16E4-4EAB-BF52-863282D8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09750"/>
            <a:ext cx="1600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906706-26BF-4C95-947F-EB57EE47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133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54C43E-6D52-4C89-96B7-4737E1A1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9800" y="1809750"/>
            <a:ext cx="323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2003B-ABE8-45AC-83A2-308D991D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09750"/>
            <a:ext cx="2971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FD260C-DF2D-49B6-A832-0CC86902F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1809750"/>
            <a:ext cx="323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614626-DE60-4560-AE36-A2157CB0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09750"/>
            <a:ext cx="2971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CHANGE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8A906C-02A9-477A-91F3-1A2FDEF1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1809750"/>
            <a:ext cx="2895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708437-F866-4AE2-B669-B54DFF094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975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393EBB-49F4-438D-851A-D6DD42007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43150"/>
            <a:ext cx="1600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C568C-3ED0-40FA-BC88-4C3B94099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v0.1.0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71A1CF-8A45-4123-9563-BEBA5DD4F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9800" y="23431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5F17CC-2023-4ECC-B9F1-12B64560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3431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교환 절차 누락 감소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8C8264-3D45-46F6-87DF-3B3557F8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23431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1BE09C-F0C3-4BB0-ADAD-9286F1D8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431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 + example 추가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0A9856-7D7B-4A5F-B84B-4CBA8716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2343150"/>
            <a:ext cx="28956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48A28F-FE8E-4C1E-B263-67A0AAF6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43150"/>
            <a:ext cx="26289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EBC619-6819-4161-A918-B64940FF2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371850"/>
            <a:ext cx="1600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B7AF11-440A-42FD-8334-CE1D85E9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v0.2.0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6A3A9F-0198-4F66-9B4F-853FBEEB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9800" y="33718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C4A687-2DEC-4F24-8A40-F018E340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3718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Friction field 완전성 향상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68706E-694A-431C-9D19-555070E9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33718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9A7EE0-1F6A-4168-977C-22567879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3718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 version만 변경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0AEBDB-6766-4A75-B139-477964B1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3371850"/>
            <a:ext cx="28956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27E38E-05D2-4CEC-9CC5-3E9DA60C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371850"/>
            <a:ext cx="26289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PROMOTE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5A390B-5164-43CA-AB3A-555C4619F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400550"/>
            <a:ext cx="1600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901147-F1E3-471E-8107-14F5F591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0055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v0.2.1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656DD3-8CDA-44BD-943B-E4406F14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9800" y="44005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6F793A-8D41-46B9-B578-86976C59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005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지연 증가 없는 표현 축약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02F0EB4-59E7-4F67-B273-D3272FCC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44005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44DB96-0A9A-42EA-8EB5-7BF83766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4005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max length 조정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86C0CB8-EA15-46DB-BE7D-5DFDD25B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4400550"/>
            <a:ext cx="28956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1BF8C6-8D19-4FEE-BFDA-A756AEC9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400550"/>
            <a:ext cx="26289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HOLD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7D3B4E-69FE-4B1E-A079-042F4FD1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version 번호보다 중요한 연결: 가설 → 변경 → trace → 판정</a:t>
            </a:r>
          </a:p>
        </p:txBody>
      </p:sp>
    </p:spTree>
    <p:extLst>
      <p:ext uri="{BB962C8B-B14F-4D97-AF65-F5344CB8AC3E}">
        <p14:creationId xmlns:p14="http://schemas.microsoft.com/office/powerpoint/2010/main" val="186473201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1ABE62-83D0-449A-9676-445E6359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285CF8-58F6-4552-A624-68C5C9C8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64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1828C7-0D61-4E3A-BAA9-7E93E812F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D00686-F49A-470D-A50B-B6114670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59F331-9B88-469A-9E0C-FE9EC60D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85CBAD-E6D6-4693-88D1-B22C302D2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16주와 다섯 단계의 정렬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621F63-F4C1-496D-B65B-A6C7C424D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76300" y="327660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AA1F4F-0EA8-4D90-8BE6-C91050C7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59DA8F-A38A-4AE0-AB7B-706EBABA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20002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CD141F-F140-436F-8D41-CF51ADF9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" y="23431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W01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CONTRACT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298794-1A71-4A7B-83A4-93398C62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32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BDC8A4-E534-48AC-92AA-9907D7E1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147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CONTEXT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E21FD7-7C0E-41D2-9D05-1598CF07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576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W02–05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PROMPT·RAG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3C2C55-9FE1-4963-9DA5-BBD59222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9EE163-F71E-4E68-B9E2-217B1F1C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002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ADAPT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999066-299C-49EF-82E3-6A68DBC9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3431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W06–07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SFT·DPO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84313A-94A8-4EF8-B508-523E34B0D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18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659F5B-8BCE-42FB-AC7A-F2DD1BE5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147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RUN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B5E053-E443-4861-B0B2-9F6096456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576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W09–10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API·TRACE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34C6A0-7CE4-45B5-8F6C-7D6D84E2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011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5F4D87-C78C-4C6A-AB8D-E38C6DEB2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002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EVALUATE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5EFEB8-6921-4A00-B78E-2C7A299B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431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W11–14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EVAL·GOVERN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8048C0-7637-418D-B22D-8E7EBE1E6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204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F6B805-5669-4503-8B47-F74E211B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7147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VERSION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78F778-DAF1-4266-A334-F5496B89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576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W15–16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CAPSTONE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D688A1-244E-4FD8-A617-8DF80A93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Capstone 공통 계약: API · log · KPI · version · 재현 절차</a:t>
            </a:r>
          </a:p>
        </p:txBody>
      </p:sp>
    </p:spTree>
    <p:extLst>
      <p:ext uri="{BB962C8B-B14F-4D97-AF65-F5344CB8AC3E}">
        <p14:creationId xmlns:p14="http://schemas.microsoft.com/office/powerpoint/2010/main" val="856224601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3C59F8-93AD-4ABF-9AF0-735C66795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2000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88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A91714-3003-4186-A27F-4566CC93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9334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TRACE / 01 LAB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083B74-C968-472A-8A33-2118D819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724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42EFD8-D7F6-4711-92A0-ACE7183D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66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첫 운영 루프의 실행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B9ACAD-2914-4E4A-A7E3-A4A56213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Python 3.11.14 · FastAPI · Demo/Ollama · Trace · Compare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2AEFD-48A0-4EE9-A19B-EEEF94B0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W01 · 65</a:t>
            </a:r>
          </a:p>
        </p:txBody>
      </p:sp>
    </p:spTree>
    <p:extLst>
      <p:ext uri="{BB962C8B-B14F-4D97-AF65-F5344CB8AC3E}">
        <p14:creationId xmlns:p14="http://schemas.microsoft.com/office/powerpoint/2010/main" val="1379562963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D0C977-7928-4666-B779-BE55E539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FDE920-7DDC-4A9A-A4B5-EC9F9DB2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66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4D5771-4C23-45E4-9AC4-B9EBA1BE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35B118-6D72-4F39-A6A7-EE51FC87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0882F-3740-49B7-9760-E0B9C698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1B852C-A687-458E-AFE8-D672B086A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TRACE/01의 서비스 계약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25AFFE-BC5D-4245-9743-28FFFC30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533650"/>
            <a:ext cx="19050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FC0DC0-B39D-4615-BC71-A7E91CA6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2415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2910C-9AD1-4E9A-8E70-AB70A3F71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WEB UI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4FA816-8F49-4AE7-8256-EC367A04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0045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입력 · 결과 · trace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066A84-A454-4238-BF44-98642540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05150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26C908-9F08-48E7-8510-2577A8AC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2533650"/>
            <a:ext cx="21526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0B1F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57C738-2AC5-4714-9FD9-E0BCE41D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2415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A591C6-AAB4-4F84-A032-F81D63C0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FASTAPI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B05E0C-EE4E-4B5E-B3D4-E021A3464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004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schema · endpoint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C6DE9A-E317-45DF-A6CC-573905A2E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105150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622AB3-8E96-478D-8541-7828BD8D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62650" y="2533650"/>
            <a:ext cx="2324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D21AF4-E560-4A07-AB68-4430C8B1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2415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88BE31-C6D5-497E-8D3D-30D9946C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4325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PROVIDER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2A4792-0DA4-4D15-AA0F-D45F7E3C7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0045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demo / Ollama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C0ABF5-3010-48F2-8825-D0C60F19A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05150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DDDD30-EFA5-4A19-9D5C-81C8E39F8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2533650"/>
            <a:ext cx="26479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0B1F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06A9F1-5B6B-49DE-91E6-2A085FDD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72415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C68EF1-8AE0-4669-B509-B8F29892F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43250"/>
            <a:ext cx="2305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TRACE STORE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0BBDB4-8DF7-4D57-8257-44D03F96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00450"/>
            <a:ext cx="2305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memory · JSONL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E35C20-5222-40FB-85A6-B49E4561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요청에서 생성 결과와 운영 metadata를 함께 반환</a:t>
            </a:r>
          </a:p>
        </p:txBody>
      </p:sp>
    </p:spTree>
    <p:extLst>
      <p:ext uri="{BB962C8B-B14F-4D97-AF65-F5344CB8AC3E}">
        <p14:creationId xmlns:p14="http://schemas.microsoft.com/office/powerpoint/2010/main" val="1422486123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E66100-1458-4266-8688-83CB7995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756A50-3D98-4A6B-A90B-7D4A2B82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67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2B3B03-EE32-4B55-BA0D-17EEC9EC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962450-DC07-4397-A353-EF3F95E7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F70DA4-A196-47C5-A071-E9154DD6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CB495-D246-4947-9D81-1D26EB813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실습 완료의 다섯 증거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472D3A-E347-4F62-A748-D965F895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16192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A6E49-C040-493D-80DC-F7574A4E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A3C90A-7015-49B0-A19E-E652C6C2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621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Health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61E77-A53A-4D43-BE72-1B6D36B6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6002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GET /health → status ok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0F566B-973E-4438-8C84-08FB8E22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21526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23F1C4-933B-4A7E-A703-AA4F29C00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4955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05E734-5164-408D-986B-D24D0DE9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51B941-F17F-4842-A9F1-D80A85FB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384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 2건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BA793A-037D-4E4D-9609-057CE1A56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765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동일 input의 baseline·variant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14519A-7438-4B29-A641-E4D3432B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0289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D1E87D-412F-4F0A-B79F-4BD5D992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3718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540D65-61FE-434E-B836-E0ADD1B3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AC3D22-843E-4610-ACA3-4B8C06D6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14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단일 변경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B03032-D273-4487-B265-932EE2DB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3528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prompt version 또는 temperature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A84139-C4BE-4105-A690-14CBEA41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9052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EFF39F-1609-4884-B59D-7609E288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42481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DBB1D7-186A-4886-B679-E5853517F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458EEA-C374-48AC-925C-3AFF5987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910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비교 판단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AB0762-4A8A-474A-9E3B-F04A7A59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291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output·status·latency·token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08CB38-FE0E-4504-AD71-2110A501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47815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0CDFB4-B37F-4586-9B03-36830D45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1244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AEB4F3-4589-4B50-B2A9-2340E9D5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24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41264B-74D6-4E78-9610-88160D54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0673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가설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21BFA6-9CFE-4248-A6DC-9133EC79E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1054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변경·기대·판정의 두 문장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4B708C-B07F-4DE1-8B92-B1577430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56578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99783754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F954C5-A440-4CEB-8EBF-5B16E446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351045-777B-45F8-A8ED-435D2200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68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760262-51B8-480B-BDF5-8EFE1794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601C21-4C21-488F-BF05-C82B7B76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74ADCC-AA2D-44C9-B495-D395360C7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3E036F-7EDD-42B3-BB32-5DBCC3F2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16주 개발환경의 공통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D9AE3B-5088-43E2-8C1C-FF8F89164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90700"/>
            <a:ext cx="1009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624AD-2162-4AFC-880E-ADBEB234B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3.11.14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0A47E6-54E2-46E5-862E-81FEA5E1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90700"/>
            <a:ext cx="6877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모든 주차의 canonical interpreter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2A46DA-E1A0-4538-9CEB-AC3C9876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1100" y="2628900"/>
            <a:ext cx="8953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D9C0D9-23E7-4624-A158-3211B317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289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COURSE BASE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EAABDC-781E-4A48-A0FB-8B723F4D3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28900"/>
            <a:ext cx="5734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Jupyter · requests · pandas · pytest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E45102-E1B1-4710-B29B-66AAA193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3467100"/>
            <a:ext cx="7810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7E53F-503A-440A-B14B-206A7B8A5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4671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WEEK PROFILE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85F762-FB48-43A9-A168-895383CD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67100"/>
            <a:ext cx="4591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API · RAG · fine-tuning ·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B55084-8C30-483E-BCC9-E8DFC5FB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4305300"/>
            <a:ext cx="666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09CA77-DC5E-4FE8-BB44-B5393D6B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053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LOCK / PLATFORM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B41A84-16B3-42A6-A97D-84A00BCF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305300"/>
            <a:ext cx="3448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macOS arm64 등 검증된 조합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4ECE9A-3B61-4676-873C-317C178A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하나의 거대 환경 대신 공통 spine과 충돌 주차별 profile</a:t>
            </a:r>
          </a:p>
        </p:txBody>
      </p:sp>
    </p:spTree>
    <p:extLst>
      <p:ext uri="{BB962C8B-B14F-4D97-AF65-F5344CB8AC3E}">
        <p14:creationId xmlns:p14="http://schemas.microsoft.com/office/powerpoint/2010/main" val="152865532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4A219E-1B9F-4A4C-A1B6-5EC1AE41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557327-D0D1-48BB-8443-F92B2674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69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735D8-46EC-417F-B6D6-9D81AEEC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F994B7-7423-4467-8150-BBC7CF810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86E448-7562-4018-BB85-E2E2F138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0E233E-6548-40F2-AF3C-2C3F9001A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필수 경로와 선택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57AAB0-4145-4F0C-9007-2E68FBC0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799EF1-0ACA-4D2E-BB48-ADE3D533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3A6F3-00D3-42ED-9CF7-7EBC74D2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같은 합성 예시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5D7513-CFDC-4CF8-BE19-80A06E472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B6CB48-6785-45F7-9B46-298C105B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17131C-BC78-4C45-9134-9C608727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DEMO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58269D-B9AB-4A17-86AB-2637A07A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결정론 baseline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86D66D-984F-44B0-98F1-830E70A13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42A3B-EAEF-404D-A375-4047B3D18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EC0B97-4330-4FAC-8EF2-B40CAC85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3968D0-4103-4416-B695-0605EF44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선택적 local LLM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A16D6C-B470-4715-8B1D-06D5FD64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0618F2-F747-4899-BBE7-0C7FE972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F44C7C-9949-43EB-8E39-D6E3AEE4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059A28-533A-448C-BA9C-5EC4FA44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같은 schema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54533C-2811-47FC-A6C4-6BDD7446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DA8D68-ECAC-4BD1-9D81-AA5080CC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882CF9-841B-4BE6-B374-C1F8080E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COMPARE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08A416-05F2-4231-8D92-BBB59A36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같은 평가축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7914FA-F73A-41D3-A9F1-3A72971D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설치 여부와 무관한 필수 완주 경로 · 실제 생성 비교를 위한 선택 경로</a:t>
            </a:r>
          </a:p>
        </p:txBody>
      </p:sp>
    </p:spTree>
    <p:extLst>
      <p:ext uri="{BB962C8B-B14F-4D97-AF65-F5344CB8AC3E}">
        <p14:creationId xmlns:p14="http://schemas.microsoft.com/office/powerpoint/2010/main" val="995035427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B06954-70D2-4E69-9A53-925551D9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6E39B0-8AF1-4C5F-9554-7A8EFE6C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70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0DA45B-F3FE-43A7-9928-4DEF61721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E43E69-5C63-4019-AC46-F8B2AFE4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1D506D-13B8-4CC2-A76C-1E9EF21B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A30347-5BBC-474A-B39F-2B3C6B8A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환경 구성과 Preflight 명령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0CD9A9-BFE1-40CA-9F15-FFCFDD9C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657350"/>
            <a:ext cx="74295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088A5A-DC0B-48FB-B795-0ED3B732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24050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TERMINAL / REPOSITORY ROOT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D54090-D96E-4D3F-9381-1ED2F5CB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69151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$ uv python install 3.11.14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$ uv venv --python 3.11.14 .venv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$ source .venv/bin/activate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$ uv pip install -r requirements.txt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$ uvicorn app.main:app --app-dir week01/lab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$ curl http://127.0.0.1:8000/health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7CB1FD-D2FE-4D57-A4B5-154093FA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24050"/>
            <a:ext cx="278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0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40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3.11.14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46562D-E846-45E1-B63B-0B908617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05150"/>
            <a:ext cx="27813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</a:t>
            </a:r>
          </a:p>
          <a:p xmlns:a="http://schemas.openxmlformats.org/drawingml/2006/main">
            <a:pPr algn="r">
              <a:lnSpc>
                <a:spcPct val="125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SERVICE</a:t>
            </a:r>
          </a:p>
          <a:p xmlns:a="http://schemas.openxmlformats.org/drawingml/2006/main">
            <a:pPr algn="r">
              <a:lnSpc>
                <a:spcPct val="125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HEALTH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41F993-2A02-42A8-BC75-CD1DF721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705350"/>
            <a:ext cx="27813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Expected signal</a:t>
            </a:r>
          </a:p>
          <a:p xmlns:a="http://schemas.openxmlformats.org/drawingml/2006/main">
            <a:pPr algn="r">
              <a:lnSpc>
                <a:spcPct val="125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{ "status": "ok" 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r">
              <a:lnSpc>
                <a:spcPct val="125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실패 시 demo provider 유지</a:t>
            </a:r>
          </a:p>
        </p:txBody>
      </p:sp>
    </p:spTree>
    <p:extLst>
      <p:ext uri="{BB962C8B-B14F-4D97-AF65-F5344CB8AC3E}">
        <p14:creationId xmlns:p14="http://schemas.microsoft.com/office/powerpoint/2010/main" val="169076848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DD1BE0D-A1D9-4F55-8BC2-FD0308E7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37D954-8845-4ECE-9E95-6CADD302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71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D0E0BC-4D3E-40AD-9A99-452720083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A650A5-206C-4036-8741-7F0235CA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96F7B7-4510-4B9F-A75D-0EC402A0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3262AE-7800-4CE2-802A-9E4FA3FA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요청·응답의 타입 계약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23C5B8-E363-455D-A582-B232B19AD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4785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8D8E9F-2766-4257-A4A4-5A7DD9E3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1638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방향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44EBD-501A-4A73-B1D8-8849A988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14600" y="18478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C869B4-470B-4DC1-B56A-3536E777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847850"/>
            <a:ext cx="306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Field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60BE12-0729-4FCC-8E03-83490FF5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847850"/>
            <a:ext cx="573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3C3893-62A8-4A8D-91A5-C3F454A2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847850"/>
            <a:ext cx="5467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의미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A7ED7C-9E0F-44AD-A698-E93F1494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62200"/>
            <a:ext cx="1905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88FDD3-266C-4192-BCB3-5BD61BAF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638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917A0-107D-495E-B1F1-21A73D74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14600" y="23622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04F839-E9CE-416C-96C0-3441112B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62200"/>
            <a:ext cx="3067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8DB12D-92B0-4185-8E33-E996B2CA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2362200"/>
            <a:ext cx="5734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785FEF-F396-400F-B0CC-9E045138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62200"/>
            <a:ext cx="5467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summarize · extract · rewrite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2D7FCC-8156-470A-B0B4-5D3B5A0B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048000"/>
            <a:ext cx="1905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2DD378-09DF-4184-81EF-166C727C6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638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3EA8B0-3F03-4827-B831-01D75FD95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14600" y="30480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9255E6-B8D3-4641-B0BD-5C67DBAE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048000"/>
            <a:ext cx="3067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/ temperature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241B10-BF9F-4DF9-B8EA-0C93F72A7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3048000"/>
            <a:ext cx="5734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5A6562-3F33-4A59-A16F-72E009732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048000"/>
            <a:ext cx="5467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demo 또는 ollama · sampling 설정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E720E1-C00C-4D6A-A967-BBC62B89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733800"/>
            <a:ext cx="1905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709395-1AE7-4594-86E3-0732356AC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638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RESPONSE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48019E-B2F7-471C-BE75-666574CE3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14600" y="37338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DA2D2B-D3A8-4F6B-BFE7-EBD575AC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33800"/>
            <a:ext cx="3067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5094F2-B448-4166-9A65-A07C2E5E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3733800"/>
            <a:ext cx="5734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6272E7-BA4D-4F95-8120-AAF82DD1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733800"/>
            <a:ext cx="5467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 결과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460675-FB29-4C24-89AF-9543DFD5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419600"/>
            <a:ext cx="1905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7E69EB-3B1D-45F0-9CB4-7A3D046CE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638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RESPONSE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58C229-234F-4C47-B935-4B14773B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14600" y="44196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7CC665-87C8-4702-97E2-987233BC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419600"/>
            <a:ext cx="3067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367C08-6343-41E4-8DAF-ABA67F74F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4419600"/>
            <a:ext cx="5734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DF4F801-96D4-4FC4-8509-54F91938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419600"/>
            <a:ext cx="5467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version · status · latency · token · fingerprint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76899D-EBE8-4C63-AD61-2FF1B397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05400"/>
            <a:ext cx="1905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1A81C6-4680-489D-BA2F-B277E381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638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ERROR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5A1D277-4785-4F92-A6D3-D7A68363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14600" y="51054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094B910-0B1A-4930-87FB-C4B2777C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105400"/>
            <a:ext cx="3067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/ detail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DFB40CA-F064-488C-BF80-108EE2DC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5105400"/>
            <a:ext cx="5734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614435B-BEFD-477F-8F94-4692821D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105400"/>
            <a:ext cx="5467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검증·provider·timeout 실패</a:t>
            </a:r>
          </a:p>
        </p:txBody>
      </p:sp>
    </p:spTree>
    <p:extLst>
      <p:ext uri="{BB962C8B-B14F-4D97-AF65-F5344CB8AC3E}">
        <p14:creationId xmlns:p14="http://schemas.microsoft.com/office/powerpoint/2010/main" val="452650583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FDC095-32D8-4E95-8173-B3DC0C727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C647EB-F91B-45B4-A372-B512EA2B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72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8E21CF-D5D3-47D5-875E-AC5D5078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80B8AC-08D8-484B-959D-D5BDEF0E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F5302F-8C05-471C-9084-0FAA6CB9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840E0A-C9F9-41E6-89C3-249000937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네 Endpoint의 관찰 범위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ABE232-5A3B-4BFF-87A6-5DD405A1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A48920-D9CC-45A8-B673-74C46D2B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/traces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08E6C1-0539-4488-A3A1-5B87C651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FEAE1D-2A00-42F8-AB8D-1C485D6C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개별 실행과 raw metadata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0D8EFE-AC0F-4862-A6DB-410E9308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17DBF3-6DBA-41F0-A86E-11EDFF7E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/stats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643141-6E5D-48AF-AC69-A71B04A1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0995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5C3E42-9190-4F32-AAB5-C08319E5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수업용 집계와 비교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3AE627-555F-44C9-8282-F94F2EA8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0CAAA0-E7FD-4D30-812F-FC091FD9F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/metrics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A6D94E-A58F-4516-963D-3E80C6DC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1030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124FCF-8AB8-4F2A-B61A-49EEE032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Prometheus 수집 형식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B1145D-13AF-47DF-A244-3DA2EBA6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24641C-E9F8-401D-8AE9-4CE73A4D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/docs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10F75B-22E1-4F1D-A479-3FAA5E0D5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6AC19C-065C-4B11-A324-0EBE2236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request·response schema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110017-70A3-47B9-9982-4FC19218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한 건 · 사람의 비교 · 운영 수집 · 계약 확인의 서로 다른 관점</a:t>
            </a:r>
          </a:p>
        </p:txBody>
      </p:sp>
    </p:spTree>
    <p:extLst>
      <p:ext uri="{BB962C8B-B14F-4D97-AF65-F5344CB8AC3E}">
        <p14:creationId xmlns:p14="http://schemas.microsoft.com/office/powerpoint/2010/main" val="1903370946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D4C23D-AEA8-4FF9-A712-BB3096BE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2C275E-D576-4957-A381-311BFFE4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73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859390-1A6B-40C5-BBCA-BFFE8F77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5DD038-32E7-4D0A-AAC3-2D999C69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6B952A-D0B6-4C29-93EA-8137B311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DF35B7-E8FC-4658-83D5-337026163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실제 화면의 관찰 지점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bd7f61753f46bc"/>
          <a:srcRect xmlns:a="http://schemas.openxmlformats.org/drawingml/2006/main" l="0" t="27229" r="0" b="272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409700"/>
            <a:ext cx="10972800" cy="4514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80F6A1-6CF4-49C9-B120-FFB6DA363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40970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ADB92E-4D61-49D5-90AC-23646059E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09750" y="2190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158F9F-9AF1-4581-8063-81ED58CC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81950" y="2190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0AB256-3F69-4DCE-A0C4-222A1443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00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48865C-549E-4FCA-B42C-D0FB047F9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51435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698905372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EA7A57-F342-4541-AEBB-B6AF1F14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A88ECA-C5BE-4448-9747-155235CEB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74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394796-27A0-4A75-B6EF-BC395478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E6E94E-5091-4477-9672-249AEBCC2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3296B-703D-476E-BDDA-84251E92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85E0E4-C084-47DF-9CE2-C8808E27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한 요청의 최소 Trace Schema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490270-8EB4-491F-B27F-3C69EADF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TRACE 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94AC47-CBBA-4F9A-93C0-4D3CD4B2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54a2d4bbf911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57C8EF-C7BF-49C8-BBD4-F668E201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5908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F8531B-22BC-45FB-AD54-531B0F5A3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7526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TASK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D3FF8D-485E-4955-B438-C4E25B4F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95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extract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8F47FF-BBC0-4570-B34D-2AE5F677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19600" y="25908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242D08-A259-4C09-BB14-1B6B06E9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526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PROMPT VERSION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34A270-D769-4F50-9709-EB58BEA5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95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w01.signal.v1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7C0ED3-5564-43D8-A733-617FCD54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25908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889128-AB4D-40AA-91BD-6C1A94FE2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PROVIDER / 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A2C7CE-7594-4AA5-9D9A-ACC389C1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demo / trace-demo-1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EE85D8-098F-4961-BBD8-4C995B6F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6957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19D23C-15A1-4840-8256-EE367549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575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STATUS / LATENCY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CA10B8-19FC-49EA-9BE7-C37C2F992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004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ok / 0.21 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611484-B784-4F7D-95B1-EBCC3C03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19600" y="36957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4E9DDF-A1FE-44A3-A825-59DBEF62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575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TOKEN ESTIMATE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16B520-96C8-4D25-ADD1-8ED1ABD2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004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74 / heuristic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B12549-ECCB-45EB-91E7-57B30360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36957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4960F6-D264-4468-AD3D-D35A8CBB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CONTENT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5AC757-9EC0-4FFD-B892-25740346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fingerprint only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CEAFB-BC48-47D8-A7DF-C48432A1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48006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FC87FC-4F09-4E0C-952B-5798CDB09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624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CREATED AT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AA0382-A0C4-4143-9DE8-9C32F007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053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UTC timestamp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A91FBD-7F5C-43AD-BE83-BCE2C16F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19600" y="48006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798620C-99C2-41C0-A066-264E226D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624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ERROR TYPE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BEEC36-B541-48E1-86F0-48192882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053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null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DBA38B-2617-4318-8E30-3EFBAD31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48006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C54B61-2FDB-4A2A-9738-412A2B57F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429250"/>
            <a:ext cx="10972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9F0CA5-7AB0-4314-9CE5-455A11E3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10591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token_estimate는 tokenizer 실측이 아닌 교육용 휴리스틱 · 모델 간 직접 비교 금지</a:t>
            </a:r>
          </a:p>
        </p:txBody>
      </p:sp>
    </p:spTree>
    <p:extLst>
      <p:ext uri="{BB962C8B-B14F-4D97-AF65-F5344CB8AC3E}">
        <p14:creationId xmlns:p14="http://schemas.microsoft.com/office/powerpoint/2010/main" val="917294404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3C16217-B8BE-4D5E-AA20-5D9B9A9AE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4E681C-7460-4C80-A7D5-0C544E9C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75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7B2848-2262-492B-9EAA-40E672E3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4B771-ECD9-4492-8C0B-7E491CA1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5DD198-91C0-427F-A977-C1D3AFC42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927264-D6A8-4F3F-8115-B7E1FCBE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Baseline·Variant의 단일 변수 실험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248E75-CEFD-4CC0-808F-14B78B14E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52600"/>
            <a:ext cx="2114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AC5091-57C2-478B-863A-8714F748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885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2959EA-F1C0-4D48-A3A2-76CF48EC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1752600"/>
            <a:ext cx="3543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65E2DD-C6E2-415A-A73D-CAFE5446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752600"/>
            <a:ext cx="3314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RUN A / BASELINE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69894F-1464-48E6-A3C3-386F26FC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1752600"/>
            <a:ext cx="1333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843996-0C29-49DA-8E35-AA6FEF35E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52600"/>
            <a:ext cx="1104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6FA515-DFFC-43E9-959D-52AFDEA8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00950" y="1752600"/>
            <a:ext cx="39814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EFE65E-9F96-4BEC-B1AF-F6651E32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52600"/>
            <a:ext cx="3752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RUN B / VARIANT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C6AF7B-FBE1-4B27-8723-705C1485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286000"/>
            <a:ext cx="2114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42891B-27E8-4F9C-81CB-1C761F1F0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INPUT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67820A-07DA-41E7-9F86-A0C60000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2286000"/>
            <a:ext cx="354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D1C833-BD6F-493E-9177-373F2363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3314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동일 합성 고객 피드백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9C1560-A6AC-43B8-A4AB-CCBEBAF0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228600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D5CDB2-ED68-4B3C-AE0D-6A861588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86000"/>
            <a:ext cx="1104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=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0E3084-EE24-41D7-8F20-C63CE2D5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00950" y="2286000"/>
            <a:ext cx="3981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05BDDB-0C8D-430A-95E7-2E3252FE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286000"/>
            <a:ext cx="3752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동일 합성 고객 피드백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0AEA6E-C38B-4012-9536-B090EE61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971800"/>
            <a:ext cx="2114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4B128C-BA46-42F4-A5C0-8641B05E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7180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TASK / MODEL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96E352-6F17-42BE-8142-74E46010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2971800"/>
            <a:ext cx="354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BC52F3-753D-4C48-8796-ED8590A64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971800"/>
            <a:ext cx="3314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extract / llama3.1:8b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09D3DB-9CA4-4B16-B18C-44510FCC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297180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36B697-039C-4362-8519-6FBA35FB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71800"/>
            <a:ext cx="1104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=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E88D0F-9D4B-484D-9A4A-ADE84DBF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00950" y="2971800"/>
            <a:ext cx="3981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ED0415-D32E-47B4-B8A1-07627A64D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71800"/>
            <a:ext cx="3752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extract / llama3.1:8b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72A508-268C-446A-AA1B-DBD4301F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657600"/>
            <a:ext cx="2114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5FE8EC-EFA5-45A2-BC95-C24AE7F8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5760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TEMPERATURE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269134-36D6-4C97-A9F7-3987F3F5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3657600"/>
            <a:ext cx="354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4C0B00-5068-4A33-90C2-63E0D3A5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657600"/>
            <a:ext cx="3314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0.2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E5FE6F-5FD1-4C16-96F6-AEC625DEC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365760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0CD3752-FF3E-4830-80E4-92454B25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57600"/>
            <a:ext cx="1104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B046C8-BC18-4567-9C2C-E3D16E0C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00950" y="3657600"/>
            <a:ext cx="3981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27BBA2-2B2B-481B-88DD-72E79DAD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57600"/>
            <a:ext cx="3752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0.8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4B3D92-A984-485F-B9CC-4EE92F37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43400"/>
            <a:ext cx="2114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3B9C9DE-7E20-4B45-9083-680B45C9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OBSERVE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4A75A9-2BBE-43BB-A113-1E5EE1A9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4343400"/>
            <a:ext cx="354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1CE5346-6EC4-40C7-BA46-4D46B034A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343400"/>
            <a:ext cx="3314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 · 사실성 · latency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10D84F7-E9B9-4DEC-AEC5-3F8A984D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434340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5FD9B6B-DC6C-4804-92AF-5AEC9F01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43400"/>
            <a:ext cx="1104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↔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1161535-67D3-488D-B6AE-F5C25F77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00950" y="4343400"/>
            <a:ext cx="3981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3CD4127-7955-4391-ABAA-58543219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43400"/>
            <a:ext cx="3752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 · 사실성 · latency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7FA1DE9-33A0-44E3-A9E8-C02850F6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demo는 결정론적 baseline · sampling 차이는 Ollama 선택 경로에서 관찰</a:t>
            </a:r>
          </a:p>
        </p:txBody>
      </p:sp>
    </p:spTree>
    <p:extLst>
      <p:ext uri="{BB962C8B-B14F-4D97-AF65-F5344CB8AC3E}">
        <p14:creationId xmlns:p14="http://schemas.microsoft.com/office/powerpoint/2010/main" val="1853176954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33A950-1516-4408-8F2D-1FFEDD6C2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26EC57-9C7B-4B55-9955-4F63B9BE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76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93109B-B64E-4E06-A4E0-7D0EAC81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D20D09-5FCB-4218-A893-CA897696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A6D2CE-DBCA-4100-8B94-6609EC80C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8433F4-3369-4B9B-B980-D56916AE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요약 태스크의 판정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D297B2-54F9-4ED6-9FAA-9B18D5C5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9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FAITHFUL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BC96-DCBD-4ED1-A184-7D1F009A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62350" y="215265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0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8BEFE4-1C93-4181-94F6-B7A78DF0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62350" y="2152650"/>
            <a:ext cx="628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ED1453-7675-4AE1-8836-03D0B17A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19350"/>
            <a:ext cx="714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입력에 없는 사실을 추가하지 않은 비율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B6C04D-2032-43F9-99E9-31D4861F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1962150"/>
            <a:ext cx="59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88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AA75DB-FBAC-45CE-9B0C-C2E3DFCE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9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COVERAGE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103E68-7297-418A-91D2-ADB9E0AC3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62350" y="314325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0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A6BAC0-601C-4863-8A0A-797695C7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62350" y="3143250"/>
            <a:ext cx="542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0">
            <a:solidFill>
              <a:srgbClr val="0B1F3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6AD137-AA47-4512-A94B-C87984AF1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09950"/>
            <a:ext cx="714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핵심 주장과 제약의 보존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4C89DF-8F53-4471-B42E-4DFECDB2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952750"/>
            <a:ext cx="59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76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7C5D50-2A59-425C-BE85-93883F11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9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FORMAT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6E8070-7E53-440A-AC37-86777B43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62350" y="413385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0">
            <a:solidFill>
              <a:srgbClr val="D0D5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B671E6-874B-4FFF-AB08-AF5B9959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62350" y="4133850"/>
            <a:ext cx="657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0">
            <a:solidFill>
              <a:srgbClr val="0B1F3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9BD921-0E86-4103-8EFD-63CF17E0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00550"/>
            <a:ext cx="714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요구 길이·문장 수·출력 형식 준수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80D281-5990-4562-91C3-B9523A471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943350"/>
            <a:ext cx="59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92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25A57C-74AD-43A6-94A3-399118CD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9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LATENCY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AE56CB-A9A5-4506-A2BF-266D0D70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62350" y="512445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0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03E503-EA6C-4483-AAAE-57C8B33E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62350" y="5124450"/>
            <a:ext cx="457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0">
            <a:solidFill>
              <a:srgbClr val="0B1F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6E1B9E-D2AF-4429-A506-A4832B40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391150"/>
            <a:ext cx="714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사용 맥락의 응답시간 목표 대비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2DD45B-DF80-4AF2-9360-CA926C0E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4933950"/>
            <a:ext cx="59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64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52E145-1887-4204-BC70-7A1AEDC3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화면의 숫자는 예시 · 실제 실습은 pass/fail rubric과 trace 값을 사용</a:t>
            </a:r>
          </a:p>
        </p:txBody>
      </p:sp>
    </p:spTree>
    <p:extLst>
      <p:ext uri="{BB962C8B-B14F-4D97-AF65-F5344CB8AC3E}">
        <p14:creationId xmlns:p14="http://schemas.microsoft.com/office/powerpoint/2010/main" val="900290010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6A29D2-150F-43A7-9E1A-2A1EB8C8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89F310-B3F4-425C-AEB9-D3ABC987D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77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611D59-582D-4EA4-891E-F984DF49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C773E2-A7C9-4423-91B4-9DE9C5CE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4783EC-0F1E-4096-AA8D-5DB3C76F6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CAA384-C996-4BE5-8E29-B89328E8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구조 추출의 판정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20676-0B26-4C85-81E3-8BF02280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3505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27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9E7BA2-1AEF-432C-9479-64A090070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3505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FCE473-352D-4485-A0C4-75C3F6D9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162300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50ED8E-9240-4A44-8B9F-F7FA2BB5F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35052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사용자가 실제로 말한 핵심 관찰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982D92-5510-4994-BD02-A38CB05E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PRESENT · GROUNDED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4F3E76-A0B4-4142-A83F-68D3A76B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90700"/>
            <a:ext cx="3505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27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7F45E1-5CEF-4AA4-BD81-6E1C3F1E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71750"/>
            <a:ext cx="3505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FRICTION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7DB769-6DA1-4F6D-89E1-A01596FF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43400" y="3162300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38D6E8-2BB1-44F0-A51F-F4107520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67100"/>
            <a:ext cx="35052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결정이나 행동을 막는 구체적 불편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1153A9-BEA3-4B15-9BF4-B6B1EC70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4350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SPECIFIC · ACTIONABLE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2241E0-F7BA-426F-9FED-256524B2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790700"/>
            <a:ext cx="3505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27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B0E52C-230D-4C3E-BA8F-0071FF78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71750"/>
            <a:ext cx="3505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NEXT 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985238-E4C0-443C-8421-CBE7331E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077200" y="3162300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337143-F0EF-4840-9857-F6D6B281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67100"/>
            <a:ext cx="35052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다음 실험 또는 제품 행동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FC8B76-2705-4304-8137-9485CB2B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14350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OWNER · TESTABLE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63F664-4C4C-47BC-8B42-52A7A425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출력 schema가 형식 평가의 최소 기준 · 내용의 근거성과 별도 판정</a:t>
            </a:r>
          </a:p>
        </p:txBody>
      </p:sp>
    </p:spTree>
    <p:extLst>
      <p:ext uri="{BB962C8B-B14F-4D97-AF65-F5344CB8AC3E}">
        <p14:creationId xmlns:p14="http://schemas.microsoft.com/office/powerpoint/2010/main" val="1367970580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AED09B-9AC8-4C24-BB05-58888A84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C8B15E-8F51-43D8-8900-5D90F744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78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EB27D3-92BE-4020-8CFE-4A184E829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64B6FB-3463-4308-9218-518E2AF8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FCCED6-7DDA-4776-9A51-0EB5EAA2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BD7F1D-6D0F-44A1-A052-0C4F611D0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실패 유형별 복구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3FC223-6CF7-4BD0-98D6-EE1EFAC0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422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E69A7-77A8-4850-9D4E-E8A7D68A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619250"/>
            <a:ext cx="327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request schema 오류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B1CF35-AECC-420E-811D-40940559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192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FC7896-2507-43E4-ACDD-8074E1FA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19250"/>
            <a:ext cx="461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task·provider·temperature 범위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183697-E8F2-4526-B6C8-BF49F98C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24100" y="2209800"/>
            <a:ext cx="887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18B463-7AA9-41A7-A750-D3DE51B4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503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F1A126-AC8B-4104-BD66-69E09AFD8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609850"/>
            <a:ext cx="327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Ollama 연결 또는 model 부재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8CC39E-0BC6-4437-A427-DC9E9391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098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8F1C4B-3126-4EB4-A37F-EB35ADAD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09850"/>
            <a:ext cx="461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demo provider로 완주 → ollama serve / pull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205A0C-C6D0-4385-BC52-435F2230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24100" y="3200400"/>
            <a:ext cx="887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A73232-1CB2-4B63-9160-123548B9C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TIMEOUT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6665EF-24AC-470A-996B-A7F72F6D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00450"/>
            <a:ext cx="327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응답 제한시간 초과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C5C461-073D-4882-A420-B718008E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004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290D9A-9D0C-43E3-8E56-6CFC4BC2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00450"/>
            <a:ext cx="461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trace error 확인 → 입력 길이·model·timeout 점검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51D6DD-4F7E-4A73-8C5F-AF866910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24100" y="4191000"/>
            <a:ext cx="887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BB0C23-9297-42E6-B5CA-055C2054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NO DELTA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D8F48F-89FE-4F8D-B41B-650CA22C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91050"/>
            <a:ext cx="327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두 실행의 비교 불가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379A28-FA35-45A8-93C9-C67DAB2A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5910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7678C0-E923-49DE-A12B-6CBFCBBB6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91050"/>
            <a:ext cx="461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동일 input·평가축 고정 → 변수 하나만 변경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EC4747-B0DB-4C53-83DB-CA884C31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24100" y="5181600"/>
            <a:ext cx="887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15239161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F71E37-BD44-4386-8250-150EBAAE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FIRST OPERATING RECORD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32234-DD87-44EE-A4DA-531165CE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첫 주 운영 기록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28F7C5-F8E2-4CBD-8646-D96B038F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1F159-2B8D-4043-9CB3-13D5BE24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384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CHANGE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B7E5E5-31EC-46D3-A595-3EA98816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38400"/>
            <a:ext cx="7486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prompt version에서 바꿀 한 가지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1CC40C-2FA2-4F4A-BB95-015E6710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90650" y="29908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F92D6C-7367-4D47-8D7F-106730B4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E810D6-5C1D-42B7-B3A5-13F311FA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290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EXPECT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45AE67-1A30-4E23-9959-C159B7D2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29000"/>
            <a:ext cx="7486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예상하는 output 또는 운영 지표의 변화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9F256-B0F4-4C35-B56D-6C167B7F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90650" y="39814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2D1C25-FD63-40CC-ADC6-6758494C4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9177FF-5A44-4894-A251-ABB25AD3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196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JUDGE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38CFD6-9091-4612-806E-0E67FE2BB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419600"/>
            <a:ext cx="7486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승격·보류·rollback을 가를 판정 기준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615140-1980-4499-BFC9-CAC3EB25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90650" y="4972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ACE083-3736-42F8-BB52-59982F38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619750"/>
            <a:ext cx="10972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0124DC-DD4D-487D-8E18-0EF736A0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19750"/>
            <a:ext cx="10591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NEXT · PROMPT TEMPLATE · VERSION · EVALUATION · DEPLOYMENT</a:t>
            </a:r>
          </a:p>
        </p:txBody>
      </p:sp>
    </p:spTree>
    <p:extLst>
      <p:ext uri="{BB962C8B-B14F-4D97-AF65-F5344CB8AC3E}">
        <p14:creationId xmlns:p14="http://schemas.microsoft.com/office/powerpoint/2010/main" val="323684019"/>
      </p:ext>
    </p:extLst>
  </p:cSld>
</p:sld>
</file>

<file path=ppt/theme/theme1.xml><?xml version="1.0" encoding="utf-8"?>
<a:theme xmlns:a="http://schemas.openxmlformats.org/drawingml/2006/main" name="ChatGPT">
  <a:themeElements>
    <a:clrScheme name="BLACK WHITE NAVY BLUE">
      <a:dk1>
        <a:srgbClr val="050505"/>
      </a:dk1>
      <a:lt1>
        <a:srgbClr val="FFFFFF"/>
      </a:lt1>
      <a:dk2>
        <a:srgbClr val="0B1F3A"/>
      </a:dk2>
      <a:lt2>
        <a:srgbClr val="F7F8FA"/>
      </a:lt2>
      <a:accent1>
        <a:srgbClr val="2563EB"/>
      </a:accent1>
      <a:accent2>
        <a:srgbClr val="0B1F3A"/>
      </a:accent2>
      <a:accent3>
        <a:srgbClr val="667085"/>
      </a:accent3>
      <a:accent4>
        <a:srgbClr val="E0F0FE"/>
      </a:accent4>
      <a:accent5>
        <a:srgbClr val="191919"/>
      </a:accent5>
      <a:accent6>
        <a:srgbClr val="98A2B3"/>
      </a:accent6>
      <a:hlink>
        <a:srgbClr val="2563EB"/>
      </a:hlink>
      <a:folHlink>
        <a:srgbClr val="0B1F3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NAVY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2026-09-03T22:43:52.0990000Z</dcterms:created>
  <dcterms:modified xsi:type="dcterms:W3CDTF">2026-09-03T22:43:52.0990000Z</dcterms:modified>
</coreProperties>
</file>