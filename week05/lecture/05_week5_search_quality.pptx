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charts/chart4.xml" ContentType="application/vnd.openxmlformats-officedocument.drawingml.chart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slides/charts/chart5.xml" ContentType="application/vnd.openxmlformats-officedocument.drawingml.chart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slides/charts/chart6.xml" ContentType="application/vnd.openxmlformats-officedocument.drawingml.chart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slides/charts/chart7.xml" ContentType="application/vnd.openxmlformats-officedocument.drawingml.chart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slides/charts/chart8.xml" ContentType="application/vnd.openxmlformats-officedocument.drawingml.chart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5235c3ee3b441f" /><Relationship Type="http://schemas.openxmlformats.org/officeDocument/2006/relationships/extended-properties" Target="/docProps/app.xml" Id="Rc3d5a729736d40fc" /><Relationship Type="http://schemas.openxmlformats.org/officeDocument/2006/relationships/officeDocument" Target="/ppt/presentation.xml" Id="Refcbed5e932844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69961b44d8447a"/>
  </p:sldMasterIdLst>
  <p:notesMasterIdLst>
    <p:notesMasterId xmlns:r="http://schemas.openxmlformats.org/officeDocument/2006/relationships" r:id="Rc60ac75e73e44092"/>
  </p:notesMasterIdLst>
  <p:sldIdLst>
    <p:sldId xmlns:r="http://schemas.openxmlformats.org/officeDocument/2006/relationships" id="256" r:id="Rf3a6638cd8cc4058"/>
    <p:sldId xmlns:r="http://schemas.openxmlformats.org/officeDocument/2006/relationships" id="257" r:id="R024eb0b9cfda4a52"/>
    <p:sldId xmlns:r="http://schemas.openxmlformats.org/officeDocument/2006/relationships" id="258" r:id="R0e062e4ba8364421"/>
    <p:sldId xmlns:r="http://schemas.openxmlformats.org/officeDocument/2006/relationships" id="259" r:id="R6bed8cad617a4182"/>
    <p:sldId xmlns:r="http://schemas.openxmlformats.org/officeDocument/2006/relationships" id="260" r:id="Ra6524256753d4079"/>
    <p:sldId xmlns:r="http://schemas.openxmlformats.org/officeDocument/2006/relationships" id="261" r:id="R80ef28e878904258"/>
    <p:sldId xmlns:r="http://schemas.openxmlformats.org/officeDocument/2006/relationships" id="262" r:id="R1563d83aa7c642d5"/>
    <p:sldId xmlns:r="http://schemas.openxmlformats.org/officeDocument/2006/relationships" id="263" r:id="Rd601b91db4344ed5"/>
    <p:sldId xmlns:r="http://schemas.openxmlformats.org/officeDocument/2006/relationships" id="264" r:id="R9a60d1f566764733"/>
    <p:sldId xmlns:r="http://schemas.openxmlformats.org/officeDocument/2006/relationships" id="265" r:id="R11b4b299ab2a4f3a"/>
    <p:sldId xmlns:r="http://schemas.openxmlformats.org/officeDocument/2006/relationships" id="266" r:id="R0888569d61844dfe"/>
    <p:sldId xmlns:r="http://schemas.openxmlformats.org/officeDocument/2006/relationships" id="267" r:id="R8bb18ad67bdb41f5"/>
    <p:sldId xmlns:r="http://schemas.openxmlformats.org/officeDocument/2006/relationships" id="268" r:id="R3dc47f5bcffa4c43"/>
    <p:sldId xmlns:r="http://schemas.openxmlformats.org/officeDocument/2006/relationships" id="269" r:id="R080b38fa948a48f4"/>
    <p:sldId xmlns:r="http://schemas.openxmlformats.org/officeDocument/2006/relationships" id="270" r:id="Rabd5dd7bd2054e18"/>
    <p:sldId xmlns:r="http://schemas.openxmlformats.org/officeDocument/2006/relationships" id="271" r:id="R5f9a0c0a01dd47f2"/>
    <p:sldId xmlns:r="http://schemas.openxmlformats.org/officeDocument/2006/relationships" id="272" r:id="R0f57e6ebcbd641b1"/>
    <p:sldId xmlns:r="http://schemas.openxmlformats.org/officeDocument/2006/relationships" id="273" r:id="R02d402e3702e48f4"/>
    <p:sldId xmlns:r="http://schemas.openxmlformats.org/officeDocument/2006/relationships" id="274" r:id="Rcb78ffe888304eff"/>
    <p:sldId xmlns:r="http://schemas.openxmlformats.org/officeDocument/2006/relationships" id="275" r:id="R87851a55ce2d47b3"/>
    <p:sldId xmlns:r="http://schemas.openxmlformats.org/officeDocument/2006/relationships" id="276" r:id="R7b92ab9c515f44f2"/>
    <p:sldId xmlns:r="http://schemas.openxmlformats.org/officeDocument/2006/relationships" id="277" r:id="Rd68680e2f0764820"/>
    <p:sldId xmlns:r="http://schemas.openxmlformats.org/officeDocument/2006/relationships" id="278" r:id="Ra53c1a1260ba4b95"/>
    <p:sldId xmlns:r="http://schemas.openxmlformats.org/officeDocument/2006/relationships" id="279" r:id="Ra8eb3eeeb8b74043"/>
    <p:sldId xmlns:r="http://schemas.openxmlformats.org/officeDocument/2006/relationships" id="280" r:id="R1bb55989b7c645c0"/>
    <p:sldId xmlns:r="http://schemas.openxmlformats.org/officeDocument/2006/relationships" id="281" r:id="R8061f304eb76469e"/>
    <p:sldId xmlns:r="http://schemas.openxmlformats.org/officeDocument/2006/relationships" id="282" r:id="R0e39c32b866c48ee"/>
    <p:sldId xmlns:r="http://schemas.openxmlformats.org/officeDocument/2006/relationships" id="283" r:id="Re5a34125995b41b8"/>
    <p:sldId xmlns:r="http://schemas.openxmlformats.org/officeDocument/2006/relationships" id="284" r:id="R4a9ca68071004c16"/>
    <p:sldId xmlns:r="http://schemas.openxmlformats.org/officeDocument/2006/relationships" id="285" r:id="R78f454e393cc4829"/>
    <p:sldId xmlns:r="http://schemas.openxmlformats.org/officeDocument/2006/relationships" id="286" r:id="Raa9b49706df245d6"/>
    <p:sldId xmlns:r="http://schemas.openxmlformats.org/officeDocument/2006/relationships" id="287" r:id="R234018821fbe4d00"/>
    <p:sldId xmlns:r="http://schemas.openxmlformats.org/officeDocument/2006/relationships" id="288" r:id="R030241eb39464fa7"/>
    <p:sldId xmlns:r="http://schemas.openxmlformats.org/officeDocument/2006/relationships" id="289" r:id="Rb4dae5ff9f144939"/>
    <p:sldId xmlns:r="http://schemas.openxmlformats.org/officeDocument/2006/relationships" id="290" r:id="R71935cd0bb3d46db"/>
    <p:sldId xmlns:r="http://schemas.openxmlformats.org/officeDocument/2006/relationships" id="291" r:id="R8cc9db37d22e4d20"/>
    <p:sldId xmlns:r="http://schemas.openxmlformats.org/officeDocument/2006/relationships" id="292" r:id="R7cb37e18336e4b36"/>
    <p:sldId xmlns:r="http://schemas.openxmlformats.org/officeDocument/2006/relationships" id="293" r:id="R3a07ab67181c4864"/>
    <p:sldId xmlns:r="http://schemas.openxmlformats.org/officeDocument/2006/relationships" id="294" r:id="R1af08a09fe4e4685"/>
    <p:sldId xmlns:r="http://schemas.openxmlformats.org/officeDocument/2006/relationships" id="295" r:id="Rb4c5f597031c4d80"/>
    <p:sldId xmlns:r="http://schemas.openxmlformats.org/officeDocument/2006/relationships" id="296" r:id="R880046b5f2d04345"/>
    <p:sldId xmlns:r="http://schemas.openxmlformats.org/officeDocument/2006/relationships" id="297" r:id="Rebbb33805eb04500"/>
    <p:sldId xmlns:r="http://schemas.openxmlformats.org/officeDocument/2006/relationships" id="298" r:id="R334b591f3e994503"/>
    <p:sldId xmlns:r="http://schemas.openxmlformats.org/officeDocument/2006/relationships" id="299" r:id="Rb4c71b70a109439c"/>
    <p:sldId xmlns:r="http://schemas.openxmlformats.org/officeDocument/2006/relationships" id="300" r:id="R0dade4928fc64941"/>
    <p:sldId xmlns:r="http://schemas.openxmlformats.org/officeDocument/2006/relationships" id="301" r:id="R86db1308a681495a"/>
    <p:sldId xmlns:r="http://schemas.openxmlformats.org/officeDocument/2006/relationships" id="302" r:id="R29fc2519829d4f69"/>
    <p:sldId xmlns:r="http://schemas.openxmlformats.org/officeDocument/2006/relationships" id="303" r:id="Rf54244aba6b8490f"/>
    <p:sldId xmlns:r="http://schemas.openxmlformats.org/officeDocument/2006/relationships" id="304" r:id="R4eccdc9ba580455e"/>
    <p:sldId xmlns:r="http://schemas.openxmlformats.org/officeDocument/2006/relationships" id="305" r:id="Rada54ab57e614a28"/>
    <p:sldId xmlns:r="http://schemas.openxmlformats.org/officeDocument/2006/relationships" id="306" r:id="Rfe738c55a226432c"/>
    <p:sldId xmlns:r="http://schemas.openxmlformats.org/officeDocument/2006/relationships" id="307" r:id="R6ce0c3048740486d"/>
    <p:sldId xmlns:r="http://schemas.openxmlformats.org/officeDocument/2006/relationships" id="308" r:id="R5b71dc35e1504935"/>
    <p:sldId xmlns:r="http://schemas.openxmlformats.org/officeDocument/2006/relationships" id="309" r:id="Ra2a30edb2f534007"/>
    <p:sldId xmlns:r="http://schemas.openxmlformats.org/officeDocument/2006/relationships" id="310" r:id="R280fd92e0015408d"/>
    <p:sldId xmlns:r="http://schemas.openxmlformats.org/officeDocument/2006/relationships" id="311" r:id="Rab6ecb5fb0e4446e"/>
    <p:sldId xmlns:r="http://schemas.openxmlformats.org/officeDocument/2006/relationships" id="312" r:id="R9b5d3d9c806648ea"/>
    <p:sldId xmlns:r="http://schemas.openxmlformats.org/officeDocument/2006/relationships" id="313" r:id="R26f44873d4d44225"/>
    <p:sldId xmlns:r="http://schemas.openxmlformats.org/officeDocument/2006/relationships" id="314" r:id="R58377d3861e14b1d"/>
    <p:sldId xmlns:r="http://schemas.openxmlformats.org/officeDocument/2006/relationships" id="315" r:id="R47b0ad728a054ecd"/>
    <p:sldId xmlns:r="http://schemas.openxmlformats.org/officeDocument/2006/relationships" id="316" r:id="Rde8a5071617c4ba9"/>
    <p:sldId xmlns:r="http://schemas.openxmlformats.org/officeDocument/2006/relationships" id="317" r:id="R16a0f7c52b6640f1"/>
    <p:sldId xmlns:r="http://schemas.openxmlformats.org/officeDocument/2006/relationships" id="318" r:id="Rc22345262b4d4f83"/>
    <p:sldId xmlns:r="http://schemas.openxmlformats.org/officeDocument/2006/relationships" id="319" r:id="R099386cc7afb48b7"/>
    <p:sldId xmlns:r="http://schemas.openxmlformats.org/officeDocument/2006/relationships" id="320" r:id="Ra4e2a691a43f4dbb"/>
    <p:sldId xmlns:r="http://schemas.openxmlformats.org/officeDocument/2006/relationships" id="321" r:id="R2facc301e4e04248"/>
    <p:sldId xmlns:r="http://schemas.openxmlformats.org/officeDocument/2006/relationships" id="322" r:id="R70c9df453b664559"/>
    <p:sldId xmlns:r="http://schemas.openxmlformats.org/officeDocument/2006/relationships" id="323" r:id="R0ef56c83f323403a"/>
    <p:sldId xmlns:r="http://schemas.openxmlformats.org/officeDocument/2006/relationships" id="324" r:id="R4cc8c7ee3e1b41d5"/>
    <p:sldId xmlns:r="http://schemas.openxmlformats.org/officeDocument/2006/relationships" id="325" r:id="R61220469aa7b470d"/>
    <p:sldId xmlns:r="http://schemas.openxmlformats.org/officeDocument/2006/relationships" id="326" r:id="Rffc4ccc6a7f34da3"/>
    <p:sldId xmlns:r="http://schemas.openxmlformats.org/officeDocument/2006/relationships" id="327" r:id="Rcea4e658b90b40e4"/>
    <p:sldId xmlns:r="http://schemas.openxmlformats.org/officeDocument/2006/relationships" id="328" r:id="R97200b8addd74683"/>
    <p:sldId xmlns:r="http://schemas.openxmlformats.org/officeDocument/2006/relationships" id="329" r:id="Rdb902995ab304e15"/>
    <p:sldId xmlns:r="http://schemas.openxmlformats.org/officeDocument/2006/relationships" id="330" r:id="R59e346d5ba6d4081"/>
    <p:sldId xmlns:r="http://schemas.openxmlformats.org/officeDocument/2006/relationships" id="331" r:id="R742c652f14e44210"/>
    <p:sldId xmlns:r="http://schemas.openxmlformats.org/officeDocument/2006/relationships" id="332" r:id="Rddead9bad334408e"/>
    <p:sldId xmlns:r="http://schemas.openxmlformats.org/officeDocument/2006/relationships" id="333" r:id="R35dc26d3966e453f"/>
    <p:sldId xmlns:r="http://schemas.openxmlformats.org/officeDocument/2006/relationships" id="334" r:id="R33e1fedb29104309"/>
    <p:sldId xmlns:r="http://schemas.openxmlformats.org/officeDocument/2006/relationships" id="335" r:id="Rbefd1de78cd84e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0627380fa745f3" /><Relationship Type="http://schemas.openxmlformats.org/officeDocument/2006/relationships/slideMaster" Target="/ppt/slideMasters/slideMaster1.xml" Id="Rc369961b44d8447a" /><Relationship Type="http://schemas.openxmlformats.org/officeDocument/2006/relationships/notesMaster" Target="/ppt/notesMasters/notesMaster1.xml" Id="Rc60ac75e73e44092" /><Relationship Type="http://schemas.openxmlformats.org/officeDocument/2006/relationships/presProps" Target="/ppt/presProps.xml" Id="R5967f08368d249bf" /><Relationship Type="http://schemas.openxmlformats.org/officeDocument/2006/relationships/tableStyles" Target="/ppt/tableStyles.xml" Id="R9f03ab58f7984c86" /><Relationship Type="http://schemas.openxmlformats.org/officeDocument/2006/relationships/slide" Target="/ppt/slides/slide1.xml" Id="Rf3a6638cd8cc4058" /><Relationship Type="http://schemas.openxmlformats.org/officeDocument/2006/relationships/slide" Target="/ppt/slides/slide2.xml" Id="R024eb0b9cfda4a52" /><Relationship Type="http://schemas.openxmlformats.org/officeDocument/2006/relationships/slide" Target="/ppt/slides/slide3.xml" Id="R0e062e4ba8364421" /><Relationship Type="http://schemas.openxmlformats.org/officeDocument/2006/relationships/slide" Target="/ppt/slides/slide4.xml" Id="R6bed8cad617a4182" /><Relationship Type="http://schemas.openxmlformats.org/officeDocument/2006/relationships/slide" Target="/ppt/slides/slide5.xml" Id="Ra6524256753d4079" /><Relationship Type="http://schemas.openxmlformats.org/officeDocument/2006/relationships/slide" Target="/ppt/slides/slide6.xml" Id="R80ef28e878904258" /><Relationship Type="http://schemas.openxmlformats.org/officeDocument/2006/relationships/slide" Target="/ppt/slides/slide7.xml" Id="R1563d83aa7c642d5" /><Relationship Type="http://schemas.openxmlformats.org/officeDocument/2006/relationships/slide" Target="/ppt/slides/slide8.xml" Id="Rd601b91db4344ed5" /><Relationship Type="http://schemas.openxmlformats.org/officeDocument/2006/relationships/slide" Target="/ppt/slides/slide9.xml" Id="R9a60d1f566764733" /><Relationship Type="http://schemas.openxmlformats.org/officeDocument/2006/relationships/slide" Target="/ppt/slides/slide10.xml" Id="R11b4b299ab2a4f3a" /><Relationship Type="http://schemas.openxmlformats.org/officeDocument/2006/relationships/slide" Target="/ppt/slides/slide11.xml" Id="R0888569d61844dfe" /><Relationship Type="http://schemas.openxmlformats.org/officeDocument/2006/relationships/slide" Target="/ppt/slides/slide12.xml" Id="R8bb18ad67bdb41f5" /><Relationship Type="http://schemas.openxmlformats.org/officeDocument/2006/relationships/slide" Target="/ppt/slides/slide13.xml" Id="R3dc47f5bcffa4c43" /><Relationship Type="http://schemas.openxmlformats.org/officeDocument/2006/relationships/slide" Target="/ppt/slides/slide14.xml" Id="R080b38fa948a48f4" /><Relationship Type="http://schemas.openxmlformats.org/officeDocument/2006/relationships/slide" Target="/ppt/slides/slide15.xml" Id="Rabd5dd7bd2054e18" /><Relationship Type="http://schemas.openxmlformats.org/officeDocument/2006/relationships/slide" Target="/ppt/slides/slide16.xml" Id="R5f9a0c0a01dd47f2" /><Relationship Type="http://schemas.openxmlformats.org/officeDocument/2006/relationships/slide" Target="/ppt/slides/slide17.xml" Id="R0f57e6ebcbd641b1" /><Relationship Type="http://schemas.openxmlformats.org/officeDocument/2006/relationships/slide" Target="/ppt/slides/slide18.xml" Id="R02d402e3702e48f4" /><Relationship Type="http://schemas.openxmlformats.org/officeDocument/2006/relationships/slide" Target="/ppt/slides/slide19.xml" Id="Rcb78ffe888304eff" /><Relationship Type="http://schemas.openxmlformats.org/officeDocument/2006/relationships/slide" Target="/ppt/slides/slide20.xml" Id="R87851a55ce2d47b3" /><Relationship Type="http://schemas.openxmlformats.org/officeDocument/2006/relationships/slide" Target="/ppt/slides/slide21.xml" Id="R7b92ab9c515f44f2" /><Relationship Type="http://schemas.openxmlformats.org/officeDocument/2006/relationships/slide" Target="/ppt/slides/slide22.xml" Id="Rd68680e2f0764820" /><Relationship Type="http://schemas.openxmlformats.org/officeDocument/2006/relationships/slide" Target="/ppt/slides/slide23.xml" Id="Ra53c1a1260ba4b95" /><Relationship Type="http://schemas.openxmlformats.org/officeDocument/2006/relationships/slide" Target="/ppt/slides/slide24.xml" Id="Ra8eb3eeeb8b74043" /><Relationship Type="http://schemas.openxmlformats.org/officeDocument/2006/relationships/slide" Target="/ppt/slides/slide25.xml" Id="R1bb55989b7c645c0" /><Relationship Type="http://schemas.openxmlformats.org/officeDocument/2006/relationships/slide" Target="/ppt/slides/slide26.xml" Id="R8061f304eb76469e" /><Relationship Type="http://schemas.openxmlformats.org/officeDocument/2006/relationships/slide" Target="/ppt/slides/slide27.xml" Id="R0e39c32b866c48ee" /><Relationship Type="http://schemas.openxmlformats.org/officeDocument/2006/relationships/slide" Target="/ppt/slides/slide28.xml" Id="Re5a34125995b41b8" /><Relationship Type="http://schemas.openxmlformats.org/officeDocument/2006/relationships/slide" Target="/ppt/slides/slide29.xml" Id="R4a9ca68071004c16" /><Relationship Type="http://schemas.openxmlformats.org/officeDocument/2006/relationships/slide" Target="/ppt/slides/slide30.xml" Id="R78f454e393cc4829" /><Relationship Type="http://schemas.openxmlformats.org/officeDocument/2006/relationships/slide" Target="/ppt/slides/slide31.xml" Id="Raa9b49706df245d6" /><Relationship Type="http://schemas.openxmlformats.org/officeDocument/2006/relationships/slide" Target="/ppt/slides/slide32.xml" Id="R234018821fbe4d00" /><Relationship Type="http://schemas.openxmlformats.org/officeDocument/2006/relationships/slide" Target="/ppt/slides/slide33.xml" Id="R030241eb39464fa7" /><Relationship Type="http://schemas.openxmlformats.org/officeDocument/2006/relationships/slide" Target="/ppt/slides/slide34.xml" Id="Rb4dae5ff9f144939" /><Relationship Type="http://schemas.openxmlformats.org/officeDocument/2006/relationships/slide" Target="/ppt/slides/slide35.xml" Id="R71935cd0bb3d46db" /><Relationship Type="http://schemas.openxmlformats.org/officeDocument/2006/relationships/slide" Target="/ppt/slides/slide36.xml" Id="R8cc9db37d22e4d20" /><Relationship Type="http://schemas.openxmlformats.org/officeDocument/2006/relationships/slide" Target="/ppt/slides/slide37.xml" Id="R7cb37e18336e4b36" /><Relationship Type="http://schemas.openxmlformats.org/officeDocument/2006/relationships/slide" Target="/ppt/slides/slide38.xml" Id="R3a07ab67181c4864" /><Relationship Type="http://schemas.openxmlformats.org/officeDocument/2006/relationships/slide" Target="/ppt/slides/slide39.xml" Id="R1af08a09fe4e4685" /><Relationship Type="http://schemas.openxmlformats.org/officeDocument/2006/relationships/slide" Target="/ppt/slides/slide40.xml" Id="Rb4c5f597031c4d80" /><Relationship Type="http://schemas.openxmlformats.org/officeDocument/2006/relationships/slide" Target="/ppt/slides/slide41.xml" Id="R880046b5f2d04345" /><Relationship Type="http://schemas.openxmlformats.org/officeDocument/2006/relationships/slide" Target="/ppt/slides/slide42.xml" Id="Rebbb33805eb04500" /><Relationship Type="http://schemas.openxmlformats.org/officeDocument/2006/relationships/slide" Target="/ppt/slides/slide43.xml" Id="R334b591f3e994503" /><Relationship Type="http://schemas.openxmlformats.org/officeDocument/2006/relationships/slide" Target="/ppt/slides/slide44.xml" Id="Rb4c71b70a109439c" /><Relationship Type="http://schemas.openxmlformats.org/officeDocument/2006/relationships/slide" Target="/ppt/slides/slide45.xml" Id="R0dade4928fc64941" /><Relationship Type="http://schemas.openxmlformats.org/officeDocument/2006/relationships/slide" Target="/ppt/slides/slide46.xml" Id="R86db1308a681495a" /><Relationship Type="http://schemas.openxmlformats.org/officeDocument/2006/relationships/slide" Target="/ppt/slides/slide47.xml" Id="R29fc2519829d4f69" /><Relationship Type="http://schemas.openxmlformats.org/officeDocument/2006/relationships/slide" Target="/ppt/slides/slide48.xml" Id="Rf54244aba6b8490f" /><Relationship Type="http://schemas.openxmlformats.org/officeDocument/2006/relationships/slide" Target="/ppt/slides/slide49.xml" Id="R4eccdc9ba580455e" /><Relationship Type="http://schemas.openxmlformats.org/officeDocument/2006/relationships/slide" Target="/ppt/slides/slide50.xml" Id="Rada54ab57e614a28" /><Relationship Type="http://schemas.openxmlformats.org/officeDocument/2006/relationships/slide" Target="/ppt/slides/slide51.xml" Id="Rfe738c55a226432c" /><Relationship Type="http://schemas.openxmlformats.org/officeDocument/2006/relationships/slide" Target="/ppt/slides/slide52.xml" Id="R6ce0c3048740486d" /><Relationship Type="http://schemas.openxmlformats.org/officeDocument/2006/relationships/slide" Target="/ppt/slides/slide53.xml" Id="R5b71dc35e1504935" /><Relationship Type="http://schemas.openxmlformats.org/officeDocument/2006/relationships/slide" Target="/ppt/slides/slide54.xml" Id="Ra2a30edb2f534007" /><Relationship Type="http://schemas.openxmlformats.org/officeDocument/2006/relationships/slide" Target="/ppt/slides/slide55.xml" Id="R280fd92e0015408d" /><Relationship Type="http://schemas.openxmlformats.org/officeDocument/2006/relationships/slide" Target="/ppt/slides/slide56.xml" Id="Rab6ecb5fb0e4446e" /><Relationship Type="http://schemas.openxmlformats.org/officeDocument/2006/relationships/slide" Target="/ppt/slides/slide57.xml" Id="R9b5d3d9c806648ea" /><Relationship Type="http://schemas.openxmlformats.org/officeDocument/2006/relationships/slide" Target="/ppt/slides/slide58.xml" Id="R26f44873d4d44225" /><Relationship Type="http://schemas.openxmlformats.org/officeDocument/2006/relationships/slide" Target="/ppt/slides/slide59.xml" Id="R58377d3861e14b1d" /><Relationship Type="http://schemas.openxmlformats.org/officeDocument/2006/relationships/slide" Target="/ppt/slides/slide60.xml" Id="R47b0ad728a054ecd" /><Relationship Type="http://schemas.openxmlformats.org/officeDocument/2006/relationships/slide" Target="/ppt/slides/slide61.xml" Id="Rde8a5071617c4ba9" /><Relationship Type="http://schemas.openxmlformats.org/officeDocument/2006/relationships/slide" Target="/ppt/slides/slide62.xml" Id="R16a0f7c52b6640f1" /><Relationship Type="http://schemas.openxmlformats.org/officeDocument/2006/relationships/slide" Target="/ppt/slides/slide63.xml" Id="Rc22345262b4d4f83" /><Relationship Type="http://schemas.openxmlformats.org/officeDocument/2006/relationships/slide" Target="/ppt/slides/slide64.xml" Id="R099386cc7afb48b7" /><Relationship Type="http://schemas.openxmlformats.org/officeDocument/2006/relationships/slide" Target="/ppt/slides/slide65.xml" Id="Ra4e2a691a43f4dbb" /><Relationship Type="http://schemas.openxmlformats.org/officeDocument/2006/relationships/slide" Target="/ppt/slides/slide66.xml" Id="R2facc301e4e04248" /><Relationship Type="http://schemas.openxmlformats.org/officeDocument/2006/relationships/slide" Target="/ppt/slides/slide67.xml" Id="R70c9df453b664559" /><Relationship Type="http://schemas.openxmlformats.org/officeDocument/2006/relationships/slide" Target="/ppt/slides/slide68.xml" Id="R0ef56c83f323403a" /><Relationship Type="http://schemas.openxmlformats.org/officeDocument/2006/relationships/slide" Target="/ppt/slides/slide69.xml" Id="R4cc8c7ee3e1b41d5" /><Relationship Type="http://schemas.openxmlformats.org/officeDocument/2006/relationships/slide" Target="/ppt/slides/slide70.xml" Id="R61220469aa7b470d" /><Relationship Type="http://schemas.openxmlformats.org/officeDocument/2006/relationships/slide" Target="/ppt/slides/slide71.xml" Id="Rffc4ccc6a7f34da3" /><Relationship Type="http://schemas.openxmlformats.org/officeDocument/2006/relationships/slide" Target="/ppt/slides/slide72.xml" Id="Rcea4e658b90b40e4" /><Relationship Type="http://schemas.openxmlformats.org/officeDocument/2006/relationships/slide" Target="/ppt/slides/slide73.xml" Id="R97200b8addd74683" /><Relationship Type="http://schemas.openxmlformats.org/officeDocument/2006/relationships/slide" Target="/ppt/slides/slide74.xml" Id="Rdb902995ab304e15" /><Relationship Type="http://schemas.openxmlformats.org/officeDocument/2006/relationships/slide" Target="/ppt/slides/slide75.xml" Id="R59e346d5ba6d4081" /><Relationship Type="http://schemas.openxmlformats.org/officeDocument/2006/relationships/slide" Target="/ppt/slides/slide76.xml" Id="R742c652f14e44210" /><Relationship Type="http://schemas.openxmlformats.org/officeDocument/2006/relationships/slide" Target="/ppt/slides/slide77.xml" Id="Rddead9bad334408e" /><Relationship Type="http://schemas.openxmlformats.org/officeDocument/2006/relationships/slide" Target="/ppt/slides/slide78.xml" Id="R35dc26d3966e453f" /><Relationship Type="http://schemas.openxmlformats.org/officeDocument/2006/relationships/slide" Target="/ppt/slides/slide79.xml" Id="R33e1fedb29104309" /><Relationship Type="http://schemas.openxmlformats.org/officeDocument/2006/relationships/slide" Target="/ppt/slides/slide80.xml" Id="Rbefd1de78cd84e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dccfe205f146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09042a6b841ae" /><Relationship Type="http://schemas.openxmlformats.org/officeDocument/2006/relationships/notesMaster" Target="/ppt/notesMasters/notesMaster1.xml" Id="R6399029ed12e48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e8c06ba9664db0" /><Relationship Type="http://schemas.openxmlformats.org/officeDocument/2006/relationships/notesMaster" Target="/ppt/notesMasters/notesMaster1.xml" Id="Re12add8a409249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df344f521d4ab7" /><Relationship Type="http://schemas.openxmlformats.org/officeDocument/2006/relationships/notesMaster" Target="/ppt/notesMasters/notesMaster1.xml" Id="Rd5991f6404424d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c21af53b024d95" /><Relationship Type="http://schemas.openxmlformats.org/officeDocument/2006/relationships/notesMaster" Target="/ppt/notesMasters/notesMaster1.xml" Id="R937fbde77a074a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37859cc1614d50" /><Relationship Type="http://schemas.openxmlformats.org/officeDocument/2006/relationships/notesMaster" Target="/ppt/notesMasters/notesMaster1.xml" Id="R39bee8569a804c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04a4223d8d4f73" /><Relationship Type="http://schemas.openxmlformats.org/officeDocument/2006/relationships/notesMaster" Target="/ppt/notesMasters/notesMaster1.xml" Id="Rddbe417a449147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9bd922b44846e3" /><Relationship Type="http://schemas.openxmlformats.org/officeDocument/2006/relationships/notesMaster" Target="/ppt/notesMasters/notesMaster1.xml" Id="Rc815ddc00a8246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3ee527b3e14865" /><Relationship Type="http://schemas.openxmlformats.org/officeDocument/2006/relationships/notesMaster" Target="/ppt/notesMasters/notesMaster1.xml" Id="R34ad97e5f2304f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90672c87bf43c1" /><Relationship Type="http://schemas.openxmlformats.org/officeDocument/2006/relationships/notesMaster" Target="/ppt/notesMasters/notesMaster1.xml" Id="R6a12105f881440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5e05f71d90419c" /><Relationship Type="http://schemas.openxmlformats.org/officeDocument/2006/relationships/notesMaster" Target="/ppt/notesMasters/notesMaster1.xml" Id="Rd5d367466b3b48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cce686d3824d1a" /><Relationship Type="http://schemas.openxmlformats.org/officeDocument/2006/relationships/notesMaster" Target="/ppt/notesMasters/notesMaster1.xml" Id="Rc18f0fcc547148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a7fdf874134aec" /><Relationship Type="http://schemas.openxmlformats.org/officeDocument/2006/relationships/notesMaster" Target="/ppt/notesMasters/notesMaster1.xml" Id="R22edee600e2540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4aa456edec4d7d" /><Relationship Type="http://schemas.openxmlformats.org/officeDocument/2006/relationships/notesMaster" Target="/ppt/notesMasters/notesMaster1.xml" Id="R4ae33a5cbf7d4c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e248ed7c704fce" /><Relationship Type="http://schemas.openxmlformats.org/officeDocument/2006/relationships/notesMaster" Target="/ppt/notesMasters/notesMaster1.xml" Id="R55e758b777e345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1bc0311a694665" /><Relationship Type="http://schemas.openxmlformats.org/officeDocument/2006/relationships/notesMaster" Target="/ppt/notesMasters/notesMaster1.xml" Id="R83dd463a9b324c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b4cffaac8244e8" /><Relationship Type="http://schemas.openxmlformats.org/officeDocument/2006/relationships/notesMaster" Target="/ppt/notesMasters/notesMaster1.xml" Id="Redeb4bc4864a46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d4d0727e6a45fb" /><Relationship Type="http://schemas.openxmlformats.org/officeDocument/2006/relationships/notesMaster" Target="/ppt/notesMasters/notesMaster1.xml" Id="R83d2573bd81246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4a1d9d97e04481" /><Relationship Type="http://schemas.openxmlformats.org/officeDocument/2006/relationships/notesMaster" Target="/ppt/notesMasters/notesMaster1.xml" Id="R68c29265ed6347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7d4c8e932443de" /><Relationship Type="http://schemas.openxmlformats.org/officeDocument/2006/relationships/notesMaster" Target="/ppt/notesMasters/notesMaster1.xml" Id="R8bc8c637d73246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5330da2dc44bf9" /><Relationship Type="http://schemas.openxmlformats.org/officeDocument/2006/relationships/notesMaster" Target="/ppt/notesMasters/notesMaster1.xml" Id="Recf9782519744d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115fd564aa4c43" /><Relationship Type="http://schemas.openxmlformats.org/officeDocument/2006/relationships/notesMaster" Target="/ppt/notesMasters/notesMaster1.xml" Id="Rc34a82cb32124f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d6c98fa43d4363" /><Relationship Type="http://schemas.openxmlformats.org/officeDocument/2006/relationships/notesMaster" Target="/ppt/notesMasters/notesMaster1.xml" Id="R06a5c5e0701f48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d23dbcc9184ce1" /><Relationship Type="http://schemas.openxmlformats.org/officeDocument/2006/relationships/notesMaster" Target="/ppt/notesMasters/notesMaster1.xml" Id="R1373dbc8833440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ad98a488634439c" /><Relationship Type="http://schemas.openxmlformats.org/officeDocument/2006/relationships/notesMaster" Target="/ppt/notesMasters/notesMaster1.xml" Id="R6817c3638d6a43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c2131e8d4e4078" /><Relationship Type="http://schemas.openxmlformats.org/officeDocument/2006/relationships/notesMaster" Target="/ppt/notesMasters/notesMaster1.xml" Id="R703e0a24bb7a4bd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4593d40e8a4fa5" /><Relationship Type="http://schemas.openxmlformats.org/officeDocument/2006/relationships/notesMaster" Target="/ppt/notesMasters/notesMaster1.xml" Id="R0adaffd0af724ad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a3eb57ab744933" /><Relationship Type="http://schemas.openxmlformats.org/officeDocument/2006/relationships/notesMaster" Target="/ppt/notesMasters/notesMaster1.xml" Id="R509c837ab03c452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2aab724b84a4287" /><Relationship Type="http://schemas.openxmlformats.org/officeDocument/2006/relationships/notesMaster" Target="/ppt/notesMasters/notesMaster1.xml" Id="Rf25162d3b1c74a9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a3b5eef9e2a4769" /><Relationship Type="http://schemas.openxmlformats.org/officeDocument/2006/relationships/notesMaster" Target="/ppt/notesMasters/notesMaster1.xml" Id="Rb957e183003f416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5a46e298f344ec4" /><Relationship Type="http://schemas.openxmlformats.org/officeDocument/2006/relationships/notesMaster" Target="/ppt/notesMasters/notesMaster1.xml" Id="Rbbacd9307ecc4bf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55815ac8f24611" /><Relationship Type="http://schemas.openxmlformats.org/officeDocument/2006/relationships/notesMaster" Target="/ppt/notesMasters/notesMaster1.xml" Id="R3ab51b3bc47944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6bcd16a24b94465" /><Relationship Type="http://schemas.openxmlformats.org/officeDocument/2006/relationships/notesMaster" Target="/ppt/notesMasters/notesMaster1.xml" Id="Raf6d1ca7ce7c47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4423d96daba461c" /><Relationship Type="http://schemas.openxmlformats.org/officeDocument/2006/relationships/notesMaster" Target="/ppt/notesMasters/notesMaster1.xml" Id="R6d43e5fa00634e8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d83f617bc674594" /><Relationship Type="http://schemas.openxmlformats.org/officeDocument/2006/relationships/notesMaster" Target="/ppt/notesMasters/notesMaster1.xml" Id="R3a61ba06e5d2418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f9cb0f663e24c0a" /><Relationship Type="http://schemas.openxmlformats.org/officeDocument/2006/relationships/notesMaster" Target="/ppt/notesMasters/notesMaster1.xml" Id="Rb2e16cc5805e49c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c9f0beec77c4ad9" /><Relationship Type="http://schemas.openxmlformats.org/officeDocument/2006/relationships/notesMaster" Target="/ppt/notesMasters/notesMaster1.xml" Id="Rec96f8c09e7e4e3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47a3924a9cf4548" /><Relationship Type="http://schemas.openxmlformats.org/officeDocument/2006/relationships/notesMaster" Target="/ppt/notesMasters/notesMaster1.xml" Id="R89b20aed3b474a1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417e128b76247ca" /><Relationship Type="http://schemas.openxmlformats.org/officeDocument/2006/relationships/notesMaster" Target="/ppt/notesMasters/notesMaster1.xml" Id="R234dbd69c230444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60bc203c56e4e10" /><Relationship Type="http://schemas.openxmlformats.org/officeDocument/2006/relationships/notesMaster" Target="/ppt/notesMasters/notesMaster1.xml" Id="Raba7efb5e982401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df5e41c0bce4b3f" /><Relationship Type="http://schemas.openxmlformats.org/officeDocument/2006/relationships/notesMaster" Target="/ppt/notesMasters/notesMaster1.xml" Id="Ra813bddfcd0e455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0a3243324da4909" /><Relationship Type="http://schemas.openxmlformats.org/officeDocument/2006/relationships/notesMaster" Target="/ppt/notesMasters/notesMaster1.xml" Id="Rd8f00b6eb0e34a7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22acff24f394712" /><Relationship Type="http://schemas.openxmlformats.org/officeDocument/2006/relationships/notesMaster" Target="/ppt/notesMasters/notesMaster1.xml" Id="R6e5f9e64252f49d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445644227294da7" /><Relationship Type="http://schemas.openxmlformats.org/officeDocument/2006/relationships/notesMaster" Target="/ppt/notesMasters/notesMaster1.xml" Id="Ree373405d52a447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c61b17c2b9d49c0" /><Relationship Type="http://schemas.openxmlformats.org/officeDocument/2006/relationships/notesMaster" Target="/ppt/notesMasters/notesMaster1.xml" Id="R1d1b00b10baa42a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100598aadf44afc" /><Relationship Type="http://schemas.openxmlformats.org/officeDocument/2006/relationships/notesMaster" Target="/ppt/notesMasters/notesMaster1.xml" Id="R4da35036aa6b4ef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3156eb3f0a84fbe" /><Relationship Type="http://schemas.openxmlformats.org/officeDocument/2006/relationships/notesMaster" Target="/ppt/notesMasters/notesMaster1.xml" Id="R54c158628c804a3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682da5c53d04d9a" /><Relationship Type="http://schemas.openxmlformats.org/officeDocument/2006/relationships/notesMaster" Target="/ppt/notesMasters/notesMaster1.xml" Id="Rd24b0e65e9644ff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e9e0b211b4b42a8" /><Relationship Type="http://schemas.openxmlformats.org/officeDocument/2006/relationships/notesMaster" Target="/ppt/notesMasters/notesMaster1.xml" Id="R1918b356a2ec4a9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ae4f260085c44c4" /><Relationship Type="http://schemas.openxmlformats.org/officeDocument/2006/relationships/notesMaster" Target="/ppt/notesMasters/notesMaster1.xml" Id="R2d88049f5e2642b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34844da73df4d83" /><Relationship Type="http://schemas.openxmlformats.org/officeDocument/2006/relationships/notesMaster" Target="/ppt/notesMasters/notesMaster1.xml" Id="Rc29a804382db43c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428c8514a334d4a" /><Relationship Type="http://schemas.openxmlformats.org/officeDocument/2006/relationships/notesMaster" Target="/ppt/notesMasters/notesMaster1.xml" Id="Re4aed399aea241f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c627640645448b5" /><Relationship Type="http://schemas.openxmlformats.org/officeDocument/2006/relationships/notesMaster" Target="/ppt/notesMasters/notesMaster1.xml" Id="Rffa1d84541314e5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7e2ccc569534e93" /><Relationship Type="http://schemas.openxmlformats.org/officeDocument/2006/relationships/notesMaster" Target="/ppt/notesMasters/notesMaster1.xml" Id="R8d86a76dcd29457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33dffa4894c4516" /><Relationship Type="http://schemas.openxmlformats.org/officeDocument/2006/relationships/notesMaster" Target="/ppt/notesMasters/notesMaster1.xml" Id="Re37c7b2d07e442e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e825043754c4ab8" /><Relationship Type="http://schemas.openxmlformats.org/officeDocument/2006/relationships/notesMaster" Target="/ppt/notesMasters/notesMaster1.xml" Id="Rce9faa43f8ba460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e667846654242c1" /><Relationship Type="http://schemas.openxmlformats.org/officeDocument/2006/relationships/notesMaster" Target="/ppt/notesMasters/notesMaster1.xml" Id="R59394a71f68b46f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04ce495666e481f" /><Relationship Type="http://schemas.openxmlformats.org/officeDocument/2006/relationships/notesMaster" Target="/ppt/notesMasters/notesMaster1.xml" Id="R48eb75c4ddec43b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f9ad494c0f04363" /><Relationship Type="http://schemas.openxmlformats.org/officeDocument/2006/relationships/notesMaster" Target="/ppt/notesMasters/notesMaster1.xml" Id="R82ee2e75928c428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0f473d1925a4e8a" /><Relationship Type="http://schemas.openxmlformats.org/officeDocument/2006/relationships/notesMaster" Target="/ppt/notesMasters/notesMaster1.xml" Id="R98f29d0ad8b14b2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74ef253706348bf" /><Relationship Type="http://schemas.openxmlformats.org/officeDocument/2006/relationships/notesMaster" Target="/ppt/notesMasters/notesMaster1.xml" Id="R03e924d23d5845d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5af96352ad64510" /><Relationship Type="http://schemas.openxmlformats.org/officeDocument/2006/relationships/notesMaster" Target="/ppt/notesMasters/notesMaster1.xml" Id="R8cf3163d429144b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5dab0f71e6248f6" /><Relationship Type="http://schemas.openxmlformats.org/officeDocument/2006/relationships/notesMaster" Target="/ppt/notesMasters/notesMaster1.xml" Id="Rbf9fe759abbe41f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66b68a0f876473c" /><Relationship Type="http://schemas.openxmlformats.org/officeDocument/2006/relationships/notesMaster" Target="/ppt/notesMasters/notesMaster1.xml" Id="Rda2041235d5246f8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9504049a16d4836" /><Relationship Type="http://schemas.openxmlformats.org/officeDocument/2006/relationships/notesMaster" Target="/ppt/notesMasters/notesMaster1.xml" Id="Rf3a06d86ff49445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c151862af3a4259" /><Relationship Type="http://schemas.openxmlformats.org/officeDocument/2006/relationships/notesMaster" Target="/ppt/notesMasters/notesMaster1.xml" Id="R5b19e38a65d640c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064911655154c0e" /><Relationship Type="http://schemas.openxmlformats.org/officeDocument/2006/relationships/notesMaster" Target="/ppt/notesMasters/notesMaster1.xml" Id="Rf819bdac10414cf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09a07382fe64627" /><Relationship Type="http://schemas.openxmlformats.org/officeDocument/2006/relationships/notesMaster" Target="/ppt/notesMasters/notesMaster1.xml" Id="R1c7d3f5b8fad4a9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a87684b6622446c" /><Relationship Type="http://schemas.openxmlformats.org/officeDocument/2006/relationships/notesMaster" Target="/ppt/notesMasters/notesMaster1.xml" Id="Rda128c944ccf41b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bf6bb257364421b" /><Relationship Type="http://schemas.openxmlformats.org/officeDocument/2006/relationships/notesMaster" Target="/ppt/notesMasters/notesMaster1.xml" Id="Rb09d79864b79415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a632ba3dfc44c56" /><Relationship Type="http://schemas.openxmlformats.org/officeDocument/2006/relationships/notesMaster" Target="/ppt/notesMasters/notesMaster1.xml" Id="Rebf2125f70aa400e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2ae3fd5f7fc64271" /><Relationship Type="http://schemas.openxmlformats.org/officeDocument/2006/relationships/notesMaster" Target="/ppt/notesMasters/notesMaster1.xml" Id="Rfca78833570544b6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5879c38e0ee4139" /><Relationship Type="http://schemas.openxmlformats.org/officeDocument/2006/relationships/notesMaster" Target="/ppt/notesMasters/notesMaster1.xml" Id="R43fd82ae5d7f416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dfb07afe1994c57" /><Relationship Type="http://schemas.openxmlformats.org/officeDocument/2006/relationships/notesMaster" Target="/ppt/notesMasters/notesMaster1.xml" Id="R7f5b4799fb0b44a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4d2ed16a48d4c57" /><Relationship Type="http://schemas.openxmlformats.org/officeDocument/2006/relationships/notesMaster" Target="/ppt/notesMasters/notesMaster1.xml" Id="Rc8d3d19a62ed4d16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269b0e332c2412f" /><Relationship Type="http://schemas.openxmlformats.org/officeDocument/2006/relationships/notesMaster" Target="/ppt/notesMasters/notesMaster1.xml" Id="R9458633b64664ab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9f7c24479ee414f" /><Relationship Type="http://schemas.openxmlformats.org/officeDocument/2006/relationships/notesMaster" Target="/ppt/notesMasters/notesMaster1.xml" Id="R75bd725864c24d62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c5732b258494d9d" /><Relationship Type="http://schemas.openxmlformats.org/officeDocument/2006/relationships/notesMaster" Target="/ppt/notesMasters/notesMaster1.xml" Id="Rda9a3253c5194d8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cfa347b86f34605" /><Relationship Type="http://schemas.openxmlformats.org/officeDocument/2006/relationships/notesMaster" Target="/ppt/notesMasters/notesMaster1.xml" Id="R3ca8d381c2674f1d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6031a5a35d9c4a5c" /><Relationship Type="http://schemas.openxmlformats.org/officeDocument/2006/relationships/notesMaster" Target="/ppt/notesMasters/notesMaster1.xml" Id="R22f312f43ed4487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50b67206f8849fe" /><Relationship Type="http://schemas.openxmlformats.org/officeDocument/2006/relationships/notesMaster" Target="/ppt/notesMasters/notesMaster1.xml" Id="R4a404de6fe5e48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품질 개선. 도식이나 예시를 먼저 관찰한 뒤 수강생에게 결과 예측을 요청한다. 비교 · 순위 결합 · 실패 질의 · 실험 기록 · WEEK 05 · 2026.10.02 · 온라인 실시간 · 차성재 · 무신사 Core AI PM × AI 대학원 겸임교수.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오늘의 학습 목표. 도식이나 예시를 먼저 관찰한 뒤 수강생에게 결과 예측을 요청한다. 검색 방식 비교 · TF-IDF·BM25의 동작 차이 · 결합·재정렬 · 후보 생성과 순위 변경 구분 · 설정 선택 · 질의별 실패·비용·복잡도 함께 판단.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16주 로드맵 · 현재 주차. 도식이나 예시를 먼저 관찰한 뒤 수강생에게 결과 예측을 요청한다. 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수업 운영. 도식이나 예시를 먼저 관찰한 뒤 수강생에게 결과 예측을 요청한다. 주차 · 운영 · 01–03, 05, 07, 09–15 · 온라인 실시간 강의 · 04 · 09.25 · 추석 · 녹화영상 업로드 · 06 · 10.09 · 한글날 휴일 · 수업·영상·신규 과제 없음 · 08 · 10.23 · 중간고사 없음 · 기획서 온라인 제출·평가 · 16 · 12.18 · 온라인 실시간 프로젝트 발표.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100분 수업 구성. 도식이나 예시를 먼저 관찰한 뒤 수강생에게 결과 예측을 요청한다. 00–10분 · 4주차 질문·오늘의 목표 · 10–30분 · TF-IDF·BM25·의미 검색 · 30–45분 · RRF·재정렬·후보 수 · 45–50분 · 휴식·환경 점검 · 50–85분 · Notebook·질의별 실험 · 85–100분 · 과제 피드백·기획서.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4주차와 5주차. 도식이나 예시를 먼저 관찰한 뒤 수강생에게 결과 예측을 요청한다. W04 · 근거 확인 · 문서·날짜·권한·인용 · 찾은 자료를 믿을 수 있는지 · W05 · 검색 개선 · 검색 방식·질의 표현·평가 · 필요한 자료를 더 잘 찾는지.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02와 다음 일정. 도식이나 예시를 먼저 관찰한 뒤 수강생에게 결과 예측을 요청한다. 4주차 과제 02 · 10월 8일(목)까지 제출 · 6주차 10월 9일(금)은 휴일 · 수업·영상·새 과제 없음.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 질의의 출발점. 도식이나 예시를 먼저 관찰한 뒤 수강생에게 결과 예측을 요청한다. 질문: 돈은 언제 돌려줘요 · 문서 제목: 환불 처리 기간 · 문서가 있어도 사용자의 표현과 다르면 찾지 못할 수 있습니다..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표현 차이가 만든 검색 실패. 도식이나 예시를 먼저 관찰한 뒤 수강생에게 결과 예측을 요청한다. 합성 질의 “돈은 언제 돌려줘요” · 2026.09.29 공개 자료 · 검색과 답변을 따로 평가.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방식의 이해. 도식이나 예시를 먼저 관찰한 뒤 수강생에게 결과 예측을 요청한다. Sparse · 희소 표현 / Dense · 밀집 표현 · 모델 기반 의미 검색과 어휘 검색의 구분.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희소 표현과 밀집 표현. 도식이나 예시를 먼저 관찰한 뒤 수강생에게 결과 예측을 요청한다. 희소 표현 · sparse · 단어별 빈도·가중치 · BM25·TF-IDF 등 어휘 기반 · 밀집 표현 · dense · 학습된 벡터의 좌표 · 임베딩 모델·유사도 검색.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키워드 검색의 흐름. 도식이나 예시를 먼저 관찰한 뒤 수강생에게 결과 예측을 요청한다. 한국어 띄어쓰기·조사·동의어·업무 용어를 실패 질의로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한국어 토큰화 예시. 도식이나 예시를 먼저 관찰한 뒤 수강생에게 결과 예측을 요청한다. 반품 / 반품은 / 반품할 · 단어만 구분하면 서로 다른 표현 · 실습: 단어 + 2·3문자 n-gram · 형태소 분석기 아님.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단어와 문자 n-gram. 도식이나 예시를 먼저 관찰한 뒤 수강생에게 결과 예측을 요청한다. 단어만 · 단어 의미와 경계를 유지 · 조사·띄어쓰기 변화에 약함 · 문자 조각 추가 · 부분 표현의 공통점 활용 · 짧은 공통 조각이 잡음을 늘릴 수 있음.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TF-IDF · 단어 가중치. 도식이나 예시를 먼저 관찰한 뒤 수강생에게 결과 예측을 요청한다. Term Frequency–Inverse Document Frequency · 문서 내 빈도 × 역문서 빈도 · 실습: (1 + log tf) × [log((N+1)/(df+1)) + 1].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빈도와 구분력. 도식이나 예시를 먼저 관찰한 뒤 수강생에게 결과 예측을 요청한다. 설명용 N=10 고정 · 실습 smoothing 공식을 사용한 계산.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코사인 유사도. 도식이나 예시를 먼저 관찰한 뒤 수강생에게 결과 예측을 요청한다. 벡터 내적 / 두 벡터 길이의 곱 · 동일 방향: 1 · 직교: 0 · TF-IDF 벡터는 학습된 의미 임베딩이 아닙니다..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BM25의 동작. 도식이나 예시를 먼저 관찰한 뒤 수강생에게 결과 예측을 요청한다. 단어 빈도 포화 · 문서 길이 정규화 · 설정은 대표 질의에서 비교.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BM25 · 검색 점수. 도식이나 예시를 먼저 관찰한 뒤 수강생에게 결과 예측을 요청한다. Best Matching 25 · 어휘 기반 순위 함수 · 단어 빈도·희귀도·문서 길이를 함께 반영 · k1: 빈도 포화 / b: 길이 정규화.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빈도 포화의 효과. 도식이나 예시를 먼저 관찰한 뒤 수강생에게 결과 예측을 요청한다. 설명용 k1=1.5 · 길이 비율 1 고정 · 반복 빈도의 점수 증가 폭 감소.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길이의 효과. 도식이나 예시를 먼저 관찰한 뒤 수강생에게 결과 예측을 요청한다. 설명용 tf=2, k1=1.5, 평균 길이 100 · b=0과 0.75 비교.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BM25 설정. 도식이나 예시를 먼저 관찰한 뒤 수강생에게 결과 예측을 요청한다. 설정 · 의미 · 실습 기준 · k1 · 단어 빈도 포화 · 1.5 · b · 문서 길이 정규화 · 0.75 · 토큰화 · 일치할 표현의 단위 · 단어 + 한국어 n-gram · 필터 · 검색 대상 문서 · 권한·적용 날짜 먼저.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TF-IDF와 BM25. 도식이나 예시를 먼저 관찰한 뒤 수강생에게 결과 예측을 요청한다. TF-IDF + cosine · 정규화된 어휘 벡터 비교 · 간단한 기준 검색기 · BM25 · 빈도 포화·길이 보정 · 어휘 검색 기준선.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점수의 척도. 도식이나 예시를 먼저 관찰한 뒤 수강생에게 결과 예측을 요청한다. BM25 점수와 코사인 점수는 다른 척도입니다. · 두 raw score를 그대로 더하면 한 방식이 과도하게 지배할 수 있습니다..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문서의 서로 다른 점수. 도식이나 예시를 먼저 관찰한 뒤 수강생에게 결과 예측을 요청한다. 같은 합성 문서·질의·기본 설정의 예시 · 5.721과 0.289를 확률처럼 비교하지 않음.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 실습 · 실제 임베딩. 도식이나 예시를 먼저 관찰한 뒤 수강생에게 결과 예측을 요청한다. 자료 · 안전한 문서 · Ollama embed · 문서 벡터 · 질문 · 사용자 표현 · 같은 모델 · 코사인 검색.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기준선과 모델 검색. 도식이나 예시를 먼저 관찰한 뒤 수강생에게 결과 예측을 요청한다. 필수 기준선 · 작은 자료 · 빠른 실행 · 원리·실패·평가를 먼저 확인 · 선택 모델 검색 · 학습된 의미 임베딩 · 한국어 질의·모델 입력 제한 검증.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순위 결합과 재정렬. 도식이나 예시를 먼저 관찰한 뒤 수강생에게 결과 예측을 요청한다. 후보 생성 · 결합 · 재정렬을 분리 · 각 단계의 실패와 비용을 기록.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하이브리드 검색의 구조. 도식이나 예시를 먼저 관찰한 뒤 수강생에게 결과 예측을 요청한다. 운영 설계 예시 · 필수 실습은 BM25 + TF-IDF 두 어휘 검색기의 결합.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파이프라인. 도식이나 예시를 먼저 관찰한 뒤 수강생에게 결과 예측을 요청한다. 후보에 없는 정답은 재정렬로 복구할 수 없음.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RRF · 순위 역수 결합. 도식이나 예시를 먼저 관찰한 뒤 수강생에게 결과 예측을 요청한다. Reciprocal Rank Fusion · 문서 점수 = Σ 1 / (constant + rank) · 실습 constant=60 · 높은 순위와 여러 검색기의 공통 후보 반영.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https://cormack.uwaterloo.ca/cormacksigir09-rrf.pdf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RRF의 계산 예시. 도식이나 예시를 먼저 관찰한 뒤 수강생에게 결과 예측을 요청한다. A=1/61+1/63 · B=1/62+1/61 · C=1/63 · B가 가장 큰 값.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RRF 순위 계산 연습. 도식이나 예시를 먼저 관찰한 뒤 수강생에게 결과 예측을 요청한다. constant=60 · 같은 검색기 안 중복은 1회만 기여 · B &gt; A &gt; C.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점수 결합과 순위 결합. 도식이나 예시를 먼저 관찰한 뒤 수강생에게 결과 예측을 요청한다. 점수 결합 · 점수 척도·정규화·가중치 필요 · 후보 분포 변화에 민감 · RRF 순위 결합 · 점수 대신 순위를 사용 · 동점·중복·상수 설정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중복 후보의 처리. 도식이나 예시를 먼저 관찰한 뒤 수강생에게 결과 예측을 요청한다. 같은 검색 목록에서 문서가 중복되어도 기여는 한 번 · 같은 원문 조각과 같은 원문 문서는 서로 다른 식별 단위 · 평가는 문서 기준 중복 제거 후 계산.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후보 수와 정답 누락. 도식이나 예시를 먼저 관찰한 뒤 수강생에게 결과 예측을 요청한다. 단계별 수는 설계 예시 · 후보에 없던 문서는 다음 단계가 새로 만들지 않음.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재정렬 방식. 도식이나 예시를 먼저 관찰한 뒤 수강생에게 결과 예측을 요청한다. 규칙 기반 재정렬 · 질문 단어의 원문 포함 비율 · 가볍지만 의미·부정·예외에 한계 · 신경망 재정렬 · 질문과 후보를 함께 입력하는 모델 · 추론 시간·모델 평가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재정렬 효과와 한계. 도식이나 예시를 먼저 관찰한 뒤 수강생에게 결과 예측을 요청한다. 순위 변경과 새 근거 발견은 다른 작업입니다. · 첫 검색에서 정답이 누락되면 토큰화·확장·후보 수부터 확인합니다..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복합 질문의 검색. 도식이나 예시를 먼저 관찰한 뒤 수강생에게 결과 예측을 요청한다. 추가 검색 지연 · 잘못된 분해 · 전체 주장과 출처 연결도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단계별 Notebook 실습. 도식이나 예시를 먼저 관찰한 뒤 수강생에게 결과 예측을 요청한다. 01 어휘 검색 · 02 결합·재정렬 · 03 검색 실험 · 04 서비스·기획 연결.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파일 구성. 도식이나 예시를 먼저 관찰한 뒤 수강생에게 결과 예측을 요청한다. 노트북 · 핵심 실험 · 01_lexical_search · TF-IDF·BM25·토큰화 · 02_fusion_reranking · RRF·후보 수·규칙 재정렬 · 03_search_experiments · 변경 비교·실패 질의·확인 · 04_service_project · API·자기 자료·기획 요구사항.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실행과 기록. 도식이나 예시를 먼저 관찰한 뒤 수강생에게 결과 예측을 요청한다. 예측 · 결과를 보기 전 정답 문서·순위 예상 · 실행 · 셀 순서대로 실행 · 설정 하나 변경 · 해석 · 실패 질의·남은 한계·다음 확인 기록.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토큰 확인. 도식이나 예시를 먼저 관찰한 뒤 수강생에게 결과 예측을 요청한다. tokenize('반품은 수령 후 가능합니다', False) · tokenize('반품은 수령 후 가능합니다', True) · 단어·부분 조각이 실제 검색에 어떻게 사용되는지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검색 방식 비교. 도식이나 예시를 먼저 관찰한 뒤 수강생에게 결과 예측을 요청한다. 자료·질의·청킹·k를 고정하고 method만 변경.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길이 보정. 도식이나 예시를 먼저 관찰한 뒤 수강생에게 결과 예측을 요청한다. b만 바꿔 짧은 문서·긴 문서의 상대 점수 비교.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표현 실패. 도식이나 예시를 먼저 관찰한 뒤 수강생에게 결과 예측을 요청한다. 문서 용어: 환불 처리 기간 · 사용자 표현: 돈은 언제 돌려줘요 · 동의어 확장의 효과와 잘못된 확장 사례를 함께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후보 비교. 도식이나 예시를 먼저 관찰한 뒤 수강생에게 결과 예측을 요청한다. 같은 자료에 대한 두 어휘 기준선 비교 · 실제 모델 기반 dense 검색은 선택.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RRF 실행. 도식이나 예시를 먼저 관찰한 뒤 수강생에게 결과 예측을 요청한다. 중복 후보가 두 번 기여하지 않는지 assertion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constant 비교. 도식이나 예시를 먼저 관찰한 뒤 수강생에게 결과 예측을 요청한다. 1위와 5위 후보의 단일 기여값 · 상수 증가 시 순위 차이 완화.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재정렬 실행. 도식이나 예시를 먼저 관찰한 뒤 수강생에게 결과 예측을 요청한다. 원래 순위·재정렬 점수·새 순위를 같이 보관.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복합 질문. 도식이나 예시를 먼저 관찰한 뒤 수강생에게 결과 예측을 요청한다. 반품 배송비와 환불 처리 기간 · 단일 검색: 어떤 근거가 빠지는지 확인 · 분리 검색: 두 질문의 문서 ID를 각각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휴식과 설정 점검. 도식이나 예시를 먼저 관찰한 뒤 수강생에게 결과 예측을 요청한다. 5분 · 커널·포트·Notebook 확인 · 개발 질의만 사용 · 확인 질의는 선택 뒤 사용.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실험과 선택. 도식이나 예시를 먼저 관찰한 뒤 수강생에게 결과 예측을 요청한다. 변경 변수·데이터·지표·실패 사례 · 평균값과 위험·복잡도를 함께 비교.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03 · 기준 설정. 도식이나 예시를 먼저 관찰한 뒤 수강생에게 결과 예측을 요청한다. 기준 설정을 먼저 기록 · 개선 결과에 맞춰 기준을 바꾸지 않음.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03 · 변경 비교. 도식이나 예시를 먼저 관찰한 뒤 수강생에게 결과 예측을 요청한다. 개발 질의 8개 · 정답 문서가 있는 6개만 Recall·MRR 평균에 포함.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질의의 비교 결과. 도식이나 예시를 먼저 관찰한 뒤 수강생에게 결과 예측을 요청한다. 합성 개발 질의 8개 중 답 있는 6개 · 검색 회수 개선이 답변 보류 개선을 뜻하지 않음.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질의별 비교 기록. 도식이나 예시를 먼저 관찰한 뒤 수강생에게 결과 예측을 요청한다. 항목 · 기록 · 질의 · 질의 ID·사용자 표현·정답 문서 · 변경 · 변수 하나·이전 값·새 값 · 결과 · 검색 순위·누락·잘못된 발췌 · 판단 · 적용·보류·다음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Recall@k와 MRR@k. 도식이나 예시를 먼저 관찰한 뒤 수강생에게 결과 예측을 요청한다. Recall: 필요한 문서를 얼마나 찾았는가 · MRR: 첫 관련 문서가 얼마나 빨리 나왔는가 · 답 없는 질의: 올바른 보류율로 별도 집계.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 증가의 효과. 도식이나 예시를 먼저 관찰한 뒤 수강생에게 결과 예측을 요청한다. 같은 합성 개발 질의에서 k만 변경 · 비용·잡음 증가도 별도 고려.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평균 결과와 실패 질의. 도식이나 예시를 먼저 관찰한 뒤 수강생에게 결과 예측을 요청한다. 평균 결과 · 전체 변화의 요약 · 소수의 중요한 실패가 가려질 수 있음 · 질의별 상세 · 악화·누락·권한·날짜 확인 · 운영 위험과 수정 위치 설명.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응답 시간. 도식이나 예시를 먼저 관찰한 뒤 수강생에게 결과 예측을 요청한다. 이번 기기·작은 자료·모델 없는 검색 20회 · 운영 지연 보장 아님.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p95의 해석. 도식이나 예시를 먼저 관찰한 뒤 수강생에게 결과 예측을 요청한다. 95th percentile · 95백분위 응답 시간 · 실습: 20회 정렬 후 ceil(0.95 × 20)번째 값 · 자료 규모·기기·예열·동시 요청·모델 시간을 분리.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재현 가능한 실험 기록. 도식이나 예시를 먼저 관찰한 뒤 수강생에게 결과 예측을 요청한다. 자료 해시 + 코드 버전 + 설정 + 질의 세트 · 실행 시점·측정 범위·실패 사례 · 외부 모델 실험은 모델명·입력 제한·예열 상태 추가.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설정 선택과 확인. 도식이나 예시를 먼저 관찰한 뒤 수강생에게 결과 예측을 요청한다. 선택 · 개발 질의로 후보 비교 · 단순한 기준선과 비용도 검토 · 확인 · 선택 설정을 새 질의에서 확인 · 확인 뒤 수정하면 새 검증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실험실 · 평가 화면. 도식이나 예시를 먼저 관찰한 뒤 수강생에게 결과 예측을 요청한다. 실제 로컬 실행 화면 · 합성 자료 · 규칙 재정렬.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실험실 실행. 도식이나 예시를 먼저 관찰한 뒤 수강생에게 결과 예측을 요청한다. 브라우저 http://127.0.0.1:8005 · JSON 저장으로 실험 기록 보관.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04 · API 검증. 도식이나 예시를 먼저 관찰한 뒤 수강생에게 결과 예측을 요청한다. TestClient로 health·검색 요청 확인 · 빈 질문·잘못된 overlap·미허용 role → HTTP 422 · 프로세스 내 테스트와 실제 네트워크 테스트 구분.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자기 서비스 자료 적용. 도식이나 예시를 먼저 관찰한 뒤 수강생에게 결과 예측을 요청한다. 학생 연락처·실제 내부 자료·API 키를 공개 저장소에 넣지 않음.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글쓰기 개선 서비스 예시. 도식이나 예시를 먼저 관찰한 뒤 수강생에게 결과 예측을 요청한다. 서론·본론1·본론2·결론 분리 · 구조·근거·유창성·이해도 별도 평가.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글쓰기 평가 기준의 분리. 도식이나 예시를 먼저 관찰한 뒤 수강생에게 결과 예측을 요청한다. 평가 항목 · 검토 · 구조 · 서론·본론1·본론2·결론의 역할 · 논증 · 주장1·2 각각의 근거·연결 · 유창성 · 문장 연결·표현 명료성 · 이해도 · 주제·주장·근거 관계 설명.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 있는 개선 피드백. 도식이나 예시를 먼저 관찰한 뒤 수강생에게 결과 예측을 요청한다. 키워드 유무만으로 이해도를 자동 판정하지 않음 · 사람의 검토·수정 경로.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8주차 기획서 제출. 도식이나 예시를 먼저 관찰한 뒤 수강생에게 결과 예측을 요청한다. 구분 · 구성·제출 · 아주대AI대학원 · 2–4인 자율 팀 · 지원 URL · LMS 제출 · 군산대·국립창원대 등 · 개인 진행 가능 · 공지된 교수 이메일 제출 · 7주차 · 10.16 · 초안 먼저 제출 · 교수 피드백 후 수정 · 8주차 · 10.23 · 수정본 온라인 제출·평가 · 시험 없음 · 형식 · PPT·Word·PDF·HTML 가능 · 한글(HWP) 제외.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제출 구성. 도식이나 예시를 먼저 관찰한 뒤 수강생에게 결과 예측을 요청한다. 형식은 자유 · 시안·영상은 선택 · 중복 제출과 유료 도구 사용 불필요.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관점의 피드백. 도식이나 예시를 먼저 관찰한 뒤 수강생에게 결과 예측을 요청한다. UX · User Experience · 사용자 경험.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아이디어 예시. 도식이나 예시를 먼저 관찰한 뒤 수강생에게 결과 예측을 요청한다. 글쓰기 코치 · 구조·논증·피드백 · 업무 지식 검색 · 버전·출처·보류 · 개발 지원 Agent · 도구 권한·실행 승인 · 리서치 보조 · 원출처·근거 비교.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리서치와 프로토타입 도구. 도식이나 예시를 먼저 관찰한 뒤 수강생에게 결과 예측을 요청한다. 목적 · 선택 도구·확인 · 자료 조사 · Gemini Deep Research · 원출처 재확인 · 코드·시안 · Codex / Claude Code · 실제 실행·오류 확인 · 디자인 · Figma 또는 HTML · 핵심 흐름과 실패 상태 · 데모 · 60–120초 권장 · 합성 자료·동작 범위 명시.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02 피드백 기준. 도식이나 예시를 먼저 관찰한 뒤 수강생에게 결과 예측을 요청한다. 재현 · Notebook Restart 후 Run All · 분석 · 개선·악화·보류 사례 설명 · 연결 · 평가 조건과 PRD 요구사항 일치.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자료와 실행 위치. 도식이나 예시를 먼저 관찰한 뒤 수강생에게 결과 예측을 요청한다. Stanford IR · RRF 원 논문 · Ollama 공식 문서 · week05/lab/notebooks · week05/lab/README.md · 과제 02 · 8주차 기획서 HTML.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https://nlp.stanford.edu/IR-book/html/htmledition/okapi-bm25-a-non-binary-model-1.html</a:t>
            </a:r>
          </a:p>
          <a:p xmlns:a="http://schemas.openxmlformats.org/drawingml/2006/main">
            <a:r>
              <a:t>- https://cormack.uwaterloo.ca/cormacksigir09-rrf.pdf</a:t>
            </a:r>
          </a:p>
          <a:p xmlns:a="http://schemas.openxmlformats.org/drawingml/2006/main">
            <a:r>
              <a:t>- https://docs.ollama.com/capabilities/thinking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6주차 휴일 운영. 도식이나 예시를 먼저 관찰한 뒤 수강생에게 결과 예측을 요청한다. 4주차 추석 녹화영상과 다른 운영 · 6주차 학습 내용은 7주차에 이어서 진행.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7주차 초안과 피드백. 도식이나 예시를 먼저 관찰한 뒤 수강생에게 결과 예측을 요청한다. 아주대 팀 LMS · 다른 학교 개인 공지 이메일 · PPT/Word/PDF/HTML 가능 · HWP 제외.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ea7dc09c541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83ee99ba284818" /><Relationship Type="http://schemas.openxmlformats.org/officeDocument/2006/relationships/slideLayout" Target="/ppt/slideLayouts/slideLayout1.xml" Id="Rbedd2d79aa384c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d2d79aa384c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ba387bb2c448e" /><Relationship Type="http://schemas.openxmlformats.org/officeDocument/2006/relationships/notesSlide" Target="/ppt/notesSlides/notesSlide1.xml" Id="R7c17fa30f0a64e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d6f7d7bc14d4a" /><Relationship Type="http://schemas.openxmlformats.org/officeDocument/2006/relationships/notesSlide" Target="/ppt/notesSlides/notesSlide2.xml" Id="Rd81e9f6cc23d4c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1c6d32756441a" /><Relationship Type="http://schemas.openxmlformats.org/officeDocument/2006/relationships/notesSlide" Target="/ppt/notesSlides/notesSlide3.xml" Id="R2f547f6837e145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c6bd741ed435e" /><Relationship Type="http://schemas.openxmlformats.org/officeDocument/2006/relationships/notesSlide" Target="/ppt/notesSlides/notesSlide4.xml" Id="Rb5c710a6453e47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83d2be36d48cb" /><Relationship Type="http://schemas.openxmlformats.org/officeDocument/2006/relationships/notesSlide" Target="/ppt/notesSlides/notesSlide5.xml" Id="R2a095ea1719042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8afa747274d97" /><Relationship Type="http://schemas.openxmlformats.org/officeDocument/2006/relationships/notesSlide" Target="/ppt/notesSlides/notesSlide6.xml" Id="Rbb968cddaed446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b7fc4d4749a0" /><Relationship Type="http://schemas.openxmlformats.org/officeDocument/2006/relationships/notesSlide" Target="/ppt/notesSlides/notesSlide7.xml" Id="R2a1cbe5c4a224a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d8007f38b48ef" /><Relationship Type="http://schemas.openxmlformats.org/officeDocument/2006/relationships/notesSlide" Target="/ppt/notesSlides/notesSlide8.xml" Id="R89ffd7f2c9fe4d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c0eb5ef574bc4" /><Relationship Type="http://schemas.openxmlformats.org/officeDocument/2006/relationships/notesSlide" Target="/ppt/notesSlides/notesSlide9.xml" Id="R8a9ecd8b5a8f45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c65bf478d42c7" /><Relationship Type="http://schemas.openxmlformats.org/officeDocument/2006/relationships/notesSlide" Target="/ppt/notesSlides/notesSlide10.xml" Id="R62bda47112e547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ba576872c4fca" /><Relationship Type="http://schemas.openxmlformats.org/officeDocument/2006/relationships/notesSlide" Target="/ppt/notesSlides/notesSlide11.xml" Id="R14b0a0921dde4a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a635fb8c14538" /><Relationship Type="http://schemas.openxmlformats.org/officeDocument/2006/relationships/notesSlide" Target="/ppt/notesSlides/notesSlide12.xml" Id="R7057305a593c46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f0646849a411c" /><Relationship Type="http://schemas.openxmlformats.org/officeDocument/2006/relationships/notesSlide" Target="/ppt/notesSlides/notesSlide13.xml" Id="R3e17ee08550548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3f127912c4973" /><Relationship Type="http://schemas.openxmlformats.org/officeDocument/2006/relationships/notesSlide" Target="/ppt/notesSlides/notesSlide14.xml" Id="Re61088a2d09443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8a8fb280e43a6" /><Relationship Type="http://schemas.openxmlformats.org/officeDocument/2006/relationships/notesSlide" Target="/ppt/notesSlides/notesSlide15.xml" Id="Ra53cf7c4148240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926090fc84290" /><Relationship Type="http://schemas.openxmlformats.org/officeDocument/2006/relationships/chart" Target="/ppt/slides/charts/chart1.xml" Id="Rfb76c8d338b7425c" /><Relationship Type="http://schemas.openxmlformats.org/officeDocument/2006/relationships/notesSlide" Target="/ppt/notesSlides/notesSlide16.xml" Id="R0d0feb0ae66648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8e308a9714b09" /><Relationship Type="http://schemas.openxmlformats.org/officeDocument/2006/relationships/notesSlide" Target="/ppt/notesSlides/notesSlide17.xml" Id="R18a9d11ae76546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e17edacfd470b" /><Relationship Type="http://schemas.openxmlformats.org/officeDocument/2006/relationships/notesSlide" Target="/ppt/notesSlides/notesSlide18.xml" Id="R5f2dce41d74f4da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5c5024c084bce" /><Relationship Type="http://schemas.openxmlformats.org/officeDocument/2006/relationships/notesSlide" Target="/ppt/notesSlides/notesSlide19.xml" Id="R0bbfe6f97cd346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df6dc91e44227" /><Relationship Type="http://schemas.openxmlformats.org/officeDocument/2006/relationships/chart" Target="/ppt/slides/charts/chart2.xml" Id="R1301b313b8c44344" /><Relationship Type="http://schemas.openxmlformats.org/officeDocument/2006/relationships/notesSlide" Target="/ppt/notesSlides/notesSlide20.xml" Id="Rd8e9f527b1e042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96fd97a054dd4" /><Relationship Type="http://schemas.openxmlformats.org/officeDocument/2006/relationships/chart" Target="/ppt/slides/charts/chart3.xml" Id="Rf452bb6db1c5457b" /><Relationship Type="http://schemas.openxmlformats.org/officeDocument/2006/relationships/notesSlide" Target="/ppt/notesSlides/notesSlide21.xml" Id="R18efcd27dcd14a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f31281aaf45d7" /><Relationship Type="http://schemas.openxmlformats.org/officeDocument/2006/relationships/notesSlide" Target="/ppt/notesSlides/notesSlide22.xml" Id="R03ab7b845a0e4b6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979f6fada46bc" /><Relationship Type="http://schemas.openxmlformats.org/officeDocument/2006/relationships/notesSlide" Target="/ppt/notesSlides/notesSlide23.xml" Id="R213aa07b040f48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e4bbb80af4738" /><Relationship Type="http://schemas.openxmlformats.org/officeDocument/2006/relationships/notesSlide" Target="/ppt/notesSlides/notesSlide24.xml" Id="R7e01cec2049c4bd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126365ee4cc4" /><Relationship Type="http://schemas.openxmlformats.org/officeDocument/2006/relationships/notesSlide" Target="/ppt/notesSlides/notesSlide25.xml" Id="Re0e0adb544ef445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9e67b597043bf" /><Relationship Type="http://schemas.openxmlformats.org/officeDocument/2006/relationships/notesSlide" Target="/ppt/notesSlides/notesSlide26.xml" Id="R69d2ef0b405b43c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94f06450f46ce" /><Relationship Type="http://schemas.openxmlformats.org/officeDocument/2006/relationships/notesSlide" Target="/ppt/notesSlides/notesSlide27.xml" Id="R08c6273681d449d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bdc5a356b4194" /><Relationship Type="http://schemas.openxmlformats.org/officeDocument/2006/relationships/notesSlide" Target="/ppt/notesSlides/notesSlide28.xml" Id="Ra4753ec038d94e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f95f60b614fff" /><Relationship Type="http://schemas.openxmlformats.org/officeDocument/2006/relationships/notesSlide" Target="/ppt/notesSlides/notesSlide29.xml" Id="R8d347d6e95894e1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fe63411304dd4" /><Relationship Type="http://schemas.openxmlformats.org/officeDocument/2006/relationships/notesSlide" Target="/ppt/notesSlides/notesSlide30.xml" Id="Rd3b63c966d484be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7d8a83c25496b" /><Relationship Type="http://schemas.openxmlformats.org/officeDocument/2006/relationships/notesSlide" Target="/ppt/notesSlides/notesSlide31.xml" Id="Rf27dab877f664dd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7e7dc59174c0c" /><Relationship Type="http://schemas.openxmlformats.org/officeDocument/2006/relationships/notesSlide" Target="/ppt/notesSlides/notesSlide32.xml" Id="R7fb557d54243424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62f56af664a05" /><Relationship Type="http://schemas.openxmlformats.org/officeDocument/2006/relationships/notesSlide" Target="/ppt/notesSlides/notesSlide33.xml" Id="R903ee0f152854f9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de863e0034ca7" /><Relationship Type="http://schemas.openxmlformats.org/officeDocument/2006/relationships/notesSlide" Target="/ppt/notesSlides/notesSlide34.xml" Id="Rb373876ae71f4a3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ff522b53040d3" /><Relationship Type="http://schemas.openxmlformats.org/officeDocument/2006/relationships/notesSlide" Target="/ppt/notesSlides/notesSlide35.xml" Id="Rd2cc33d74e4847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55b77ac3c479a" /><Relationship Type="http://schemas.openxmlformats.org/officeDocument/2006/relationships/notesSlide" Target="/ppt/notesSlides/notesSlide36.xml" Id="R7f0017e9ac7e462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d102ec8ed4a7e" /><Relationship Type="http://schemas.openxmlformats.org/officeDocument/2006/relationships/notesSlide" Target="/ppt/notesSlides/notesSlide37.xml" Id="Ra3355418783049a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20c55e683490a" /><Relationship Type="http://schemas.openxmlformats.org/officeDocument/2006/relationships/notesSlide" Target="/ppt/notesSlides/notesSlide38.xml" Id="R26ddff6de8c0433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fc90b5a1f44b3" /><Relationship Type="http://schemas.openxmlformats.org/officeDocument/2006/relationships/notesSlide" Target="/ppt/notesSlides/notesSlide39.xml" Id="R6717ad226db042a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0bab2832c436f" /><Relationship Type="http://schemas.openxmlformats.org/officeDocument/2006/relationships/notesSlide" Target="/ppt/notesSlides/notesSlide40.xml" Id="Rce78ebc158b84b6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04161c0cb4d79" /><Relationship Type="http://schemas.openxmlformats.org/officeDocument/2006/relationships/notesSlide" Target="/ppt/notesSlides/notesSlide41.xml" Id="R212eb2acd8844d2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b6ae467f64ab9" /><Relationship Type="http://schemas.openxmlformats.org/officeDocument/2006/relationships/notesSlide" Target="/ppt/notesSlides/notesSlide42.xml" Id="R95df4efd4e0a419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b0d7cdc4a465a" /><Relationship Type="http://schemas.openxmlformats.org/officeDocument/2006/relationships/notesSlide" Target="/ppt/notesSlides/notesSlide43.xml" Id="Rbf47cfaf54694bc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15e3041f948c6" /><Relationship Type="http://schemas.openxmlformats.org/officeDocument/2006/relationships/notesSlide" Target="/ppt/notesSlides/notesSlide44.xml" Id="R81500178a976481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df2b568b34fdb" /><Relationship Type="http://schemas.openxmlformats.org/officeDocument/2006/relationships/chart" Target="/ppt/slides/charts/chart4.xml" Id="Rfbee78e71e2449b8" /><Relationship Type="http://schemas.openxmlformats.org/officeDocument/2006/relationships/notesSlide" Target="/ppt/notesSlides/notesSlide45.xml" Id="R1eb506d16cbe4cd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555c9167a441b" /><Relationship Type="http://schemas.openxmlformats.org/officeDocument/2006/relationships/notesSlide" Target="/ppt/notesSlides/notesSlide46.xml" Id="R8d43cbb92770439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d7bb9ba4f4e66" /><Relationship Type="http://schemas.openxmlformats.org/officeDocument/2006/relationships/notesSlide" Target="/ppt/notesSlides/notesSlide47.xml" Id="R2d4173b26a2c439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24de9ca144bd3" /><Relationship Type="http://schemas.openxmlformats.org/officeDocument/2006/relationships/notesSlide" Target="/ppt/notesSlides/notesSlide48.xml" Id="R99b432d26e8245f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3499f0a8e44af" /><Relationship Type="http://schemas.openxmlformats.org/officeDocument/2006/relationships/chart" Target="/ppt/slides/charts/chart5.xml" Id="R5a78e812bd684e7c" /><Relationship Type="http://schemas.openxmlformats.org/officeDocument/2006/relationships/notesSlide" Target="/ppt/notesSlides/notesSlide49.xml" Id="R5361d83a19c6498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be14c9fcd40f8" /><Relationship Type="http://schemas.openxmlformats.org/officeDocument/2006/relationships/notesSlide" Target="/ppt/notesSlides/notesSlide50.xml" Id="R1677933ad7184d8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62b6f15264478" /><Relationship Type="http://schemas.openxmlformats.org/officeDocument/2006/relationships/notesSlide" Target="/ppt/notesSlides/notesSlide51.xml" Id="R01fb363d83d54b1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713ef6e3b4beb" /><Relationship Type="http://schemas.openxmlformats.org/officeDocument/2006/relationships/notesSlide" Target="/ppt/notesSlides/notesSlide52.xml" Id="Re412cf1699dd444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09da3260c4e17" /><Relationship Type="http://schemas.openxmlformats.org/officeDocument/2006/relationships/notesSlide" Target="/ppt/notesSlides/notesSlide53.xml" Id="Ra1afa405c6bd406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a779952744a80" /><Relationship Type="http://schemas.openxmlformats.org/officeDocument/2006/relationships/notesSlide" Target="/ppt/notesSlides/notesSlide54.xml" Id="Re435beb58c5a42d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52c55c55d4d9e" /><Relationship Type="http://schemas.openxmlformats.org/officeDocument/2006/relationships/chart" Target="/ppt/slides/charts/chart6.xml" Id="R357ec4bf8f4d4d0a" /><Relationship Type="http://schemas.openxmlformats.org/officeDocument/2006/relationships/notesSlide" Target="/ppt/notesSlides/notesSlide55.xml" Id="R26e2bca3f6454e8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37f45fc514039" /><Relationship Type="http://schemas.openxmlformats.org/officeDocument/2006/relationships/notesSlide" Target="/ppt/notesSlides/notesSlide56.xml" Id="R1174d87f3285424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9ab319db34460" /><Relationship Type="http://schemas.openxmlformats.org/officeDocument/2006/relationships/notesSlide" Target="/ppt/notesSlides/notesSlide57.xml" Id="R5db75b073de24f3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3cddc08944d0c" /><Relationship Type="http://schemas.openxmlformats.org/officeDocument/2006/relationships/notesSlide" Target="/ppt/notesSlides/notesSlide58.xml" Id="R05ebd398c252490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7e870b4a940a0" /><Relationship Type="http://schemas.openxmlformats.org/officeDocument/2006/relationships/chart" Target="/ppt/slides/charts/chart7.xml" Id="R3353c22f31b8411a" /><Relationship Type="http://schemas.openxmlformats.org/officeDocument/2006/relationships/notesSlide" Target="/ppt/notesSlides/notesSlide59.xml" Id="R45731e9a61ef402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a33ba6086435c" /><Relationship Type="http://schemas.openxmlformats.org/officeDocument/2006/relationships/notesSlide" Target="/ppt/notesSlides/notesSlide60.xml" Id="Ra9e60ac5c17f4e3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532e48cc84851" /><Relationship Type="http://schemas.openxmlformats.org/officeDocument/2006/relationships/chart" Target="/ppt/slides/charts/chart8.xml" Id="R81de462fd60b42f6" /><Relationship Type="http://schemas.openxmlformats.org/officeDocument/2006/relationships/notesSlide" Target="/ppt/notesSlides/notesSlide61.xml" Id="R1f04470b8da045d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730241632483c" /><Relationship Type="http://schemas.openxmlformats.org/officeDocument/2006/relationships/notesSlide" Target="/ppt/notesSlides/notesSlide62.xml" Id="Rc309ae5f62a34bb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19db544294c9e" /><Relationship Type="http://schemas.openxmlformats.org/officeDocument/2006/relationships/notesSlide" Target="/ppt/notesSlides/notesSlide63.xml" Id="R1b1651ddc0ce4eb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6ca20f5534c61" /><Relationship Type="http://schemas.openxmlformats.org/officeDocument/2006/relationships/notesSlide" Target="/ppt/notesSlides/notesSlide64.xml" Id="R53ddb49015244bf3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ce4363d6849f5" /><Relationship Type="http://schemas.openxmlformats.org/officeDocument/2006/relationships/image" Target="/ppt/media/image.jpeg" Id="Rc10b20b0ee344c24" /><Relationship Type="http://schemas.openxmlformats.org/officeDocument/2006/relationships/notesSlide" Target="/ppt/notesSlides/notesSlide65.xml" Id="R02c51b7608e0436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95863a112428d" /><Relationship Type="http://schemas.openxmlformats.org/officeDocument/2006/relationships/notesSlide" Target="/ppt/notesSlides/notesSlide66.xml" Id="R8c8ba006fbaa476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c895789a64d23" /><Relationship Type="http://schemas.openxmlformats.org/officeDocument/2006/relationships/notesSlide" Target="/ppt/notesSlides/notesSlide67.xml" Id="Rc6022d9d1f544b25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22b61bdbf4a99" /><Relationship Type="http://schemas.openxmlformats.org/officeDocument/2006/relationships/notesSlide" Target="/ppt/notesSlides/notesSlide68.xml" Id="R19d577f9b84b4977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54abc5f0042fc" /><Relationship Type="http://schemas.openxmlformats.org/officeDocument/2006/relationships/notesSlide" Target="/ppt/notesSlides/notesSlide69.xml" Id="Rceac98f568694fd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3e3f169ba409f" /><Relationship Type="http://schemas.openxmlformats.org/officeDocument/2006/relationships/notesSlide" Target="/ppt/notesSlides/notesSlide70.xml" Id="R9c59716bbfe04d4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e6c3472e448d2" /><Relationship Type="http://schemas.openxmlformats.org/officeDocument/2006/relationships/notesSlide" Target="/ppt/notesSlides/notesSlide71.xml" Id="R783785ca3e894b5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dc3f5921e4256" /><Relationship Type="http://schemas.openxmlformats.org/officeDocument/2006/relationships/notesSlide" Target="/ppt/notesSlides/notesSlide72.xml" Id="R66c32940b21644cb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ed7e92354476e" /><Relationship Type="http://schemas.openxmlformats.org/officeDocument/2006/relationships/notesSlide" Target="/ppt/notesSlides/notesSlide73.xml" Id="Re733c08933f349f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a388f18924eae" /><Relationship Type="http://schemas.openxmlformats.org/officeDocument/2006/relationships/notesSlide" Target="/ppt/notesSlides/notesSlide74.xml" Id="R29c0230366b24ab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6f9ebb1db453c" /><Relationship Type="http://schemas.openxmlformats.org/officeDocument/2006/relationships/notesSlide" Target="/ppt/notesSlides/notesSlide75.xml" Id="Ra58f264f062b4a5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ed431982947a2" /><Relationship Type="http://schemas.openxmlformats.org/officeDocument/2006/relationships/notesSlide" Target="/ppt/notesSlides/notesSlide76.xml" Id="Rc680b4f83c824e2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d4fef1c364131" /><Relationship Type="http://schemas.openxmlformats.org/officeDocument/2006/relationships/notesSlide" Target="/ppt/notesSlides/notesSlide77.xml" Id="R084503af16bb4e0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98cc6f0d14abe" /><Relationship Type="http://schemas.openxmlformats.org/officeDocument/2006/relationships/notesSlide" Target="/ppt/notesSlides/notesSlide78.xml" Id="Rff95b432ad124b72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041e50fd941b5" /><Relationship Type="http://schemas.openxmlformats.org/officeDocument/2006/relationships/notesSlide" Target="/ppt/notesSlides/notesSlide79.xml" Id="R5364703a60874c95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4eb9d6b234ef4" /><Relationship Type="http://schemas.openxmlformats.org/officeDocument/2006/relationships/notesSlide" Target="/ppt/notesSlides/notesSlide80.xml" Id="R99835de0fb6647a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IDF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2.704748</c:v>
                </c:pt>
                <c:pt idx="1">
                  <c:v>2.299283</c:v>
                </c:pt>
                <c:pt idx="2">
                  <c:v>1.788457</c:v>
                </c:pt>
                <c:pt idx="3">
                  <c:v>1.451985</c:v>
                </c:pt>
                <c:pt idx="4">
                  <c:v>1.200671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빈도 기여값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</c:v>
                </c:pt>
                <c:pt idx="1">
                  <c:v>1.428571</c:v>
                </c:pt>
                <c:pt idx="2">
                  <c:v>1.818182</c:v>
                </c:pt>
                <c:pt idx="3">
                  <c:v>2.105263</c:v>
                </c:pt>
                <c:pt idx="4">
                  <c:v>2.285714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b=0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marker>
            <c:symbol val="none"/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1.428571</c:v>
                </c:pt>
                <c:pt idx="1">
                  <c:v>1.428571</c:v>
                </c:pt>
                <c:pt idx="2">
                  <c:v>1.428571</c:v>
                </c:pt>
              </c:numCache>
            </c:numRef>
          </c:val>
          <c:smooth val="0"/>
        </c:ser>
        <c:ser>
          <c:idx val="1"/>
          <c:order val="1"/>
          <c:tx>
            <c:v>b=0.75</c:v>
          </c:tx>
          <c:spPr>
            <a:solidFill xmlns:a="http://schemas.openxmlformats.org/drawingml/2006/main">
              <a:srgbClr val="102747"/>
            </a:solidFill>
            <a:ln xmlns:a="http://schemas.openxmlformats.org/drawingml/2006/main" w="19050">
              <a:solidFill>
                <a:srgbClr val="102747"/>
              </a:solidFill>
            </a:ln>
          </c:spPr>
          <c:marker>
            <c:symbol val="none"/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1.702128</c:v>
                </c:pt>
                <c:pt idx="1">
                  <c:v>1.428571</c:v>
                </c:pt>
                <c:pt idx="2">
                  <c:v>1.081081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36174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b=0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marker>
            <c:symbol val="none"/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1.428571</c:v>
                </c:pt>
                <c:pt idx="1">
                  <c:v>1.428571</c:v>
                </c:pt>
                <c:pt idx="2">
                  <c:v>1.428571</c:v>
                </c:pt>
              </c:numCache>
            </c:numRef>
          </c:val>
          <c:smooth val="0"/>
        </c:ser>
        <c:ser>
          <c:idx val="1"/>
          <c:order val="1"/>
          <c:tx>
            <c:v>b=0.75</c:v>
          </c:tx>
          <c:spPr>
            <a:solidFill xmlns:a="http://schemas.openxmlformats.org/drawingml/2006/main">
              <a:srgbClr val="102747"/>
            </a:solidFill>
            <a:ln xmlns:a="http://schemas.openxmlformats.org/drawingml/2006/main" w="19050">
              <a:solidFill>
                <a:srgbClr val="102747"/>
              </a:solidFill>
            </a:ln>
          </c:spPr>
          <c:marker>
            <c:symbol val="none"/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1.702128</c:v>
                </c:pt>
                <c:pt idx="1">
                  <c:v>1.428571</c:v>
                </c:pt>
                <c:pt idx="2">
                  <c:v>1.081081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36174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1위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marker>
            <c:symbol val="none"/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30</c:v>
                </c:pt>
                <c:pt idx="3">
                  <c:v>60</c:v>
                </c:pt>
              </c:numCache>
            </c:num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0.5</c:v>
                </c:pt>
                <c:pt idx="1">
                  <c:v>0.090909</c:v>
                </c:pt>
                <c:pt idx="2">
                  <c:v>0.032258</c:v>
                </c:pt>
                <c:pt idx="3">
                  <c:v>0.016393</c:v>
                </c:pt>
              </c:numCache>
            </c:numRef>
          </c:val>
          <c:smooth val="0"/>
        </c:ser>
        <c:ser>
          <c:idx val="1"/>
          <c:order val="1"/>
          <c:tx>
            <c:v>5위</c:v>
          </c:tx>
          <c:spPr>
            <a:solidFill xmlns:a="http://schemas.openxmlformats.org/drawingml/2006/main">
              <a:srgbClr val="102747"/>
            </a:solidFill>
            <a:ln xmlns:a="http://schemas.openxmlformats.org/drawingml/2006/main" w="19050">
              <a:solidFill>
                <a:srgbClr val="102747"/>
              </a:solidFill>
            </a:ln>
          </c:spPr>
          <c:marker>
            <c:symbol val="none"/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30</c:v>
                </c:pt>
                <c:pt idx="3">
                  <c:v>60</c:v>
                </c:pt>
              </c:numCache>
            </c:num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0.166667</c:v>
                </c:pt>
                <c:pt idx="1">
                  <c:v>0.066667</c:v>
                </c:pt>
                <c:pt idx="2">
                  <c:v>0.028571</c:v>
                </c:pt>
                <c:pt idx="3">
                  <c:v>0.015385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36174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Recall@3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BM25</c:v>
                </c:pt>
                <c:pt idx="1">
                  <c:v>BM25+확장</c:v>
                </c:pt>
                <c:pt idx="2">
                  <c:v>TF-IDF</c:v>
                </c:pt>
                <c:pt idx="3">
                  <c:v>RRF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0.833333</c:v>
                </c:pt>
                <c:pt idx="1">
                  <c:v>1</c:v>
                </c:pt>
                <c:pt idx="2">
                  <c:v>0.833333</c:v>
                </c:pt>
                <c:pt idx="3">
                  <c:v>0.833333</c:v>
                </c:pt>
              </c:numCache>
            </c:numRef>
          </c:val>
        </c:ser>
        <c:ser>
          <c:idx val="1"/>
          <c:order val="1"/>
          <c:tx>
            <c:v>MRR@3</c:v>
          </c:tx>
          <c:spPr>
            <a:solidFill xmlns:a="http://schemas.openxmlformats.org/drawingml/2006/main">
              <a:srgbClr val="102747"/>
            </a:solidFill>
            <a:ln xmlns:a="http://schemas.openxmlformats.org/drawingml/2006/main" w="19050">
              <a:solidFill>
                <a:srgbClr val="102747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BM25</c:v>
                </c:pt>
                <c:pt idx="1">
                  <c:v>BM25+확장</c:v>
                </c:pt>
                <c:pt idx="2">
                  <c:v>TF-IDF</c:v>
                </c:pt>
                <c:pt idx="3">
                  <c:v>RRF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0.833333</c:v>
                </c:pt>
                <c:pt idx="1">
                  <c:v>1</c:v>
                </c:pt>
                <c:pt idx="2">
                  <c:v>0.833333</c:v>
                </c:pt>
                <c:pt idx="3">
                  <c:v>0.833333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36174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k=1</c:v>
                </c:pt>
                <c:pt idx="1">
                  <c:v>k=3</c:v>
                </c:pt>
                <c:pt idx="2">
                  <c:v>k=5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0.833333</c:v>
                </c:pt>
                <c:pt idx="1">
                  <c:v>0.833333</c:v>
                </c:pt>
                <c:pt idx="2">
                  <c:v>0.833333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검색 시간 ms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</c:formatCode>
                <c:ptCount val="20"/>
                <c:pt idx="0">
                  <c:v>1.171542</c:v>
                </c:pt>
                <c:pt idx="1">
                  <c:v>0.494042</c:v>
                </c:pt>
                <c:pt idx="2">
                  <c:v>0.4365</c:v>
                </c:pt>
                <c:pt idx="3">
                  <c:v>0.426708</c:v>
                </c:pt>
                <c:pt idx="4">
                  <c:v>0.43925</c:v>
                </c:pt>
                <c:pt idx="5">
                  <c:v>0.408041</c:v>
                </c:pt>
                <c:pt idx="6">
                  <c:v>0.4085</c:v>
                </c:pt>
                <c:pt idx="7">
                  <c:v>0.418125</c:v>
                </c:pt>
                <c:pt idx="8">
                  <c:v>0.407833</c:v>
                </c:pt>
                <c:pt idx="9">
                  <c:v>0.417584</c:v>
                </c:pt>
                <c:pt idx="10">
                  <c:v>0.427208</c:v>
                </c:pt>
                <c:pt idx="11">
                  <c:v>0.440042</c:v>
                </c:pt>
                <c:pt idx="12">
                  <c:v>0.508541</c:v>
                </c:pt>
                <c:pt idx="13">
                  <c:v>0.467542</c:v>
                </c:pt>
                <c:pt idx="14">
                  <c:v>0.430167</c:v>
                </c:pt>
                <c:pt idx="15">
                  <c:v>0.413167</c:v>
                </c:pt>
                <c:pt idx="16">
                  <c:v>0.401333</c:v>
                </c:pt>
                <c:pt idx="17">
                  <c:v>0.418708</c:v>
                </c:pt>
                <c:pt idx="18">
                  <c:v>0.403792</c:v>
                </c:pt>
                <c:pt idx="19">
                  <c:v>0.400875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F031B-0173-49E8-963A-56E74900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LLMOPS / WEEK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2B667-5B25-429F-8ADC-0187C0BC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 품질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BC336-50DE-4936-AFA5-FB0A313A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B6535-7FAB-450B-A65E-04EA01F1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9DD37-AB48-4204-A371-BDE802D3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215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WEEK 05 · 2026.10.02 · 온라인 실시간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5FAC4-7CA9-4C0D-B7B7-4A4F43B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083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차성재 · 무신사 Core AI PM × AI 대학원 겸임교수</a:t>
            </a:r>
          </a:p>
        </p:txBody>
      </p:sp>
    </p:spTree>
    <p:extLst>
      <p:ext uri="{BB962C8B-B14F-4D97-AF65-F5344CB8AC3E}">
        <p14:creationId xmlns:p14="http://schemas.microsoft.com/office/powerpoint/2010/main" val="416896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421EE-C37B-41C2-9301-9F66B742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7D5A0-FACD-4A10-B59F-321C97F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7D372-6EEA-427B-BF5B-78635A9F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오늘의 학습 목표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E0388-766C-4A53-8AE0-0B7F3756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ECDF2-0233-4C42-8248-BB3903FD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6FB5E-0949-46A1-AA2C-04342292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9F2EF-2AFC-423E-9727-643DE64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방식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16966-4836-49CB-B4D8-2149C01F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TF-IDF·BM25의 동작 차이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3C9F8-BDB6-4E5F-B636-EDF6A9CD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67603-9F7C-4418-B73A-54EEF92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96F62-3AE0-4852-8524-6113F052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결합·재정렬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262CF-8FCF-418F-A1C0-4790F88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후보 생성과 순위 변경 구분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30760-175E-4AC6-99F1-718BF0C5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9DDC9-8A48-4772-9BCE-9200653F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CDC0E-956F-403C-9160-46354668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설정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E3D42-B818-440B-A05D-7E84E89E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질의별 실패·비용·복잡도 함께 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276AB-A11C-4CBC-A895-94896A9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3705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D83AD6-85B9-4C70-9AE3-A942529A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8D659-7D61-49D7-AC4D-063BB5B8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67015-0979-4AF5-87A1-AE769A38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16주 로드맵 · 현재 주차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0F420-D3D8-441D-8B11-59253501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1745C-0156-434E-B1A0-7126E519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39AE9-B7B7-45C4-A064-A564336E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DFEC5-26EF-4931-83F8-84F9E0D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02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09.04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C796A-39AF-425E-A367-724809C2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실행 추적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F660C-C9AE-4543-A5D5-C2FB8A96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7FDDC-287B-490E-8EF7-A027F874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193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09.11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1520B-6F10-4559-A900-8A19295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프롬프트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1A871-18B8-4E98-A3A1-9D4FDB0C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9834E-56EA-4FF9-BC96-024D3AEF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385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09.18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E3C35-7213-42DE-8304-8ADB633A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평가·오류 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64556-F6A5-40A5-A1A3-EA6CAF6B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FBF33-F3B2-4F6E-9252-1012D8D2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576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09.25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8FDE6-AE92-459D-89DA-F7CC2CB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RAG·근거 · 녹화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C3278-F5CD-430B-8333-D7BE300E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31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2C7D8-AE32-4A6D-ABEE-BB928A3F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EC4EC-43AF-409F-8B41-16821875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31EEE-7EE0-46EE-823C-51C00EC7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검색 품질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8ADC5-393F-4E76-B97E-3A3282C7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F755E-E79E-4BF0-974D-A3BC9A6C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02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B21E6-58CF-496C-A92D-47E0FCF6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휴일 · 수업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CDEDE-74C1-4B6A-9F68-69D77A60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C5A8C-4178-4B24-AF3C-C79F3B6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193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2D109-56A3-49CF-8AF2-C8A9BFD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강의 재개·초안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D75F8-C13C-42D0-9E71-E030D90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385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39CBA-D753-4584-96AD-8369E5C8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385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25C39-1B39-4177-82CA-6AD9C507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수정본 제출·평가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369858-CF2E-4BFB-B7F5-2087769E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09–15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B79270-4484-4A2C-A62D-1777F0E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576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10.30–12.11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9484DB-1F0E-4E81-A2EB-E5F0F3BC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구현·운영·프로젝트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C45887-D682-421A-9E5E-9CBE7F3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768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B34099-F402-4F00-A125-F30F339F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768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12.18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A8857F-E18E-4C3B-9EEA-1818B3D4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실시간 온라인 발표</a:t>
            </a:r>
          </a:p>
        </p:txBody>
      </p:sp>
    </p:spTree>
    <p:extLst>
      <p:ext uri="{BB962C8B-B14F-4D97-AF65-F5344CB8AC3E}">
        <p14:creationId xmlns:p14="http://schemas.microsoft.com/office/powerpoint/2010/main" val="999489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6F5AF-A1B2-41E9-B0D6-95BA1DA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815B8-8D6A-4A7D-9AE4-7698D1C4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4AA79-E08D-4FEB-93EE-5D5724EC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온라인 수업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A7642-F064-4413-83DB-10466F7C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FBC86-957B-4F8A-B2FE-96015648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742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주차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운영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01–03, 05, 07, 09–15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온라인 실시간 강의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04 · 09.25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추석 · 녹화영상 업로드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06 · 10.09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한글날 휴일 · 수업·영상·신규 과제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08 · 10.23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중간고사 없음 · 기획서 온라인 제출·평가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16 · 12.18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온라인 실시간 프로젝트 발표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236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A61F0-9706-460A-852A-DCEEE767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59F35-4D5F-49E4-A697-304A1E5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6AC0E-D387-44B9-A33D-80341F5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100분 수업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23AF0-4BD1-4623-988B-2EB5E16E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B5D4-D9F7-4806-9328-D634868C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E0B03-9101-4868-91EA-2C43C56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D5E1A-0E9C-41E3-BD5F-DFC89C6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00–10분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AFD9A-89BE-4770-A95B-C3E8D71B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4주차 질문·오늘의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A1C5A-D967-471E-8984-248C6F91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45582-8A08-49B0-AA30-60444119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962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25BDE-CC76-4B9F-AA5C-AD5AFACA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9057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10–30분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16CD1-8994-4C70-B820-C8DA387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9057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TF-IDF·BM25·의미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02730-BD59-4A7F-84F7-EE4CF102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281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8B39B-1043-47E0-B13A-187C8ABC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5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1E8AD-04FD-4265-904E-30A2CFF7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94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30–45분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B9D40-DB70-4D8E-8353-107C6015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94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RRF·재정렬·후보 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2DB6E-43C3-41F5-94BD-C95DB8FB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617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59645-5D2B-4EF5-B8AD-E0AD79DF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7466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78C3D-47C5-4220-BF32-28B09702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28416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45–50분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79AB5-6DB8-4B69-ADA0-02F63B22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28416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휴식·환경 점검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9C31B-063E-4D1F-837C-92B30D90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80663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3CBC8-61CF-4CFC-9B8D-6650CBA1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6388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85DC0-49FA-4901-A1DD-C196C46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7338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50–85분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647E5-9D10-42BF-8D84-F9731901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47338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Notebook·질의별 실험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8C2B1-7901-44E5-860E-AC66CD5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9958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D07DA-A859-4B57-9A51-309195C4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531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413B8-81E9-454E-B1FA-3A89AFCF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626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85–100분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BDA83E-013D-4F4C-9E91-B32CD458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6626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과제 피드백·기획서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ABE85-694D-48D7-9AB1-ACFD64CF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850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2693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0923F-90CD-4EB9-B25E-57E858DA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6B1A1-1995-4A32-B591-A58B9275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FAA52-B450-4467-ACF3-AC8DD158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4주차와 5주차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03371-D37D-4859-B1F2-303BE35F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084F8-0345-46CE-B09B-7C90A661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A8C7A-A09F-4459-AE5F-0FFC3076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W04 · 근거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8D342-1E5D-4A4B-9CF0-33D349D6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EA2E9-4B47-440B-8260-797D1795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문서·날짜·권한·인용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1892D-48E3-4E72-823E-0AE6493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찾은 자료를 믿을 수 있는지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7B071-23C5-40A3-AAE3-DF7C67DE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W05 · 검색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F17BF-30A3-4EAE-BCF0-F0A21A32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ECFAB-65EC-4CCA-8CE5-D4A76DED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검색 방식·질의 표현·평가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AFF6B-5101-4EC1-B922-D7EF5C23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필요한 자료를 더 잘 찾는지</a:t>
            </a:r>
          </a:p>
        </p:txBody>
      </p:sp>
    </p:spTree>
    <p:extLst>
      <p:ext uri="{BB962C8B-B14F-4D97-AF65-F5344CB8AC3E}">
        <p14:creationId xmlns:p14="http://schemas.microsoft.com/office/powerpoint/2010/main" val="675604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DDD1A-02C9-44E1-93FE-839591B6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4251E-DE5B-4668-A2F4-197A91BB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FA205-F030-4A1F-8835-6554B26D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과제 02와 다음 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DC492-722E-4B7B-BE35-E386A856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F51AC-223B-4F62-9D8B-2906FCC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0BEB7-590B-49E9-95F1-8C03AF5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5727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4주차 과제 02 · 10월 8일(목)까지 제출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405A4-C089-4679-8E4A-A47CD5B5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57275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6주차 10월 9일(금)은 휴일 · 수업·영상·새 과제 없음</a:t>
            </a:r>
          </a:p>
        </p:txBody>
      </p:sp>
    </p:spTree>
    <p:extLst>
      <p:ext uri="{BB962C8B-B14F-4D97-AF65-F5344CB8AC3E}">
        <p14:creationId xmlns:p14="http://schemas.microsoft.com/office/powerpoint/2010/main" val="18588285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C3232-3DFA-4BF2-934E-964E2955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B18BD-ABE9-40D5-AB29-542D7A8D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249E3-58F4-467E-8A59-8DC179CA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실패 질의의 출발점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0189E-FF37-4F20-8495-4A6A3D31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8EECC-F877-4179-A910-46B55E88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B06F6-2E15-42DA-84BA-D8C8B9ED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6CBEA-9B7E-4323-95EB-532BBE1B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질문: 돈은 언제 돌려줘요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91FDD-7FE5-4C5E-B971-FF10C61C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제목: 환불 처리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2BF4F-47C0-4218-A349-DCBAD1B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문서가 있어도 사용자의 표현과 다르면 찾지 못할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09779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DF223-5296-4BE7-96A3-9A7364E8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7600C-87E1-45D8-A696-7BFEF453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C0406-32C9-4461-81C3-1A885A4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표현 차이가 만든 검색 실패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89D7E-88E5-46F3-AEE8-17B68DA5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C192A-712F-479E-BBDE-C96DB15F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19380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3333750"/>
                <a:gridCol w="1866900"/>
                <a:gridCol w="18669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설정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첫 관련 문서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답변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읽을 점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729488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기본 BM25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검색되지 않음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표현이 다른</a:t>
                      </a:r>
                    </a:p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9488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동의어 확장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D03 · 1위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찾아도 발췌</a:t>
                      </a:r>
                    </a:p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조건 미충족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0F0DA-3C19-4FB9-ADA7-6BD3A92C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합성 질의 “돈은 언제 돌려줘요” · 2026.09.29 공개 자료 · 검색과 답변을 따로 평가</a:t>
            </a:r>
          </a:p>
        </p:txBody>
      </p:sp>
    </p:spTree>
    <p:extLst>
      <p:ext uri="{BB962C8B-B14F-4D97-AF65-F5344CB8AC3E}">
        <p14:creationId xmlns:p14="http://schemas.microsoft.com/office/powerpoint/2010/main" val="263518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43DB8-E31B-49F0-A1CC-01CEA042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26C22-0D2E-4E49-AF60-980207FA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 방식의 이해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38453-66C0-4804-ACF7-A58ED9AF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6C810-8CBE-4655-A558-A44FEF8D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Sparse · 희소 표현 / Dense · 밀집 표현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9E7AE-1D66-426F-9363-E79CAE60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모델 기반 의미 검색과 어휘 검색의 구분</a:t>
            </a:r>
          </a:p>
        </p:txBody>
      </p:sp>
    </p:spTree>
    <p:extLst>
      <p:ext uri="{BB962C8B-B14F-4D97-AF65-F5344CB8AC3E}">
        <p14:creationId xmlns:p14="http://schemas.microsoft.com/office/powerpoint/2010/main" val="14381326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92CC7-1367-4886-8F9E-B4A9491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37798-FA9D-461E-B3FF-990778D9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A57A9-A558-4AC5-B8A8-E5767668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희소 표현과 밀집 표현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58A04-9580-43AD-A4E7-45FF5FF1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AB60C-A326-4798-B6FD-D07A88E0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F85D2-DB30-4A09-A352-48CB42A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희소 표현 · sparse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EAD5F-D812-4E0F-9D3E-5998B8FC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689C4-49DA-4611-BAEE-7BF1631D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단어별 빈도·가중치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EC016-17B7-4292-85AD-C73E686A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BM25·TF-IDF 등 어휘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AAB6C-ADD4-43FC-B2B7-A6E99138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밀집 표현 · dense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577B2-E7F1-44A2-9A39-FA36CC56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0A81A-9964-433B-A8CA-9A55956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학습된 벡터의 좌표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B5A5C-EFAC-4D77-A7A0-408495BC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임베딩 모델·유사도 검색</a:t>
            </a:r>
          </a:p>
        </p:txBody>
      </p:sp>
    </p:spTree>
    <p:extLst>
      <p:ext uri="{BB962C8B-B14F-4D97-AF65-F5344CB8AC3E}">
        <p14:creationId xmlns:p14="http://schemas.microsoft.com/office/powerpoint/2010/main" val="3324158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48DA7-00D8-4F3F-ACB3-AA95B92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0F2B6-FEF4-419F-8C0C-C31E5A28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7D04C-8450-441C-BDA2-C81ACC5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키워드 검색의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B4750-894A-4477-A44A-EA5EE0F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5523D-886D-415F-B8C5-3EF3DE80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024E1-1567-4D86-84E2-A693E36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795A3-C8BB-48D7-A07C-5158D143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DBE6B-CA3D-4A9B-9692-F9A1C92E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텍스트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551D-7824-46D4-9222-33DA2A45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0F155-FC03-4F6A-B28B-8F4970ED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9B9BB-7BCB-479B-A7C4-3201BF18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토큰화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C8152-1E83-40A2-BEE1-7A14D57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6EDE7-D287-40F6-B892-68AE095C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472DB-7CCC-4BD5-B3FE-06AA3AFF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단어 가중치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36F16-DF35-4B0C-B6E5-F545ED97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3A5BA-B404-42E7-B022-46CBCCA7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A5A41-43D1-4925-9EBB-26EA2EFE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순위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14988-BF77-4385-BB9C-657D536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한국어 띄어쓰기·조사·동의어·업무 용어를 실패 질의로 확인</a:t>
            </a:r>
          </a:p>
        </p:txBody>
      </p:sp>
    </p:spTree>
    <p:extLst>
      <p:ext uri="{BB962C8B-B14F-4D97-AF65-F5344CB8AC3E}">
        <p14:creationId xmlns:p14="http://schemas.microsoft.com/office/powerpoint/2010/main" val="18952059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57F33-3A73-4E1B-BCFC-688E7A55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71BE9-2710-44DB-ACAE-CE4F50F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47225-7B36-4BE7-B77E-E9980C3A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한국어 토큰화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946F6-CC2A-4A04-A716-6234D39F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B779D-4E8D-4F13-A2FE-94468741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4915B-CA92-44F5-A1CD-16559335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A759E-A21F-45A4-9068-D8FFEBD2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반품 / 반품은 / 반품할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7C478-BE49-4268-BDE4-B9906D21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단어만 구분하면 서로 다른 표현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04035-CD84-4AE8-9B55-BD3A4C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실습: 단어 + 2·3문자 n-gram · 형태소 분석기 아님</a:t>
            </a:r>
          </a:p>
        </p:txBody>
      </p:sp>
    </p:spTree>
    <p:extLst>
      <p:ext uri="{BB962C8B-B14F-4D97-AF65-F5344CB8AC3E}">
        <p14:creationId xmlns:p14="http://schemas.microsoft.com/office/powerpoint/2010/main" val="1402907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652DA-2BDF-4C2B-8DBA-A6D9AC93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0DA83-7270-450E-A4CF-74AC5695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DE3B0-3F38-44E3-B543-886BFF7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단어와 문자 n-gram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5114B-6A58-432E-8C76-9639D357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0553B-99C3-4FF7-A6D3-0EEB7131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9F472-43F1-4A67-877C-2A5C5D14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단어만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33A80-5C0E-4BCC-9B57-F22E8542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1B7D8-CCC6-4E31-A7A4-CE00A45A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단어 의미와 경계를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6BDAF-BF1A-49AA-BE58-6DBDD8BE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조사·띄어쓰기 변화에 약함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73706-C39F-4067-949F-EB0EF202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문자 조각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A6BFF-7BAD-4164-83C4-69704743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24F4A-B319-41E8-9CF0-95A7F1C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부분 표현의 공통점 활용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C0C7D-9949-4AAF-9C25-5BA4CC94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짧은 공통 조각이 잡음을 늘릴 수 있음</a:t>
            </a:r>
          </a:p>
        </p:txBody>
      </p:sp>
    </p:spTree>
    <p:extLst>
      <p:ext uri="{BB962C8B-B14F-4D97-AF65-F5344CB8AC3E}">
        <p14:creationId xmlns:p14="http://schemas.microsoft.com/office/powerpoint/2010/main" val="13446412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1D319-2236-434D-AECC-825B9FAA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0708B-4980-41D0-A77B-5053C37E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53561-CEE7-41F7-AE82-791F4856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TF-IDF · 단어 가중치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65FCF-8305-4168-9C98-C1D2A7B3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97842-F850-4C24-99DC-7170293D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6636A-9837-451E-B9A9-F2841CDF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Term Frequency–Inverse Document Frequency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FFC72-3D56-4D63-B7AB-3978D75E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2CC2C-04B1-44F3-B69B-B89D82D2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내 빈도 × 역문서 빈도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4DB1B-0138-4340-9BD2-B6344C24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실습: (1 + log tf) × [log((N+1)/(df+1)) + 1]</a:t>
            </a:r>
          </a:p>
        </p:txBody>
      </p:sp>
    </p:spTree>
    <p:extLst>
      <p:ext uri="{BB962C8B-B14F-4D97-AF65-F5344CB8AC3E}">
        <p14:creationId xmlns:p14="http://schemas.microsoft.com/office/powerpoint/2010/main" val="1222085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95AE2-1FAF-46A5-8CE5-F4F9D0B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77BF0-DA13-4DBB-AC9F-A4817064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08B8B-74A0-43CD-B5B2-C603F552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 빈도와 구분력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B9F2C-A38C-434C-81D6-7E53C6B5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03C37-C64A-43F9-A8C5-6A64D86F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76c8d338b7425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9725C-E69D-401E-BA7D-52680B9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설명용 N=10 고정 · 실습 smoothing 공식을 사용한 계산</a:t>
            </a:r>
          </a:p>
        </p:txBody>
      </p:sp>
    </p:spTree>
    <p:extLst>
      <p:ext uri="{BB962C8B-B14F-4D97-AF65-F5344CB8AC3E}">
        <p14:creationId xmlns:p14="http://schemas.microsoft.com/office/powerpoint/2010/main" val="6339961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BCAEC-7C1A-4853-AA21-A4E972F4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651CF-E404-410C-BCE4-05C53307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32A1D-0F31-4BB3-89E6-D3DF0BC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코사인 유사도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DD321-0010-4165-83AF-682EC805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E5FAF-F190-4986-896B-31D47649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EAE4F-A0C1-4AB0-8B35-705A241D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벡터 내적 / 두 벡터 길이의 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BF980-F358-44BD-A7EB-6908D375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E13DB-3B10-42E3-8E67-E65AE46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동일 방향: 1 · 직교: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61562-6502-45C8-AF5B-47F10DF0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TF-IDF 벡터는 학습된 의미 임베딩이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339313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F1B65-2334-476E-BDDE-2510825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W05 /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B72B2-A78F-4AC8-AB97-FDF60B6E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BM25의 동작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5A906-6B9F-47A6-9596-6CE622D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3B52F-13A0-4F6D-935B-3BB301AF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단어 빈도 포화 · 문서 길이 정규화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40934-1345-4D37-BE90-3A056041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설정은 대표 질의에서 비교</a:t>
            </a:r>
          </a:p>
        </p:txBody>
      </p:sp>
    </p:spTree>
    <p:extLst>
      <p:ext uri="{BB962C8B-B14F-4D97-AF65-F5344CB8AC3E}">
        <p14:creationId xmlns:p14="http://schemas.microsoft.com/office/powerpoint/2010/main" val="7785774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8AB90-17FD-461F-90B3-6E994AA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E46D6-AD57-47CD-92F8-B2647BC1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72F73-9E62-468C-A907-01CFCCB0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BM25 · 검색 점수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03C94-D770-4F68-A447-9AC86726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6289D-F759-417B-A584-067648D2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BBA2E-AD75-4653-B1EC-687264B3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Best Matching 25 · 어휘 기반 순위 함수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E5E58-FF07-4E94-887E-64394043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C0851-DB7A-4AD6-A395-6D4EE421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단어 빈도·희귀도·문서 길이를 함께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17BC0-1B19-4880-8D02-DBBDA20A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k1: 빈도 포화 / b: 길이 정규화</a:t>
            </a:r>
          </a:p>
        </p:txBody>
      </p:sp>
    </p:spTree>
    <p:extLst>
      <p:ext uri="{BB962C8B-B14F-4D97-AF65-F5344CB8AC3E}">
        <p14:creationId xmlns:p14="http://schemas.microsoft.com/office/powerpoint/2010/main" val="651858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6A3F4-4140-4B70-9C32-5797C2CB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FBDC5-CC20-4BE6-B115-4C48CBC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120BA-0F72-4AA9-A709-6D8C05D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빈도 포화의 효과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4014C-7429-4CBA-97DD-7B701D7B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08FFE-5CCE-4798-9A92-07989042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01b313b8c4434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387EB-B706-4D70-9F87-2F367395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설명용 k1=1.5 · 길이 비율 1 고정 · 반복 빈도의 점수 증가 폭 감소</a:t>
            </a:r>
          </a:p>
        </p:txBody>
      </p:sp>
    </p:spTree>
    <p:extLst>
      <p:ext uri="{BB962C8B-B14F-4D97-AF65-F5344CB8AC3E}">
        <p14:creationId xmlns:p14="http://schemas.microsoft.com/office/powerpoint/2010/main" val="12847354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06A7F-EA87-4705-8152-028F0BF6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F1E54-9B59-4516-94C8-8F17D481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935C9-9019-4BC0-93C1-30FF67E4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 길이의 효과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C2704-4277-4C8A-BE93-A8D67A78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BB8AF-D273-47EF-A2E5-CD531EBB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52bb6db1c5457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8315E-9F5F-450F-A158-BEF4B417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설명용 tf=2, k1=1.5, 평균 길이 100 · b=0과 0.75 비교</a:t>
            </a:r>
          </a:p>
        </p:txBody>
      </p:sp>
    </p:spTree>
    <p:extLst>
      <p:ext uri="{BB962C8B-B14F-4D97-AF65-F5344CB8AC3E}">
        <p14:creationId xmlns:p14="http://schemas.microsoft.com/office/powerpoint/2010/main" val="7126035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BF696-0A05-4F81-8883-EBB1C1F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22679-91CD-4706-8C91-BDC8B05A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4431A-F491-412C-9461-F4BD4984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BM25 설정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A7E8F-19A7-4362-B520-24DF708C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16B68-07C7-4779-8D06-527D929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686300"/>
                <a:gridCol w="34290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설정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실습 기준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k1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단어 빈도 포화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문서 길이 정규화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토큰화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일치할 표현의 단위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단어 + 한국어 n-gram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대상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권한·적용 날짜 먼저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9967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9C5A2-3283-4E83-B3A0-0E0B1F8E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E8274-7FA7-4BC5-BA6A-09EB66A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1F58E-41F4-43C5-B47E-3C28C989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TF-IDF와 BM25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381CC-92FA-4612-8CD6-07A3BC4F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9176A-9CBB-4F60-AD11-F8E001A3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35C08-4C35-4FF7-9FF0-6C512E8E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TF-IDF + cosine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A7F6D-B6BB-4766-B9DF-D35040F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6FEEF-60C7-4A3B-8DF6-27BBDDF0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정규화된 어휘 벡터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70D44-5EAF-4025-B3D5-49FA9DF8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간단한 기준 검색기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DB353-3EA3-421D-989C-6CAC5290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BM25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8824A-AB92-4260-98D5-CD097645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E6F24-BFB4-44E1-B569-B7B56D73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빈도 포화·길이 보정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D140F-91BA-4B53-83CD-428373A3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어휘 검색 기준선</a:t>
            </a:r>
          </a:p>
        </p:txBody>
      </p:sp>
    </p:spTree>
    <p:extLst>
      <p:ext uri="{BB962C8B-B14F-4D97-AF65-F5344CB8AC3E}">
        <p14:creationId xmlns:p14="http://schemas.microsoft.com/office/powerpoint/2010/main" val="15106564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48081-B340-4632-9DAF-F9F7960C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5D2E1-0C8A-4C91-91CD-4AA8A433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F7676-581B-4255-AB58-BD504B17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점수의 척도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D1240-8F94-4E5F-A39D-0D0CAFCA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82742-9E13-4217-A2B8-AD433C19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69DC0-7C36-4DBF-96B3-EA5EF0BB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5727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BM25 점수와 코사인 점수는 다른 척도입니다.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5115D-B37E-45C1-B10C-DA0908BB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57275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두 raw score를 그대로 더하면 한 방식이 과도하게 지배할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099214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2481F-C839-4CB7-B1B0-5872B391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76CC1-DF04-4F28-93DE-9791B27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7D3B2-675F-45BD-8F4A-768FBC88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같은 문서의 서로 다른 점수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DE829-E9AC-4994-8906-57163DFF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F34CC-D549-4FEA-9AAC-70CA2F2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4170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3333750"/>
                <a:gridCol w="1866900"/>
                <a:gridCol w="18669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검색기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질의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D01 점수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해석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729488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상품 반품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5.721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해당 방식 안의</a:t>
                      </a:r>
                    </a:p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순위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TF-IDF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상품 반품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0.289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코사인 유사도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9488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RRF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상품 반품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0.033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두 순위의 역수</a:t>
                      </a:r>
                    </a:p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6CE0C-E4EF-42C7-B5FF-26F8470A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같은 합성 문서·질의·기본 설정의 예시 · 5.721과 0.289를 확률처럼 비교하지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453663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1E7A2-8251-448F-92DD-88C45031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9823A-DCE6-460D-9C47-2057BFD5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0DC59-7A06-498C-954C-E75BB26E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선택 실습 · 실제 임베딩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938C3-BCCC-433D-A635-61192F52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F15DC-FC06-4970-AEFD-698B9D05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711DB-E90D-4D85-8572-A554C88E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A35DD-94A4-4A01-8EC5-CC8919F9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C3958-2A4C-464E-B27B-D85E2DA1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안전한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92414-4377-4AEE-98DC-BCE19295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B07E4-21A6-4E29-8F0F-FDDBA60E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Ollama embed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272B3-B23D-41FD-8531-95BC9567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E735C-CD15-44D9-A88D-332C4254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 벡터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8DD9C-1999-4E8B-A32A-34E240B4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958EA-C498-425D-8FC9-EF91EA6F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6BA8A-01CB-40C0-AB4A-B5489158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 표현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16C59-3020-4E6C-9954-713DF6C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A6158-2716-4658-8BD1-8C7E23E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같은 모델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6C1C7-6898-45DF-89AB-CF4A653D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332A0-670F-4220-922C-B40C5063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코사인 검색</a:t>
            </a:r>
          </a:p>
        </p:txBody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35775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A6639-F2B7-4A20-9529-CEFD4A7B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E400C-9A6A-443E-B824-B8B210E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04F75-2DA1-409C-9E90-60C233E1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기준선과 모델 검색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A2A62-8620-48D4-81EC-D47F91D2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8128D-F52F-404C-B811-2D6D877C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E25EB-5688-40D4-8E47-C996B5E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필수 기준선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FFA7A-2969-4843-9B52-BCFE9666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A9373-9889-463D-BD51-F2E28B07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작은 자료 · 빠른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26F4C-96FB-42B3-AD25-8F16C62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원리·실패·평가를 먼저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84FCE-A502-487F-948A-46D0114B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선택 모델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64384-8113-4AE3-BA45-6D4DFCD5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5251E-050F-4E9F-9DE5-497A142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학습된 의미 임베딩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81688-2247-466E-ABB5-57129BF3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한국어 질의·모델 입력 제한 검증</a:t>
            </a:r>
          </a:p>
        </p:txBody>
      </p:sp>
    </p:spTree>
    <p:extLst>
      <p:ext uri="{BB962C8B-B14F-4D97-AF65-F5344CB8AC3E}">
        <p14:creationId xmlns:p14="http://schemas.microsoft.com/office/powerpoint/2010/main" val="15076798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A0109-C56E-4BD1-B802-01CE2415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W05 / 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64354-149C-4697-9F00-4599EC81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순위 결합과 재정렬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92F3C-51F2-4535-8CF1-0B70B96F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71E99-2C21-4A44-9E7B-C633D111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후보 생성 · 결합 · 재정렬을 분리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A0541-91F5-4116-AF28-A525F3F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각 단계의 실패와 비용을 기록</a:t>
            </a:r>
          </a:p>
        </p:txBody>
      </p:sp>
    </p:spTree>
    <p:extLst>
      <p:ext uri="{BB962C8B-B14F-4D97-AF65-F5344CB8AC3E}">
        <p14:creationId xmlns:p14="http://schemas.microsoft.com/office/powerpoint/2010/main" val="17160773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23318-E710-414A-BF9A-0CB24C18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B98B6-6322-4F36-871B-3DBF72C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D2ADE-5847-487A-864A-0EF63B60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하이브리드 검색의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57184-02F9-4C0C-AF8E-74612E93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F264A-637F-49BB-9DA8-46FB401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648EE-7E6B-4A7A-A222-97D2343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경로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BA52B-C5FF-4052-8033-663DB1A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860A9-2665-49C8-AF49-EA02295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C25EC-11E6-42FD-A2F0-19414EE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CA68B-6F7D-4429-8A3F-1A2AB5F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키워드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5383D-3300-47BF-97FD-AD3C94E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89BBA-D41D-4354-AE78-A6F7CAD9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후보 A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0063A-D4BC-4CE3-9EF6-C7AD62CA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경로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B4396-DB06-4F7A-823F-7C7111CE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A1650-C069-4F9D-BB74-49A7812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D012D-7206-48A6-B6F1-3A7E9F5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0662E-79D3-41A5-BDA3-22CE2FD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임베딩 검색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D3DBD-2691-4FAC-9140-4E157581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755C1-67F1-439A-86F7-4D8AB1C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후보 B</a:t>
            </a:r>
          </a:p>
        </p:txBody>
      </p:sp>
      <p:cxnSp>
        <p:nvCxnSpPr>
          <p:cNvPr id="46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7FDD5-6630-43FF-BA79-0C1EF237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운영 설계 예시 · 필수 실습은 BM25 + TF-IDF 두 어휘 검색기의 결합</a:t>
            </a:r>
          </a:p>
        </p:txBody>
      </p:sp>
    </p:spTree>
    <p:extLst>
      <p:ext uri="{BB962C8B-B14F-4D97-AF65-F5344CB8AC3E}">
        <p14:creationId xmlns:p14="http://schemas.microsoft.com/office/powerpoint/2010/main" val="14845895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72029-38A8-4630-B831-1BB37DA7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36D25-91C0-4469-A4DA-9CDCBA13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FCC3-AA42-4677-AC40-6D81140B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4876D-A239-4382-A076-48A6CE6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CF101-6F61-4E91-A833-16F45843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1F393-D5E1-400E-8D40-3800EE8E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2F4E0-6B36-465C-B190-C7440D05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D6D68-5ACD-4ABE-81D7-14FF63BC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후보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734C3-36AF-4473-A442-1FA864BC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5E63F-8C83-46E5-AC73-F32C8D46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84109-36CE-4D40-B25C-4784DE76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순위 결합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C6D6D-9625-49EA-80ED-FCCC9A52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AD42C-B0D7-4E38-B57A-0B6BBE9D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20DBB-EC8D-4E10-9E44-2B23C41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재정렬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41A5-F5C1-4211-BC4A-F3C28B16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F4959-B569-456D-81AC-AB59AE9B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4D499-3805-4FF1-8371-F637080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 선택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915F3-240A-4C00-AF4F-5BD59E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후보에 없는 정답은 재정렬로 복구할 수 없음</a:t>
            </a:r>
          </a:p>
        </p:txBody>
      </p:sp>
    </p:spTree>
    <p:extLst>
      <p:ext uri="{BB962C8B-B14F-4D97-AF65-F5344CB8AC3E}">
        <p14:creationId xmlns:p14="http://schemas.microsoft.com/office/powerpoint/2010/main" val="143312303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CDBD9-B8BB-4D55-9EB4-04932E78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69EBA-C9F4-4CCB-BA58-2CB087C3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03534-D149-408C-804F-A8CE3EB0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RRF · 순위 역수 결합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34DDE-850E-4072-B1F9-A9490020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7C640-EDEE-42CA-B3D2-1D27F346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AB7CC-E5FF-4B58-A0E3-184311D0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Reciprocal Rank Fusion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1D58D-4E2B-4415-B3A7-24E61EB2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BA715-7FCE-464C-9756-F0F5B559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점수 = Σ 1 / (constant + rank)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49B30-1D51-44CF-8BFE-8C147020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실습 constant=60 · 높은 순위와 여러 검색기의 공통 후보 반영</a:t>
            </a:r>
          </a:p>
        </p:txBody>
      </p:sp>
    </p:spTree>
    <p:extLst>
      <p:ext uri="{BB962C8B-B14F-4D97-AF65-F5344CB8AC3E}">
        <p14:creationId xmlns:p14="http://schemas.microsoft.com/office/powerpoint/2010/main" val="38845829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9C6C3-A18D-4C0E-92D6-226C637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4FA01-C32A-4C77-96F5-BA1CD004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8989F-0E21-499C-AF20-E04982E0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RRF의 계산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6CDF6-5185-46EC-BB40-BD6F5094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7D3B3-F42B-45F0-B788-5EF8CA95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8DF12-0C86-4554-BD20-E07CE377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4E389-FD99-4508-A85D-9FA90D37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검색기1 1위 + 검색기2 3위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DFBDF-58BE-4EC1-9079-93ABDA6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AD5A5-95E4-409E-9450-D9139977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0B764-BF2D-42EB-9A89-A38FB2E0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검색기1 2위 + 검색기2 1위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DFC17-B338-4667-BF5F-FC6E71C1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38575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96D36-D692-4486-B2F1-27CAA0DF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4D313-C375-4641-9B90-48912E49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검색기1 3위만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6FECC-17DE-458B-B1F8-988CF762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C236C-F914-4DBB-A3CC-D227B43F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A=1/61+1/63 · B=1/62+1/61 · C=1/63 · B가 가장 큰 값</a:t>
            </a:r>
          </a:p>
        </p:txBody>
      </p:sp>
    </p:spTree>
    <p:extLst>
      <p:ext uri="{BB962C8B-B14F-4D97-AF65-F5344CB8AC3E}">
        <p14:creationId xmlns:p14="http://schemas.microsoft.com/office/powerpoint/2010/main" val="67774869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4BBDA-F924-42D6-AEA7-EED21807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73CCE-B150-4989-9917-C559C303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7B6BA-6BE1-4C0A-9B03-3653DD6C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RRF 순위 계산 연습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C1091-668E-4070-8D1E-6EE072E4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C5942-F435-41EB-942C-3647767C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191617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3333750"/>
                <a:gridCol w="1866900"/>
                <a:gridCol w="18669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후보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검색기 1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검색기 2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RRF 점수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0.032266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0.032522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3위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후보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0.015873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CD73D-3757-47B9-8022-70803BD4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constant=60 · 같은 검색기 안 중복은 1회만 기여 · B &gt; A &gt; C</a:t>
            </a:r>
          </a:p>
        </p:txBody>
      </p:sp>
    </p:spTree>
    <p:extLst>
      <p:ext uri="{BB962C8B-B14F-4D97-AF65-F5344CB8AC3E}">
        <p14:creationId xmlns:p14="http://schemas.microsoft.com/office/powerpoint/2010/main" val="16067849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D9DFB-1D00-4C38-8CF1-89A08F50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BBBB8-76DB-4433-980F-4CBBD13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7F105-9DEC-4831-A1CE-D8E2BD24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점수 결합과 순위 결합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E8E43-C101-4D1C-93EB-184818B7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0091E-AA57-4B96-96AD-AD60ABE5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3F297-B6A6-4066-A33E-5A7A842A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점수 결합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65AC2-EEC1-4CB4-9370-2EECF19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7DF73-14CC-4162-B9C0-34F31DAF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점수 척도·정규화·가중치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C0931-ADBB-4580-A491-2DC57B4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후보 분포 변화에 민감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A9C38-5E00-4F2B-AD26-B4E12201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RRF 순위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8B893-66FD-4048-ACFB-D23BD9B0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1736F-379C-432E-A3B7-411CEE4E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점수 대신 순위를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D259A-32EB-45CC-A9ED-CDD3FBD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동점·중복·상수 설정 확인</a:t>
            </a:r>
          </a:p>
        </p:txBody>
      </p:sp>
    </p:spTree>
    <p:extLst>
      <p:ext uri="{BB962C8B-B14F-4D97-AF65-F5344CB8AC3E}">
        <p14:creationId xmlns:p14="http://schemas.microsoft.com/office/powerpoint/2010/main" val="207682050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6F959-0B6F-4223-8A48-C2BD5440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F0B9F-3F52-4B7B-BA0D-98C2FC3C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728B8-8590-4126-A62F-D69644AF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중복 후보의 처리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469A4-8696-48D5-869F-7D2992F1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70F51-C2E2-4B72-B3D6-FD8B0662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BDAA4-1A60-475E-AAA9-93CFC67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4FC4D-FADC-4002-B5A3-469E64FE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같은 검색 목록에서 문서가 중복되어도 기여는 한 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590C7-1655-492B-A612-F2D92A84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같은 원문 조각과 같은 원문 문서는 서로 다른 식별 단위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CC590-C375-41BC-8F95-14473B05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평가는 문서 기준 중복 제거 후 계산</a:t>
            </a:r>
          </a:p>
        </p:txBody>
      </p:sp>
    </p:spTree>
    <p:extLst>
      <p:ext uri="{BB962C8B-B14F-4D97-AF65-F5344CB8AC3E}">
        <p14:creationId xmlns:p14="http://schemas.microsoft.com/office/powerpoint/2010/main" val="825953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58A52-FC33-42EA-9931-0B5CFFB5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9EE51-FB19-49D3-94D2-22207A2B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09DF3-ECF9-43A9-BD0F-62179FD1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후보 수와 정답 누락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13F06-574D-41C1-B5B5-67B1C8E6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2285F-ED57-48B2-BA50-1247DB1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F8A47-848F-40AC-82BB-0F94BE46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1000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02D30-A24F-4A69-8F13-9737BCB9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952625"/>
            <a:ext cx="958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전체 허용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0C186-A81E-4657-AB1C-526CC2B3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86050"/>
            <a:ext cx="847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B1005-D4EC-486E-B3D3-734CB164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67025"/>
            <a:ext cx="805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상위 후보 8개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10055-7F27-482A-B30B-89960B0D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00450"/>
            <a:ext cx="695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89C0D-098C-43AC-B3A6-011DF7C9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81425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재정렬 5개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35073-E2A7-4F69-B453-7B129060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1485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3C608-092F-43A4-9FCA-C6B9D168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69582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 3개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DB769-68F4-4895-9813-48635D1A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단계별 수는 설계 예시 · 후보에 없던 문서는 다음 단계가 새로 만들지 않음</a:t>
            </a:r>
          </a:p>
        </p:txBody>
      </p:sp>
    </p:spTree>
    <p:extLst>
      <p:ext uri="{BB962C8B-B14F-4D97-AF65-F5344CB8AC3E}">
        <p14:creationId xmlns:p14="http://schemas.microsoft.com/office/powerpoint/2010/main" val="893969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371B2-2465-47FF-8171-FEC237AC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F3425-68E1-4F6D-929C-D0DBDEF9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5A0B4-CACC-4EA5-8BE9-3D8AF9A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재정렬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67289-4AF4-443C-B856-5C383389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9EDB5-5D8B-465E-98A2-DE3E2F5D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FFCD8-FD6B-4A03-B2E1-31792C87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규칙 기반 재정렬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356AD-1B23-4085-B497-F69A661B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1B22A-FD4B-484B-90C9-0437D260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질문 단어의 원문 포함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3CA2C-4A7C-4B41-9764-914724CE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가볍지만 의미·부정·예외에 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557-08B9-42DE-9451-7D5B69F9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신경망 재정렬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0C37F-E0D2-4752-8305-1B3C197B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2B015-D92C-4FAB-80B3-5BFC743F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질문과 후보를 함께 입력하는 모델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D7E56-F542-4799-A0EA-C59C2DFF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추론 시간·모델 평가 필요</a:t>
            </a:r>
          </a:p>
        </p:txBody>
      </p:sp>
    </p:spTree>
    <p:extLst>
      <p:ext uri="{BB962C8B-B14F-4D97-AF65-F5344CB8AC3E}">
        <p14:creationId xmlns:p14="http://schemas.microsoft.com/office/powerpoint/2010/main" val="2512107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9A270-DA53-489B-8921-CF964DB4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EC4E7-A982-496F-9719-8A207896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F50EB-C415-4D61-BC33-CEFDEF87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재정렬 효과와 한계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D38E4-FEC1-4701-8C04-01887B6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5C8F7-2AF1-4FAF-81F4-D40A93BD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4588B-2658-451B-925D-90B85DD3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5727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순위 변경과 새 근거 발견은 다른 작업입니다.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D23FE-6325-4E4C-9EA7-6B56C516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57275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첫 검색에서 정답이 누락되면 토큰화·확장·후보 수부터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287698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EC7D7-AD7B-481D-94D4-351E97AD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1C720-B97E-4C2A-B0EC-A183525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C63B0-5A76-4A33-8673-33BFDFD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복합 질문의 검색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D94F2-620E-4FED-A383-1CE1350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86359-DF11-4B96-AFD0-87CDE05C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514AE-E053-4EBB-9CCC-137BC0F6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DC048-1278-47AE-9237-B5B5A6A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F39A4-06FB-4B31-B262-8DA63E18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 범위 파악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B175F-337B-4C39-B816-17A6D204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C52FF-7385-4389-8A59-543A6ECA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F9070-F59E-4761-8560-3C93A471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3C6D7-3E8E-454B-B1EB-03E43A03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5710C-1F18-4D02-AE1A-7C6035B9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A145D-C7D4-441F-836D-1704AA0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각 근거 검색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14E07-72D7-430F-8066-2BC944B0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47935-8E32-4C89-8A1E-67C3303E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0B46D-DF33-458F-819B-82198621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다중 출처 답변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7B946-6F59-40A1-B561-3E783F30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추가 검색 지연 · 잘못된 분해 · 전체 주장과 출처 연결도 확인</a:t>
            </a:r>
          </a:p>
        </p:txBody>
      </p:sp>
    </p:spTree>
    <p:extLst>
      <p:ext uri="{BB962C8B-B14F-4D97-AF65-F5344CB8AC3E}">
        <p14:creationId xmlns:p14="http://schemas.microsoft.com/office/powerpoint/2010/main" val="7880287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1DDD6-041E-4825-8CF8-BAEA84DE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W05 / 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21FAA-BFBD-48F3-850C-BF4BED7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단계별 Notebook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0F82D-CD70-43EA-928A-5D470CA5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2DFB1-C62C-4B81-B638-F37FF0A7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01 어휘 검색 · 02 결합·재정렬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CFDCF-3038-4169-B9BB-B4B731A3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03 검색 실험 · 04 서비스·기획 연결</a:t>
            </a:r>
          </a:p>
        </p:txBody>
      </p:sp>
    </p:spTree>
    <p:extLst>
      <p:ext uri="{BB962C8B-B14F-4D97-AF65-F5344CB8AC3E}">
        <p14:creationId xmlns:p14="http://schemas.microsoft.com/office/powerpoint/2010/main" val="3469934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F5720-9D3D-4859-B3FB-BB587ED4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D59C8-22C1-4CE3-8276-6592EACE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6D234-66EF-4421-AA36-90A8DE9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파일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C8B07-2F1D-4137-B3AF-B5D9DDC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2D212-20A9-48D5-877C-0F5646A6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노트북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핵심 실험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01_lexical_search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TF-IDF·BM25·토큰화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02_fusion_reranking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RRF·후보 수·규칙 재정렬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03_search_experiments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 비교·실패 질의·확인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04_service_project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API·자기 자료·기획 요구사항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0670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3738F-3831-43DC-A607-D0E76FD8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0DDF1-6281-4224-AA68-91C7755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9C1FF-0EF0-4007-8211-8E0F72B5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Notebook 실행과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EDF25-C550-4E59-9213-CB7216A8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BEE8E-9A1B-4033-B3F2-C848C12A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CD264-FF3B-4CC5-A457-BBC067F6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5D137-0405-482A-8FD1-DC63F1D7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예측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82024-60E6-4022-B40F-F98C4ED9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결과를 보기 전 정답 문서·순위 예상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6E226-150F-4A10-A7BA-F05DAEA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73570-CC26-45F8-9B46-97828AA1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1C50E-3C52-4D5A-A6A7-AE0194B8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30C52-DF2D-4465-9105-31DDA2E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셀 순서대로 실행 · 설정 하나 변경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D2820-99F1-49D2-B283-4E997523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9EA69-6AFB-4AC2-8127-CAFB5CCB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DDA45-D74B-4021-AD21-121EA0CB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해석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95F1F-6039-42DA-BB62-6183A920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실패 질의·남은 한계·다음 확인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AC207-582C-4C15-9A39-36F2B83B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907782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7D0C6-F3F0-4E4B-AD56-53267898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1290B-709B-45DB-9B99-A0AED560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8A5F2-879A-413E-960F-D8407232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토큰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A93BD-0EF4-46A6-853F-1D6ADD18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57DE0-098A-430C-9C3D-4F82A43D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A4786-A4B0-4829-A672-E9FF0AD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2EF85-6293-46DF-BEE5-B60E3649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tokenize('반품은 수령 후 가능합니다', False)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1903F-A7CF-49A0-A653-71B3F27B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tokenize('반품은 수령 후 가능합니다', True)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B582E-0CFA-40CC-B0F5-0F5BCE4A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단어·부분 조각이 실제 검색에 어떻게 사용되는지 확인</a:t>
            </a:r>
          </a:p>
        </p:txBody>
      </p:sp>
    </p:spTree>
    <p:extLst>
      <p:ext uri="{BB962C8B-B14F-4D97-AF65-F5344CB8AC3E}">
        <p14:creationId xmlns:p14="http://schemas.microsoft.com/office/powerpoint/2010/main" val="182469550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68E10-152E-42D7-8293-D22AB366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64CA0-7A26-47A8-BC21-998E1CD4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E15C4-9F20-4430-A1D2-4B3B5E38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검색 방식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736CB-2551-4DB6-8CCB-B24FCE1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17148-0336-4F9B-B2F4-9CDE68C3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1D9A9-51A1-40D2-A59D-35090C7B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503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ED3A7-6222-4082-8751-AF9732AB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method in ['tfidf', 'bm25']: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 = retrieve('반품 배송비', method=method)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print([h['chunk']['doc_id'] for h in r['hits']])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92E4A-4C65-42E2-A863-7C12A59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자료·질의·청킹·k를 고정하고 method만 변경</a:t>
            </a:r>
          </a:p>
        </p:txBody>
      </p:sp>
    </p:spTree>
    <p:extLst>
      <p:ext uri="{BB962C8B-B14F-4D97-AF65-F5344CB8AC3E}">
        <p14:creationId xmlns:p14="http://schemas.microsoft.com/office/powerpoint/2010/main" val="211690057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C2409-C2C8-4506-A84A-F461F323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A791E-739B-427A-A0DF-9253D152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F45AB-88CA-41C4-87F9-4BF1C59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길이 보정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05156-52AB-4FBC-907B-5EB86CBA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98E65-8805-449E-AEC3-6698B77B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ee78e71e2449b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51B7B-5E07-411D-8250-8E818DC9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b만 바꿔 짧은 문서·긴 문서의 상대 점수 비교</a:t>
            </a:r>
          </a:p>
        </p:txBody>
      </p:sp>
    </p:spTree>
    <p:extLst>
      <p:ext uri="{BB962C8B-B14F-4D97-AF65-F5344CB8AC3E}">
        <p14:creationId xmlns:p14="http://schemas.microsoft.com/office/powerpoint/2010/main" val="146074637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A7A48-28B8-4235-BE77-18B8A926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4632A-1911-48C3-AE24-FD70C3F2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E3D65-07FE-4B81-94DC-D2335860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표현 실패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A31C3-0316-4B05-958A-E330C76E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08AD3-3492-4EEC-A0A0-C6D44A7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B0B43-9638-46CE-9E4C-1FCB6567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B92AC-3E76-47E5-9472-D0B86747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 용어: 환불 처리 기간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535D9-E253-4194-87F4-C5012DA9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사용자 표현: 돈은 언제 돌려줘요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C16B6-923E-4C00-A602-BCD3293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동의어 확장의 효과와 잘못된 확장 사례를 함께 확인</a:t>
            </a:r>
          </a:p>
        </p:txBody>
      </p:sp>
    </p:spTree>
    <p:extLst>
      <p:ext uri="{BB962C8B-B14F-4D97-AF65-F5344CB8AC3E}">
        <p14:creationId xmlns:p14="http://schemas.microsoft.com/office/powerpoint/2010/main" val="64638415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A5C92-67D1-4466-B15C-20CD27B4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F05C6-323B-472F-B761-B0253FCF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51D92-AA23-4063-922C-AAB884B1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후보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414C7-E29D-40AC-9B80-64723C1C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5546F-74A9-4DF6-94D5-83F5E075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B2436-3E9E-4531-B06C-3B4BC132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BM25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CE45E-C60B-4136-A0DB-26868EA6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원문 조각의 순위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C4364-AD1A-4DD7-96D1-FBCE4C76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630CD-2469-468D-943A-CB417CDE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TF-IDF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7D6F9-F33B-4CF2-A70E-626F9DF6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어휘 벡터 유사도 순위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7509B-0ACB-4F71-ACA7-928B0031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38575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6C003-B4C9-4730-B5B9-0F9F7FEC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RRF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6BB66-D487-47C9-8662-176C660F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공통 후보·순위 역수 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938B9-A907-4CE5-AB89-8E8BE569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C85C6-49DB-408B-A651-F77CDD0C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같은 자료에 대한 두 어휘 기준선 비교 · 실제 모델 기반 dense 검색은 선택</a:t>
            </a:r>
          </a:p>
        </p:txBody>
      </p:sp>
    </p:spTree>
    <p:extLst>
      <p:ext uri="{BB962C8B-B14F-4D97-AF65-F5344CB8AC3E}">
        <p14:creationId xmlns:p14="http://schemas.microsoft.com/office/powerpoint/2010/main" val="66004932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4AC26-C2E2-450F-A35E-D79BC85E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21551-51A1-404E-8F04-58CC0239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5D02F-F55F-47C1-8979-80ED23B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RRF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37652-AAF1-41BD-8838-20B28874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DC75E-5923-429F-935E-E648747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55E58-EC21-438E-891D-F9BE32F5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281D2-73E3-4E10-9097-3837B5D5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bm = index.search(query, 'bm25', 8)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tf = index.search(query, 'tfidf', 8)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hits = reciprocal_rank_fusion([bm, tf],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              constant=60, k=5)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83B3E-E28A-4A99-BDB5-D4DD416A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중복 후보가 두 번 기여하지 않는지 assertion 확인</a:t>
            </a:r>
          </a:p>
        </p:txBody>
      </p:sp>
    </p:spTree>
    <p:extLst>
      <p:ext uri="{BB962C8B-B14F-4D97-AF65-F5344CB8AC3E}">
        <p14:creationId xmlns:p14="http://schemas.microsoft.com/office/powerpoint/2010/main" val="6662272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D9139-0534-404F-8304-57BADA7C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C0F3D-3490-4A91-A6BF-923A7849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ED274-89BC-4927-AE07-6E7BD428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constant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B1771-41E8-4B97-9064-3E5C6E9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B4F80-E8BB-4067-B419-9B946341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78e812bd684e7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A4EDD-68EF-429C-9C35-E29E6B54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1위와 5위 후보의 단일 기여값 · 상수 증가 시 순위 차이 완화</a:t>
            </a:r>
          </a:p>
        </p:txBody>
      </p:sp>
    </p:spTree>
    <p:extLst>
      <p:ext uri="{BB962C8B-B14F-4D97-AF65-F5344CB8AC3E}">
        <p14:creationId xmlns:p14="http://schemas.microsoft.com/office/powerpoint/2010/main" val="15096687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042D6-60F7-4331-B61B-28FD556A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9BAF1-B5D5-4075-A490-83E2CCF5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A1C03-31E7-456B-928B-048CC5AD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재정렬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9FC0D-9073-42C8-8BA6-B27C4061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D4247-1F15-480A-BCA4-ADD3668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C8289-9488-4B08-82AE-E9EF503A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251DB-A5D6-469E-A18D-15BB56F3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hits = retrieve(query, method='rrf', k=5)['hits']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reranked = rerank_by_coverage(query, hits)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print([(h['chunk']['doc_id'], h['score'])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for h in reranked])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7B410-3CA9-4336-9BD5-5B283271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원래 순위·재정렬 점수·새 순위를 같이 보관</a:t>
            </a:r>
          </a:p>
        </p:txBody>
      </p:sp>
    </p:spTree>
    <p:extLst>
      <p:ext uri="{BB962C8B-B14F-4D97-AF65-F5344CB8AC3E}">
        <p14:creationId xmlns:p14="http://schemas.microsoft.com/office/powerpoint/2010/main" val="28968888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A3530-60D8-4A48-B56A-B75E6D73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607EE-272A-4C6C-A295-F132AAE9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FBE08-CA89-416F-93EE-2E865B87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복합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7F4D6-E757-4558-99F3-B012D016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27612-6529-454F-9805-22ACD51B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5F022-B7B9-466C-B2B1-8E87B96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43CEC-CBCA-42CF-82B9-EC80616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반품 배송비와 환불 처리 기간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83C07-3630-47BB-A7A1-82CD8C50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단일 검색: 어떤 근거가 빠지는지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85923-CE70-4A4C-B760-8C5B1F6A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분리 검색: 두 질문의 문서 ID를 각각 확인</a:t>
            </a:r>
          </a:p>
        </p:txBody>
      </p:sp>
    </p:spTree>
    <p:extLst>
      <p:ext uri="{BB962C8B-B14F-4D97-AF65-F5344CB8AC3E}">
        <p14:creationId xmlns:p14="http://schemas.microsoft.com/office/powerpoint/2010/main" val="7030380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3CE8A-2879-496C-84FF-89DBC7F0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W05 / 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6092-36E8-43B8-A68F-00F7746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휴식과 설정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AEC89-07A0-4D8C-9E09-21C23EBC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C2DCF-C4A8-4655-8FBA-6FB95526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5분 · 커널·포트·Notebook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47225-91C0-400C-A06B-7B000B11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개발 질의만 사용 · 확인 질의는 선택 뒤 사용</a:t>
            </a:r>
          </a:p>
        </p:txBody>
      </p:sp>
    </p:spTree>
    <p:extLst>
      <p:ext uri="{BB962C8B-B14F-4D97-AF65-F5344CB8AC3E}">
        <p14:creationId xmlns:p14="http://schemas.microsoft.com/office/powerpoint/2010/main" val="169241366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4309A-FE91-4D93-A3A6-D1FC8B14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W05 / 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4678F-3C87-4CF4-9862-6BDEC017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 실험과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E5D72-315D-4AB4-8C1D-3DE54FF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38F55-6E14-464A-A867-D6ED013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변경 변수·데이터·지표·실패 사례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A0D51-AF6C-48AE-BB83-63B53A7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평균값과 위험·복잡도를 함께 비교</a:t>
            </a:r>
          </a:p>
        </p:txBody>
      </p:sp>
    </p:spTree>
    <p:extLst>
      <p:ext uri="{BB962C8B-B14F-4D97-AF65-F5344CB8AC3E}">
        <p14:creationId xmlns:p14="http://schemas.microsoft.com/office/powerpoint/2010/main" val="46849535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F7B5A-FC60-4699-96B0-157D0087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E3ECB-297F-4909-A4ED-01F200EB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C9C5D-38BC-4A5C-9265-AEC99051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03 · 기준 설정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15846-587C-47AC-B785-767F0CE3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710E0-5A70-497C-BC87-EAB2156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AAF6F-F9B7-4D00-997F-DDB75221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503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8975B-C25B-4E12-A85E-182DCB57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baseline = {'method': 'bm25', 'size': 120,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'overlap': 24, 'k': 3,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'expand': False, 'rerank': False}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B7E7D-3B17-44AC-A1AB-68ACA33D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기준 설정을 먼저 기록 · 개선 결과에 맞춰 기준을 바꾸지 않음</a:t>
            </a:r>
          </a:p>
        </p:txBody>
      </p:sp>
    </p:spTree>
    <p:extLst>
      <p:ext uri="{BB962C8B-B14F-4D97-AF65-F5344CB8AC3E}">
        <p14:creationId xmlns:p14="http://schemas.microsoft.com/office/powerpoint/2010/main" val="80692598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D2776-DEB5-4841-A408-054A6AD6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F66AC-2DFF-4DF5-9F03-0F017CE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43857-8DFF-4BD0-AD68-A19F4DA7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03 · 변경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2F01B-BB2E-4FF6-AE10-C1C8D6E1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F126B-9859-418B-B3FD-B31F4FA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7ec4bf8f4d4d0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CD6D3-591C-43F7-826F-D0D34BE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개발 질의 8개 · 정답 문서가 있는 6개만 Recall·MRR 평균에 포함</a:t>
            </a:r>
          </a:p>
        </p:txBody>
      </p:sp>
    </p:spTree>
    <p:extLst>
      <p:ext uri="{BB962C8B-B14F-4D97-AF65-F5344CB8AC3E}">
        <p14:creationId xmlns:p14="http://schemas.microsoft.com/office/powerpoint/2010/main" val="182938842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C6818-0B7C-4579-8EC3-F713BD87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064B0-2F20-4307-9FDA-FAD29083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BD640-1FC5-4D7E-91F9-88FCC5E5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개발 질의의 비교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C30C5-0D4D-45D7-BB6D-EC0E424A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49671-E2CD-45CC-B06F-730FCB06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1666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3333750"/>
                <a:gridCol w="1866900"/>
                <a:gridCol w="1866900"/>
              </a:tblGrid>
              <a:tr h="729488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설정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Recall@3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MRR@3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답 있는 질의</a:t>
                      </a:r>
                    </a:p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보류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BM25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5/6 · 83.3%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83.3%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1/6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BM25+동의어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6/6 · 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1/6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TF-IDF / RRF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각 5/6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각 83.3%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각 1/6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6E66C-3EAD-4F36-9FCF-81F1792C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합성 개발 질의 8개 중 답 있는 6개 · 검색 회수 개선이 답변 보류 개선을 뜻하지 않음</a:t>
            </a:r>
          </a:p>
        </p:txBody>
      </p:sp>
    </p:spTree>
    <p:extLst>
      <p:ext uri="{BB962C8B-B14F-4D97-AF65-F5344CB8AC3E}">
        <p14:creationId xmlns:p14="http://schemas.microsoft.com/office/powerpoint/2010/main" val="64197963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058E1-6DEC-4EA3-A5D8-88BF73F7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9B019-A3D3-4783-AFB4-C5A84E77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DFB3-B918-4D90-8355-D745A07C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질의별 비교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46970-3AE7-4188-AC9F-AA1A78AD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3F06D-1BF9-43FC-B1A4-3188E31D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질의 ID·사용자 표현·정답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변수 하나·이전 값·새 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순위·누락·잘못된 발췌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적용·보류·다음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56285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24AA0-80B2-4DD9-9E63-B3012478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85CDB-DAEB-489F-8FD1-E83DCBA9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66BFC-80E8-4121-9EA2-99CDC2A9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Recall@k와 MRR@k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B385E-3D14-43F8-A340-F8220699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ED25B-E3FC-4C99-B862-5422DED9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9C920-6C86-4283-9A7E-14596D9C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Recall: 필요한 문서를 얼마나 찾았는가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9B552-0B38-4FC5-B8AD-A619FBFB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F3F70-F2FA-4A4A-A0C9-2316DD8C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MRR: 첫 관련 문서가 얼마나 빨리 나왔는가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05D83-E391-4B50-9962-2F5AF86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답 없는 질의: 올바른 보류율로 별도 집계</a:t>
            </a:r>
          </a:p>
        </p:txBody>
      </p:sp>
    </p:spTree>
    <p:extLst>
      <p:ext uri="{BB962C8B-B14F-4D97-AF65-F5344CB8AC3E}">
        <p14:creationId xmlns:p14="http://schemas.microsoft.com/office/powerpoint/2010/main" val="212458612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6B747-702D-4691-8177-A7E77D48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576D6-395B-4A24-A772-7FC735A0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422C4-FAF3-43D0-88B8-95B748A8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k 증가의 효과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EAD50-25D4-43CD-9865-9CCE1FCD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AEFE0-A14A-4DD8-8F11-EBA81FE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53c22f31b8411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086CF-88EE-4A92-975B-8A6AABA0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같은 합성 개발 질의에서 k만 변경 · 비용·잡음 증가도 별도 고려</a:t>
            </a:r>
          </a:p>
        </p:txBody>
      </p:sp>
    </p:spTree>
    <p:extLst>
      <p:ext uri="{BB962C8B-B14F-4D97-AF65-F5344CB8AC3E}">
        <p14:creationId xmlns:p14="http://schemas.microsoft.com/office/powerpoint/2010/main" val="213745925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7B9C1-19A3-4747-BF27-E2414667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A4F58-0087-4141-8B7D-44A38C1F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128DA-D7AC-4E39-A8DD-262CD2B9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평균 결과와 실패 질의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1CE24-F46F-4607-8263-B09E6EC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C9461-EAF9-4768-843C-2BD7F78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99C98-1188-4D80-BFED-5E95F44A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평균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424D0-3F9E-4BE6-B12A-BD88629C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514F7-3F7B-459B-98E7-496B6F9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전체 변화의 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F6530-6842-45E2-A645-4A788EA2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소수의 중요한 실패가 가려질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B3AA0-C52E-45C2-AE65-77ABF43B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질의별 상세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F0BC0-E11C-43FC-8642-C431B279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939BB-02BC-41DB-9346-18BBDE7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악화·누락·권한·날짜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D82B6-4E2B-4C0A-9593-17867A46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운영 위험과 수정 위치 설명</a:t>
            </a:r>
          </a:p>
        </p:txBody>
      </p:sp>
    </p:spTree>
    <p:extLst>
      <p:ext uri="{BB962C8B-B14F-4D97-AF65-F5344CB8AC3E}">
        <p14:creationId xmlns:p14="http://schemas.microsoft.com/office/powerpoint/2010/main" val="106800498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1B879-8133-4D81-AA09-6DA1DFAF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99580-6C36-423F-AF99-B772CC66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014DE-4F3A-4538-9494-ACF772C6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로컬 응답 시간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5A9DD-1018-4DC2-BD9F-8EDAE96B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30656-D27D-4C86-9865-C1627FB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de462fd60b42f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F2A17-7438-45A1-BA1E-25368F2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이번 기기·작은 자료·모델 없는 검색 20회 · 운영 지연 보장 아님</a:t>
            </a:r>
          </a:p>
        </p:txBody>
      </p:sp>
    </p:spTree>
    <p:extLst>
      <p:ext uri="{BB962C8B-B14F-4D97-AF65-F5344CB8AC3E}">
        <p14:creationId xmlns:p14="http://schemas.microsoft.com/office/powerpoint/2010/main" val="165743110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B73A7-2C25-4BF9-98FC-AEF0D5B1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C4EB0-B416-47F2-A921-74B9DF22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1ADCC-E8FC-4639-9A40-F730DB7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p95의 해석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06700-189A-4A0C-95D7-17AD564F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6E260-74B0-4DCB-B7CE-8EB15BE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72632-4954-451B-90BC-9B37ACC1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95th percentile · 95백분위 응답 시간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5D22C-BC16-4046-98AE-3F9F90ED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513E4-7EA4-4B21-9368-B1CC24E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실습: 20회 정렬 후 ceil(0.95 × 20)번째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24A40-3CFB-4B2E-82E4-8A650A1E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자료 규모·기기·예열·동시 요청·모델 시간을 분리</a:t>
            </a:r>
          </a:p>
        </p:txBody>
      </p:sp>
    </p:spTree>
    <p:extLst>
      <p:ext uri="{BB962C8B-B14F-4D97-AF65-F5344CB8AC3E}">
        <p14:creationId xmlns:p14="http://schemas.microsoft.com/office/powerpoint/2010/main" val="137561192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C14F0-CD05-4C28-BF4B-45D99EDA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F9151-2495-484E-ADCD-4D57944E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6DA81-0C53-4432-BA12-F5A3FDE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재현 가능한 실험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A42E4-B198-4E56-9DC9-B1BA8972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3FE82-7EF9-4E49-B26C-157CFC8F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E7622-D951-45E0-82CF-4E76799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자료 해시 + 코드 버전 + 설정 + 질의 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82F23-1484-45F3-8DD0-BEDBBC94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E1C50-72A6-43D2-A79F-C1625C2A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실행 시점·측정 범위·실패 사례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75D9A-CC9F-471A-8897-CD1D6D10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304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외부 모델 실험은 모델명·입력 제한·예열 상태 추가</a:t>
            </a:r>
          </a:p>
        </p:txBody>
      </p:sp>
    </p:spTree>
    <p:extLst>
      <p:ext uri="{BB962C8B-B14F-4D97-AF65-F5344CB8AC3E}">
        <p14:creationId xmlns:p14="http://schemas.microsoft.com/office/powerpoint/2010/main" val="9435761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C8F96-3818-45F7-9462-E1F59ADF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814B1-79BB-45E4-B829-6B55F7B2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AB901-467F-4A0B-82DD-356AC833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설정 선택과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F96ED-2398-48EE-A15A-7EE9492A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95AFF-2DB6-46AD-874F-883D1E9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AD979-AA07-4FAF-9478-D42B90C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D3BC2-D32A-4FDC-831F-F12078A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03204-E3E7-4838-A602-753D360D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개발 질의로 후보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B3450-DFB7-4400-A37A-BD607B6B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단순한 기준선과 비용도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663A1-CE48-4405-9809-C5D84F6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52391-E8A7-4A7B-9A63-97B08F5D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A5320-89ED-4B34-8FB0-07A23FAB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선택 설정을 새 질의에서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B2F47-50BE-4A1B-9D83-5586F99B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확인 뒤 수정하면 새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45127398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B567E-7C9B-42A7-A6F7-C594B43B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E7DEB-071E-4D8D-931D-5CE3480C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AC6F7-149C-49DA-B9DC-DD41A8C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실험실 · 평가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30759-C613-47BA-86B8-0A0B443C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0B445-B5CB-46DD-8019-41768C8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b20b0ee344c24"/>
          <a:stretch xmlns:a="http://schemas.openxmlformats.org/drawingml/2006/main"/>
        </p:blipFill>
        <p:spPr>
          <a:xfrm xmlns:a="http://schemas.openxmlformats.org/drawingml/2006/main">
            <a:off x="1147564" y="1600200"/>
            <a:ext cx="5020071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8F839-5516-4F58-9ACC-93136406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859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01 · 검색 지표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D29E9-266A-46F6-B3FF-8BACA6A7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정답 문서 회수율과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첫 관련 문서의 순위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CADE1-C7FB-45EB-A32E-3ECAA2C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23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FDE72-D5B1-43FF-A4F5-F1F427BC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481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02 · 답변 보류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96F51-7A94-424C-AE5F-2802C034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답이 있는 질의와 없는 질의를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분리해서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DF710-65DF-4031-A754-7A640E23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같은 질의로 BM25·TF-IDF·RRF 비교 · 보고서 JSON과 실패 질의 보관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65934-F501-490F-BB4B-26AA4835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실제 로컬 실행 화면 · 합성 자료 · 규칙 재정렬</a:t>
            </a:r>
          </a:p>
        </p:txBody>
      </p:sp>
    </p:spTree>
    <p:extLst>
      <p:ext uri="{BB962C8B-B14F-4D97-AF65-F5344CB8AC3E}">
        <p14:creationId xmlns:p14="http://schemas.microsoft.com/office/powerpoint/2010/main" val="200185427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FD2A5-245C-4C20-855F-D3233B4D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6DA2B-ADD6-4189-B479-0044F869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F0F16-57EC-42C6-913E-88C1EC3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실험실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FA405-372C-48CB-8367-4FD82572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DF840-564A-4F2A-9D13-C546EA8C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D5D52-33BB-49D5-A532-2C0005E9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224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EC305-1F64-4F71-8541-154E08E7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uvicorn week05.lab.search05.main:app \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--host 127.0.0.1 --port 8005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FEF1D-FA06-475D-98B6-72D54515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브라우저 http://127.0.0.1:8005 · JSON 저장으로 실험 기록 보관</a:t>
            </a:r>
          </a:p>
        </p:txBody>
      </p:sp>
    </p:spTree>
    <p:extLst>
      <p:ext uri="{BB962C8B-B14F-4D97-AF65-F5344CB8AC3E}">
        <p14:creationId xmlns:p14="http://schemas.microsoft.com/office/powerpoint/2010/main" val="193234678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2A717-6C8F-46A0-BE2A-572C64E8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861B9-5C06-4F27-B0B7-828BAA7E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8DAC6-3BC2-4643-A671-130A2B8F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04 · API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A92B1-545B-4CD1-9A65-5EDDA975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DA467-7E9E-4648-9831-6C6B357F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6744C-73C4-466D-8915-5030E7CB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1B10D-10FE-44C6-A0DB-2296285D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TestClient로 health·검색 요청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7E6AF-ABBB-4AF2-A377-7FEACF43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빈 질문·잘못된 overlap·미허용 role → HTTP 422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9F168-2C15-4A73-8137-A3F59618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프로세스 내 테스트와 실제 네트워크 테스트 구분</a:t>
            </a:r>
          </a:p>
        </p:txBody>
      </p:sp>
    </p:spTree>
    <p:extLst>
      <p:ext uri="{BB962C8B-B14F-4D97-AF65-F5344CB8AC3E}">
        <p14:creationId xmlns:p14="http://schemas.microsoft.com/office/powerpoint/2010/main" val="37747689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D2192-EA88-42CE-84A7-1351E417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42E32-ED7B-4172-B454-15722732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0F926-ED72-4899-AD42-A2029C6B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자기 서비스 자료 적용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06B65-BDE9-4309-A3C2-70D82500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D1F5C-5BBC-42AC-A4EE-24F1CA5C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77104-A57A-4756-A906-59497700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F9583-4063-47A4-8B76-DB837EFC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D9911-482C-490D-AFFD-FCE66CEE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합성 문서 5개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C1D7E-91CE-42F0-9635-69023C9A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EE3D0-56C5-4EFF-B8FC-053CA0E0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523A0-90C7-4307-9357-F0F56284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정답 질의 10개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75229-6C3C-4C77-AD58-25F3FD7D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3888B-ACC7-4C58-88D9-05D7121E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F2484-4F90-482A-8518-85FF01D5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실패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5D83D-7002-4BA7-BEE2-063B52AF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ECE52-C7FD-4E0F-8BFA-2AAD4FDE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1D1BF-F69C-491E-8E36-DC0634F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기획 요구사항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D6CEC-4538-4556-913E-E0A52E48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학생 연락처·실제 내부 자료·API 키를 공개 저장소에 넣지 않음</a:t>
            </a:r>
          </a:p>
        </p:txBody>
      </p:sp>
    </p:spTree>
    <p:extLst>
      <p:ext uri="{BB962C8B-B14F-4D97-AF65-F5344CB8AC3E}">
        <p14:creationId xmlns:p14="http://schemas.microsoft.com/office/powerpoint/2010/main" val="155603646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88982-B94F-4203-B46A-3CC970D0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B598C-BED4-4489-9985-20444A2C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9426C-D274-4012-865B-7D4AD0F5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글쓰기 개선 서비스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8155D-14C3-4890-8661-D43B7641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A9DEA-972E-4350-A593-E19616E0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A7B61-1B69-4A80-A69E-631CFB36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DADCB-0368-437A-B2B2-40332439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14CAB-2D5C-4618-9780-293DA25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원문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BD3EB-1D84-4D32-A383-132FEC8C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D342A-B618-4027-80E8-CE979355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6F70D-ABEF-4B72-8B41-3828B418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기준별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C9BCD-90DA-499B-A3F1-DB98A3B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4F2CB-AC0C-41DC-AF30-59B668A8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C4AFF-14EC-4E79-B094-1FAC7C55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 피드백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A2E57-C1DD-43B3-AB5D-F9958E4B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810E2-7DB7-4710-836A-2F2F17F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8FC71-BA0F-4269-AD8C-B5F4FDC8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 수정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69459-1345-4B05-BAC0-C33934AB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서론·본론1·본론2·결론 분리 · 구조·근거·유창성·이해도 별도 평가</a:t>
            </a:r>
          </a:p>
        </p:txBody>
      </p:sp>
    </p:spTree>
    <p:extLst>
      <p:ext uri="{BB962C8B-B14F-4D97-AF65-F5344CB8AC3E}">
        <p14:creationId xmlns:p14="http://schemas.microsoft.com/office/powerpoint/2010/main" val="63645769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D8DDE-0FFF-4E87-8A59-E8FE24C0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AAB06-6C7C-4B92-9257-F28DCE1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E26FB-3644-4A4D-9497-C25D3EE0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글쓰기 평가 기준의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ABB7F-019F-4F8B-97C4-0CCB2AFB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AD5D8-41ED-4829-95B7-92BB41AC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평가 항목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서론·본론1·본론2·결론의 역할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논증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주장1·2 각각의 근거·연결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유창성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문장 연결·표현 명료성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이해도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주제·주장·근거 관계 설명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8447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A8561-E22F-4B25-8409-921BDF2C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923DD-E214-457D-A930-58E0F5E5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BBED7-C417-4634-8EA3-A41FE614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 있는 개선 피드백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C966C-E09C-41F9-B428-900A7610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B0337-0649-4BAD-9B65-560F39C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532F2-2D88-4107-B428-0D2656E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100D9-4524-4535-9E35-B13F844E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98B91-BA34-46AC-8903-1D225A99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기준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C145E-83EE-4317-93A2-62AE3F55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9C7AC-49A4-46C6-BC47-DD9490B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9F386-E36E-488B-86A6-49054A4C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원문 구간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1B50C-CAFD-4CB5-AC2E-9363A290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37D98-EE41-4D57-B4AB-0FAC8EC0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36047-604C-483B-A0CF-BBA463CC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구체적 문제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1A6B7-2F64-4437-829D-6F2F9531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F5400-3032-4AAB-BD78-5661ED74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46187-0C15-4328-8345-D5850E65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수정 제안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45814-9976-4D6F-B27C-B34CCD1A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키워드 유무만으로 이해도를 자동 판정하지 않음 · 사람의 검토·수정 경로</a:t>
            </a:r>
          </a:p>
        </p:txBody>
      </p:sp>
    </p:spTree>
    <p:extLst>
      <p:ext uri="{BB962C8B-B14F-4D97-AF65-F5344CB8AC3E}">
        <p14:creationId xmlns:p14="http://schemas.microsoft.com/office/powerpoint/2010/main" val="193526106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C134C-231F-48FD-928B-740CA732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7226D-DCDE-4588-ADBA-909D84D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8A72F-ABDD-4185-920B-4ADACD89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8주차 기획서 제출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B4B9E-48CE-4A27-A8AB-8B4B4E53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886AF-C36E-4B97-80FF-9954EB0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742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구성·제출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아주대AI대학원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2–4인 자율 팀 · 지원 URL · LMS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군산대·국립창원대 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개인 진행 가능 · 공지된 교수 이메일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7주차 · 10.16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초안 먼저 제출 · 교수 피드백 후 수정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8주차 · 10.23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수정본 온라인 제출·평가 · 시험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PPT·Word·PDF·HTML 가능 · 한글(HWP) 제외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56749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09494-837F-4D0B-AFE1-2FC9BD9E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1224D-1BA7-4DFE-A3D1-050FC207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91FF2-EA22-4752-A56E-22E2BC2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기획서 제출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40D3B-FB15-4430-80C9-DEC3DA34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C3E8F-4501-40AF-9978-9908783F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B0930-ADCB-402C-BDE7-66D0A273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1C664-6F74-4DAD-A7F6-B8F8E99B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EE30A-8189-43B8-9B21-5FD00D93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제안 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F7F97-12C3-4FB1-B3B7-0EE92445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67281-F380-401F-8293-6ECC77E6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1B619-53D2-4D26-B065-C34DAD3D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요구사항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9017C-057B-4363-B4A6-0053AFB8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4582D-7F47-45EE-8A3C-5B3C7ADE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51D72-BAD3-47E6-BFF8-A6E0E69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화면 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0CAB6-6818-477A-8B39-C1E0C9CC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C1BFE-3BDF-43CF-AAC8-EBFADBE5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96C86-1B38-449D-A864-77B7CA0A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데모·근거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C4B78-ADC1-4D92-B31E-27ED4E77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형식은 자유 · 시안·영상은 선택 · 중복 제출과 유료 도구 사용 불필요</a:t>
            </a:r>
          </a:p>
        </p:txBody>
      </p:sp>
    </p:spTree>
    <p:extLst>
      <p:ext uri="{BB962C8B-B14F-4D97-AF65-F5344CB8AC3E}">
        <p14:creationId xmlns:p14="http://schemas.microsoft.com/office/powerpoint/2010/main" val="73013561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37C83-4B54-492D-AFF2-821A6BF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A4FD8-22DB-45B5-8774-721F73AE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C3DEA-38E3-4384-AADE-846C7556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세 관점의 피드백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D76D7-1DBD-4DAA-84CA-A8BB2EB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99C41-C3CF-471C-8B0C-65A46049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191617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관점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질문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대표·사업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누구의 어떤 문제인가 · 대안 대비 가치가 있는가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UX 디자이너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흐름이 이해되는가 · 실패·보류·수정이 가능한가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개발자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데이터·권한·구현 범위·평가·운영이 가능한가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C9992-4511-4989-AF6D-7A314A61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UX · User Experience · 사용자 경험</a:t>
            </a:r>
          </a:p>
        </p:txBody>
      </p:sp>
    </p:spTree>
    <p:extLst>
      <p:ext uri="{BB962C8B-B14F-4D97-AF65-F5344CB8AC3E}">
        <p14:creationId xmlns:p14="http://schemas.microsoft.com/office/powerpoint/2010/main" val="200597918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15564-36A7-44AA-B67A-04A51C7D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86C22-94B3-43EB-BDAF-C629D8E7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EFF11-D052-4BFE-A9F9-B1754326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프로젝트 아이디어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B0A51-06F6-41B2-AF15-22389C3A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11771-6908-4339-A804-4A266015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CC3AD-002C-4AF7-AE6F-03F54DC5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글쓰기 코치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E91F8-0644-4CFF-B21D-4201D6CC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95199-E311-47B7-B987-E03BEA4C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구조·논증·피드백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B61EC-45BE-456B-9451-550B10E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업무 지식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84244-53F4-43EB-8BB1-310C828E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10678-44A8-4230-832C-F607CB9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버전·출처·보류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5D140-3F7B-460D-A587-A9A52B84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개발 지원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EA33E-FBD2-4475-BD76-B704A25C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BE7E4-8160-4564-9458-275C46B6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도구 권한·실행 승인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F29E1-167D-4CA7-A645-4053546F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리서치 보조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2E46E-7B9C-49C4-8B5F-8A19ED32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97531-63C7-4233-A44E-70F396AE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원출처·근거 비교</a:t>
            </a:r>
          </a:p>
        </p:txBody>
      </p:sp>
    </p:spTree>
    <p:extLst>
      <p:ext uri="{BB962C8B-B14F-4D97-AF65-F5344CB8AC3E}">
        <p14:creationId xmlns:p14="http://schemas.microsoft.com/office/powerpoint/2010/main" val="213449069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C4AA0-C15D-4DB8-A6A7-A587023E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54713-4269-4B64-8C78-614206A9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D0EB4-F090-4F11-ACBB-6BEFCA77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리서치와 프로토타입 도구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1F088-36B0-405E-B174-B50BB393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4D2C6-11CF-489B-8B88-B613BDC3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목적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도구·확인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자료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Gemini Deep Research · 원출처 재확인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코드·시안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Codex / Claude Code · 실제 실행·오류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디자인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Figma 또는 HTML · 핵심 흐름과 실패 상태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60–120초 권장 · 합성 자료·동작 범위 명시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951336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FFDCB-6BE2-4834-8C61-262C9F3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F9F2D-A5DB-4961-A815-11CF8381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B253B-BC3E-47B7-BE5A-C7FFB080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과제 02 피드백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17C7A-99C8-4198-B2AD-B67520F6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42BBF-9A97-4E3B-B42E-A4E639E3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829F1-0A7D-4598-8073-D818B75F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109B4-3C3C-4969-8D29-2EEE2EE4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6C179-ECD0-47E6-A268-0EE3F63A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Notebook Restart 후 Run 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F3932-DE13-4E63-91F6-9562062A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73ECA-A212-40C9-A1C0-E239166E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9CB43-CEBE-415C-B684-8A2613FD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452C5-FE0F-4DF1-ACEC-939472C5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개선·악화·보류 사례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7BD92-9698-45AD-8161-862CD86E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C8E10-DCFA-4A85-8E85-1346C22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92BBD-6DFD-4434-A62D-21BE303B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4EC1E-607E-4B4A-9B5F-9FFB9215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평가 조건과 PRD 요구사항 일치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0224B-26E0-4857-AD2C-6C012046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065205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89A8E-AE58-4991-B0A2-CAF9417E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A986B-EA69-474F-9192-1DAFA2B2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54BCB-BB33-4E51-8BCB-18BAACA0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참고 자료와 실행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8AE05-E2B7-4F7B-A5AF-C5360F0D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47025-28DE-4B8B-8A1C-3278E2B3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C6B29-DD0F-429E-B33B-3701321C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F36B2-8E91-40C8-B94B-9C27792F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Stanford IR · RRF 원 논문 · Ollama 공식 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45EB4-CEC0-46D7-828F-A51FB04D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week05/lab/notebooks · week05/lab/README.md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96953-FEF8-4081-98D1-6D9A155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과제 02 · 8주차 기획서 HTML</a:t>
            </a:r>
          </a:p>
        </p:txBody>
      </p:sp>
    </p:spTree>
    <p:extLst>
      <p:ext uri="{BB962C8B-B14F-4D97-AF65-F5344CB8AC3E}">
        <p14:creationId xmlns:p14="http://schemas.microsoft.com/office/powerpoint/2010/main" val="156453921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DC6D3-DEEB-440B-829A-D25BF638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F5EDB-29F4-4344-95C9-0A338659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46752-A249-4453-9832-11695B6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6주차 휴일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09E6F-4C1F-4907-9EC6-6D1E81C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E0D77-7090-4A33-9803-D6FBA0F2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10.09 한글날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운영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강의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실시간 수업·녹화영상 업로드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과제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6주차 신규 과제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기존 과제 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10.08(목)까지 · 정확한 시각은 소속별 공지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강의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7주차 10.16(금) 온라인 실시간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B0BDC-362A-46C6-A192-67F06480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4주차 추석 녹화영상과 다른 운영 · 6주차 학습 내용은 7주차에 이어서 진행</a:t>
            </a:r>
          </a:p>
        </p:txBody>
      </p:sp>
    </p:spTree>
    <p:extLst>
      <p:ext uri="{BB962C8B-B14F-4D97-AF65-F5344CB8AC3E}">
        <p14:creationId xmlns:p14="http://schemas.microsoft.com/office/powerpoint/2010/main" val="138000603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90DD0-B82C-493A-9A8E-1F27540F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A3F37-CD5A-4E25-BEC4-239E3D0D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36211-CBCD-4A49-8CE7-A6078FE5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7주차 초안과 피드백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E83B1-7EDD-4FFB-B55F-423C84B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0C097-0C78-41FC-83F5-F5C505FA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비교 · 순위 결합 · 실패 질의 · 실험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3FE6-2E75-425F-839A-847DBBD3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EB52F-DC7F-40CB-8B7E-63A37215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10.16 · 초안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7FAC-05B1-4527-843E-A5DA2DD0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팀 또는 개인의 문제·사용 흐름·기술·평가 계획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F4943-3589-4398-9EC3-09EF3231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5D3BE-DBA7-4873-B30D-EEAAC81E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C1F3E-4E9C-458A-ADB5-A4E14978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교수 설계 리뷰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46CF6-134A-4F99-B2A5-9DD6D518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사업 가치·사용성·구현 가능성의 질문과 수정 의견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C364A-3008-466D-8AC0-1886B323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BEC4D-A323-45A1-8733-295F1888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D9FE5-F45C-4AC1-9EAC-FD778367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10.23 · 수정본 제출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0A658-428F-4F69-A920-618018B2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피드백을 반영한 8주차 기획서 온라인 제출·평가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19EB2-6D40-49AD-AE3C-3F58E55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9752F-3044-4554-ADBC-8961DB8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아주대 팀 LMS · 다른 학교 개인 공지 이메일 · PPT/Word/PDF/HTML 가능 · HWP 제외</a:t>
            </a:r>
          </a:p>
        </p:txBody>
      </p:sp>
    </p:spTree>
    <p:extLst>
      <p:ext uri="{BB962C8B-B14F-4D97-AF65-F5344CB8AC3E}">
        <p14:creationId xmlns:p14="http://schemas.microsoft.com/office/powerpoint/2010/main" val="786576461"/>
      </p:ext>
    </p:extLst>
  </p:cSld>
</p:sld>
</file>

<file path=ppt/theme/theme1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2026-10-02T07:27:55.3150000Z</dcterms:created>
  <dcterms:modified xsi:type="dcterms:W3CDTF">2026-10-02T07:27:55.3150000Z</dcterms:modified>
</coreProperties>
</file>