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charts/chart1.xml" ContentType="application/vnd.openxmlformats-officedocument.drawingml.chart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slides/charts/chart2.xml" ContentType="application/vnd.openxmlformats-officedocument.drawingml.chart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slides/charts/chart3.xml" ContentType="application/vnd.openxmlformats-officedocument.drawingml.chart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slides/charts/chart4.xml" ContentType="application/vnd.openxmlformats-officedocument.drawingml.chart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slides/charts/chart5.xml" ContentType="application/vnd.openxmlformats-officedocument.drawingml.chart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slides/charts/chart6.xml" ContentType="application/vnd.openxmlformats-officedocument.drawingml.chart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slides/charts/chart7.xml" ContentType="application/vnd.openxmlformats-officedocument.drawingml.chart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slides/charts/chart8.xml" ContentType="application/vnd.openxmlformats-officedocument.drawingml.chart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66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67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8.xml" ContentType="application/vnd.openxmlformats-officedocument.presentationml.notesSlide+xml"/>
  <Override PartName="/ppt/slides/slide69.xml" ContentType="application/vnd.openxmlformats-officedocument.presentationml.slide+xml"/>
  <Override PartName="/ppt/notesSlides/notesSlide69.xml" ContentType="application/vnd.openxmlformats-officedocument.presentationml.notesSlide+xml"/>
  <Override PartName="/ppt/slides/slide70.xml" ContentType="application/vnd.openxmlformats-officedocument.presentationml.slide+xml"/>
  <Override PartName="/ppt/notesSlides/notesSlide70.xml" ContentType="application/vnd.openxmlformats-officedocument.presentationml.notesSlide+xml"/>
  <Override PartName="/ppt/slides/slide71.xml" ContentType="application/vnd.openxmlformats-officedocument.presentationml.slide+xml"/>
  <Override PartName="/ppt/notesSlides/notesSlide71.xml" ContentType="application/vnd.openxmlformats-officedocument.presentationml.notesSlide+xml"/>
  <Override PartName="/ppt/slides/slide72.xml" ContentType="application/vnd.openxmlformats-officedocument.presentationml.slide+xml"/>
  <Override PartName="/ppt/notesSlides/notesSlide72.xml" ContentType="application/vnd.openxmlformats-officedocument.presentationml.notesSlide+xml"/>
  <Override PartName="/ppt/slides/slide73.xml" ContentType="application/vnd.openxmlformats-officedocument.presentationml.slide+xml"/>
  <Override PartName="/ppt/notesSlides/notesSlide73.xml" ContentType="application/vnd.openxmlformats-officedocument.presentationml.notesSlide+xml"/>
  <Override PartName="/ppt/slides/slide74.xml" ContentType="application/vnd.openxmlformats-officedocument.presentationml.slide+xml"/>
  <Override PartName="/ppt/notesSlides/notesSlide74.xml" ContentType="application/vnd.openxmlformats-officedocument.presentationml.notesSlide+xml"/>
  <Override PartName="/ppt/slides/slide75.xml" ContentType="application/vnd.openxmlformats-officedocument.presentationml.slide+xml"/>
  <Override PartName="/ppt/notesSlides/notesSlide75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f0b112dc2ba46c5" /><Relationship Type="http://schemas.openxmlformats.org/officeDocument/2006/relationships/extended-properties" Target="/docProps/app.xml" Id="R2496bf95c6074faa" /><Relationship Type="http://schemas.openxmlformats.org/officeDocument/2006/relationships/officeDocument" Target="/ppt/presentation.xml" Id="Rbd1b9e350e9945e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757be899a604f8b"/>
  </p:sldMasterIdLst>
  <p:notesMasterIdLst>
    <p:notesMasterId xmlns:r="http://schemas.openxmlformats.org/officeDocument/2006/relationships" r:id="R889651970cb94d17"/>
  </p:notesMasterIdLst>
  <p:sldIdLst>
    <p:sldId xmlns:r="http://schemas.openxmlformats.org/officeDocument/2006/relationships" id="256" r:id="R00c7272c14e34db7"/>
    <p:sldId xmlns:r="http://schemas.openxmlformats.org/officeDocument/2006/relationships" id="257" r:id="Rdc0fb6501ff94585"/>
    <p:sldId xmlns:r="http://schemas.openxmlformats.org/officeDocument/2006/relationships" id="258" r:id="R11cb0d147b9a48c0"/>
    <p:sldId xmlns:r="http://schemas.openxmlformats.org/officeDocument/2006/relationships" id="259" r:id="R1aa4e8b204ad46f1"/>
    <p:sldId xmlns:r="http://schemas.openxmlformats.org/officeDocument/2006/relationships" id="260" r:id="R7a10d50eb13e4bbc"/>
    <p:sldId xmlns:r="http://schemas.openxmlformats.org/officeDocument/2006/relationships" id="261" r:id="R85c17ea7ab3b4010"/>
    <p:sldId xmlns:r="http://schemas.openxmlformats.org/officeDocument/2006/relationships" id="262" r:id="R34cae7844b5b4612"/>
    <p:sldId xmlns:r="http://schemas.openxmlformats.org/officeDocument/2006/relationships" id="263" r:id="R1a94ba1697944519"/>
    <p:sldId xmlns:r="http://schemas.openxmlformats.org/officeDocument/2006/relationships" id="264" r:id="R64b5845958524db6"/>
    <p:sldId xmlns:r="http://schemas.openxmlformats.org/officeDocument/2006/relationships" id="265" r:id="R64129aeb8bde4a92"/>
    <p:sldId xmlns:r="http://schemas.openxmlformats.org/officeDocument/2006/relationships" id="266" r:id="R8e972f8181c44717"/>
    <p:sldId xmlns:r="http://schemas.openxmlformats.org/officeDocument/2006/relationships" id="267" r:id="Rf9a7892f716a47dc"/>
    <p:sldId xmlns:r="http://schemas.openxmlformats.org/officeDocument/2006/relationships" id="268" r:id="Rf03903a45e904511"/>
    <p:sldId xmlns:r="http://schemas.openxmlformats.org/officeDocument/2006/relationships" id="269" r:id="R6eb524f10b864993"/>
    <p:sldId xmlns:r="http://schemas.openxmlformats.org/officeDocument/2006/relationships" id="270" r:id="R806f1ad11d8d4246"/>
    <p:sldId xmlns:r="http://schemas.openxmlformats.org/officeDocument/2006/relationships" id="271" r:id="R57af4458049d4726"/>
    <p:sldId xmlns:r="http://schemas.openxmlformats.org/officeDocument/2006/relationships" id="272" r:id="R9581b622c86540ef"/>
    <p:sldId xmlns:r="http://schemas.openxmlformats.org/officeDocument/2006/relationships" id="273" r:id="Rf1400ae2af174c5b"/>
    <p:sldId xmlns:r="http://schemas.openxmlformats.org/officeDocument/2006/relationships" id="274" r:id="R31f0f203f2cd4ef2"/>
    <p:sldId xmlns:r="http://schemas.openxmlformats.org/officeDocument/2006/relationships" id="275" r:id="R7747cd7f704442de"/>
    <p:sldId xmlns:r="http://schemas.openxmlformats.org/officeDocument/2006/relationships" id="276" r:id="Rf16d01b782e14bc8"/>
    <p:sldId xmlns:r="http://schemas.openxmlformats.org/officeDocument/2006/relationships" id="277" r:id="Rf7196bce50e54958"/>
    <p:sldId xmlns:r="http://schemas.openxmlformats.org/officeDocument/2006/relationships" id="278" r:id="Rbff0649c9f194f3b"/>
    <p:sldId xmlns:r="http://schemas.openxmlformats.org/officeDocument/2006/relationships" id="279" r:id="R068b430970f24e00"/>
    <p:sldId xmlns:r="http://schemas.openxmlformats.org/officeDocument/2006/relationships" id="280" r:id="Rab8c5c3f3c484e05"/>
    <p:sldId xmlns:r="http://schemas.openxmlformats.org/officeDocument/2006/relationships" id="281" r:id="R6443326e1f0a49f5"/>
    <p:sldId xmlns:r="http://schemas.openxmlformats.org/officeDocument/2006/relationships" id="282" r:id="Rc8339d5f12184dcd"/>
    <p:sldId xmlns:r="http://schemas.openxmlformats.org/officeDocument/2006/relationships" id="283" r:id="R55df27d5ff4a40c2"/>
    <p:sldId xmlns:r="http://schemas.openxmlformats.org/officeDocument/2006/relationships" id="284" r:id="Rb49cbda49f9a41ca"/>
    <p:sldId xmlns:r="http://schemas.openxmlformats.org/officeDocument/2006/relationships" id="285" r:id="R19c6097875294ad8"/>
    <p:sldId xmlns:r="http://schemas.openxmlformats.org/officeDocument/2006/relationships" id="286" r:id="Rc65fcadc6cde4caa"/>
    <p:sldId xmlns:r="http://schemas.openxmlformats.org/officeDocument/2006/relationships" id="287" r:id="R8d8c980a621a4be2"/>
    <p:sldId xmlns:r="http://schemas.openxmlformats.org/officeDocument/2006/relationships" id="288" r:id="R4e6cd47eb9b24eb2"/>
    <p:sldId xmlns:r="http://schemas.openxmlformats.org/officeDocument/2006/relationships" id="289" r:id="Re6baf3bd991a4bd9"/>
    <p:sldId xmlns:r="http://schemas.openxmlformats.org/officeDocument/2006/relationships" id="290" r:id="R0ab2fcd9b0d54a9c"/>
    <p:sldId xmlns:r="http://schemas.openxmlformats.org/officeDocument/2006/relationships" id="291" r:id="R56d8f3465d4f46ed"/>
    <p:sldId xmlns:r="http://schemas.openxmlformats.org/officeDocument/2006/relationships" id="292" r:id="R90af4a2142654a3b"/>
    <p:sldId xmlns:r="http://schemas.openxmlformats.org/officeDocument/2006/relationships" id="293" r:id="R19b0a25697f943bb"/>
    <p:sldId xmlns:r="http://schemas.openxmlformats.org/officeDocument/2006/relationships" id="294" r:id="Ra32dd0f3a6384ae1"/>
    <p:sldId xmlns:r="http://schemas.openxmlformats.org/officeDocument/2006/relationships" id="295" r:id="R0a04b3a128364b3f"/>
    <p:sldId xmlns:r="http://schemas.openxmlformats.org/officeDocument/2006/relationships" id="296" r:id="Rb42516fc68bc479a"/>
    <p:sldId xmlns:r="http://schemas.openxmlformats.org/officeDocument/2006/relationships" id="297" r:id="R307120445b334a2a"/>
    <p:sldId xmlns:r="http://schemas.openxmlformats.org/officeDocument/2006/relationships" id="298" r:id="Rf9077989ac6e4974"/>
    <p:sldId xmlns:r="http://schemas.openxmlformats.org/officeDocument/2006/relationships" id="299" r:id="R4a418fee1290487b"/>
    <p:sldId xmlns:r="http://schemas.openxmlformats.org/officeDocument/2006/relationships" id="300" r:id="Rcdf2e9a8d81e4dfa"/>
    <p:sldId xmlns:r="http://schemas.openxmlformats.org/officeDocument/2006/relationships" id="301" r:id="R3f0b7729f0434936"/>
    <p:sldId xmlns:r="http://schemas.openxmlformats.org/officeDocument/2006/relationships" id="302" r:id="R10d12d0764dd4b98"/>
    <p:sldId xmlns:r="http://schemas.openxmlformats.org/officeDocument/2006/relationships" id="303" r:id="R76afe922058445a5"/>
    <p:sldId xmlns:r="http://schemas.openxmlformats.org/officeDocument/2006/relationships" id="304" r:id="R980666fdb258442d"/>
    <p:sldId xmlns:r="http://schemas.openxmlformats.org/officeDocument/2006/relationships" id="305" r:id="Rebc3051f8d2b4523"/>
    <p:sldId xmlns:r="http://schemas.openxmlformats.org/officeDocument/2006/relationships" id="306" r:id="R03e7a0f886f349d5"/>
    <p:sldId xmlns:r="http://schemas.openxmlformats.org/officeDocument/2006/relationships" id="307" r:id="R00284b27a3cd464e"/>
    <p:sldId xmlns:r="http://schemas.openxmlformats.org/officeDocument/2006/relationships" id="308" r:id="Ra8b675e0d7354b1b"/>
    <p:sldId xmlns:r="http://schemas.openxmlformats.org/officeDocument/2006/relationships" id="309" r:id="R7f7a23d46a974a8c"/>
    <p:sldId xmlns:r="http://schemas.openxmlformats.org/officeDocument/2006/relationships" id="310" r:id="R0aacaa86242a47a3"/>
    <p:sldId xmlns:r="http://schemas.openxmlformats.org/officeDocument/2006/relationships" id="311" r:id="R5181b8b6984d46b7"/>
    <p:sldId xmlns:r="http://schemas.openxmlformats.org/officeDocument/2006/relationships" id="312" r:id="R341cb896f3244891"/>
    <p:sldId xmlns:r="http://schemas.openxmlformats.org/officeDocument/2006/relationships" id="313" r:id="Rffdffe01631a43c8"/>
    <p:sldId xmlns:r="http://schemas.openxmlformats.org/officeDocument/2006/relationships" id="314" r:id="Rdd89c6ee36e84fef"/>
    <p:sldId xmlns:r="http://schemas.openxmlformats.org/officeDocument/2006/relationships" id="315" r:id="Re6c6b8ae45dc4b2a"/>
    <p:sldId xmlns:r="http://schemas.openxmlformats.org/officeDocument/2006/relationships" id="316" r:id="R0be7b2085db64e6a"/>
    <p:sldId xmlns:r="http://schemas.openxmlformats.org/officeDocument/2006/relationships" id="317" r:id="Rcff3d478d1cb4f52"/>
    <p:sldId xmlns:r="http://schemas.openxmlformats.org/officeDocument/2006/relationships" id="318" r:id="R18596ee25abd434b"/>
    <p:sldId xmlns:r="http://schemas.openxmlformats.org/officeDocument/2006/relationships" id="319" r:id="R6d143eab4da1433b"/>
    <p:sldId xmlns:r="http://schemas.openxmlformats.org/officeDocument/2006/relationships" id="320" r:id="R231db0155a27419b"/>
    <p:sldId xmlns:r="http://schemas.openxmlformats.org/officeDocument/2006/relationships" id="321" r:id="R292d2c61a5d64e52"/>
    <p:sldId xmlns:r="http://schemas.openxmlformats.org/officeDocument/2006/relationships" id="322" r:id="Rb67d49be4821421c"/>
    <p:sldId xmlns:r="http://schemas.openxmlformats.org/officeDocument/2006/relationships" id="323" r:id="R0302dfe1a4304c49"/>
    <p:sldId xmlns:r="http://schemas.openxmlformats.org/officeDocument/2006/relationships" id="324" r:id="Ra2cfda0f45154c5b"/>
    <p:sldId xmlns:r="http://schemas.openxmlformats.org/officeDocument/2006/relationships" id="325" r:id="R82738a74caa14515"/>
    <p:sldId xmlns:r="http://schemas.openxmlformats.org/officeDocument/2006/relationships" id="326" r:id="R069dbf9c192f4dff"/>
    <p:sldId xmlns:r="http://schemas.openxmlformats.org/officeDocument/2006/relationships" id="327" r:id="Reb60015ec287491d"/>
    <p:sldId xmlns:r="http://schemas.openxmlformats.org/officeDocument/2006/relationships" id="328" r:id="R21453f8489b34286"/>
    <p:sldId xmlns:r="http://schemas.openxmlformats.org/officeDocument/2006/relationships" id="329" r:id="R6edb88407a944a65"/>
    <p:sldId xmlns:r="http://schemas.openxmlformats.org/officeDocument/2006/relationships" id="330" r:id="Rc31bc409159f478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0ccd7c59db24c20" /><Relationship Type="http://schemas.openxmlformats.org/officeDocument/2006/relationships/slideMaster" Target="/ppt/slideMasters/slideMaster1.xml" Id="Rd757be899a604f8b" /><Relationship Type="http://schemas.openxmlformats.org/officeDocument/2006/relationships/notesMaster" Target="/ppt/notesMasters/notesMaster1.xml" Id="R889651970cb94d17" /><Relationship Type="http://schemas.openxmlformats.org/officeDocument/2006/relationships/presProps" Target="/ppt/presProps.xml" Id="R2af2588f38ec4588" /><Relationship Type="http://schemas.openxmlformats.org/officeDocument/2006/relationships/tableStyles" Target="/ppt/tableStyles.xml" Id="Rdd9d6855e9474ad0" /><Relationship Type="http://schemas.openxmlformats.org/officeDocument/2006/relationships/slide" Target="/ppt/slides/slide1.xml" Id="R00c7272c14e34db7" /><Relationship Type="http://schemas.openxmlformats.org/officeDocument/2006/relationships/slide" Target="/ppt/slides/slide2.xml" Id="Rdc0fb6501ff94585" /><Relationship Type="http://schemas.openxmlformats.org/officeDocument/2006/relationships/slide" Target="/ppt/slides/slide3.xml" Id="R11cb0d147b9a48c0" /><Relationship Type="http://schemas.openxmlformats.org/officeDocument/2006/relationships/slide" Target="/ppt/slides/slide4.xml" Id="R1aa4e8b204ad46f1" /><Relationship Type="http://schemas.openxmlformats.org/officeDocument/2006/relationships/slide" Target="/ppt/slides/slide5.xml" Id="R7a10d50eb13e4bbc" /><Relationship Type="http://schemas.openxmlformats.org/officeDocument/2006/relationships/slide" Target="/ppt/slides/slide6.xml" Id="R85c17ea7ab3b4010" /><Relationship Type="http://schemas.openxmlformats.org/officeDocument/2006/relationships/slide" Target="/ppt/slides/slide7.xml" Id="R34cae7844b5b4612" /><Relationship Type="http://schemas.openxmlformats.org/officeDocument/2006/relationships/slide" Target="/ppt/slides/slide8.xml" Id="R1a94ba1697944519" /><Relationship Type="http://schemas.openxmlformats.org/officeDocument/2006/relationships/slide" Target="/ppt/slides/slide9.xml" Id="R64b5845958524db6" /><Relationship Type="http://schemas.openxmlformats.org/officeDocument/2006/relationships/slide" Target="/ppt/slides/slide10.xml" Id="R64129aeb8bde4a92" /><Relationship Type="http://schemas.openxmlformats.org/officeDocument/2006/relationships/slide" Target="/ppt/slides/slide11.xml" Id="R8e972f8181c44717" /><Relationship Type="http://schemas.openxmlformats.org/officeDocument/2006/relationships/slide" Target="/ppt/slides/slide12.xml" Id="Rf9a7892f716a47dc" /><Relationship Type="http://schemas.openxmlformats.org/officeDocument/2006/relationships/slide" Target="/ppt/slides/slide13.xml" Id="Rf03903a45e904511" /><Relationship Type="http://schemas.openxmlformats.org/officeDocument/2006/relationships/slide" Target="/ppt/slides/slide14.xml" Id="R6eb524f10b864993" /><Relationship Type="http://schemas.openxmlformats.org/officeDocument/2006/relationships/slide" Target="/ppt/slides/slide15.xml" Id="R806f1ad11d8d4246" /><Relationship Type="http://schemas.openxmlformats.org/officeDocument/2006/relationships/slide" Target="/ppt/slides/slide16.xml" Id="R57af4458049d4726" /><Relationship Type="http://schemas.openxmlformats.org/officeDocument/2006/relationships/slide" Target="/ppt/slides/slide17.xml" Id="R9581b622c86540ef" /><Relationship Type="http://schemas.openxmlformats.org/officeDocument/2006/relationships/slide" Target="/ppt/slides/slide18.xml" Id="Rf1400ae2af174c5b" /><Relationship Type="http://schemas.openxmlformats.org/officeDocument/2006/relationships/slide" Target="/ppt/slides/slide19.xml" Id="R31f0f203f2cd4ef2" /><Relationship Type="http://schemas.openxmlformats.org/officeDocument/2006/relationships/slide" Target="/ppt/slides/slide20.xml" Id="R7747cd7f704442de" /><Relationship Type="http://schemas.openxmlformats.org/officeDocument/2006/relationships/slide" Target="/ppt/slides/slide21.xml" Id="Rf16d01b782e14bc8" /><Relationship Type="http://schemas.openxmlformats.org/officeDocument/2006/relationships/slide" Target="/ppt/slides/slide22.xml" Id="Rf7196bce50e54958" /><Relationship Type="http://schemas.openxmlformats.org/officeDocument/2006/relationships/slide" Target="/ppt/slides/slide23.xml" Id="Rbff0649c9f194f3b" /><Relationship Type="http://schemas.openxmlformats.org/officeDocument/2006/relationships/slide" Target="/ppt/slides/slide24.xml" Id="R068b430970f24e00" /><Relationship Type="http://schemas.openxmlformats.org/officeDocument/2006/relationships/slide" Target="/ppt/slides/slide25.xml" Id="Rab8c5c3f3c484e05" /><Relationship Type="http://schemas.openxmlformats.org/officeDocument/2006/relationships/slide" Target="/ppt/slides/slide26.xml" Id="R6443326e1f0a49f5" /><Relationship Type="http://schemas.openxmlformats.org/officeDocument/2006/relationships/slide" Target="/ppt/slides/slide27.xml" Id="Rc8339d5f12184dcd" /><Relationship Type="http://schemas.openxmlformats.org/officeDocument/2006/relationships/slide" Target="/ppt/slides/slide28.xml" Id="R55df27d5ff4a40c2" /><Relationship Type="http://schemas.openxmlformats.org/officeDocument/2006/relationships/slide" Target="/ppt/slides/slide29.xml" Id="Rb49cbda49f9a41ca" /><Relationship Type="http://schemas.openxmlformats.org/officeDocument/2006/relationships/slide" Target="/ppt/slides/slide30.xml" Id="R19c6097875294ad8" /><Relationship Type="http://schemas.openxmlformats.org/officeDocument/2006/relationships/slide" Target="/ppt/slides/slide31.xml" Id="Rc65fcadc6cde4caa" /><Relationship Type="http://schemas.openxmlformats.org/officeDocument/2006/relationships/slide" Target="/ppt/slides/slide32.xml" Id="R8d8c980a621a4be2" /><Relationship Type="http://schemas.openxmlformats.org/officeDocument/2006/relationships/slide" Target="/ppt/slides/slide33.xml" Id="R4e6cd47eb9b24eb2" /><Relationship Type="http://schemas.openxmlformats.org/officeDocument/2006/relationships/slide" Target="/ppt/slides/slide34.xml" Id="Re6baf3bd991a4bd9" /><Relationship Type="http://schemas.openxmlformats.org/officeDocument/2006/relationships/slide" Target="/ppt/slides/slide35.xml" Id="R0ab2fcd9b0d54a9c" /><Relationship Type="http://schemas.openxmlformats.org/officeDocument/2006/relationships/slide" Target="/ppt/slides/slide36.xml" Id="R56d8f3465d4f46ed" /><Relationship Type="http://schemas.openxmlformats.org/officeDocument/2006/relationships/slide" Target="/ppt/slides/slide37.xml" Id="R90af4a2142654a3b" /><Relationship Type="http://schemas.openxmlformats.org/officeDocument/2006/relationships/slide" Target="/ppt/slides/slide38.xml" Id="R19b0a25697f943bb" /><Relationship Type="http://schemas.openxmlformats.org/officeDocument/2006/relationships/slide" Target="/ppt/slides/slide39.xml" Id="Ra32dd0f3a6384ae1" /><Relationship Type="http://schemas.openxmlformats.org/officeDocument/2006/relationships/slide" Target="/ppt/slides/slide40.xml" Id="R0a04b3a128364b3f" /><Relationship Type="http://schemas.openxmlformats.org/officeDocument/2006/relationships/slide" Target="/ppt/slides/slide41.xml" Id="Rb42516fc68bc479a" /><Relationship Type="http://schemas.openxmlformats.org/officeDocument/2006/relationships/slide" Target="/ppt/slides/slide42.xml" Id="R307120445b334a2a" /><Relationship Type="http://schemas.openxmlformats.org/officeDocument/2006/relationships/slide" Target="/ppt/slides/slide43.xml" Id="Rf9077989ac6e4974" /><Relationship Type="http://schemas.openxmlformats.org/officeDocument/2006/relationships/slide" Target="/ppt/slides/slide44.xml" Id="R4a418fee1290487b" /><Relationship Type="http://schemas.openxmlformats.org/officeDocument/2006/relationships/slide" Target="/ppt/slides/slide45.xml" Id="Rcdf2e9a8d81e4dfa" /><Relationship Type="http://schemas.openxmlformats.org/officeDocument/2006/relationships/slide" Target="/ppt/slides/slide46.xml" Id="R3f0b7729f0434936" /><Relationship Type="http://schemas.openxmlformats.org/officeDocument/2006/relationships/slide" Target="/ppt/slides/slide47.xml" Id="R10d12d0764dd4b98" /><Relationship Type="http://schemas.openxmlformats.org/officeDocument/2006/relationships/slide" Target="/ppt/slides/slide48.xml" Id="R76afe922058445a5" /><Relationship Type="http://schemas.openxmlformats.org/officeDocument/2006/relationships/slide" Target="/ppt/slides/slide49.xml" Id="R980666fdb258442d" /><Relationship Type="http://schemas.openxmlformats.org/officeDocument/2006/relationships/slide" Target="/ppt/slides/slide50.xml" Id="Rebc3051f8d2b4523" /><Relationship Type="http://schemas.openxmlformats.org/officeDocument/2006/relationships/slide" Target="/ppt/slides/slide51.xml" Id="R03e7a0f886f349d5" /><Relationship Type="http://schemas.openxmlformats.org/officeDocument/2006/relationships/slide" Target="/ppt/slides/slide52.xml" Id="R00284b27a3cd464e" /><Relationship Type="http://schemas.openxmlformats.org/officeDocument/2006/relationships/slide" Target="/ppt/slides/slide53.xml" Id="Ra8b675e0d7354b1b" /><Relationship Type="http://schemas.openxmlformats.org/officeDocument/2006/relationships/slide" Target="/ppt/slides/slide54.xml" Id="R7f7a23d46a974a8c" /><Relationship Type="http://schemas.openxmlformats.org/officeDocument/2006/relationships/slide" Target="/ppt/slides/slide55.xml" Id="R0aacaa86242a47a3" /><Relationship Type="http://schemas.openxmlformats.org/officeDocument/2006/relationships/slide" Target="/ppt/slides/slide56.xml" Id="R5181b8b6984d46b7" /><Relationship Type="http://schemas.openxmlformats.org/officeDocument/2006/relationships/slide" Target="/ppt/slides/slide57.xml" Id="R341cb896f3244891" /><Relationship Type="http://schemas.openxmlformats.org/officeDocument/2006/relationships/slide" Target="/ppt/slides/slide58.xml" Id="Rffdffe01631a43c8" /><Relationship Type="http://schemas.openxmlformats.org/officeDocument/2006/relationships/slide" Target="/ppt/slides/slide59.xml" Id="Rdd89c6ee36e84fef" /><Relationship Type="http://schemas.openxmlformats.org/officeDocument/2006/relationships/slide" Target="/ppt/slides/slide60.xml" Id="Re6c6b8ae45dc4b2a" /><Relationship Type="http://schemas.openxmlformats.org/officeDocument/2006/relationships/slide" Target="/ppt/slides/slide61.xml" Id="R0be7b2085db64e6a" /><Relationship Type="http://schemas.openxmlformats.org/officeDocument/2006/relationships/slide" Target="/ppt/slides/slide62.xml" Id="Rcff3d478d1cb4f52" /><Relationship Type="http://schemas.openxmlformats.org/officeDocument/2006/relationships/slide" Target="/ppt/slides/slide63.xml" Id="R18596ee25abd434b" /><Relationship Type="http://schemas.openxmlformats.org/officeDocument/2006/relationships/slide" Target="/ppt/slides/slide64.xml" Id="R6d143eab4da1433b" /><Relationship Type="http://schemas.openxmlformats.org/officeDocument/2006/relationships/slide" Target="/ppt/slides/slide65.xml" Id="R231db0155a27419b" /><Relationship Type="http://schemas.openxmlformats.org/officeDocument/2006/relationships/slide" Target="/ppt/slides/slide66.xml" Id="R292d2c61a5d64e52" /><Relationship Type="http://schemas.openxmlformats.org/officeDocument/2006/relationships/slide" Target="/ppt/slides/slide67.xml" Id="Rb67d49be4821421c" /><Relationship Type="http://schemas.openxmlformats.org/officeDocument/2006/relationships/slide" Target="/ppt/slides/slide68.xml" Id="R0302dfe1a4304c49" /><Relationship Type="http://schemas.openxmlformats.org/officeDocument/2006/relationships/slide" Target="/ppt/slides/slide69.xml" Id="Ra2cfda0f45154c5b" /><Relationship Type="http://schemas.openxmlformats.org/officeDocument/2006/relationships/slide" Target="/ppt/slides/slide70.xml" Id="R82738a74caa14515" /><Relationship Type="http://schemas.openxmlformats.org/officeDocument/2006/relationships/slide" Target="/ppt/slides/slide71.xml" Id="R069dbf9c192f4dff" /><Relationship Type="http://schemas.openxmlformats.org/officeDocument/2006/relationships/slide" Target="/ppt/slides/slide72.xml" Id="Reb60015ec287491d" /><Relationship Type="http://schemas.openxmlformats.org/officeDocument/2006/relationships/slide" Target="/ppt/slides/slide73.xml" Id="R21453f8489b34286" /><Relationship Type="http://schemas.openxmlformats.org/officeDocument/2006/relationships/slide" Target="/ppt/slides/slide74.xml" Id="R6edb88407a944a65" /><Relationship Type="http://schemas.openxmlformats.org/officeDocument/2006/relationships/slide" Target="/ppt/slides/slide75.xml" Id="Rc31bc409159f478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2f59059f4db445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BLACK WHITE BLUE">
      <a:dk1>
        <a:srgbClr val="08090B"/>
      </a:dk1>
      <a:lt1>
        <a:srgbClr val="FFFFFF"/>
      </a:lt1>
      <a:dk2>
        <a:srgbClr val="102747"/>
      </a:dk2>
      <a:lt2>
        <a:srgbClr val="F6F7F9"/>
      </a:lt2>
      <a:accent1>
        <a:srgbClr val="2563EB"/>
      </a:accent1>
      <a:accent2>
        <a:srgbClr val="102747"/>
      </a:accent2>
      <a:accent3>
        <a:srgbClr val="536174"/>
      </a:accent3>
      <a:accent4>
        <a:srgbClr val="E8F0FF"/>
      </a:accent4>
      <a:accent5>
        <a:srgbClr val="151719"/>
      </a:accent5>
      <a:accent6>
        <a:srgbClr val="D4DAE3"/>
      </a:accent6>
      <a:hlink>
        <a:srgbClr val="2563EB"/>
      </a:hlink>
      <a:folHlink>
        <a:srgbClr val="102747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BLACK WHITE BLU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587550f76874017" /><Relationship Type="http://schemas.openxmlformats.org/officeDocument/2006/relationships/notesMaster" Target="/ppt/notesMasters/notesMaster1.xml" Id="Ra764216848bd44d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54459ec588e4cde" /><Relationship Type="http://schemas.openxmlformats.org/officeDocument/2006/relationships/notesMaster" Target="/ppt/notesMasters/notesMaster1.xml" Id="Rdf77e6b30419417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28388ddfa31436c" /><Relationship Type="http://schemas.openxmlformats.org/officeDocument/2006/relationships/notesMaster" Target="/ppt/notesMasters/notesMaster1.xml" Id="R987710f5ffd54a8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55015ad200645ba" /><Relationship Type="http://schemas.openxmlformats.org/officeDocument/2006/relationships/notesMaster" Target="/ppt/notesMasters/notesMaster1.xml" Id="Raf20adbc0d0c4b6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497fec2e31746b0" /><Relationship Type="http://schemas.openxmlformats.org/officeDocument/2006/relationships/notesMaster" Target="/ppt/notesMasters/notesMaster1.xml" Id="R11e635e835b54f3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6500b4987eb48d3" /><Relationship Type="http://schemas.openxmlformats.org/officeDocument/2006/relationships/notesMaster" Target="/ppt/notesMasters/notesMaster1.xml" Id="Refa1c648e472441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044a6e9464645c1" /><Relationship Type="http://schemas.openxmlformats.org/officeDocument/2006/relationships/notesMaster" Target="/ppt/notesMasters/notesMaster1.xml" Id="R08ca7e5ac163485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5946a012cb947d6" /><Relationship Type="http://schemas.openxmlformats.org/officeDocument/2006/relationships/notesMaster" Target="/ppt/notesMasters/notesMaster1.xml" Id="R1773388e173a466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000e04869374276" /><Relationship Type="http://schemas.openxmlformats.org/officeDocument/2006/relationships/notesMaster" Target="/ppt/notesMasters/notesMaster1.xml" Id="R3393dbd26afa401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60bb53c35794daa" /><Relationship Type="http://schemas.openxmlformats.org/officeDocument/2006/relationships/notesMaster" Target="/ppt/notesMasters/notesMaster1.xml" Id="R9f46644781a8400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c9499a501c04a45" /><Relationship Type="http://schemas.openxmlformats.org/officeDocument/2006/relationships/notesMaster" Target="/ppt/notesMasters/notesMaster1.xml" Id="R4353288696be4c2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894ce8085964647" /><Relationship Type="http://schemas.openxmlformats.org/officeDocument/2006/relationships/notesMaster" Target="/ppt/notesMasters/notesMaster1.xml" Id="Rd46c4eb16b3440f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13cfaf8db014674" /><Relationship Type="http://schemas.openxmlformats.org/officeDocument/2006/relationships/notesMaster" Target="/ppt/notesMasters/notesMaster1.xml" Id="R6e376437a1a6494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faa711541bb4b23" /><Relationship Type="http://schemas.openxmlformats.org/officeDocument/2006/relationships/notesMaster" Target="/ppt/notesMasters/notesMaster1.xml" Id="R4dbd5c213c56490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a3239b9f1794098" /><Relationship Type="http://schemas.openxmlformats.org/officeDocument/2006/relationships/notesMaster" Target="/ppt/notesMasters/notesMaster1.xml" Id="R5306016af8f2402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5543af39476411a" /><Relationship Type="http://schemas.openxmlformats.org/officeDocument/2006/relationships/notesMaster" Target="/ppt/notesMasters/notesMaster1.xml" Id="Rec8de227234e49c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8aafa5d026d4d7a" /><Relationship Type="http://schemas.openxmlformats.org/officeDocument/2006/relationships/notesMaster" Target="/ppt/notesMasters/notesMaster1.xml" Id="Rf6d38228ce74449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007754249a64e73" /><Relationship Type="http://schemas.openxmlformats.org/officeDocument/2006/relationships/notesMaster" Target="/ppt/notesMasters/notesMaster1.xml" Id="R111e32983cb5422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5104193718ac4a40" /><Relationship Type="http://schemas.openxmlformats.org/officeDocument/2006/relationships/notesMaster" Target="/ppt/notesMasters/notesMaster1.xml" Id="R70a8f2d89b1548a4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a6c25bead7cf4df8" /><Relationship Type="http://schemas.openxmlformats.org/officeDocument/2006/relationships/notesMaster" Target="/ppt/notesMasters/notesMaster1.xml" Id="R3957acf9e134424f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09e0a5634dd14ea7" /><Relationship Type="http://schemas.openxmlformats.org/officeDocument/2006/relationships/notesMaster" Target="/ppt/notesMasters/notesMaster1.xml" Id="R6a4e186e65164027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ca5a6ae6bfb3459d" /><Relationship Type="http://schemas.openxmlformats.org/officeDocument/2006/relationships/notesMaster" Target="/ppt/notesMasters/notesMaster1.xml" Id="R9de71ab89bcf4f88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cafadf905d044f67" /><Relationship Type="http://schemas.openxmlformats.org/officeDocument/2006/relationships/notesMaster" Target="/ppt/notesMasters/notesMaster1.xml" Id="R9d1b5bd07d584323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bdecc8dad28b48cb" /><Relationship Type="http://schemas.openxmlformats.org/officeDocument/2006/relationships/notesMaster" Target="/ppt/notesMasters/notesMaster1.xml" Id="R67440164dca84723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37cc8b2ce9904433" /><Relationship Type="http://schemas.openxmlformats.org/officeDocument/2006/relationships/notesMaster" Target="/ppt/notesMasters/notesMaster1.xml" Id="R049395b207e94a38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794cc7c4f39f4a95" /><Relationship Type="http://schemas.openxmlformats.org/officeDocument/2006/relationships/notesMaster" Target="/ppt/notesMasters/notesMaster1.xml" Id="R883b5abfc72445d5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f619561ebbf4464d" /><Relationship Type="http://schemas.openxmlformats.org/officeDocument/2006/relationships/notesMaster" Target="/ppt/notesMasters/notesMaster1.xml" Id="R2926d17f3431408a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68a7139cf413436c" /><Relationship Type="http://schemas.openxmlformats.org/officeDocument/2006/relationships/notesMaster" Target="/ppt/notesMasters/notesMaster1.xml" Id="R54beecb65c7148f7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621993dc17364d52" /><Relationship Type="http://schemas.openxmlformats.org/officeDocument/2006/relationships/notesMaster" Target="/ppt/notesMasters/notesMaster1.xml" Id="R5ead16ae700948b4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5bc82821aa5d4865" /><Relationship Type="http://schemas.openxmlformats.org/officeDocument/2006/relationships/notesMaster" Target="/ppt/notesMasters/notesMaster1.xml" Id="Reb06f4f1dd8e450a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ea6e748dd11741f6" /><Relationship Type="http://schemas.openxmlformats.org/officeDocument/2006/relationships/notesMaster" Target="/ppt/notesMasters/notesMaster1.xml" Id="R7345cb90aae74c37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09531e140ee04c91" /><Relationship Type="http://schemas.openxmlformats.org/officeDocument/2006/relationships/notesMaster" Target="/ppt/notesMasters/notesMaster1.xml" Id="R68ccad4d67a64b9d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7a9c92459f444d8f" /><Relationship Type="http://schemas.openxmlformats.org/officeDocument/2006/relationships/notesMaster" Target="/ppt/notesMasters/notesMaster1.xml" Id="Rd4aa5b2fa6ad4ba6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106a8e8f5a9f4e36" /><Relationship Type="http://schemas.openxmlformats.org/officeDocument/2006/relationships/notesMaster" Target="/ppt/notesMasters/notesMaster1.xml" Id="Rbe7202cb323b409a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18717f8f232e4008" /><Relationship Type="http://schemas.openxmlformats.org/officeDocument/2006/relationships/notesMaster" Target="/ppt/notesMasters/notesMaster1.xml" Id="Rc6182c03e60241d8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04433b16e5514b1f" /><Relationship Type="http://schemas.openxmlformats.org/officeDocument/2006/relationships/notesMaster" Target="/ppt/notesMasters/notesMaster1.xml" Id="Rb2717d4f9a244f04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686ecd9fca1e4be6" /><Relationship Type="http://schemas.openxmlformats.org/officeDocument/2006/relationships/notesMaster" Target="/ppt/notesMasters/notesMaster1.xml" Id="R3a98ee6c26b94b0a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89f0c7abccc64b06" /><Relationship Type="http://schemas.openxmlformats.org/officeDocument/2006/relationships/notesMaster" Target="/ppt/notesMasters/notesMaster1.xml" Id="Re888a017d09c496f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cca49740283f46a0" /><Relationship Type="http://schemas.openxmlformats.org/officeDocument/2006/relationships/notesMaster" Target="/ppt/notesMasters/notesMaster1.xml" Id="R449d3e01e0374767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9107532ca21e458f" /><Relationship Type="http://schemas.openxmlformats.org/officeDocument/2006/relationships/notesMaster" Target="/ppt/notesMasters/notesMaster1.xml" Id="R7fe5ef32d5d54b60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65556feced354eae" /><Relationship Type="http://schemas.openxmlformats.org/officeDocument/2006/relationships/notesMaster" Target="/ppt/notesMasters/notesMaster1.xml" Id="R73d7c48dfab24f72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06a25e933e06497c" /><Relationship Type="http://schemas.openxmlformats.org/officeDocument/2006/relationships/notesMaster" Target="/ppt/notesMasters/notesMaster1.xml" Id="R10e3e6815dbc4d7c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3b29fa7373c74e1c" /><Relationship Type="http://schemas.openxmlformats.org/officeDocument/2006/relationships/notesMaster" Target="/ppt/notesMasters/notesMaster1.xml" Id="Rd3ec0bc8df9648c0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1d8e3dc5816d42eb" /><Relationship Type="http://schemas.openxmlformats.org/officeDocument/2006/relationships/notesMaster" Target="/ppt/notesMasters/notesMaster1.xml" Id="R8282cba293c942ae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3e265ded6da34858" /><Relationship Type="http://schemas.openxmlformats.org/officeDocument/2006/relationships/notesMaster" Target="/ppt/notesMasters/notesMaster1.xml" Id="R3bca58f08e9345ce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bd19864c919d4b5c" /><Relationship Type="http://schemas.openxmlformats.org/officeDocument/2006/relationships/notesMaster" Target="/ppt/notesMasters/notesMaster1.xml" Id="Reff38fa2ac0b44c7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4d4dd53545f74530" /><Relationship Type="http://schemas.openxmlformats.org/officeDocument/2006/relationships/notesMaster" Target="/ppt/notesMasters/notesMaster1.xml" Id="R0b392b4e35074668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20f540787a054215" /><Relationship Type="http://schemas.openxmlformats.org/officeDocument/2006/relationships/notesMaster" Target="/ppt/notesMasters/notesMaster1.xml" Id="R0032158d06de4399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61f7999318da4d25" /><Relationship Type="http://schemas.openxmlformats.org/officeDocument/2006/relationships/notesMaster" Target="/ppt/notesMasters/notesMaster1.xml" Id="R61f536b10ff044d2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c7f3e951d77c47b9" /><Relationship Type="http://schemas.openxmlformats.org/officeDocument/2006/relationships/notesMaster" Target="/ppt/notesMasters/notesMaster1.xml" Id="Re02795f6d8d746ec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d5f1da12adfe478b" /><Relationship Type="http://schemas.openxmlformats.org/officeDocument/2006/relationships/notesMaster" Target="/ppt/notesMasters/notesMaster1.xml" Id="R5aac503bea1d4472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0e7dc74725f544d9" /><Relationship Type="http://schemas.openxmlformats.org/officeDocument/2006/relationships/notesMaster" Target="/ppt/notesMasters/notesMaster1.xml" Id="R62354f4e61144d01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6a81261a8cd6458a" /><Relationship Type="http://schemas.openxmlformats.org/officeDocument/2006/relationships/notesMaster" Target="/ppt/notesMasters/notesMaster1.xml" Id="R9376fc48208840a7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61876144237b43b0" /><Relationship Type="http://schemas.openxmlformats.org/officeDocument/2006/relationships/notesMaster" Target="/ppt/notesMasters/notesMaster1.xml" Id="Rc26567371c9747e5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927e0a3a8d0d4440" /><Relationship Type="http://schemas.openxmlformats.org/officeDocument/2006/relationships/notesMaster" Target="/ppt/notesMasters/notesMaster1.xml" Id="R5bfdb36fa3ac4ebc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ab61be9fac47451c" /><Relationship Type="http://schemas.openxmlformats.org/officeDocument/2006/relationships/notesMaster" Target="/ppt/notesMasters/notesMaster1.xml" Id="R3aa904a410e64249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1d5ebb0662db4412" /><Relationship Type="http://schemas.openxmlformats.org/officeDocument/2006/relationships/notesMaster" Target="/ppt/notesMasters/notesMaster1.xml" Id="R47811b8ff0f846f7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5e5c436127b342af" /><Relationship Type="http://schemas.openxmlformats.org/officeDocument/2006/relationships/notesMaster" Target="/ppt/notesMasters/notesMaster1.xml" Id="R42524dddc0b84f92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4019179c07984413" /><Relationship Type="http://schemas.openxmlformats.org/officeDocument/2006/relationships/notesMaster" Target="/ppt/notesMasters/notesMaster1.xml" Id="R9fad556bb32d4bb5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82919f30190345ec" /><Relationship Type="http://schemas.openxmlformats.org/officeDocument/2006/relationships/notesMaster" Target="/ppt/notesMasters/notesMaster1.xml" Id="Rf44db30ba2b54c6d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7474374eeeab4d4a" /><Relationship Type="http://schemas.openxmlformats.org/officeDocument/2006/relationships/notesMaster" Target="/ppt/notesMasters/notesMaster1.xml" Id="Re4c1417f34fd47a0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f585f07a597e425f" /><Relationship Type="http://schemas.openxmlformats.org/officeDocument/2006/relationships/notesMaster" Target="/ppt/notesMasters/notesMaster1.xml" Id="R223d8beb63e040e4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484fe17af4ae466c" /><Relationship Type="http://schemas.openxmlformats.org/officeDocument/2006/relationships/notesMaster" Target="/ppt/notesMasters/notesMaster1.xml" Id="R2fc2c2efa4ff4561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e851a567856c4e55" /><Relationship Type="http://schemas.openxmlformats.org/officeDocument/2006/relationships/notesMaster" Target="/ppt/notesMasters/notesMaster1.xml" Id="R5f8f52e9ecfa4953" /></Relationships>
</file>

<file path=ppt/notesSlides/_rels/notesSlide65.xml.rels>&#65279;<?xml version="1.0" encoding="utf-8"?><Relationships xmlns="http://schemas.openxmlformats.org/package/2006/relationships"><Relationship Type="http://schemas.openxmlformats.org/officeDocument/2006/relationships/slide" Target="/ppt/slides/slide65.xml" Id="R9aadc2671c564b66" /><Relationship Type="http://schemas.openxmlformats.org/officeDocument/2006/relationships/notesMaster" Target="/ppt/notesMasters/notesMaster1.xml" Id="R154e31c73857443e" /></Relationships>
</file>

<file path=ppt/notesSlides/_rels/notesSlide66.xml.rels>&#65279;<?xml version="1.0" encoding="utf-8"?><Relationships xmlns="http://schemas.openxmlformats.org/package/2006/relationships"><Relationship Type="http://schemas.openxmlformats.org/officeDocument/2006/relationships/slide" Target="/ppt/slides/slide66.xml" Id="R714fbacc06bb414a" /><Relationship Type="http://schemas.openxmlformats.org/officeDocument/2006/relationships/notesMaster" Target="/ppt/notesMasters/notesMaster1.xml" Id="R30fe1252016a4597" /></Relationships>
</file>

<file path=ppt/notesSlides/_rels/notesSlide67.xml.rels>&#65279;<?xml version="1.0" encoding="utf-8"?><Relationships xmlns="http://schemas.openxmlformats.org/package/2006/relationships"><Relationship Type="http://schemas.openxmlformats.org/officeDocument/2006/relationships/slide" Target="/ppt/slides/slide67.xml" Id="R734d5aa348a144a9" /><Relationship Type="http://schemas.openxmlformats.org/officeDocument/2006/relationships/notesMaster" Target="/ppt/notesMasters/notesMaster1.xml" Id="R08310f96d1574aa8" /></Relationships>
</file>

<file path=ppt/notesSlides/_rels/notesSlide68.xml.rels>&#65279;<?xml version="1.0" encoding="utf-8"?><Relationships xmlns="http://schemas.openxmlformats.org/package/2006/relationships"><Relationship Type="http://schemas.openxmlformats.org/officeDocument/2006/relationships/slide" Target="/ppt/slides/slide68.xml" Id="R888c8fe1c49345b9" /><Relationship Type="http://schemas.openxmlformats.org/officeDocument/2006/relationships/notesMaster" Target="/ppt/notesMasters/notesMaster1.xml" Id="Rfc908078be1245d0" /></Relationships>
</file>

<file path=ppt/notesSlides/_rels/notesSlide69.xml.rels>&#65279;<?xml version="1.0" encoding="utf-8"?><Relationships xmlns="http://schemas.openxmlformats.org/package/2006/relationships"><Relationship Type="http://schemas.openxmlformats.org/officeDocument/2006/relationships/slide" Target="/ppt/slides/slide69.xml" Id="Ra4f61396d6e14e9e" /><Relationship Type="http://schemas.openxmlformats.org/officeDocument/2006/relationships/notesMaster" Target="/ppt/notesMasters/notesMaster1.xml" Id="Rf1b5758fc7124a8f" /></Relationships>
</file>

<file path=ppt/notesSlides/_rels/notesSlide70.xml.rels>&#65279;<?xml version="1.0" encoding="utf-8"?><Relationships xmlns="http://schemas.openxmlformats.org/package/2006/relationships"><Relationship Type="http://schemas.openxmlformats.org/officeDocument/2006/relationships/slide" Target="/ppt/slides/slide70.xml" Id="Rb276e54985864efb" /><Relationship Type="http://schemas.openxmlformats.org/officeDocument/2006/relationships/notesMaster" Target="/ppt/notesMasters/notesMaster1.xml" Id="R1ab1f92f3342434c" /></Relationships>
</file>

<file path=ppt/notesSlides/_rels/notesSlide71.xml.rels>&#65279;<?xml version="1.0" encoding="utf-8"?><Relationships xmlns="http://schemas.openxmlformats.org/package/2006/relationships"><Relationship Type="http://schemas.openxmlformats.org/officeDocument/2006/relationships/slide" Target="/ppt/slides/slide71.xml" Id="R8a681d0745c849f6" /><Relationship Type="http://schemas.openxmlformats.org/officeDocument/2006/relationships/notesMaster" Target="/ppt/notesMasters/notesMaster1.xml" Id="Rf7962916a1b740f8" /></Relationships>
</file>

<file path=ppt/notesSlides/_rels/notesSlide72.xml.rels>&#65279;<?xml version="1.0" encoding="utf-8"?><Relationships xmlns="http://schemas.openxmlformats.org/package/2006/relationships"><Relationship Type="http://schemas.openxmlformats.org/officeDocument/2006/relationships/slide" Target="/ppt/slides/slide72.xml" Id="R9889dc4a9d47479e" /><Relationship Type="http://schemas.openxmlformats.org/officeDocument/2006/relationships/notesMaster" Target="/ppt/notesMasters/notesMaster1.xml" Id="R4a8e60d69b0b4a86" /></Relationships>
</file>

<file path=ppt/notesSlides/_rels/notesSlide73.xml.rels>&#65279;<?xml version="1.0" encoding="utf-8"?><Relationships xmlns="http://schemas.openxmlformats.org/package/2006/relationships"><Relationship Type="http://schemas.openxmlformats.org/officeDocument/2006/relationships/slide" Target="/ppt/slides/slide73.xml" Id="R6ad96172b6014e86" /><Relationship Type="http://schemas.openxmlformats.org/officeDocument/2006/relationships/notesMaster" Target="/ppt/notesMasters/notesMaster1.xml" Id="Rcdfb15e56ac44219" /></Relationships>
</file>

<file path=ppt/notesSlides/_rels/notesSlide74.xml.rels>&#65279;<?xml version="1.0" encoding="utf-8"?><Relationships xmlns="http://schemas.openxmlformats.org/package/2006/relationships"><Relationship Type="http://schemas.openxmlformats.org/officeDocument/2006/relationships/slide" Target="/ppt/slides/slide74.xml" Id="R3ddc2b2441014654" /><Relationship Type="http://schemas.openxmlformats.org/officeDocument/2006/relationships/notesMaster" Target="/ppt/notesMasters/notesMaster1.xml" Id="R2fd9d16000c2413d" /></Relationships>
</file>

<file path=ppt/notesSlides/_rels/notesSlide75.xml.rels>&#65279;<?xml version="1.0" encoding="utf-8"?><Relationships xmlns="http://schemas.openxmlformats.org/package/2006/relationships"><Relationship Type="http://schemas.openxmlformats.org/officeDocument/2006/relationships/slide" Target="/ppt/slides/slide75.xml" Id="R6c3cbd94c4b046f6" /><Relationship Type="http://schemas.openxmlformats.org/officeDocument/2006/relationships/notesMaster" Target="/ppt/notesMasters/notesMaster1.xml" Id="Re2f29cf81fe84c5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검색 품질 개선. 도식이나 예시를 먼저 관찰한 뒤 수강생에게 결과 예측을 요청한다. 비교 · 순위 결합 · 실패 질의 · 실험 기록 · WEEK 05 · 2026.10.02 · 온라인 실시간 · 차성재 · 무신사 Core AI PM × AI 대학원 겸임교수.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오늘의 학습 목표. 도식이나 예시를 먼저 관찰한 뒤 수강생에게 결과 예측을 요청한다. 검색 방식 비교 · TF-IDF·BM25의 동작 차이 · 결합·재정렬 · 후보 생성과 순위 변경 구분 · 설정 선택 · 질의별 실패·비용·복잡도 함께 판단.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16주 로드맵 · 현재 주차. 도식이나 예시를 먼저 관찰한 뒤 수강생에게 결과 예측을 요청한다. 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온라인 수업 운영. 도식이나 예시를 먼저 관찰한 뒤 수강생에게 결과 예측을 요청한다. 주차 · 운영 · 01–03, 05, 07, 09–15 · 온라인 실시간 강의 · 04 · 09.25 / 06 · 10.09 · 휴일 주간 · 녹화영상 업로드로 대체 · 08 · 10.23 · 중간고사 없음 · 기획서 온라인 제출·평가 · 16 · 12.18 · 온라인 실시간 프로젝트 발표.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100분 수업 구성. 도식이나 예시를 먼저 관찰한 뒤 수강생에게 결과 예측을 요청한다. 00–10분 · 4주차 질문·오늘의 목표 · 10–30분 · TF-IDF·BM25·의미 검색 · 30–45분 · RRF·재정렬·후보 수 · 45–50분 · 휴식·환경 점검 · 50–85분 · Notebook·질의별 실험 · 85–100분 · 과제 피드백·기획서.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4주차와 5주차. 도식이나 예시를 먼저 관찰한 뒤 수강생에게 결과 예측을 요청한다. W04 · 근거 확인 · 문서·날짜·권한·인용 · 찾은 자료를 믿을 수 있는지 · W05 · 검색 개선 · 검색 방식·질의 표현·평가 · 필요한 자료를 더 잘 찾는지.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이번 주의 과제 운영. 도식이나 예시를 먼저 관찰한 뒤 수강생에게 결과 예측을 요청한다. 새 과제 출제 없이 과제 02 개선·피드백 · 격주 과제 · 다음 출제는 6주차 · 온라인 제출 기준은 공지 확인.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실패 질의의 출발점. 도식이나 예시를 먼저 관찰한 뒤 수강생에게 결과 예측을 요청한다. 질문: 돈은 언제 돌려줘요 · 문서 제목: 환불 처리 기간 · 문서가 있어도 사용자의 표현과 다르면 찾지 못할 수 있습니다..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검색 방식의 이해. 도식이나 예시를 먼저 관찰한 뒤 수강생에게 결과 예측을 요청한다. Sparse · 희소 표현 / Dense · 밀집 표현 · 모델 기반 의미 검색과 어휘 검색의 구분.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희소 표현과 밀집 표현. 도식이나 예시를 먼저 관찰한 뒤 수강생에게 결과 예측을 요청한다. 희소 표현 · sparse · 단어별 빈도·가중치 · BM25·TF-IDF 등 어휘 기반 · 밀집 표현 · dense · 학습된 벡터의 좌표 · 임베딩 모델·유사도 검색.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키워드 검색의 흐름. 도식이나 예시를 먼저 관찰한 뒤 수강생에게 결과 예측을 요청한다. 한국어 띄어쓰기·조사·동의어·업무 용어를 실패 질의로 확인.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한국어 토큰화 예시. 도식이나 예시를 먼저 관찰한 뒤 수강생에게 결과 예측을 요청한다. 반품 / 반품은 / 반품할 · 단어만 구분하면 서로 다른 표현 · 실습: 단어 + 2·3문자 n-gram · 형태소 분석기 아님.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단어와 문자 n-gram. 도식이나 예시를 먼저 관찰한 뒤 수강생에게 결과 예측을 요청한다. 단어만 · 단어 의미와 경계를 유지 · 조사·띄어쓰기 변화에 약함 · 문자 조각 추가 · 부분 표현의 공통점 활용 · 짧은 공통 조각이 잡음을 늘릴 수 있음.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TF-IDF · 단어 가중치. 도식이나 예시를 먼저 관찰한 뒤 수강생에게 결과 예측을 요청한다. Term Frequency–Inverse Document Frequency · 문서 내 빈도 × 역문서 빈도 · 실습: (1 + log tf) × [log((N+1)/(df+1)) + 1].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문서 빈도와 구분력. 도식이나 예시를 먼저 관찰한 뒤 수강생에게 결과 예측을 요청한다. 설명용 N=10 고정 · 실습 smoothing 공식을 사용한 계산.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코사인 유사도. 도식이나 예시를 먼저 관찰한 뒤 수강생에게 결과 예측을 요청한다. 벡터 내적 / 두 벡터 길이의 곱 · 동일 방향: 1 · 직교: 0 · TF-IDF 벡터는 학습된 의미 임베딩이 아닙니다..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BM25의 동작. 도식이나 예시를 먼저 관찰한 뒤 수강생에게 결과 예측을 요청한다. 단어 빈도 포화 · 문서 길이 정규화 · 설정은 대표 질의에서 비교.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BM25 · 검색 점수. 도식이나 예시를 먼저 관찰한 뒤 수강생에게 결과 예측을 요청한다. Best Matching 25 · 어휘 기반 순위 함수 · 단어 빈도·희귀도·문서 길이를 함께 반영 · k1: 빈도 포화 / b: 길이 정규화.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빈도 포화의 효과. 도식이나 예시를 먼저 관찰한 뒤 수강생에게 결과 예측을 요청한다. 설명용 k1=1.5 · 길이 비율 1 고정 · 반복 빈도의 점수 증가 폭 감소.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문서 길이의 효과. 도식이나 예시를 먼저 관찰한 뒤 수강생에게 결과 예측을 요청한다. 설명용 tf=2, k1=1.5, 평균 길이 100 · b=0과 0.75 비교.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BM25 설정. 도식이나 예시를 먼저 관찰한 뒤 수강생에게 결과 예측을 요청한다. 설정 · 의미 · 실습 기준 · k1 · 단어 빈도 포화 · 1.5 · b · 문서 길이 정규화 · 0.75 · 토큰화 · 일치할 표현의 단위 · 단어 + 한국어 n-gram · 필터 · 검색 대상 문서 · 권한·적용 날짜 먼저.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TF-IDF와 BM25. 도식이나 예시를 먼저 관찰한 뒤 수강생에게 결과 예측을 요청한다. TF-IDF + cosine · 정규화된 어휘 벡터 비교 · 간단한 기준 검색기 · BM25 · 빈도 포화·길이 보정 · 어휘 검색 기준선.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검색 점수의 척도. 도식이나 예시를 먼저 관찰한 뒤 수강생에게 결과 예측을 요청한다. BM25 점수와 코사인 점수는 다른 척도입니다. · 두 raw score를 그대로 더하면 한 방식이 과도하게 지배할 수 있습니다..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선택 실습 · 실제 임베딩. 도식이나 예시를 먼저 관찰한 뒤 수강생에게 결과 예측을 요청한다. 자료 · 안전한 문서 · Ollama embed · 문서 벡터 · 질문 · 사용자 표현 · 같은 모델 · 코사인 검색.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기준선과 모델 검색. 도식이나 예시를 먼저 관찰한 뒤 수강생에게 결과 예측을 요청한다. 필수 기준선 · 작은 자료 · 빠른 실행 · 원리·실패·평가를 먼저 확인 · 선택 모델 검색 · 학습된 의미 임베딩 · 한국어 질의·모델 입력 제한 검증.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순위 결합과 재정렬. 도식이나 예시를 먼저 관찰한 뒤 수강생에게 결과 예측을 요청한다. 후보 생성 · 결합 · 재정렬을 분리 · 각 단계의 실패와 비용을 기록.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하이브리드 검색의 구조. 도식이나 예시를 먼저 관찰한 뒤 수강생에게 결과 예측을 요청한다. 운영 설계 예시 · 필수 실습은 BM25 + TF-IDF 두 어휘 검색기의 결합.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검색 파이프라인. 도식이나 예시를 먼저 관찰한 뒤 수강생에게 결과 예측을 요청한다. 후보에 없는 정답은 재정렬로 복구할 수 없음.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RRF · 순위 역수 결합. 도식이나 예시를 먼저 관찰한 뒤 수강생에게 결과 예측을 요청한다. Reciprocal Rank Fusion · 문서 점수 = Σ 1 / (constant + rank) · 실습 constant=60 · 높은 순위와 여러 검색기의 공통 후보 반영.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https://cormack.uwaterloo.ca/cormacksigir09-rrf.pdf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RRF의 계산 예시. 도식이나 예시를 먼저 관찰한 뒤 수강생에게 결과 예측을 요청한다. A=1/61+1/63 · B=1/62+1/61 · C=1/63 · B가 가장 큰 값.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점수 결합과 순위 결합. 도식이나 예시를 먼저 관찰한 뒤 수강생에게 결과 예측을 요청한다. 점수 결합 · 점수 척도·정규화·가중치 필요 · 후보 분포 변화에 민감 · RRF 순위 결합 · 점수 대신 순위를 사용 · 동점·중복·상수 설정 확인.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중복 후보의 처리. 도식이나 예시를 먼저 관찰한 뒤 수강생에게 결과 예측을 요청한다. 같은 검색 목록에서 문서가 중복되어도 기여는 한 번 · 같은 원문 조각과 같은 원문 문서는 서로 다른 식별 단위 · 평가는 문서 기준 중복 제거 후 계산.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후보 수와 정답 누락. 도식이나 예시를 먼저 관찰한 뒤 수강생에게 결과 예측을 요청한다. 단계별 수는 설계 예시 · 후보에 없던 문서는 다음 단계가 새로 만들지 않음.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재정렬 방식. 도식이나 예시를 먼저 관찰한 뒤 수강생에게 결과 예측을 요청한다. 규칙 기반 재정렬 · 질문 단어의 원문 포함 비율 · 가볍지만 의미·부정·예외에 한계 · 신경망 재정렬 · 질문과 후보를 함께 입력하는 모델 · 추론 시간·모델 평가 필요.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재정렬 효과와 한계. 도식이나 예시를 먼저 관찰한 뒤 수강생에게 결과 예측을 요청한다. 순위 변경과 새 근거 발견은 다른 작업입니다. · 첫 검색에서 정답이 누락되면 토큰화·확장·후보 수부터 확인합니다..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복합 질문의 검색. 도식이나 예시를 먼저 관찰한 뒤 수강생에게 결과 예측을 요청한다. 추가 검색 지연 · 잘못된 분해 · 전체 주장과 출처 연결도 확인.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단계별 Notebook 실습. 도식이나 예시를 먼저 관찰한 뒤 수강생에게 결과 예측을 요청한다. 01 어휘 검색 · 02 결합·재정렬 · 03 검색 실험 · 04 서비스·기획 연결.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실습 파일 구성. 도식이나 예시를 먼저 관찰한 뒤 수강생에게 결과 예측을 요청한다. 노트북 · 핵심 실험 · 01_lexical_search · TF-IDF·BM25·토큰화 · 02_fusion_reranking · RRF·후보 수·규칙 재정렬 · 03_search_experiments · 변경 비교·실패 질의·확인 · 04_service_project · API·자기 자료·기획 요구사항.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Notebook 실행과 기록. 도식이나 예시를 먼저 관찰한 뒤 수강생에게 결과 예측을 요청한다. 예측 · 결과를 보기 전 정답 문서·순위 예상 · 실행 · 셀 순서대로 실행 · 설정 하나 변경 · 해석 · 실패 질의·남은 한계·다음 확인 기록.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실습 01 · 토큰 확인. 도식이나 예시를 먼저 관찰한 뒤 수강생에게 결과 예측을 요청한다. tokenize('반품은 수령 후 가능합니다', False) · tokenize('반품은 수령 후 가능합니다', True) · 단어·부분 조각이 실제 검색에 어떻게 사용되는지 확인.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실습 01 · 검색 방식 비교. 도식이나 예시를 먼저 관찰한 뒤 수강생에게 결과 예측을 요청한다. 자료·질의·청킹·k를 고정하고 method만 변경.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실습 01 · 길이 보정. 도식이나 예시를 먼저 관찰한 뒤 수강생에게 결과 예측을 요청한다. b만 바꿔 짧은 문서·긴 문서의 상대 점수 비교.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실습 01 · 표현 실패. 도식이나 예시를 먼저 관찰한 뒤 수강생에게 결과 예측을 요청한다. 문서 용어: 환불 처리 기간 · 사용자 표현: 돈은 언제 돌려줘요 · 동의어 확장의 효과와 잘못된 확장 사례를 함께 확인.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실습 02 · 후보 비교. 도식이나 예시를 먼저 관찰한 뒤 수강생에게 결과 예측을 요청한다. 같은 자료에 대한 두 어휘 기준선 비교 · 실제 모델 기반 dense 검색은 선택.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실습 02 · RRF 실행. 도식이나 예시를 먼저 관찰한 뒤 수강생에게 결과 예측을 요청한다. 중복 후보가 두 번 기여하지 않는지 assertion 확인.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실습 02 · constant 비교. 도식이나 예시를 먼저 관찰한 뒤 수강생에게 결과 예측을 요청한다. 1위와 5위 후보의 단일 기여값 · 상수 증가 시 순위 차이 완화.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실습 02 · 재정렬 실행. 도식이나 예시를 먼저 관찰한 뒤 수강생에게 결과 예측을 요청한다. 원래 순위·재정렬 점수·새 순위를 같이 보관.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실습 02 · 복합 질문. 도식이나 예시를 먼저 관찰한 뒤 수강생에게 결과 예측을 요청한다. 반품 배송비와 환불 처리 기간 · 단일 검색: 어떤 근거가 빠지는지 확인 · 분리 검색: 두 질문의 문서 ID를 각각 확인.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휴식과 설정 점검. 도식이나 예시를 먼저 관찰한 뒤 수강생에게 결과 예측을 요청한다. 5분 · 커널·포트·Notebook 확인 · 개발 질의만 사용 · 확인 질의는 선택 뒤 사용.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검색 실험과 선택. 도식이나 예시를 먼저 관찰한 뒤 수강생에게 결과 예측을 요청한다. 변경 변수·데이터·지표·실패 사례 · 평균값과 위험·복잡도를 함께 비교.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실습 03 · 기준 설정. 도식이나 예시를 먼저 관찰한 뒤 수강생에게 결과 예측을 요청한다. 기준 설정을 먼저 기록 · 개선 결과에 맞춰 기준을 바꾸지 않음.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실습 03 · 변경 비교. 도식이나 예시를 먼저 관찰한 뒤 수강생에게 결과 예측을 요청한다. 개발 질의 8개 · 정답 문서가 있는 6개만 Recall·MRR 평균에 포함.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질의별 비교 기록. 도식이나 예시를 먼저 관찰한 뒤 수강생에게 결과 예측을 요청한다. 항목 · 기록 · 질의 · 질의 ID·사용자 표현·정답 문서 · 변경 · 변수 하나·이전 값·새 값 · 결과 · 검색 순위·누락·잘못된 발췌 · 판단 · 적용·보류·다음 확인.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Recall@k와 MRR@k. 도식이나 예시를 먼저 관찰한 뒤 수강생에게 결과 예측을 요청한다. Recall: 필요한 문서를 얼마나 찾았는가 · MRR: 첫 관련 문서가 얼마나 빨리 나왔는가 · 답 없는 질의: 올바른 보류율로 별도 집계.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 증가의 효과. 도식이나 예시를 먼저 관찰한 뒤 수강생에게 결과 예측을 요청한다. 같은 합성 개발 질의에서 k만 변경 · 비용·잡음 증가도 별도 고려.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평균 결과와 실패 질의. 도식이나 예시를 먼저 관찰한 뒤 수강생에게 결과 예측을 요청한다. 평균 결과 · 전체 변화의 요약 · 소수의 중요한 실패가 가려질 수 있음 · 질의별 상세 · 악화·누락·권한·날짜 확인 · 운영 위험과 수정 위치 설명.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로컬 응답 시간. 도식이나 예시를 먼저 관찰한 뒤 수강생에게 결과 예측을 요청한다. 이번 기기·작은 자료·모델 없는 검색 20회 · 운영 지연 보장 아님.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p95의 해석. 도식이나 예시를 먼저 관찰한 뒤 수강생에게 결과 예측을 요청한다. 95th percentile · 95백분위 응답 시간 · 실습: 20회 정렬 후 ceil(0.95 × 20)번째 값 · 자료 규모·기기·예열·동시 요청·모델 시간을 분리.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재현 가능한 실험 기록. 도식이나 예시를 먼저 관찰한 뒤 수강생에게 결과 예측을 요청한다. 자료 해시 + 코드 버전 + 설정 + 질의 세트 · 실행 시점·측정 범위·실패 사례 · 외부 모델 실험은 모델명·입력 제한·예열 상태 추가.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설정 선택과 확인. 도식이나 예시를 먼저 관찰한 뒤 수강생에게 결과 예측을 요청한다. 선택 · 개발 질의로 후보 비교 · 단순한 기준선과 비용도 검토 · 확인 · 선택 설정을 새 질의에서 확인 · 확인 뒤 수정하면 새 검증 필요.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검색 실험실 · 평가 화면. 도식이나 예시를 먼저 관찰한 뒤 수강생에게 결과 예측을 요청한다. 실제 로컬 실행 화면 · 합성 자료 · 규칙 재정렬.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검색 실험실 실행. 도식이나 예시를 먼저 관찰한 뒤 수강생에게 결과 예측을 요청한다. 브라우저 http://127.0.0.1:8005 · JSON 저장으로 실험 기록 보관.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실습 04 · API 검증. 도식이나 예시를 먼저 관찰한 뒤 수강생에게 결과 예측을 요청한다. TestClient로 health·검색 요청 확인 · 빈 질문·잘못된 overlap·미허용 role → HTTP 422 · 프로세스 내 테스트와 실제 네트워크 테스트 구분.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자기 서비스 자료 적용. 도식이나 예시를 먼저 관찰한 뒤 수강생에게 결과 예측을 요청한다. 학생 연락처·실제 내부 자료·API 키를 공개 저장소에 넣지 않음.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글쓰기 개선 서비스 예시. 도식이나 예시를 먼저 관찰한 뒤 수강생에게 결과 예측을 요청한다. 서론·본론1·본론2·결론 분리 · 구조·근거·유창성·이해도 별도 평가.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글쓰기 평가 기준의 분리. 도식이나 예시를 먼저 관찰한 뒤 수강생에게 결과 예측을 요청한다. 평가 항목 · 검토 · 구조 · 서론·본론1·본론2·결론의 역할 · 논증 · 주장1·2 각각의 근거·연결 · 유창성 · 문장 연결·표현 명료성 · 이해도 · 주제·주장·근거 관계 설명.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 있는 개선 피드백. 도식이나 예시를 먼저 관찰한 뒤 수강생에게 결과 예측을 요청한다. 키워드 유무만으로 이해도를 자동 판정하지 않음 · 사람의 검토·수정 경로.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8주차 기획서 제출. 도식이나 예시를 먼저 관찰한 뒤 수강생에게 결과 예측을 요청한다. 구분 · 구성·제출 · 아주대AI대학원 · 2–4인 자율 팀 · 팀 지원 URL 등록 · LMS 제출 · 군산대·국립창원대 등 · 개인 기획서 · 이메일 제출 · 공통 · 10.23 온라인 제출·평가 · 실시간 수업·중간고사 없음 · 형식 · HTML·Word·PDF·PPT 자유 · 열리는 링크·파일 확인.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기획서 제출 구성. 도식이나 예시를 먼저 관찰한 뒤 수강생에게 결과 예측을 요청한다. 형식은 자유 · 시안·영상은 선택 · 중복 제출과 유료 도구 사용 불필요.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세 관점의 피드백. 도식이나 예시를 먼저 관찰한 뒤 수강생에게 결과 예측을 요청한다. UX · User Experience · 사용자 경험.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프로젝트 아이디어 예시. 도식이나 예시를 먼저 관찰한 뒤 수강생에게 결과 예측을 요청한다. 글쓰기 코치 · 구조·논증·피드백 · 업무 지식 검색 · 버전·출처·보류 · 개발 지원 Agent · 도구 권한·실행 승인 · 리서치 보조 · 원출처·근거 비교.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리서치와 프로토타입 도구. 도식이나 예시를 먼저 관찰한 뒤 수강생에게 결과 예측을 요청한다. 목적 · 선택 도구·확인 · 자료 조사 · Gemini Deep Research · 원출처 재확인 · 코드·시안 · Codex / Claude Code · 실제 실행·오류 확인 · 디자인 · Figma 또는 HTML · 핵심 흐름과 실패 상태 · 데모 · 60–120초 권장 · 합성 자료·동작 범위 명시.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과제 02 피드백 기준. 도식이나 예시를 먼저 관찰한 뒤 수강생에게 결과 예측을 요청한다. 재현 · Notebook Restart 후 Run All · 분석 · 개선·악화·보류 사례 설명 · 연결 · 평가 조건과 PRD 요구사항 일치.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6주차 연결. 도식이나 예시를 먼저 관찰한 뒤 수강생에게 결과 예측을 요청한다. 데이터 설계와 모델 개선의 선택 · 10.09 한글날 · 실시간 강의 대신 녹화영상 업로드.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참고 자료와 실행 위치. 도식이나 예시를 먼저 관찰한 뒤 수강생에게 결과 예측을 요청한다. Stanford IR · RRF 원 논문 · Ollama 공식 문서 · week05/lab/notebooks · week05/lab/README.md · 과제 02 · 8주차 기획서 HTML.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https://nlp.stanford.edu/IR-book/html/htmledition/okapi-bm25-a-non-binary-model-1.html</a:t>
            </a:r>
          </a:p>
          <a:p xmlns:a="http://schemas.openxmlformats.org/drawingml/2006/main">
            <a:r>
              <a:t>- https://cormack.uwaterloo.ca/cormacksigir09-rrf.pdf</a:t>
            </a:r>
          </a:p>
          <a:p xmlns:a="http://schemas.openxmlformats.org/drawingml/2006/main">
            <a:r>
              <a:t>- https://docs.ollama.com/capabilities/thinking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04898f1ca74c0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3344a1535c8470d" /><Relationship Type="http://schemas.openxmlformats.org/officeDocument/2006/relationships/slideLayout" Target="/ppt/slideLayouts/slideLayout1.xml" Id="R80d6223469dc464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0d6223469dc464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BLACK WHITE BLUE">
      <a:dk1>
        <a:srgbClr val="08090B"/>
      </a:dk1>
      <a:lt1>
        <a:srgbClr val="FFFFFF"/>
      </a:lt1>
      <a:dk2>
        <a:srgbClr val="102747"/>
      </a:dk2>
      <a:lt2>
        <a:srgbClr val="F6F7F9"/>
      </a:lt2>
      <a:accent1>
        <a:srgbClr val="2563EB"/>
      </a:accent1>
      <a:accent2>
        <a:srgbClr val="102747"/>
      </a:accent2>
      <a:accent3>
        <a:srgbClr val="536174"/>
      </a:accent3>
      <a:accent4>
        <a:srgbClr val="E8F0FF"/>
      </a:accent4>
      <a:accent5>
        <a:srgbClr val="151719"/>
      </a:accent5>
      <a:accent6>
        <a:srgbClr val="D4DAE3"/>
      </a:accent6>
      <a:hlink>
        <a:srgbClr val="2563EB"/>
      </a:hlink>
      <a:folHlink>
        <a:srgbClr val="102747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BLACK WHITE BLU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486fca87304c9a" /><Relationship Type="http://schemas.openxmlformats.org/officeDocument/2006/relationships/notesSlide" Target="/ppt/notesSlides/notesSlide1.xml" Id="Rd4e2584cb51d4be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2a3dae7e644136" /><Relationship Type="http://schemas.openxmlformats.org/officeDocument/2006/relationships/notesSlide" Target="/ppt/notesSlides/notesSlide2.xml" Id="Rbfe454d5ece8454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46f3896da1454f" /><Relationship Type="http://schemas.openxmlformats.org/officeDocument/2006/relationships/notesSlide" Target="/ppt/notesSlides/notesSlide3.xml" Id="R29f76a3fdd9a4cf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b758d0ae664f92" /><Relationship Type="http://schemas.openxmlformats.org/officeDocument/2006/relationships/notesSlide" Target="/ppt/notesSlides/notesSlide4.xml" Id="R61157056096d45b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32843891c04c98" /><Relationship Type="http://schemas.openxmlformats.org/officeDocument/2006/relationships/notesSlide" Target="/ppt/notesSlides/notesSlide5.xml" Id="R985350aaf52448e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ff02a01e8948ef" /><Relationship Type="http://schemas.openxmlformats.org/officeDocument/2006/relationships/notesSlide" Target="/ppt/notesSlides/notesSlide6.xml" Id="Rf037f79d283e445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759d2dd18a4cd4" /><Relationship Type="http://schemas.openxmlformats.org/officeDocument/2006/relationships/notesSlide" Target="/ppt/notesSlides/notesSlide7.xml" Id="R1373f2dd9a414eb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2e4ec65e284667" /><Relationship Type="http://schemas.openxmlformats.org/officeDocument/2006/relationships/notesSlide" Target="/ppt/notesSlides/notesSlide8.xml" Id="Rbe684c9c68d646d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c50034be23413a" /><Relationship Type="http://schemas.openxmlformats.org/officeDocument/2006/relationships/notesSlide" Target="/ppt/notesSlides/notesSlide9.xml" Id="R66c77e24605746e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349e68fe5b4a2f" /><Relationship Type="http://schemas.openxmlformats.org/officeDocument/2006/relationships/notesSlide" Target="/ppt/notesSlides/notesSlide10.xml" Id="R986845f7412f43b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bd3ca6cc6440fb" /><Relationship Type="http://schemas.openxmlformats.org/officeDocument/2006/relationships/notesSlide" Target="/ppt/notesSlides/notesSlide11.xml" Id="R80af9c51c0e946e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5e9f9dbe384432" /><Relationship Type="http://schemas.openxmlformats.org/officeDocument/2006/relationships/notesSlide" Target="/ppt/notesSlides/notesSlide12.xml" Id="R0db8e599b153488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018ce4aeff4b24" /><Relationship Type="http://schemas.openxmlformats.org/officeDocument/2006/relationships/notesSlide" Target="/ppt/notesSlides/notesSlide13.xml" Id="R136c7f35b1c7447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a94b6f766e499a" /><Relationship Type="http://schemas.openxmlformats.org/officeDocument/2006/relationships/notesSlide" Target="/ppt/notesSlides/notesSlide14.xml" Id="R075bece01c3d45d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73d98ee4b445b3" /><Relationship Type="http://schemas.openxmlformats.org/officeDocument/2006/relationships/chart" Target="/ppt/slides/charts/chart1.xml" Id="Rc255edd492a14969" /><Relationship Type="http://schemas.openxmlformats.org/officeDocument/2006/relationships/notesSlide" Target="/ppt/notesSlides/notesSlide15.xml" Id="Rfabeff8a0c674c9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cd5aad0d6c4fa9" /><Relationship Type="http://schemas.openxmlformats.org/officeDocument/2006/relationships/notesSlide" Target="/ppt/notesSlides/notesSlide16.xml" Id="Raf31dad45b114b8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2e8a8d7e244fb1" /><Relationship Type="http://schemas.openxmlformats.org/officeDocument/2006/relationships/notesSlide" Target="/ppt/notesSlides/notesSlide17.xml" Id="Rfe56e6a23b154bf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4861756df34d4b" /><Relationship Type="http://schemas.openxmlformats.org/officeDocument/2006/relationships/notesSlide" Target="/ppt/notesSlides/notesSlide18.xml" Id="Rcb75c911f6ab417e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22564c36764b8b" /><Relationship Type="http://schemas.openxmlformats.org/officeDocument/2006/relationships/chart" Target="/ppt/slides/charts/chart2.xml" Id="Reda73b1086c44ea7" /><Relationship Type="http://schemas.openxmlformats.org/officeDocument/2006/relationships/notesSlide" Target="/ppt/notesSlides/notesSlide19.xml" Id="Rda969adf1ade47aa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367f1d6c9d48c1" /><Relationship Type="http://schemas.openxmlformats.org/officeDocument/2006/relationships/chart" Target="/ppt/slides/charts/chart3.xml" Id="Rf28ce9fc24784faa" /><Relationship Type="http://schemas.openxmlformats.org/officeDocument/2006/relationships/notesSlide" Target="/ppt/notesSlides/notesSlide20.xml" Id="R0a63637efd8e4966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f7352730144bf0" /><Relationship Type="http://schemas.openxmlformats.org/officeDocument/2006/relationships/notesSlide" Target="/ppt/notesSlides/notesSlide21.xml" Id="R57b5b24adac64f38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f58fe226e74488" /><Relationship Type="http://schemas.openxmlformats.org/officeDocument/2006/relationships/notesSlide" Target="/ppt/notesSlides/notesSlide22.xml" Id="R4699084d73e54230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837995953644f7" /><Relationship Type="http://schemas.openxmlformats.org/officeDocument/2006/relationships/notesSlide" Target="/ppt/notesSlides/notesSlide23.xml" Id="Red0895724b6244d3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9033a9704045b6" /><Relationship Type="http://schemas.openxmlformats.org/officeDocument/2006/relationships/notesSlide" Target="/ppt/notesSlides/notesSlide24.xml" Id="R7f83f3ecc2cf4e0f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0d1167cd9e4d9b" /><Relationship Type="http://schemas.openxmlformats.org/officeDocument/2006/relationships/notesSlide" Target="/ppt/notesSlides/notesSlide25.xml" Id="R66f20d8e4da64046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bda8e8eae046b4" /><Relationship Type="http://schemas.openxmlformats.org/officeDocument/2006/relationships/notesSlide" Target="/ppt/notesSlides/notesSlide26.xml" Id="Re28d37f7713a46cf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7806d854b04149" /><Relationship Type="http://schemas.openxmlformats.org/officeDocument/2006/relationships/notesSlide" Target="/ppt/notesSlides/notesSlide27.xml" Id="Racf34d2eeaf84c61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96759ca5cc46ad" /><Relationship Type="http://schemas.openxmlformats.org/officeDocument/2006/relationships/notesSlide" Target="/ppt/notesSlides/notesSlide28.xml" Id="Reb2058ada0d949e2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4fb0caaa3a432b" /><Relationship Type="http://schemas.openxmlformats.org/officeDocument/2006/relationships/notesSlide" Target="/ppt/notesSlides/notesSlide29.xml" Id="Ra0ab529d6741416b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82013b590840cb" /><Relationship Type="http://schemas.openxmlformats.org/officeDocument/2006/relationships/notesSlide" Target="/ppt/notesSlides/notesSlide30.xml" Id="R3a5e3dec0ab0421c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7bc6254ddc4876" /><Relationship Type="http://schemas.openxmlformats.org/officeDocument/2006/relationships/notesSlide" Target="/ppt/notesSlides/notesSlide31.xml" Id="R5ef11d74281f43c3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f87fb039e04b36" /><Relationship Type="http://schemas.openxmlformats.org/officeDocument/2006/relationships/notesSlide" Target="/ppt/notesSlides/notesSlide32.xml" Id="Rbe74c2c082c04d79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0bd269b35349d2" /><Relationship Type="http://schemas.openxmlformats.org/officeDocument/2006/relationships/notesSlide" Target="/ppt/notesSlides/notesSlide33.xml" Id="R1b882c1c29da44cc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acebf3a666485b" /><Relationship Type="http://schemas.openxmlformats.org/officeDocument/2006/relationships/notesSlide" Target="/ppt/notesSlides/notesSlide34.xml" Id="R93446cb4ab324b8f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fee36037904c03" /><Relationship Type="http://schemas.openxmlformats.org/officeDocument/2006/relationships/notesSlide" Target="/ppt/notesSlides/notesSlide35.xml" Id="R95de48c6c6f04357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731a3f0a0142cb" /><Relationship Type="http://schemas.openxmlformats.org/officeDocument/2006/relationships/notesSlide" Target="/ppt/notesSlides/notesSlide36.xml" Id="Rd317ada4710844fe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b3aa4999814bdb" /><Relationship Type="http://schemas.openxmlformats.org/officeDocument/2006/relationships/notesSlide" Target="/ppt/notesSlides/notesSlide37.xml" Id="R76833b22f7514217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2c821fa26d4c82" /><Relationship Type="http://schemas.openxmlformats.org/officeDocument/2006/relationships/notesSlide" Target="/ppt/notesSlides/notesSlide38.xml" Id="R0dff962a25654d86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a0399784e84f18" /><Relationship Type="http://schemas.openxmlformats.org/officeDocument/2006/relationships/notesSlide" Target="/ppt/notesSlides/notesSlide39.xml" Id="Rdf57750c33424efd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d62c52ef914b00" /><Relationship Type="http://schemas.openxmlformats.org/officeDocument/2006/relationships/notesSlide" Target="/ppt/notesSlides/notesSlide40.xml" Id="R5f16cae6e2fe4b97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7773161ce64c03" /><Relationship Type="http://schemas.openxmlformats.org/officeDocument/2006/relationships/notesSlide" Target="/ppt/notesSlides/notesSlide41.xml" Id="Rf6352f6cbcd1472a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19715a548c4a5a" /><Relationship Type="http://schemas.openxmlformats.org/officeDocument/2006/relationships/chart" Target="/ppt/slides/charts/chart4.xml" Id="Rd949eeaec9cd4bb7" /><Relationship Type="http://schemas.openxmlformats.org/officeDocument/2006/relationships/notesSlide" Target="/ppt/notesSlides/notesSlide42.xml" Id="Rfba98129de8d49d2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5c14f242cb4550" /><Relationship Type="http://schemas.openxmlformats.org/officeDocument/2006/relationships/notesSlide" Target="/ppt/notesSlides/notesSlide43.xml" Id="R405c13170441497d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1abb0f2207481a" /><Relationship Type="http://schemas.openxmlformats.org/officeDocument/2006/relationships/notesSlide" Target="/ppt/notesSlides/notesSlide44.xml" Id="R007351a03b2f473c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0ea32a010f4b26" /><Relationship Type="http://schemas.openxmlformats.org/officeDocument/2006/relationships/notesSlide" Target="/ppt/notesSlides/notesSlide45.xml" Id="Rc3e8d9ce04844abf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49fc874eee41cd" /><Relationship Type="http://schemas.openxmlformats.org/officeDocument/2006/relationships/chart" Target="/ppt/slides/charts/chart5.xml" Id="Rf47f01230f3c4252" /><Relationship Type="http://schemas.openxmlformats.org/officeDocument/2006/relationships/notesSlide" Target="/ppt/notesSlides/notesSlide46.xml" Id="R52db30a221824fbf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4cbff79983487d" /><Relationship Type="http://schemas.openxmlformats.org/officeDocument/2006/relationships/notesSlide" Target="/ppt/notesSlides/notesSlide47.xml" Id="R828b7f8fb04e4764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2cceeedb22481a" /><Relationship Type="http://schemas.openxmlformats.org/officeDocument/2006/relationships/notesSlide" Target="/ppt/notesSlides/notesSlide48.xml" Id="R9ea57f7f5b1140ea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287f9e3a2d47c6" /><Relationship Type="http://schemas.openxmlformats.org/officeDocument/2006/relationships/notesSlide" Target="/ppt/notesSlides/notesSlide49.xml" Id="R38313b3eab0541af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89a27b0eaa40b5" /><Relationship Type="http://schemas.openxmlformats.org/officeDocument/2006/relationships/notesSlide" Target="/ppt/notesSlides/notesSlide50.xml" Id="R33a751462b6c433b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5a70615ae24b67" /><Relationship Type="http://schemas.openxmlformats.org/officeDocument/2006/relationships/notesSlide" Target="/ppt/notesSlides/notesSlide51.xml" Id="R86d8348a5b604814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16b5e44c5f4970" /><Relationship Type="http://schemas.openxmlformats.org/officeDocument/2006/relationships/chart" Target="/ppt/slides/charts/chart6.xml" Id="R2ce862d303fe4ae7" /><Relationship Type="http://schemas.openxmlformats.org/officeDocument/2006/relationships/notesSlide" Target="/ppt/notesSlides/notesSlide52.xml" Id="Re90d5c89603e4a32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ec6ec5514144f9" /><Relationship Type="http://schemas.openxmlformats.org/officeDocument/2006/relationships/notesSlide" Target="/ppt/notesSlides/notesSlide53.xml" Id="Rd58147837c064d56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43d2b4bb09470a" /><Relationship Type="http://schemas.openxmlformats.org/officeDocument/2006/relationships/notesSlide" Target="/ppt/notesSlides/notesSlide54.xml" Id="Rfa9172435058491b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526ab99d974627" /><Relationship Type="http://schemas.openxmlformats.org/officeDocument/2006/relationships/chart" Target="/ppt/slides/charts/chart7.xml" Id="Rc5e40e30b3574895" /><Relationship Type="http://schemas.openxmlformats.org/officeDocument/2006/relationships/notesSlide" Target="/ppt/notesSlides/notesSlide55.xml" Id="R61705beaf0c445bb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cafa2e86f04b34" /><Relationship Type="http://schemas.openxmlformats.org/officeDocument/2006/relationships/notesSlide" Target="/ppt/notesSlides/notesSlide56.xml" Id="Rdeab4c89d02642f0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452f81ab83432f" /><Relationship Type="http://schemas.openxmlformats.org/officeDocument/2006/relationships/chart" Target="/ppt/slides/charts/chart8.xml" Id="R38238c4e69654bc3" /><Relationship Type="http://schemas.openxmlformats.org/officeDocument/2006/relationships/notesSlide" Target="/ppt/notesSlides/notesSlide57.xml" Id="R46c0040d71354433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4ae5fbedc74b26" /><Relationship Type="http://schemas.openxmlformats.org/officeDocument/2006/relationships/notesSlide" Target="/ppt/notesSlides/notesSlide58.xml" Id="R5d7ac2f824fc4549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d67e83f0d240c9" /><Relationship Type="http://schemas.openxmlformats.org/officeDocument/2006/relationships/notesSlide" Target="/ppt/notesSlides/notesSlide59.xml" Id="Rd42d453ff56f4e27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79170b6d40443a" /><Relationship Type="http://schemas.openxmlformats.org/officeDocument/2006/relationships/notesSlide" Target="/ppt/notesSlides/notesSlide60.xml" Id="R9112e6d4824f4d74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27e69f32d14ea7" /><Relationship Type="http://schemas.openxmlformats.org/officeDocument/2006/relationships/image" Target="/ppt/media/image.jpeg" Id="Rc4b88ffc77eb4772" /><Relationship Type="http://schemas.openxmlformats.org/officeDocument/2006/relationships/notesSlide" Target="/ppt/notesSlides/notesSlide61.xml" Id="R4c7144be0b95420f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73d077bdc0469d" /><Relationship Type="http://schemas.openxmlformats.org/officeDocument/2006/relationships/notesSlide" Target="/ppt/notesSlides/notesSlide62.xml" Id="R6345ff8afc744171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31a90e3d0f4b96" /><Relationship Type="http://schemas.openxmlformats.org/officeDocument/2006/relationships/notesSlide" Target="/ppt/notesSlides/notesSlide63.xml" Id="R8c16c3b02100491b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1fad8ddc964913" /><Relationship Type="http://schemas.openxmlformats.org/officeDocument/2006/relationships/notesSlide" Target="/ppt/notesSlides/notesSlide64.xml" Id="Ref1f3884e0f243f4" /></Relationships>
</file>

<file path=ppt/slides/_rels/slide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c088957a8c4a31" /><Relationship Type="http://schemas.openxmlformats.org/officeDocument/2006/relationships/notesSlide" Target="/ppt/notesSlides/notesSlide65.xml" Id="Rfb1a70a645e344ce" /></Relationships>
</file>

<file path=ppt/slides/_rels/slide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74f7a64c3e4214" /><Relationship Type="http://schemas.openxmlformats.org/officeDocument/2006/relationships/notesSlide" Target="/ppt/notesSlides/notesSlide66.xml" Id="R073f16c1b8f84e3c" /></Relationships>
</file>

<file path=ppt/slides/_rels/slide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9213646386440e" /><Relationship Type="http://schemas.openxmlformats.org/officeDocument/2006/relationships/notesSlide" Target="/ppt/notesSlides/notesSlide67.xml" Id="Rf22053957575473c" /></Relationships>
</file>

<file path=ppt/slides/_rels/slide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401ae8d7e240ad" /><Relationship Type="http://schemas.openxmlformats.org/officeDocument/2006/relationships/notesSlide" Target="/ppt/notesSlides/notesSlide68.xml" Id="R90c9beba18014fb4" /></Relationships>
</file>

<file path=ppt/slides/_rels/slide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dd8d24f8824d86" /><Relationship Type="http://schemas.openxmlformats.org/officeDocument/2006/relationships/notesSlide" Target="/ppt/notesSlides/notesSlide69.xml" Id="R333dba2fb74149d6" /></Relationships>
</file>

<file path=ppt/slides/_rels/slide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2472b858354f96" /><Relationship Type="http://schemas.openxmlformats.org/officeDocument/2006/relationships/notesSlide" Target="/ppt/notesSlides/notesSlide70.xml" Id="R6f89148ba5f44cfd" /></Relationships>
</file>

<file path=ppt/slides/_rels/slide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e39bb6e82c4036" /><Relationship Type="http://schemas.openxmlformats.org/officeDocument/2006/relationships/notesSlide" Target="/ppt/notesSlides/notesSlide71.xml" Id="Rf091da4124694919" /></Relationships>
</file>

<file path=ppt/slides/_rels/slide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d769808cb04a10" /><Relationship Type="http://schemas.openxmlformats.org/officeDocument/2006/relationships/notesSlide" Target="/ppt/notesSlides/notesSlide72.xml" Id="Rb81cb623945e454c" /></Relationships>
</file>

<file path=ppt/slides/_rels/slide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782beedffe454c" /><Relationship Type="http://schemas.openxmlformats.org/officeDocument/2006/relationships/notesSlide" Target="/ppt/notesSlides/notesSlide73.xml" Id="R0331f2132e0b4f54" /></Relationships>
</file>

<file path=ppt/slides/_rels/slide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de03ffcea241c5" /><Relationship Type="http://schemas.openxmlformats.org/officeDocument/2006/relationships/notesSlide" Target="/ppt/notesSlides/notesSlide74.xml" Id="Rbbe684412d9b4686" /></Relationships>
</file>

<file path=ppt/slides/_rels/slide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3ec7e1e88d43ba" /><Relationship Type="http://schemas.openxmlformats.org/officeDocument/2006/relationships/notesSlide" Target="/ppt/notesSlides/notesSlide75.xml" Id="Rad17be66a47946be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_rels/chart5.xml.rels><Relationships xmlns="http://schemas.openxmlformats.org/package/2006/relationships"><Relationship Id="rIdChartSnapshot1" Type="http://schemas.openxmlformats.org/officeDocument/2006/relationships/package" Target="../../embeddings/chart-data-snapshot-005.xlsx"/></Relationships>
</file>

<file path=ppt/slides/charts/_rels/chart6.xml.rels><Relationships xmlns="http://schemas.openxmlformats.org/package/2006/relationships"><Relationship Id="rIdChartSnapshot1" Type="http://schemas.openxmlformats.org/officeDocument/2006/relationships/package" Target="../../embeddings/chart-data-snapshot-006.xlsx"/></Relationships>
</file>

<file path=ppt/slides/charts/_rels/chart7.xml.rels><Relationships xmlns="http://schemas.openxmlformats.org/package/2006/relationships"><Relationship Id="rIdChartSnapshot1" Type="http://schemas.openxmlformats.org/officeDocument/2006/relationships/package" Target="../../embeddings/chart-data-snapshot-007.xlsx"/></Relationships>
</file>

<file path=ppt/slides/charts/_rels/chart8.xml.rels><Relationships xmlns="http://schemas.openxmlformats.org/package/2006/relationships"><Relationship Id="rIdChartSnapshot1" Type="http://schemas.openxmlformats.org/officeDocument/2006/relationships/package" Target="../../embeddings/chart-data-snapshot-008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IDF</c:v>
          </c:tx>
          <c:spPr>
            <a:solidFill xmlns:a="http://schemas.openxmlformats.org/drawingml/2006/main">
              <a:srgbClr val="2563EB"/>
            </a:solidFill>
            <a:ln xmlns:a="http://schemas.openxmlformats.org/drawingml/2006/main" w="19050">
              <a:solidFill>
                <a:srgbClr val="2563EB"/>
              </a:solidFill>
            </a:ln>
          </c:spPr>
          <c:marker>
            <c:symbol val="none"/>
          </c:marker>
          <c:cat>
            <c:numRef>
              <c:f>'Chart Data'!$A$2:$A$7</c:f>
              <c:numCache>
                <c:formatCode>General</c:formatCode>
                <c:ptCount val="6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6</c:v>
                </c:pt>
                <c:pt idx="4">
                  <c:v>8</c:v>
                </c:pt>
                <c:pt idx="5">
                  <c:v>10</c:v>
                </c:pt>
              </c:numCache>
            </c:numRef>
          </c:cat>
          <c:val>
            <c:numRef>
              <c:f>'Chart Data'!$B$2:$B$7</c:f>
              <c:numCache>
                <c:formatCode>0.0</c:formatCode>
                <c:ptCount val="6"/>
                <c:pt idx="0">
                  <c:v>2.704748</c:v>
                </c:pt>
                <c:pt idx="1">
                  <c:v>2.299283</c:v>
                </c:pt>
                <c:pt idx="2">
                  <c:v>1.788457</c:v>
                </c:pt>
                <c:pt idx="3">
                  <c:v>1.451985</c:v>
                </c:pt>
                <c:pt idx="4">
                  <c:v>1.200671</c:v>
                </c:pt>
                <c:pt idx="5">
                  <c:v>1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536174"/>
                  </a:solidFill>
                  <a:latin typeface="AppleGothic"/>
                  <a:ea typeface="AppleGothic"/>
                  <a:cs typeface="AppleGothi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빈도 기여값</c:v>
          </c:tx>
          <c:spPr>
            <a:solidFill xmlns:a="http://schemas.openxmlformats.org/drawingml/2006/main">
              <a:srgbClr val="2563EB"/>
            </a:solidFill>
            <a:ln xmlns:a="http://schemas.openxmlformats.org/drawingml/2006/main" w="19050">
              <a:solidFill>
                <a:srgbClr val="2563EB"/>
              </a:solidFill>
            </a:ln>
          </c:spPr>
          <c:marker>
            <c:symbol val="none"/>
          </c:marker>
          <c:cat>
            <c:numRef>
              <c:f>'Chart Data'!$A$2:$A$6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</c:numCache>
            </c:numRef>
          </c:cat>
          <c:val>
            <c:numRef>
              <c:f>'Chart Data'!$B$2:$B$6</c:f>
              <c:numCache>
                <c:formatCode>0.0</c:formatCode>
                <c:ptCount val="5"/>
                <c:pt idx="0">
                  <c:v>1</c:v>
                </c:pt>
                <c:pt idx="1">
                  <c:v>1.428571</c:v>
                </c:pt>
                <c:pt idx="2">
                  <c:v>1.818182</c:v>
                </c:pt>
                <c:pt idx="3">
                  <c:v>2.105263</c:v>
                </c:pt>
                <c:pt idx="4">
                  <c:v>2.285714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536174"/>
                  </a:solidFill>
                  <a:latin typeface="AppleGothic"/>
                  <a:ea typeface="AppleGothic"/>
                  <a:cs typeface="AppleGothi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b=0</c:v>
          </c:tx>
          <c:spPr>
            <a:solidFill xmlns:a="http://schemas.openxmlformats.org/drawingml/2006/main">
              <a:srgbClr val="2563EB"/>
            </a:solidFill>
            <a:ln xmlns:a="http://schemas.openxmlformats.org/drawingml/2006/main" w="19050">
              <a:solidFill>
                <a:srgbClr val="2563EB"/>
              </a:solidFill>
            </a:ln>
          </c:spPr>
          <c:marker>
            <c:symbol val="none"/>
          </c:marker>
          <c:cat>
            <c:numRef>
              <c:f>'Chart Data'!$A$2:$A$4</c:f>
              <c:numCache>
                <c:formatCode>General</c:formatCode>
                <c:ptCount val="3"/>
                <c:pt idx="0">
                  <c:v>50</c:v>
                </c:pt>
                <c:pt idx="1">
                  <c:v>100</c:v>
                </c:pt>
                <c:pt idx="2">
                  <c:v>200</c:v>
                </c:pt>
              </c:numCache>
            </c:numRef>
          </c:cat>
          <c:val>
            <c:numRef>
              <c:f>'Chart Data'!$B$2:$B$4</c:f>
              <c:numCache>
                <c:formatCode>0.0</c:formatCode>
                <c:ptCount val="3"/>
                <c:pt idx="0">
                  <c:v>1.428571</c:v>
                </c:pt>
                <c:pt idx="1">
                  <c:v>1.428571</c:v>
                </c:pt>
                <c:pt idx="2">
                  <c:v>1.428571</c:v>
                </c:pt>
              </c:numCache>
            </c:numRef>
          </c:val>
          <c:smooth val="0"/>
        </c:ser>
        <c:ser>
          <c:idx val="1"/>
          <c:order val="1"/>
          <c:tx>
            <c:v>b=0.75</c:v>
          </c:tx>
          <c:spPr>
            <a:solidFill xmlns:a="http://schemas.openxmlformats.org/drawingml/2006/main">
              <a:srgbClr val="102747"/>
            </a:solidFill>
            <a:ln xmlns:a="http://schemas.openxmlformats.org/drawingml/2006/main" w="19050">
              <a:solidFill>
                <a:srgbClr val="102747"/>
              </a:solidFill>
            </a:ln>
          </c:spPr>
          <c:marker>
            <c:symbol val="none"/>
          </c:marker>
          <c:cat>
            <c:numRef>
              <c:f>'Chart Data'!$C$2:$C$4</c:f>
              <c:numCache>
                <c:formatCode>General</c:formatCode>
                <c:ptCount val="3"/>
                <c:pt idx="0">
                  <c:v>50</c:v>
                </c:pt>
                <c:pt idx="1">
                  <c:v>100</c:v>
                </c:pt>
                <c:pt idx="2">
                  <c:v>200</c:v>
                </c:pt>
              </c:numCache>
            </c:numRef>
          </c:cat>
          <c:val>
            <c:numRef>
              <c:f>'Chart Data'!$D$2:$D$4</c:f>
              <c:numCache>
                <c:formatCode>0.0</c:formatCode>
                <c:ptCount val="3"/>
                <c:pt idx="0">
                  <c:v>1.702128</c:v>
                </c:pt>
                <c:pt idx="1">
                  <c:v>1.428571</c:v>
                </c:pt>
                <c:pt idx="2">
                  <c:v>1.081081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536174"/>
                  </a:solidFill>
                  <a:latin typeface="AppleGothic"/>
                  <a:ea typeface="AppleGothic"/>
                  <a:cs typeface="AppleGothi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</a:p>
        </c:txPr>
        <c:crossAx val="48672768"/>
      </c:catAx>
      <c:valAx>
        <c:axId val="48672768"/>
        <c:scaling>
          <c:orientation val="minMax"/>
          <c:max val="2"/>
          <c:min val="0"/>
        </c:scaling>
        <c:delete val="0"/>
        <c:axPos val="l"/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</a:p>
        </c:txPr>
        <c:crossAx val="48650112"/>
        <c:crossBetween val="between"/>
        <c:majorUnit val="0.5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solidFill>
                <a:srgbClr val="536174"/>
              </a:solidFill>
              <a:latin typeface="AppleGothic"/>
              <a:ea typeface="AppleGothic"/>
              <a:cs typeface="AppleGothic"/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b=0</c:v>
          </c:tx>
          <c:spPr>
            <a:solidFill xmlns:a="http://schemas.openxmlformats.org/drawingml/2006/main">
              <a:srgbClr val="2563EB"/>
            </a:solidFill>
            <a:ln xmlns:a="http://schemas.openxmlformats.org/drawingml/2006/main" w="19050">
              <a:solidFill>
                <a:srgbClr val="2563EB"/>
              </a:solidFill>
            </a:ln>
          </c:spPr>
          <c:marker>
            <c:symbol val="none"/>
          </c:marker>
          <c:cat>
            <c:numRef>
              <c:f>'Chart Data'!$A$2:$A$4</c:f>
              <c:numCache>
                <c:formatCode>General</c:formatCode>
                <c:ptCount val="3"/>
                <c:pt idx="0">
                  <c:v>50</c:v>
                </c:pt>
                <c:pt idx="1">
                  <c:v>100</c:v>
                </c:pt>
                <c:pt idx="2">
                  <c:v>200</c:v>
                </c:pt>
              </c:numCache>
            </c:numRef>
          </c:cat>
          <c:val>
            <c:numRef>
              <c:f>'Chart Data'!$B$2:$B$4</c:f>
              <c:numCache>
                <c:formatCode>0.0</c:formatCode>
                <c:ptCount val="3"/>
                <c:pt idx="0">
                  <c:v>1.428571</c:v>
                </c:pt>
                <c:pt idx="1">
                  <c:v>1.428571</c:v>
                </c:pt>
                <c:pt idx="2">
                  <c:v>1.428571</c:v>
                </c:pt>
              </c:numCache>
            </c:numRef>
          </c:val>
          <c:smooth val="0"/>
        </c:ser>
        <c:ser>
          <c:idx val="1"/>
          <c:order val="1"/>
          <c:tx>
            <c:v>b=0.75</c:v>
          </c:tx>
          <c:spPr>
            <a:solidFill xmlns:a="http://schemas.openxmlformats.org/drawingml/2006/main">
              <a:srgbClr val="102747"/>
            </a:solidFill>
            <a:ln xmlns:a="http://schemas.openxmlformats.org/drawingml/2006/main" w="19050">
              <a:solidFill>
                <a:srgbClr val="102747"/>
              </a:solidFill>
            </a:ln>
          </c:spPr>
          <c:marker>
            <c:symbol val="none"/>
          </c:marker>
          <c:cat>
            <c:numRef>
              <c:f>'Chart Data'!$C$2:$C$4</c:f>
              <c:numCache>
                <c:formatCode>General</c:formatCode>
                <c:ptCount val="3"/>
                <c:pt idx="0">
                  <c:v>50</c:v>
                </c:pt>
                <c:pt idx="1">
                  <c:v>100</c:v>
                </c:pt>
                <c:pt idx="2">
                  <c:v>200</c:v>
                </c:pt>
              </c:numCache>
            </c:numRef>
          </c:cat>
          <c:val>
            <c:numRef>
              <c:f>'Chart Data'!$D$2:$D$4</c:f>
              <c:numCache>
                <c:formatCode>0.0</c:formatCode>
                <c:ptCount val="3"/>
                <c:pt idx="0">
                  <c:v>1.702128</c:v>
                </c:pt>
                <c:pt idx="1">
                  <c:v>1.428571</c:v>
                </c:pt>
                <c:pt idx="2">
                  <c:v>1.081081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536174"/>
                  </a:solidFill>
                  <a:latin typeface="AppleGothic"/>
                  <a:ea typeface="AppleGothic"/>
                  <a:cs typeface="AppleGothi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</a:p>
        </c:txPr>
        <c:crossAx val="48672768"/>
      </c:catAx>
      <c:valAx>
        <c:axId val="48672768"/>
        <c:scaling>
          <c:orientation val="minMax"/>
          <c:max val="2"/>
          <c:min val="0"/>
        </c:scaling>
        <c:delete val="0"/>
        <c:axPos val="l"/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</a:p>
        </c:txPr>
        <c:crossAx val="48650112"/>
        <c:crossBetween val="between"/>
        <c:majorUnit val="0.5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solidFill>
                <a:srgbClr val="536174"/>
              </a:solidFill>
              <a:latin typeface="AppleGothic"/>
              <a:ea typeface="AppleGothic"/>
              <a:cs typeface="AppleGothic"/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charts/chart5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1위</c:v>
          </c:tx>
          <c:spPr>
            <a:solidFill xmlns:a="http://schemas.openxmlformats.org/drawingml/2006/main">
              <a:srgbClr val="2563EB"/>
            </a:solidFill>
            <a:ln xmlns:a="http://schemas.openxmlformats.org/drawingml/2006/main" w="19050">
              <a:solidFill>
                <a:srgbClr val="2563EB"/>
              </a:solidFill>
            </a:ln>
          </c:spPr>
          <c:marker>
            <c:symbol val="none"/>
          </c:marker>
          <c:cat>
            <c:numRef>
              <c:f>'Chart Data'!$A$2:$A$5</c:f>
              <c:numCache>
                <c:formatCode>General</c:formatCode>
                <c:ptCount val="4"/>
                <c:pt idx="0">
                  <c:v>1</c:v>
                </c:pt>
                <c:pt idx="1">
                  <c:v>10</c:v>
                </c:pt>
                <c:pt idx="2">
                  <c:v>30</c:v>
                </c:pt>
                <c:pt idx="3">
                  <c:v>60</c:v>
                </c:pt>
              </c:numCache>
            </c:numRef>
          </c:cat>
          <c:val>
            <c:numRef>
              <c:f>'Chart Data'!$B$2:$B$5</c:f>
              <c:numCache>
                <c:formatCode>0.000</c:formatCode>
                <c:ptCount val="4"/>
                <c:pt idx="0">
                  <c:v>0.5</c:v>
                </c:pt>
                <c:pt idx="1">
                  <c:v>0.090909</c:v>
                </c:pt>
                <c:pt idx="2">
                  <c:v>0.032258</c:v>
                </c:pt>
                <c:pt idx="3">
                  <c:v>0.016393</c:v>
                </c:pt>
              </c:numCache>
            </c:numRef>
          </c:val>
          <c:smooth val="0"/>
        </c:ser>
        <c:ser>
          <c:idx val="1"/>
          <c:order val="1"/>
          <c:tx>
            <c:v>5위</c:v>
          </c:tx>
          <c:spPr>
            <a:solidFill xmlns:a="http://schemas.openxmlformats.org/drawingml/2006/main">
              <a:srgbClr val="102747"/>
            </a:solidFill>
            <a:ln xmlns:a="http://schemas.openxmlformats.org/drawingml/2006/main" w="19050">
              <a:solidFill>
                <a:srgbClr val="102747"/>
              </a:solidFill>
            </a:ln>
          </c:spPr>
          <c:marker>
            <c:symbol val="none"/>
          </c:marker>
          <c:cat>
            <c:numRef>
              <c:f>'Chart Data'!$C$2:$C$5</c:f>
              <c:numCache>
                <c:formatCode>General</c:formatCode>
                <c:ptCount val="4"/>
                <c:pt idx="0">
                  <c:v>1</c:v>
                </c:pt>
                <c:pt idx="1">
                  <c:v>10</c:v>
                </c:pt>
                <c:pt idx="2">
                  <c:v>30</c:v>
                </c:pt>
                <c:pt idx="3">
                  <c:v>60</c:v>
                </c:pt>
              </c:numCache>
            </c:numRef>
          </c:cat>
          <c:val>
            <c:numRef>
              <c:f>'Chart Data'!$D$2:$D$5</c:f>
              <c:numCache>
                <c:formatCode>0.000</c:formatCode>
                <c:ptCount val="4"/>
                <c:pt idx="0">
                  <c:v>0.166667</c:v>
                </c:pt>
                <c:pt idx="1">
                  <c:v>0.066667</c:v>
                </c:pt>
                <c:pt idx="2">
                  <c:v>0.028571</c:v>
                </c:pt>
                <c:pt idx="3">
                  <c:v>0.015385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536174"/>
                  </a:solidFill>
                  <a:latin typeface="AppleGothic"/>
                  <a:ea typeface="AppleGothic"/>
                  <a:cs typeface="AppleGothi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0.0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solidFill>
                <a:srgbClr val="536174"/>
              </a:solidFill>
              <a:latin typeface="AppleGothic"/>
              <a:ea typeface="AppleGothic"/>
              <a:cs typeface="AppleGothic"/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charts/chart6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Recall@3</c:v>
          </c:tx>
          <c:spPr>
            <a:solidFill xmlns:a="http://schemas.openxmlformats.org/drawingml/2006/main">
              <a:srgbClr val="2563EB"/>
            </a:solidFill>
            <a:ln xmlns:a="http://schemas.openxmlformats.org/drawingml/2006/main" w="19050">
              <a:solidFill>
                <a:srgbClr val="2563EB"/>
              </a:solidFill>
            </a:ln>
          </c:spPr>
          <c:cat>
            <c:strRef>
              <c:f>'Chart Data'!$A$2:$A$5</c:f>
              <c:strCache>
                <c:ptCount val="4"/>
                <c:pt idx="0">
                  <c:v>BM25</c:v>
                </c:pt>
                <c:pt idx="1">
                  <c:v>BM25+확장</c:v>
                </c:pt>
                <c:pt idx="2">
                  <c:v>TF-IDF</c:v>
                </c:pt>
                <c:pt idx="3">
                  <c:v>RRF</c:v>
                </c:pt>
              </c:strCache>
            </c:strRef>
          </c:cat>
          <c:val>
            <c:numRef>
              <c:f>'Chart Data'!$B$2:$B$5</c:f>
              <c:numCache>
                <c:formatCode>0.0%</c:formatCode>
                <c:ptCount val="4"/>
                <c:pt idx="0">
                  <c:v>0.833333</c:v>
                </c:pt>
                <c:pt idx="1">
                  <c:v>1</c:v>
                </c:pt>
                <c:pt idx="2">
                  <c:v>0.833333</c:v>
                </c:pt>
                <c:pt idx="3">
                  <c:v>0.833333</c:v>
                </c:pt>
              </c:numCache>
            </c:numRef>
          </c:val>
        </c:ser>
        <c:ser>
          <c:idx val="1"/>
          <c:order val="1"/>
          <c:tx>
            <c:v>MRR@3</c:v>
          </c:tx>
          <c:spPr>
            <a:solidFill xmlns:a="http://schemas.openxmlformats.org/drawingml/2006/main">
              <a:srgbClr val="102747"/>
            </a:solidFill>
            <a:ln xmlns:a="http://schemas.openxmlformats.org/drawingml/2006/main" w="19050">
              <a:solidFill>
                <a:srgbClr val="102747"/>
              </a:solidFill>
            </a:ln>
          </c:spPr>
          <c:cat>
            <c:strRef>
              <c:f>'Chart Data'!$C$2:$C$5</c:f>
              <c:strCache>
                <c:ptCount val="4"/>
                <c:pt idx="0">
                  <c:v>BM25</c:v>
                </c:pt>
                <c:pt idx="1">
                  <c:v>BM25+확장</c:v>
                </c:pt>
                <c:pt idx="2">
                  <c:v>TF-IDF</c:v>
                </c:pt>
                <c:pt idx="3">
                  <c:v>RRF</c:v>
                </c:pt>
              </c:strCache>
            </c:strRef>
          </c:cat>
          <c:val>
            <c:numRef>
              <c:f>'Chart Data'!$D$2:$D$5</c:f>
              <c:numCache>
                <c:formatCode>0.0%</c:formatCode>
                <c:ptCount val="4"/>
                <c:pt idx="0">
                  <c:v>0.833333</c:v>
                </c:pt>
                <c:pt idx="1">
                  <c:v>1</c:v>
                </c:pt>
                <c:pt idx="2">
                  <c:v>0.833333</c:v>
                </c:pt>
                <c:pt idx="3">
                  <c:v>0.833333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536174"/>
                  </a:solidFill>
                  <a:latin typeface="AppleGothic"/>
                  <a:ea typeface="AppleGothic"/>
                  <a:cs typeface="AppleGothi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numFmt formatCode="0.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solidFill>
                <a:srgbClr val="536174"/>
              </a:solidFill>
              <a:latin typeface="AppleGothic"/>
              <a:ea typeface="AppleGothic"/>
              <a:cs typeface="AppleGothic"/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charts/chart7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Recall</c:v>
          </c:tx>
          <c:spPr>
            <a:solidFill xmlns:a="http://schemas.openxmlformats.org/drawingml/2006/main">
              <a:srgbClr val="2563EB"/>
            </a:solidFill>
            <a:ln xmlns:a="http://schemas.openxmlformats.org/drawingml/2006/main" w="19050">
              <a:solidFill>
                <a:srgbClr val="2563EB"/>
              </a:solidFill>
            </a:ln>
          </c:spPr>
          <c:cat>
            <c:strRef>
              <c:f>'Chart Data'!$A$2:$A$4</c:f>
              <c:strCache>
                <c:ptCount val="3"/>
                <c:pt idx="0">
                  <c:v>k=1</c:v>
                </c:pt>
                <c:pt idx="1">
                  <c:v>k=3</c:v>
                </c:pt>
                <c:pt idx="2">
                  <c:v>k=5</c:v>
                </c:pt>
              </c:strCache>
            </c:strRef>
          </c:cat>
          <c:val>
            <c:numRef>
              <c:f>'Chart Data'!$B$2:$B$4</c:f>
              <c:numCache>
                <c:formatCode>0.0%</c:formatCode>
                <c:ptCount val="3"/>
                <c:pt idx="0">
                  <c:v>0.833333</c:v>
                </c:pt>
                <c:pt idx="1">
                  <c:v>0.833333</c:v>
                </c:pt>
                <c:pt idx="2">
                  <c:v>0.833333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536174"/>
                  </a:solidFill>
                  <a:latin typeface="AppleGothic"/>
                  <a:ea typeface="AppleGothic"/>
                  <a:cs typeface="Apple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numFmt formatCode="0.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charts/chart8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검색 시간 ms</c:v>
          </c:tx>
          <c:spPr>
            <a:solidFill xmlns:a="http://schemas.openxmlformats.org/drawingml/2006/main">
              <a:srgbClr val="2563EB"/>
            </a:solidFill>
            <a:ln xmlns:a="http://schemas.openxmlformats.org/drawingml/2006/main" w="19050">
              <a:solidFill>
                <a:srgbClr val="2563EB"/>
              </a:solidFill>
            </a:ln>
          </c:spPr>
          <c:marker>
            <c:symbol val="none"/>
          </c:marker>
          <c:cat>
            <c:numRef>
              <c:f>'Chart Data'!$A$2:$A$21</c:f>
              <c:numCache>
                <c:formatCode>General</c:formatCode>
                <c:ptCount val="2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</c:numCache>
            </c:numRef>
          </c:cat>
          <c:val>
            <c:numRef>
              <c:f>'Chart Data'!$B$2:$B$21</c:f>
              <c:numCache>
                <c:formatCode>0.0</c:formatCode>
                <c:ptCount val="20"/>
                <c:pt idx="0">
                  <c:v>1.171542</c:v>
                </c:pt>
                <c:pt idx="1">
                  <c:v>0.494042</c:v>
                </c:pt>
                <c:pt idx="2">
                  <c:v>0.4365</c:v>
                </c:pt>
                <c:pt idx="3">
                  <c:v>0.426708</c:v>
                </c:pt>
                <c:pt idx="4">
                  <c:v>0.43925</c:v>
                </c:pt>
                <c:pt idx="5">
                  <c:v>0.408041</c:v>
                </c:pt>
                <c:pt idx="6">
                  <c:v>0.4085</c:v>
                </c:pt>
                <c:pt idx="7">
                  <c:v>0.418125</c:v>
                </c:pt>
                <c:pt idx="8">
                  <c:v>0.407833</c:v>
                </c:pt>
                <c:pt idx="9">
                  <c:v>0.417584</c:v>
                </c:pt>
                <c:pt idx="10">
                  <c:v>0.427208</c:v>
                </c:pt>
                <c:pt idx="11">
                  <c:v>0.440042</c:v>
                </c:pt>
                <c:pt idx="12">
                  <c:v>0.508541</c:v>
                </c:pt>
                <c:pt idx="13">
                  <c:v>0.467542</c:v>
                </c:pt>
                <c:pt idx="14">
                  <c:v>0.430167</c:v>
                </c:pt>
                <c:pt idx="15">
                  <c:v>0.413167</c:v>
                </c:pt>
                <c:pt idx="16">
                  <c:v>0.401333</c:v>
                </c:pt>
                <c:pt idx="17">
                  <c:v>0.418708</c:v>
                </c:pt>
                <c:pt idx="18">
                  <c:v>0.403792</c:v>
                </c:pt>
                <c:pt idx="19">
                  <c:v>0.400875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536174"/>
                  </a:solidFill>
                  <a:latin typeface="AppleGothic"/>
                  <a:ea typeface="AppleGothic"/>
                  <a:cs typeface="AppleGothi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A37ACC-CF1A-4EF6-8BD5-A4247A92C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B8C4D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B8C4D4"/>
                </a:solidFill>
                <a:latin typeface="AppleGothic"/>
                <a:ea typeface="AppleGothic"/>
                <a:cs typeface="AppleGothic"/>
              </a:rPr>
              <a:t>LLMOPS / WEEK 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64B8C2-2E61-4AC8-995F-7215FB38A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9728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5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54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검색 품질 개선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C9143F-EFB6-4AC1-83D7-2CF527CB5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44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3655F8-EA80-4E2F-B9A1-323D65B88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668000" cy="3232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000" b="0">
                <a:solidFill>
                  <a:srgbClr val="B8C4D4"/>
                </a:solidFill>
                <a:latin typeface="AppleGothic"/>
                <a:ea typeface="AppleGothic"/>
                <a:cs typeface="AppleGothic"/>
              </a:defRPr>
            </a:pPr>
            <a:r>
              <a:rPr sz="2000" b="0">
                <a:solidFill>
                  <a:srgbClr val="B8C4D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B1F3EE-0C98-437A-99FC-BFE3B5656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95215"/>
            <a:ext cx="10668000" cy="3232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000" b="0">
                <a:solidFill>
                  <a:srgbClr val="B8C4D4"/>
                </a:solidFill>
                <a:latin typeface="AppleGothic"/>
                <a:ea typeface="AppleGothic"/>
                <a:cs typeface="AppleGothic"/>
              </a:defRPr>
            </a:pPr>
            <a:r>
              <a:rPr sz="2000" b="0">
                <a:solidFill>
                  <a:srgbClr val="B8C4D4"/>
                </a:solidFill>
                <a:latin typeface="AppleGothic"/>
                <a:ea typeface="AppleGothic"/>
                <a:cs typeface="AppleGothic"/>
              </a:rPr>
              <a:t>WEEK 05 · 2026.10.02 · 온라인 실시간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911089-3EFD-4110-B543-89261503B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70830"/>
            <a:ext cx="10668000" cy="3232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000" b="0">
                <a:solidFill>
                  <a:srgbClr val="B8C4D4"/>
                </a:solidFill>
                <a:latin typeface="AppleGothic"/>
                <a:ea typeface="AppleGothic"/>
                <a:cs typeface="AppleGothic"/>
              </a:defRPr>
            </a:pPr>
            <a:r>
              <a:rPr sz="2000" b="0">
                <a:solidFill>
                  <a:srgbClr val="B8C4D4"/>
                </a:solidFill>
                <a:latin typeface="AppleGothic"/>
                <a:ea typeface="AppleGothic"/>
                <a:cs typeface="AppleGothic"/>
              </a:rPr>
              <a:t>차성재 · 무신사 Core AI PM × AI 대학원 겸임교수</a:t>
            </a:r>
          </a:p>
        </p:txBody>
      </p:sp>
    </p:spTree>
    <p:extLst>
      <p:ext uri="{BB962C8B-B14F-4D97-AF65-F5344CB8AC3E}">
        <p14:creationId xmlns:p14="http://schemas.microsoft.com/office/powerpoint/2010/main" val="20151792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A8CCE3-0B03-4AEC-A139-EA0431255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0F9D5-91E3-4019-B60C-0A3270365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13ABA9-59CF-4851-8E8D-DDF8B3CD1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오늘의 학습 목표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89E02C-2111-4B0B-9DAD-741CF593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6E4182-6338-4AB0-94BE-0591CFF5B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CB912A-9EE4-488E-9939-8DBDA667F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82AAD5-4D8F-4A59-88FA-585BF3053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771650"/>
            <a:ext cx="3000375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검색 방식 비교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4E3A80-4A8B-4BEF-A6E0-B892F3226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71650"/>
            <a:ext cx="67818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TF-IDF·BM25의 동작 차이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CB9917-FE8D-494A-B477-99759E5AB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223897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C720FD-0C3B-4EBC-8C44-81B1485C8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4872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7D78B4-E890-43D8-9215-4354066FE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385822"/>
            <a:ext cx="3000375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결합·재정렬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0520DB-B263-4A7D-8E6E-6E371E8EB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385822"/>
            <a:ext cx="67818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후보 생성과 순위 변경 구분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C71F31-A906-41D5-9128-9A62821C0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838069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05A397-232F-4609-B094-14DB7EED6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19044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C9B736-2C7A-48A9-8AB5-0049ECDE2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999994"/>
            <a:ext cx="3000375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설정 선택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D81C9F-7281-428D-A294-40EFEB59D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999994"/>
            <a:ext cx="67818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질의별 실패·비용·복잡도 함께 판단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CCCC05-6015-4C6D-A984-0C2FA6506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45224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41122357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68E07D9-8DEE-4CF7-B916-BC8CBD0CE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9DCC16-8558-495F-B035-66614BCAC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A0FC44-94BA-4558-897C-9DDAD81C9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16주 로드맵 · 현재 주차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003B66-1665-4067-BBCC-CC223B311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B67307-FE96-48DB-85BF-C02F1EA3C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3F8AB4-35BC-412A-B1BC-BFA4E0D98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0022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559D21-DA2C-46B5-AFDF-EAA33778A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1800225"/>
            <a:ext cx="381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09.04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7E1ED9-0906-4F86-8727-1A26903C4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14550"/>
            <a:ext cx="5086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실행 추적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F3270B-6D8B-4F26-A367-F71236B6E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1937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D85D74-00AE-43BA-8CE4-DDF66E929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619375"/>
            <a:ext cx="381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09.11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366858-0908-4598-88C2-8065B8BAF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33700"/>
            <a:ext cx="5086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프롬프트 비교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8CCB18-A041-4AA9-B9DD-806698A08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3852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01576D-0F91-425F-9258-B6B408606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438525"/>
            <a:ext cx="381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09.18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83F4EE-2F10-492B-AA65-F8FE748F5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52850"/>
            <a:ext cx="5086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평가·오류 분류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8F93F0-FB34-4860-8F14-AAD375F29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5767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D22491-A972-453C-9300-2C3A3D45B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257675"/>
            <a:ext cx="381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09.25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2911AD-BA6F-403C-B1ED-A69EBEFD3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0"/>
            <a:ext cx="5086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RAG·근거 · 녹화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9C53D9-EF04-474B-8AA2-B77BABA01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81575"/>
            <a:ext cx="53149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75F328-9363-4347-8F41-C3FBC1955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7682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40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5E760B-8301-4C14-9AEC-BE650FB4B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076825"/>
            <a:ext cx="381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10.02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00046F-BE86-4B2A-A41F-7D21E7FBA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91150"/>
            <a:ext cx="5086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검색 품질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EA0E1A-4C9F-43C4-96C1-5215F9E2F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0022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68885D2-EEDE-4A22-BFD2-09C6FCAEA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800225"/>
            <a:ext cx="381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10.09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0F26E1D-3C6E-4CFE-B9E6-6911CC739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14550"/>
            <a:ext cx="5086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데이터 · 녹화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E89F7A3-E335-49A9-ADBE-D79A22F39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1937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07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B1A1985-9559-4FCA-9B5A-E2241837A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619375"/>
            <a:ext cx="381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10.16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A6C9DC3-E493-4D97-A793-C6AC8892A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33700"/>
            <a:ext cx="5086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개선 대안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15DB27F-EE6F-450C-A093-2AA5D87A0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43852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EDBA9C4-1F66-44D9-9C05-AA88BDE5F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438525"/>
            <a:ext cx="381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10.23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EA44866-E42A-4FB7-8B7B-AEFB181F8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752850"/>
            <a:ext cx="5086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기획서 제출·평가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111131F-B8A9-410A-8DCC-0BF59F471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5767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09–15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A8677B3-D2BE-40A0-B298-6ABBAEE52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257675"/>
            <a:ext cx="381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10.30–12.11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C3AAB80-1351-404F-82D5-B67531694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572000"/>
            <a:ext cx="5086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구현·운영·프로젝트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7B993BD-792E-4C7F-AD7A-268C20534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07682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16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FEF74B0-DE8E-481D-9FF6-B7A5A4B4A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076825"/>
            <a:ext cx="381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12.18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E24A7A4-AF0F-4291-91F2-E5BF9A0D9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391150"/>
            <a:ext cx="5086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실시간 온라인 발표</a:t>
            </a:r>
          </a:p>
        </p:txBody>
      </p:sp>
    </p:spTree>
    <p:extLst>
      <p:ext uri="{BB962C8B-B14F-4D97-AF65-F5344CB8AC3E}">
        <p14:creationId xmlns:p14="http://schemas.microsoft.com/office/powerpoint/2010/main" val="34084915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EB6ACB-5959-409E-A659-74FBB97E8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B5F76F-A42C-4F3E-944B-23185C90C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4C776B-88CC-4554-A4C5-11EB586FD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온라인 수업 운영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6CEF02-3D98-42AF-B694-64B22A73A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637533-4806-475E-A746-5ECA5FED1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239522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7734300"/>
              </a:tblGrid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주차</a:t>
                      </a:r>
                    </a:p>
                  </a:txBody>
                  <a:tcPr marL="91440" marR="91440" marT="45720" marB="45720" anchor="ctr">
                    <a:solidFill>
                      <a:srgbClr val="102747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운영</a:t>
                      </a:r>
                    </a:p>
                  </a:txBody>
                  <a:tcPr marL="91440" marR="91440" marT="45720" marB="45720" anchor="ctr">
                    <a:solidFill>
                      <a:srgbClr val="102747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01–03, 05, 07, 09–15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온라인 실시간 강의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04 · 09.25 / 06 · 10.09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휴일 주간 · 녹화영상 업로드로 대체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08 · 10.23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중간고사 없음 · 기획서 온라인 제출·평가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16 · 12.18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온라인 실시간 프로젝트 발표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104697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2051A3D-20A7-4BEE-A0E4-909DC15B0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0DB1DF-61CE-411C-A358-EB62B1D51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A15D4B-F9C4-400A-BAD9-E31602200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100분 수업 구성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D2D67B-1B1E-4F31-9668-E7C3EEC58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266651-8360-475C-9D5D-96E523C80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1F3CDB-EB60-457A-9074-7EB7DA3A4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8B02D2-BF97-49CE-975F-C45760AE7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771650"/>
            <a:ext cx="3000375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00–10분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819E16-7EF3-4D4D-8178-5BBF02034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71650"/>
            <a:ext cx="67818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4주차 질문·오늘의 목표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A36954-CB27-4EE7-8EE3-1F4E54CA4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223897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E09E14-B0F9-4BE3-B9B3-80AECF742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9622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E113EC-5A3D-4D53-A885-431ECF083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290572"/>
            <a:ext cx="3000375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10–30분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AB73AE-3B62-4E51-B71B-79166FC2D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290572"/>
            <a:ext cx="67818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TF-IDF·BM25·의미 검색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F1017E-D757-40D9-8564-848EFE029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42819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0B74DB-49BA-40E1-8330-C10895750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28544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52E56C-962B-46FE-8D3E-C0E0E9133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809494"/>
            <a:ext cx="3000375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30–45분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0C0179-88B1-4689-921A-90852F457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809494"/>
            <a:ext cx="67818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RRF·재정렬·후보 수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B2DA8E-8486-4EFA-9976-3AC9ACDCC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26174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EDFDE2-D9FC-499B-9518-6488CF883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7466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3B81C3-6DE1-4F02-848A-95124ABB8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328416"/>
            <a:ext cx="3000375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45–50분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9D0116-4B87-4139-B7E6-BDCEF3EE5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328416"/>
            <a:ext cx="67818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휴식·환경 점검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B01082-DC7E-4693-8D1A-E6492909B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780663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A2664B-93C0-4BF8-B2F9-6B28A8D70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6388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9FE2EAC-12B2-4821-A53B-1C393DBB5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847338"/>
            <a:ext cx="3000375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50–85분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6B3D8A6-DD74-4165-92C7-3CF422975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47338"/>
            <a:ext cx="67818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Notebook·질의별 실험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AA5167E-40B1-47D6-AA4E-C2E4D7877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299585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38B1830-E58C-4D0E-BA85-DAF7DC853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531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103A4A6-805A-4038-BF15-8E81F02D7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366260"/>
            <a:ext cx="3000375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85–100분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2EB42EF-CBF8-4F89-9270-3642B2815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366260"/>
            <a:ext cx="67818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과제 피드백·기획서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E518D04-D175-43B1-8F88-8526AC0F9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18507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5934525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597BE4-1D03-49DF-B238-8E8A6825A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43F6F7-7E1C-4CF8-B6DA-03A0E7767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865E47-359E-4114-88CF-93AF101CB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4주차와 5주차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4C8CEB-40F5-48E5-855A-B78DEE376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7A5B22-567E-44F6-9BF5-6246541D4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EAAD9E-0E01-45A9-B109-3DBF90E90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529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W04 · 근거 확인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8FC0F1-BDCC-4683-9D35-8AD5BAD4A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B30B48-5C24-477D-B7D1-0A0DE2B03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문서·날짜·권한·인용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B7FD02-9433-404F-B8D9-0FFAA4524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9822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찾은 자료를 믿을 수 있는지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EA7767-ABF9-4CBE-88EC-0D33118D5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76450"/>
            <a:ext cx="529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W05 · 검색 개선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CB1AAF-2F1C-42B9-B32F-AFBF2B08C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914650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0A1571-A7BE-493D-812A-67610584B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86125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검색 방식·질의 표현·평가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87809D-4635-4349-8D95-B4F43233C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09822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필요한 자료를 더 잘 찾는지</a:t>
            </a:r>
          </a:p>
        </p:txBody>
      </p:sp>
    </p:spTree>
    <p:extLst>
      <p:ext uri="{BB962C8B-B14F-4D97-AF65-F5344CB8AC3E}">
        <p14:creationId xmlns:p14="http://schemas.microsoft.com/office/powerpoint/2010/main" val="196835531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E6C6C9-5512-4A94-B587-631579D52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80E009-B312-4A6E-9E86-09275E6D9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8D2310-609E-4120-9ADC-536D55A87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이번 주의 과제 운영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25E158-504A-4478-BDE0-B78ED8726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BEAB4E-BC79-4684-AB37-8A0F20574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E1B08E-CB8D-44AB-A59E-2ACE8ECDF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572750" cy="4705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0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새 과제 출제 없이 과제 02 개선·피드백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7DAC30-1DC3-44C0-9FCD-577BD86EE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10572750" cy="352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격주 과제 · 다음 출제는 6주차 · 온라인 제출 기준은 공지 확인</a:t>
            </a:r>
          </a:p>
        </p:txBody>
      </p:sp>
    </p:spTree>
    <p:extLst>
      <p:ext uri="{BB962C8B-B14F-4D97-AF65-F5344CB8AC3E}">
        <p14:creationId xmlns:p14="http://schemas.microsoft.com/office/powerpoint/2010/main" val="166076379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CCDC29-1CA4-4190-B675-F3FBDC6FA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5D5F6F-29DD-4F28-BA7C-58864250C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F54B68-6D08-454B-88B2-34984626E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실패 질의의 출발점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DBCBD9-ACFA-4B58-A3AC-EF066782D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833402-749F-4277-9BEF-227E544FD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BFC2DF-9116-404A-A293-5FC5D67AB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4689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651308-D932-4011-9D41-9B9098848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477500" cy="4263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7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질문: 돈은 언제 돌려줘요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9DB780-FA07-4D53-AFC2-4991A8702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3789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제목: 환불 처리 기간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B1F742-B2D7-4EE3-BBCA-E0E74FB3C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6536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문서가 있어도 사용자의 표현과 다르면 찾지 못할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05831995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0274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EF6491-09D4-439B-BA07-197CF9A4E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B8C4D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B8C4D4"/>
                </a:solidFill>
                <a:latin typeface="AppleGothic"/>
                <a:ea typeface="AppleGothic"/>
                <a:cs typeface="AppleGothic"/>
              </a:rPr>
              <a:t>W05 / 09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4BBBF1-2425-4147-982C-587117D21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검색 방식의 이해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77B8CA-BCBA-4BCD-9BEE-D25827932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57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9A8AD4-E406-4C2A-9666-49D3BD305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Sparse · 희소 표현 / Dense · 밀집 표현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E5A1D3-6692-4592-A197-829F440A0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9861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모델 기반 의미 검색과 어휘 검색의 구분</a:t>
            </a:r>
          </a:p>
        </p:txBody>
      </p:sp>
    </p:spTree>
    <p:extLst>
      <p:ext uri="{BB962C8B-B14F-4D97-AF65-F5344CB8AC3E}">
        <p14:creationId xmlns:p14="http://schemas.microsoft.com/office/powerpoint/2010/main" val="20580701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087AD2-09F7-4923-ADB6-DF2B5822E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DDD0E4-EB64-4599-AFE1-005888BD5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662B9B-55C9-4962-88B3-9F8FFD940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희소 표현과 밀집 표현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3DAE40-2CA0-4B34-A5E5-C5F78AD6F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03CA10-CADB-47B5-AA23-907AE48F6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03FE77-8722-43D2-AF91-F7AEC9EC3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529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희소 표현 · sparse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A380E4-DA0E-48B2-8A5E-02EF4CC26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94F193-E8C3-4C10-9AC2-456B59CAB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단어별 빈도·가중치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7C1355-247E-4B16-84DD-93EE3BFA3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9822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BM25·TF-IDF 등 어휘 기반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7AB7B8-4865-49BA-B8F8-760288C70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76450"/>
            <a:ext cx="529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밀집 표현 · dense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40B730-5DF8-4E26-BF72-B26D04743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914650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1BCB26-80CE-44AD-829B-93A8EB95C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86125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학습된 벡터의 좌표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7F8EE0-E020-4F1F-80D1-BE67C87E3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09822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임베딩 모델·유사도 검색</a:t>
            </a:r>
          </a:p>
        </p:txBody>
      </p:sp>
    </p:spTree>
    <p:extLst>
      <p:ext uri="{BB962C8B-B14F-4D97-AF65-F5344CB8AC3E}">
        <p14:creationId xmlns:p14="http://schemas.microsoft.com/office/powerpoint/2010/main" val="157481186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0DE09F-39C3-433F-A0FF-34C6B17C1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F5E71E-5507-4FAA-8FF3-09584A25F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B4AF90-265D-4081-AC20-1FFD7C859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키워드 검색의 흐름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FE70A2-BF60-460C-892E-E77CD77EA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CCBDA3-D14C-4496-AFDB-5F658ACF6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FB69B9-5C38-4320-9B6C-4EC127CDA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5F7535-EAFF-444B-95E2-DDD63D5EE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4E9119-2866-49D6-ADBB-8EAB511F9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텍스트 정리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3F5E17-6FA1-4C88-858C-13761AAE6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D54F1D-9A51-4B5F-8EDF-9FF478A06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9BA6A2-7A31-4D8B-BA4D-232993A74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토큰화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6C3AA9-603B-404F-829F-BE2913F34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9CC469-2D0B-4B50-B5AC-371D56509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A5CD60-0D52-4C05-A41C-4A3772945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단어 가중치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ABE85B-BD38-430C-9DB2-A8D221F03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E4265E-234F-47C1-B962-77689CAD9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085C04-1429-4A05-9D85-9C208F7F4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검색 순위</a:t>
            </a:r>
          </a:p>
        </p:txBody>
      </p:sp>
      <p:cxnSp>
        <p:nvCxnSpPr>
          <p:cNvPr id="39" name=""/>
          <p:cNvCxnSpPr>
            <a:stCxn xmlns:a="http://schemas.openxmlformats.org/drawingml/2006/main" id="6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124200" y="337185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cxnSp>
        <p:nvCxnSpPr>
          <p:cNvPr id="40" name=""/>
          <p:cNvCxnSpPr>
            <a:stCxn xmlns:a="http://schemas.openxmlformats.org/drawingml/2006/main" id="9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5943600" y="337185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cxnSp>
        <p:nvCxnSpPr>
          <p:cNvPr id="41" name=""/>
          <p:cNvCxnSpPr>
            <a:stCxn xmlns:a="http://schemas.openxmlformats.org/drawingml/2006/main" id="12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763000" y="337185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9A0969-CA1F-4AF7-B7F0-0CFCFAFE4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한국어 띄어쓰기·조사·동의어·업무 용어를 실패 질의로 확인</a:t>
            </a:r>
          </a:p>
        </p:txBody>
      </p:sp>
    </p:spTree>
    <p:extLst>
      <p:ext uri="{BB962C8B-B14F-4D97-AF65-F5344CB8AC3E}">
        <p14:creationId xmlns:p14="http://schemas.microsoft.com/office/powerpoint/2010/main" val="99589397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AA074F-A977-49B2-B44C-DF4BBE783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A02347-928E-485D-9D45-1D69CA3E5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D4C97D-F2AA-400B-A4DF-086638439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한국어 토큰화 예시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3804B8-35E4-4499-A32B-B23C76F17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8A37EA-E74E-4378-9C6F-1510D75FB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BD8AAE-E41A-4E33-87EC-8BEB4E973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4689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A0110E-9C44-4D53-8C67-943C020F5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477500" cy="4263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7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반품 / 반품은 / 반품할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F54B64-4C27-485C-828C-D68D8710A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3789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단어만 구분하면 서로 다른 표현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C30EA6-F309-4F33-B56E-E1E317CB6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6536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실습: 단어 + 2·3문자 n-gram · 형태소 분석기 아님</a:t>
            </a:r>
          </a:p>
        </p:txBody>
      </p:sp>
    </p:spTree>
    <p:extLst>
      <p:ext uri="{BB962C8B-B14F-4D97-AF65-F5344CB8AC3E}">
        <p14:creationId xmlns:p14="http://schemas.microsoft.com/office/powerpoint/2010/main" val="108726714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522E8E-F173-4614-9B7A-123C4CB83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E31BE2-5AEB-4077-8212-4E922FAFC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70BD93-154F-4BD7-8FBA-581693EEB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단어와 문자 n-gram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169689-8907-48BA-9B79-BDE26E17B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70087C-1BBC-4A7E-85CE-0CF5C7D2C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AB8480-BE8A-4FFC-9BB8-C3AE091E8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529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단어만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740096-134E-47D5-BC34-D752EFE19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C92EDD-4CBC-4324-9890-B9F38FAE4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단어 의미와 경계를 유지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CE6421-5AFB-4E21-A60A-60EB07C98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9822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조사·띄어쓰기 변화에 약함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192DE1-5603-4E94-AA5C-836BEA424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76450"/>
            <a:ext cx="529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문자 조각 추가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7A79BF-5535-48B5-B3BC-E0FDE6D10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914650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AC2C71-E4DC-4A78-B325-BEA193593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86125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부분 표현의 공통점 활용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EAC31B-EBFC-4011-9E52-31D990015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09822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짧은 공통 조각이 잡음을 늘릴 수 있음</a:t>
            </a:r>
          </a:p>
        </p:txBody>
      </p:sp>
    </p:spTree>
    <p:extLst>
      <p:ext uri="{BB962C8B-B14F-4D97-AF65-F5344CB8AC3E}">
        <p14:creationId xmlns:p14="http://schemas.microsoft.com/office/powerpoint/2010/main" val="190224923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BA97A1-4E1D-4D2D-90F6-7DAB9C933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554F92-0AA9-482F-A0A9-C5FE1F6FD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14A835-0581-488D-B411-7E8A733CE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TF-IDF · 단어 가중치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2544AA-C7A3-48FD-B613-BDC5C717D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1F85ED-B953-48F2-9B98-57A358068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6B2D37-EEA8-421D-8422-6F97EF037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8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8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Term Frequency–Inverse Document Frequency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F77B3C-F04D-417E-8815-1143324BC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E44EA2-3C0F-4786-BD22-545364193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668000" cy="352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내 빈도 × 역문서 빈도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BCAC19-AE8E-4AAD-896D-8F5ECA508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67479"/>
            <a:ext cx="10668000" cy="352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실습: (1 + log tf) × [log((N+1)/(df+1)) + 1]</a:t>
            </a:r>
          </a:p>
        </p:txBody>
      </p:sp>
    </p:spTree>
    <p:extLst>
      <p:ext uri="{BB962C8B-B14F-4D97-AF65-F5344CB8AC3E}">
        <p14:creationId xmlns:p14="http://schemas.microsoft.com/office/powerpoint/2010/main" val="170615082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8FF747-54E0-4653-BCEA-4923B5E9D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66AE83-5EFD-451B-875A-1EDD11D7A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89E361-BC6A-487C-A258-17A269ADB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문서 빈도와 구분력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3556F9-1FA2-46B4-9B67-0A74B5399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E77034-B97A-4CBC-8D20-0D577E4A2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666750" y="1809750"/>
          <a:ext xmlns:a="http://schemas.openxmlformats.org/drawingml/2006/main" cx="108585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255edd492a14969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BF521F-6DE4-4F69-B317-4C5551EA6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설명용 N=10 고정 · 실습 smoothing 공식을 사용한 계산</a:t>
            </a:r>
          </a:p>
        </p:txBody>
      </p:sp>
    </p:spTree>
    <p:extLst>
      <p:ext uri="{BB962C8B-B14F-4D97-AF65-F5344CB8AC3E}">
        <p14:creationId xmlns:p14="http://schemas.microsoft.com/office/powerpoint/2010/main" val="142857075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441E6A-5D52-43DE-B133-199F5B4A1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E8BD19-39ED-4C06-BD6B-2A889D53B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BA039C-E7D2-4FB3-BF9E-834D6D477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코사인 유사도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30E2CE-072A-4ED0-ABBE-6F892380C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0F3BE8-8F5B-4EE6-A80B-0B55D4E45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795881-768A-4707-AC92-BED4FFA6F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8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8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벡터 내적 / 두 벡터 길이의 곱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698E2C-28C4-434A-9044-8B455DD55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F21257-BCA0-43BA-B950-A070EDC82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668000" cy="352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동일 방향: 1 · 직교: 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D43751-8058-41C1-9555-AABE9101C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67479"/>
            <a:ext cx="10668000" cy="352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TF-IDF 벡터는 학습된 의미 임베딩이 아닙니다.</a:t>
            </a:r>
          </a:p>
        </p:txBody>
      </p:sp>
    </p:spTree>
    <p:extLst>
      <p:ext uri="{BB962C8B-B14F-4D97-AF65-F5344CB8AC3E}">
        <p14:creationId xmlns:p14="http://schemas.microsoft.com/office/powerpoint/2010/main" val="148916979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10274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75F06F-634C-417E-BC98-782C6F110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B8C4D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B8C4D4"/>
                </a:solidFill>
                <a:latin typeface="AppleGothic"/>
                <a:ea typeface="AppleGothic"/>
                <a:cs typeface="AppleGothic"/>
              </a:rPr>
              <a:t>W05 / 17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7D868A-62CD-4349-B3D6-85B42F4C0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BM25의 동작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374EA2-C42F-4F06-BC4F-F3529E0E7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57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DCC459-6C55-4385-AFD9-E5318F6FF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단어 빈도 포화 · 문서 길이 정규화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C52840-75B3-4E50-BA73-21D42552C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9861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설정은 대표 질의에서 비교</a:t>
            </a:r>
          </a:p>
        </p:txBody>
      </p:sp>
    </p:spTree>
    <p:extLst>
      <p:ext uri="{BB962C8B-B14F-4D97-AF65-F5344CB8AC3E}">
        <p14:creationId xmlns:p14="http://schemas.microsoft.com/office/powerpoint/2010/main" val="66912227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B7F0A7-43FC-4BE8-9A19-1259720C5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564A02-77C8-4AF9-AADA-63A97302A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CB138D-7004-4078-B83A-6A46EED1A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BM25 · 검색 점수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F66302-025E-4C12-9564-7FC22B3F7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391FA7-8033-4549-8F25-23FCA8889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3F08FE-1799-4255-B716-CAE9FAC41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8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8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Best Matching 25 · 어휘 기반 순위 함수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E6A3FD-0DD8-4B61-A3A6-82C9E0975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ABD531-3728-4C2F-AABB-F038C3BCC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668000" cy="352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단어 빈도·희귀도·문서 길이를 함께 반영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9A3233-E4C7-4D11-9813-8520D9D32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67479"/>
            <a:ext cx="10668000" cy="352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k1: 빈도 포화 / b: 길이 정규화</a:t>
            </a:r>
          </a:p>
        </p:txBody>
      </p:sp>
    </p:spTree>
    <p:extLst>
      <p:ext uri="{BB962C8B-B14F-4D97-AF65-F5344CB8AC3E}">
        <p14:creationId xmlns:p14="http://schemas.microsoft.com/office/powerpoint/2010/main" val="195371906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D4E415-20C1-4257-B3CE-FDA86386D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400554-3E6F-4CD2-8B1F-725DA61CB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900E0E-DB27-42FA-8FC0-75A1D318B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빈도 포화의 효과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495AD4-8236-497E-8C40-74B70FCC0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1B61C1-80C1-4846-A8F6-D0FE4EF87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666750" y="1809750"/>
          <a:ext xmlns:a="http://schemas.openxmlformats.org/drawingml/2006/main" cx="108585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da73b1086c44ea7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D1A357-9998-4232-BAB4-AE317629C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설명용 k1=1.5 · 길이 비율 1 고정 · 반복 빈도의 점수 증가 폭 감소</a:t>
            </a:r>
          </a:p>
        </p:txBody>
      </p:sp>
    </p:spTree>
    <p:extLst>
      <p:ext uri="{BB962C8B-B14F-4D97-AF65-F5344CB8AC3E}">
        <p14:creationId xmlns:p14="http://schemas.microsoft.com/office/powerpoint/2010/main" val="117653201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EFFCB9-9F26-4958-ABC2-8036E1FEA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D5D785-8A83-4831-8FEA-8728B5389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63BA66-15D8-44D9-BD38-F54D58E17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문서 길이의 효과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9FD2B7-A178-4C1A-BBF9-8816F8C0A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2C22E9-5B78-4016-BBDA-E09677146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666750" y="1809750"/>
          <a:ext xmlns:a="http://schemas.openxmlformats.org/drawingml/2006/main" cx="108585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28ce9fc24784faa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A6857F-AB34-4E98-819F-3C3A0A5EE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설명용 tf=2, k1=1.5, 평균 길이 100 · b=0과 0.75 비교</a:t>
            </a:r>
          </a:p>
        </p:txBody>
      </p:sp>
    </p:spTree>
    <p:extLst>
      <p:ext uri="{BB962C8B-B14F-4D97-AF65-F5344CB8AC3E}">
        <p14:creationId xmlns:p14="http://schemas.microsoft.com/office/powerpoint/2010/main" val="979144207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BCE164-18F5-449D-9118-AA1A2BCE6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5ED598-61A2-4514-8D79-AE3D4F3BB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B26FE0-B0D8-406E-8C50-1DAAEE370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BM25 설정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030934-43EB-460A-978C-20E1A5F6E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C3BC02-0C7D-43E4-B4D6-3AF7F904B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239522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857500"/>
                <a:gridCol w="4686300"/>
                <a:gridCol w="3429000"/>
              </a:tblGrid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설정</a:t>
                      </a:r>
                    </a:p>
                  </a:txBody>
                  <a:tcPr marL="91440" marR="91440" marT="45720" marB="45720" anchor="ctr">
                    <a:solidFill>
                      <a:srgbClr val="102747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의미</a:t>
                      </a:r>
                    </a:p>
                  </a:txBody>
                  <a:tcPr marL="91440" marR="91440" marT="45720" marB="45720" anchor="ctr">
                    <a:solidFill>
                      <a:srgbClr val="102747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실습 기준</a:t>
                      </a:r>
                    </a:p>
                  </a:txBody>
                  <a:tcPr marL="91440" marR="91440" marT="45720" marB="45720" anchor="ctr">
                    <a:solidFill>
                      <a:srgbClr val="102747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k1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단어 빈도 포화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1.5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b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문서 길이 정규화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0.75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토큰화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일치할 표현의 단위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단어 + 한국어 n-gram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필터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검색 대상 문서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권한·적용 날짜 먼저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07874098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EB8A8F-20D2-4C99-A815-ECB3D0BF1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B1A149-2888-41B3-A864-B9FB3E2D9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744AF5-D2C4-4DB1-8505-2B81D7820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TF-IDF와 BM25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AF1E39-7227-4D63-A517-20518BC65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1A4E8E-B871-484E-B29A-53D80C5BE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B9CAC9-3568-4457-97BE-19A92DC1F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529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TF-IDF + cosine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769A2F-2FB9-4401-AB87-D57FBA8F6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66143B-884A-4595-9F14-34023FB4F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정규화된 어휘 벡터 비교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286EE7-FC30-4043-934A-E8A18A36D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9822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간단한 기준 검색기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937FE5-BD92-4A11-A521-8303D1D4F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76450"/>
            <a:ext cx="529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BM25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854EF9-573B-4717-87E9-67198B6D7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914650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EF8A77-26C9-4EAA-BDBA-686C23D3A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86125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빈도 포화·길이 보정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82839B-B618-48DD-A299-8D771C401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09822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어휘 검색 기준선</a:t>
            </a:r>
          </a:p>
        </p:txBody>
      </p:sp>
    </p:spTree>
    <p:extLst>
      <p:ext uri="{BB962C8B-B14F-4D97-AF65-F5344CB8AC3E}">
        <p14:creationId xmlns:p14="http://schemas.microsoft.com/office/powerpoint/2010/main" val="164305836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11405E-10DF-4531-8798-8B7B3B4F1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31E5D9-289E-4233-A4B5-D5E82C2A8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8CB142-C8E0-493D-A6F2-57BF3BE46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검색 점수의 척도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7BC0E4-26C8-4755-AC3A-D2CB6DE14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70CCFD-A37F-4B10-B08C-2B96CCBC2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98B804-B64C-47F9-A08E-ED7E4C091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572750" cy="4705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0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BM25 점수와 코사인 점수는 다른 척도입니다.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BAD964-A709-44EA-B1E8-33DFD9DF5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10572750" cy="352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두 raw score를 그대로 더하면 한 방식이 과도하게 지배할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84506777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0D0CB72-71E4-4AC9-B027-5F14027BB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8F11F1-0EA5-4B55-8EE5-D9EFE7D79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24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7BBEFD-94E1-4672-A806-7E4672D51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선택 실습 · 실제 임베딩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0DA7B5-31FA-4BA9-9759-E565F581F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C6E527-EAC6-4944-9FF4-7AE3546A7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6C3B37-9B74-4ADD-BDB0-3BC1C8DEB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24100"/>
            <a:ext cx="1314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자료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4018C9-49C2-40B5-A8F8-12E843D37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000250"/>
            <a:ext cx="27622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35AAF7-3DA8-4C87-A343-0356FE336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343150"/>
            <a:ext cx="2419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안전한 문서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80954C-3A35-4254-BB79-BF3A374F5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000250"/>
            <a:ext cx="27622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1AF74B-A7F2-444C-AA00-3F3C826FB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343150"/>
            <a:ext cx="2419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Ollama embed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1AF34D-0134-4C1C-82B9-1A5A3F3CA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00250"/>
            <a:ext cx="27622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9467E3-6FAE-428E-A186-320117D52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343150"/>
            <a:ext cx="2419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문서 벡터</a:t>
            </a:r>
          </a:p>
        </p:txBody>
      </p:sp>
      <p:cxnSp>
        <p:nvCxnSpPr>
          <p:cNvPr id="36" name=""/>
          <p:cNvCxnSpPr>
            <a:stCxn xmlns:a="http://schemas.openxmlformats.org/drawingml/2006/main" id="7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5048250" y="2590800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cxnSp>
        <p:nvCxnSpPr>
          <p:cNvPr id="37" name=""/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8172450" y="2590800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C1A2A7-01B3-492B-BAE1-B6D5D7AC0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1314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질문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58D9E7-BB14-4D69-8333-6939121B3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771900"/>
            <a:ext cx="27622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BAA4A6-91E5-424A-A0B3-806791D75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114800"/>
            <a:ext cx="2419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사용자 표현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C6144C-AB3E-46EA-91A5-9E2B548F0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771900"/>
            <a:ext cx="27622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930002-75F8-4D21-AC91-DD3EF6702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114800"/>
            <a:ext cx="2419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같은 모델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A7288C-30C1-4A47-A3AE-E2DABAE78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771900"/>
            <a:ext cx="27622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629B58-D4C4-43F1-B975-AEF08D041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114800"/>
            <a:ext cx="2419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코사인 검색</a:t>
            </a:r>
          </a:p>
        </p:txBody>
      </p:sp>
      <p:cxnSp>
        <p:nvCxnSpPr>
          <p:cNvPr id="45" name=""/>
          <p:cNvCxnSpPr>
            <a:stCxn xmlns:a="http://schemas.openxmlformats.org/drawingml/2006/main" id="16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5048250" y="4362450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cxnSp>
        <p:nvCxnSpPr>
          <p:cNvPr id="46" name=""/>
          <p:cNvCxnSpPr>
            <a:stCxn xmlns:a="http://schemas.openxmlformats.org/drawingml/2006/main" id="18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8172450" y="4362450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</p:spTree>
    <p:extLst>
      <p:ext uri="{BB962C8B-B14F-4D97-AF65-F5344CB8AC3E}">
        <p14:creationId xmlns:p14="http://schemas.microsoft.com/office/powerpoint/2010/main" val="2134689077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F622D0-3407-4B02-ACB4-956454120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8F9115-5454-4BBA-9CE0-CDC5CC9A3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A2CAD3-89DA-4D15-9FF4-F9AF11D9B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기준선과 모델 검색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6B7E8D-1BC1-4259-8D89-8E31A700E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4EECF7-1D3A-4E5A-AEDE-230C7908B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7FD98F-4BBB-4DFD-BEAC-A679B105F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529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필수 기준선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A2AF9E-8507-42A5-A1DA-F0BCC48B7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AE9861-121F-47E7-8D10-3658B8F28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작은 자료 · 빠른 실행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27A8B6-3B7B-4BF3-BE89-A839A6C2B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9822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원리·실패·평가를 먼저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18AA05-2F65-41CB-A92D-CA429F7FD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76450"/>
            <a:ext cx="529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선택 모델 검색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6D7CAC-A79E-4B8E-8432-784FBEEF2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914650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0ED5D0-E9DA-4DA0-96F9-AB9D7F782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86125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학습된 의미 임베딩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608801-66FB-4390-BDF6-3A7F3E5F3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09822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한국어 질의·모델 입력 제한 검증</a:t>
            </a:r>
          </a:p>
        </p:txBody>
      </p:sp>
    </p:spTree>
    <p:extLst>
      <p:ext uri="{BB962C8B-B14F-4D97-AF65-F5344CB8AC3E}">
        <p14:creationId xmlns:p14="http://schemas.microsoft.com/office/powerpoint/2010/main" val="2007748809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10274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233CBE-A102-408F-B4C4-9230BCCC1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B8C4D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B8C4D4"/>
                </a:solidFill>
                <a:latin typeface="AppleGothic"/>
                <a:ea typeface="AppleGothic"/>
                <a:cs typeface="AppleGothic"/>
              </a:rPr>
              <a:t>W05 / 26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709818-781B-4A5E-BA6E-9ADC06993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순위 결합과 재정렬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03FB86-395B-4E3B-8573-7339A1E8E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57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2A3F5C-009E-4A58-800C-F47A60374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후보 생성 · 결합 · 재정렬을 분리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C08D48-471A-4435-9F58-41C2D46E8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9861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각 단계의 실패와 비용을 기록</a:t>
            </a:r>
          </a:p>
        </p:txBody>
      </p:sp>
    </p:spTree>
    <p:extLst>
      <p:ext uri="{BB962C8B-B14F-4D97-AF65-F5344CB8AC3E}">
        <p14:creationId xmlns:p14="http://schemas.microsoft.com/office/powerpoint/2010/main" val="159904002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3DE14F5-A457-42AD-944A-19AD00CCC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BF8FED-1C56-4FD7-A5B1-860A7A02E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27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885779-7554-46CA-BD48-091624AC3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하이브리드 검색의 구조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F1A0F1-8E22-41C4-A549-D32CA23B2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03B511-8A7F-4223-A913-6A36BC60E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A204CF-ADD1-4451-A218-1ECD5FCB9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24100"/>
            <a:ext cx="1314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경로 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698003-4AB0-40EE-A463-A4C577F7A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000250"/>
            <a:ext cx="27622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874CBA-9FFE-4FB8-9367-C9F43D2DE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343150"/>
            <a:ext cx="2419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질문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13B846-CBCE-4BFA-8066-696FEBEFC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000250"/>
            <a:ext cx="27622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8EA8E9-5044-47E9-B03F-AFB98DD63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343150"/>
            <a:ext cx="2419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키워드 검색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BC626A-8EBB-495F-849A-4D6B03A47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00250"/>
            <a:ext cx="27622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370EE8-D6D8-4F3A-BE75-F58E8360E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343150"/>
            <a:ext cx="2419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후보 A</a:t>
            </a:r>
          </a:p>
        </p:txBody>
      </p:sp>
      <p:cxnSp>
        <p:nvCxnSpPr>
          <p:cNvPr id="37" name=""/>
          <p:cNvCxnSpPr>
            <a:stCxn xmlns:a="http://schemas.openxmlformats.org/drawingml/2006/main" id="7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5048250" y="2590800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cxnSp>
        <p:nvCxnSpPr>
          <p:cNvPr id="38" name=""/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8172450" y="2590800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8D6B99-A6A4-4CF6-9422-69B2463E3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1314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경로 B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EF0461-0659-47D8-BA73-F5C3EDEC7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771900"/>
            <a:ext cx="27622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9D5CAA-D591-4324-B34B-D60297735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114800"/>
            <a:ext cx="2419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질문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2348C9-B62D-4F8F-8A14-FD514E472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771900"/>
            <a:ext cx="27622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7A5B78-6B07-4220-BB9D-240CE75EF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114800"/>
            <a:ext cx="2419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임베딩 검색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BA423C-8E02-4F31-90E1-FE112EE0A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771900"/>
            <a:ext cx="27622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7039A9-757C-41DB-A623-ADDAC6645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114800"/>
            <a:ext cx="2419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후보 B</a:t>
            </a:r>
          </a:p>
        </p:txBody>
      </p:sp>
      <p:cxnSp>
        <p:nvCxnSpPr>
          <p:cNvPr id="46" name=""/>
          <p:cNvCxnSpPr>
            <a:stCxn xmlns:a="http://schemas.openxmlformats.org/drawingml/2006/main" id="16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5048250" y="4362450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cxnSp>
        <p:nvCxnSpPr>
          <p:cNvPr id="47" name=""/>
          <p:cNvCxnSpPr>
            <a:stCxn xmlns:a="http://schemas.openxmlformats.org/drawingml/2006/main" id="18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8172450" y="4362450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2785BA3-F734-461D-BA17-981321097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운영 설계 예시 · 필수 실습은 BM25 + TF-IDF 두 어휘 검색기의 결합</a:t>
            </a:r>
          </a:p>
        </p:txBody>
      </p:sp>
    </p:spTree>
    <p:extLst>
      <p:ext uri="{BB962C8B-B14F-4D97-AF65-F5344CB8AC3E}">
        <p14:creationId xmlns:p14="http://schemas.microsoft.com/office/powerpoint/2010/main" val="123841522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90CA38-52B1-4EB9-9C6A-B56BD5293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80240C-BA65-4B1E-A358-09C5F6793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28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8B9F07-AEE9-4647-A9C5-685B26837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검색 파이프라인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49223D-576F-4E8D-9697-1EDA99B4C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4101C8-8CEF-4ADB-8477-438B15521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81D2A8-1D18-4074-984C-04082E9EB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8C1B22-4A69-45D4-9BBB-AD97E6683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64CF5B-E005-4D18-929F-64D46BA6B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후보 생성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FE115C-3993-4835-BBF6-D2D253DD6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2BF58C-A043-42F5-AA48-72B07AC56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D7A66A-5FC0-4ED2-9419-D0039912A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순위 결합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788D93-0514-4537-B476-0F16DC9D6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5EEDDA-3575-4AA7-8C30-087A062C3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D39FCA-5069-4E63-B9C4-9BE3D2B43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재정렬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FF622F-B4D5-49F1-ABD0-2B5680118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352F1D-30A6-43E3-9188-A64922461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D30BE4-3A08-4F4B-83B5-1B1BAF1C7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근거 선택</a:t>
            </a:r>
          </a:p>
        </p:txBody>
      </p:sp>
      <p:cxnSp>
        <p:nvCxnSpPr>
          <p:cNvPr id="39" name=""/>
          <p:cNvCxnSpPr>
            <a:stCxn xmlns:a="http://schemas.openxmlformats.org/drawingml/2006/main" id="6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124200" y="337185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cxnSp>
        <p:nvCxnSpPr>
          <p:cNvPr id="40" name=""/>
          <p:cNvCxnSpPr>
            <a:stCxn xmlns:a="http://schemas.openxmlformats.org/drawingml/2006/main" id="9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5943600" y="337185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cxnSp>
        <p:nvCxnSpPr>
          <p:cNvPr id="41" name=""/>
          <p:cNvCxnSpPr>
            <a:stCxn xmlns:a="http://schemas.openxmlformats.org/drawingml/2006/main" id="12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763000" y="337185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78DC8F6-DC41-45D6-817A-A1D586E6B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후보에 없는 정답은 재정렬로 복구할 수 없음</a:t>
            </a:r>
          </a:p>
        </p:txBody>
      </p:sp>
    </p:spTree>
    <p:extLst>
      <p:ext uri="{BB962C8B-B14F-4D97-AF65-F5344CB8AC3E}">
        <p14:creationId xmlns:p14="http://schemas.microsoft.com/office/powerpoint/2010/main" val="2049736168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A9E325-73FE-4B1A-A9E5-176F55C9C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574CA3-F7CE-4F98-AB73-488DD4CBA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29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1A51CF-3037-4020-8714-A8F8AEF9F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RRF · 순위 역수 결합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A88C44-2DAC-4CC5-90C9-D9D885D5C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8DAAF5-EEAB-4F63-8736-5B74687E6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1F904C-59B6-4953-8C7B-E403B9F11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8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8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Reciprocal Rank Fusion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332921-427A-40C9-ABC4-FCE09004B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821488-66FA-4CED-8847-7CA9B754C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668000" cy="352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점수 = Σ 1 / (constant + rank)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CE5FA2-611B-4901-BA74-A13A508AB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67479"/>
            <a:ext cx="10668000" cy="352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실습 constant=60 · 높은 순위와 여러 검색기의 공통 후보 반영</a:t>
            </a:r>
          </a:p>
        </p:txBody>
      </p:sp>
    </p:spTree>
    <p:extLst>
      <p:ext uri="{BB962C8B-B14F-4D97-AF65-F5344CB8AC3E}">
        <p14:creationId xmlns:p14="http://schemas.microsoft.com/office/powerpoint/2010/main" val="104914803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1CD835-4547-4E1C-9BED-AA9DB4686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2F0B15-3D45-48AE-82C7-3FAEEC23C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30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40DF84-8B6B-42A7-A15A-C03F92028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RRF의 계산 예시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7C984E-EB8A-4697-AAB8-8ACB54BA3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D9122A-C68C-4170-A5F1-F0EDE5185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2F7E53-A1D7-45F7-9D8A-0CE5E7C6A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158961-7F3C-46B8-82DE-12EA59AE3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019300"/>
            <a:ext cx="8477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검색기1 1위 + 검색기2 3위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D58761-D28F-4B31-8A30-2D2805240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762250"/>
            <a:ext cx="8724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83D211-7D13-4C61-8FC4-87AC0B99F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95625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055E02-DA7F-4B8B-8B10-8200B65BA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095625"/>
            <a:ext cx="8477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검색기1 2위 + 검색기2 1위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59CF60-BC7C-46FA-B2A5-56DAB32D9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838575"/>
            <a:ext cx="8724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33DC69-1067-4052-A706-DD0E4A129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E9BD33-2F9D-41B6-B9AC-09DED5329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171950"/>
            <a:ext cx="8477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검색기1 3위만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22EF2A-CCF5-4D77-A80E-7BC6D5968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914900"/>
            <a:ext cx="8724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39A603-CA15-4636-BD9B-4625B3BB1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A=1/61+1/63 · B=1/62+1/61 · C=1/63 · B가 가장 큰 값</a:t>
            </a:r>
          </a:p>
        </p:txBody>
      </p:sp>
    </p:spTree>
    <p:extLst>
      <p:ext uri="{BB962C8B-B14F-4D97-AF65-F5344CB8AC3E}">
        <p14:creationId xmlns:p14="http://schemas.microsoft.com/office/powerpoint/2010/main" val="727731423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4EE03A-25E3-4E90-9A47-CB1627AC3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6AB8D4-D454-470E-826B-3DE969509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31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69490D-A0E5-474F-A6D4-04A445AEC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점수 결합과 순위 결합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48A9D0-2154-4CC0-AE86-EBC7E6D1E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E34469-9A7B-4551-B3EA-10780007B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444D1E-03B5-4811-9EB3-422F5DE3D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529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점수 결합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C63F04-4688-4662-9037-5879FB7E4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8ACF81-120D-4377-9A43-178383B90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점수 척도·정규화·가중치 필요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5DCDA5-B07C-4E7E-BEB1-570952463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9822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후보 분포 변화에 민감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AF3CAD-B2AE-4095-B5A9-CE384E52A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76450"/>
            <a:ext cx="529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RRF 순위 결합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9EECCB-AF69-4667-ABBE-B3A5985D5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914650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35B8EF-F1C9-401A-B2E3-3D7841725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86125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점수 대신 순위를 사용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F4A2F6-930D-4AB8-BCBB-A5490A937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09822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동점·중복·상수 설정 확인</a:t>
            </a:r>
          </a:p>
        </p:txBody>
      </p:sp>
    </p:spTree>
    <p:extLst>
      <p:ext uri="{BB962C8B-B14F-4D97-AF65-F5344CB8AC3E}">
        <p14:creationId xmlns:p14="http://schemas.microsoft.com/office/powerpoint/2010/main" val="1001039708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91DDB4-A585-4C0C-9D7C-893EC5A41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8387EA-5B6C-4367-94E9-B92433985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32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65A0D4-A687-4356-9043-28F98A8BE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중복 후보의 처리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747E50-1361-4DB8-A049-69AE59CFF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020DA1-A2C9-4835-9B80-4D586DB27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DC1425-13E5-48F7-A35B-260BDD690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4689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AE5843-39F1-4AAD-A61C-C176896E7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477500" cy="4263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7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같은 검색 목록에서 문서가 중복되어도 기여는 한 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265A4D-BD17-4011-97CB-2E810E073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3789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같은 원문 조각과 같은 원문 문서는 서로 다른 식별 단위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936775-3FF3-46E5-AEB8-8EF3EA091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6536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평가는 문서 기준 중복 제거 후 계산</a:t>
            </a:r>
          </a:p>
        </p:txBody>
      </p:sp>
    </p:spTree>
    <p:extLst>
      <p:ext uri="{BB962C8B-B14F-4D97-AF65-F5344CB8AC3E}">
        <p14:creationId xmlns:p14="http://schemas.microsoft.com/office/powerpoint/2010/main" val="145612592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AF416C-B845-47FE-AD9E-CB6DDA59D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F0354E-D098-46DE-9784-67E94717C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33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7B7A1A-694F-4077-B26A-B2888C983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후보 수와 정답 누락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AB65C8-6ECF-4581-9B2B-916BDD507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AE7CA0-54BA-45FE-9D41-399F69159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28A022-CDC0-4CED-A1DD-40CCC2554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771650"/>
            <a:ext cx="10001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1E64A5-CCE4-42BD-9BF9-666998A90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1952625"/>
            <a:ext cx="9582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전체 허용 자료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A28DE6-BF28-4651-A6A6-436005CE9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686050"/>
            <a:ext cx="8477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7A39E0-6A47-4DA9-BD1A-81951C691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867025"/>
            <a:ext cx="8058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상위 후보 8개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BCEE7D-8E3B-4191-9CD0-7DCAF2A51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600450"/>
            <a:ext cx="6953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81AD7F-C3F0-43C2-9C11-723BEE04C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781425"/>
            <a:ext cx="6534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재정렬 5개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189E16-5F4F-4668-919C-547974411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514850"/>
            <a:ext cx="5429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712DF5-0AF7-491F-8C61-FB0CEA88E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4695825"/>
            <a:ext cx="5010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근거 3개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1FF163-4E64-43E1-8D7C-AF538F3D4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단계별 수는 설계 예시 · 후보에 없던 문서는 다음 단계가 새로 만들지 않음</a:t>
            </a:r>
          </a:p>
        </p:txBody>
      </p:sp>
    </p:spTree>
    <p:extLst>
      <p:ext uri="{BB962C8B-B14F-4D97-AF65-F5344CB8AC3E}">
        <p14:creationId xmlns:p14="http://schemas.microsoft.com/office/powerpoint/2010/main" val="502670941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5ADE73-1F79-4E08-9D84-99FB106B3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A3EB48-23F6-4073-8B1D-13A737AC4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34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84E877-574A-4CB4-A102-BF3859AAC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재정렬 방식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AF2DE0-0D86-4CB8-BB5E-A9F881532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DC2B79-F022-496C-80AE-F71367E51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704D0C-284E-4F21-9BB3-089433173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529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규칙 기반 재정렬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A02E67-5A55-4C60-912E-41FB6DCE5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06EFDF-876D-4960-8CB8-D45DE857E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질문 단어의 원문 포함 비율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45BA08-BAD7-4355-B7D9-97EC48F64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9822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가볍지만 의미·부정·예외에 한계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BCD807-8301-483A-8C90-E41B7B78A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76450"/>
            <a:ext cx="529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신경망 재정렬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9D00D9-C3CE-41C1-9E5D-AEF512EAF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914650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9DD9AD-8EBB-4D6A-89CA-7E4E06F21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86125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질문과 후보를 함께 입력하는 모델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A8888C-01EA-4905-AD53-5CC99B608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09822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추론 시간·모델 평가 필요</a:t>
            </a:r>
          </a:p>
        </p:txBody>
      </p:sp>
    </p:spTree>
    <p:extLst>
      <p:ext uri="{BB962C8B-B14F-4D97-AF65-F5344CB8AC3E}">
        <p14:creationId xmlns:p14="http://schemas.microsoft.com/office/powerpoint/2010/main" val="1383570829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86D875-6EA7-40ED-8D52-FE5EAEC74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3BFC2B-C6DE-4FE6-B242-97F265C30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35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7C9D8A-E43B-4315-8C76-DEB20B5F3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재정렬 효과와 한계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E5F7CC-679C-4A4E-8417-56E31CC7D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704AFE-3368-41A4-B602-CEE24F098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2DD202-D1AC-451D-934A-537E7354F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572750" cy="4705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0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순위 변경과 새 근거 발견은 다른 작업입니다.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94DB78-7E00-4515-9BFE-8BCCAB18F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10572750" cy="352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첫 검색에서 정답이 누락되면 토큰화·확장·후보 수부터 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357033909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E65FBB3-9CC2-4E46-8A87-D9FA7C312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5ED8CD-071E-4F0A-A611-5CEAE5FAF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36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58AC21-A707-4102-9F77-F00AB42E6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복합 질문의 검색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316822-6DF4-42E3-A276-3FDFFC263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69363B-067C-4EC4-8106-55C89B4EB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29BBB4-C1B3-42F5-AFDF-C7816D2E0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61AAF7-1BE2-48AE-88B7-B16341C7F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4DAAB8-628D-4BBD-977E-658894E4E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질문 범위 파악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0FE64B-BAAC-470D-A4F4-8C02AC96B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D8AB9B-4EFF-4935-BE38-54CEDCB7B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B71C0E-F99A-4F28-8E5B-D9D09DE33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질문 분리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530CF5-67AB-460E-88FC-5D40897B0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110A2C-C2E6-4DEB-A1D0-CA4EE2FC7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A11B83-3172-49CF-9372-C33EBD60F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각 근거 검색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496EEB-1867-4051-9800-BF02111B5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D0D5B4-E087-43FC-8C52-D4F6BE499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56839E-9A91-4283-A219-C5529BD2A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다중 출처 답변</a:t>
            </a:r>
          </a:p>
        </p:txBody>
      </p:sp>
      <p:cxnSp>
        <p:nvCxnSpPr>
          <p:cNvPr id="39" name=""/>
          <p:cNvCxnSpPr>
            <a:stCxn xmlns:a="http://schemas.openxmlformats.org/drawingml/2006/main" id="6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124200" y="337185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cxnSp>
        <p:nvCxnSpPr>
          <p:cNvPr id="40" name=""/>
          <p:cNvCxnSpPr>
            <a:stCxn xmlns:a="http://schemas.openxmlformats.org/drawingml/2006/main" id="9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5943600" y="337185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cxnSp>
        <p:nvCxnSpPr>
          <p:cNvPr id="41" name=""/>
          <p:cNvCxnSpPr>
            <a:stCxn xmlns:a="http://schemas.openxmlformats.org/drawingml/2006/main" id="12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763000" y="337185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780096-5517-4D90-9477-82BF781FE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추가 검색 지연 · 잘못된 분해 · 전체 주장과 출처 연결도 확인</a:t>
            </a:r>
          </a:p>
        </p:txBody>
      </p:sp>
    </p:spTree>
    <p:extLst>
      <p:ext uri="{BB962C8B-B14F-4D97-AF65-F5344CB8AC3E}">
        <p14:creationId xmlns:p14="http://schemas.microsoft.com/office/powerpoint/2010/main" val="1205254401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10274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D26D5F-E8E5-49AD-B2B8-EED890DDC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B8C4D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B8C4D4"/>
                </a:solidFill>
                <a:latin typeface="AppleGothic"/>
                <a:ea typeface="AppleGothic"/>
                <a:cs typeface="AppleGothic"/>
              </a:rPr>
              <a:t>W05 / 37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BBE8C6-A89F-499E-8ABA-293989CA5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단계별 Notebook 실습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3E8B4E-7AB7-4BBB-99B2-D8A5E09F2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57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3A166A-DA7D-4807-BE92-4BC6C5C12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01 어휘 검색 · 02 결합·재정렬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AD2839-3ABC-4F2A-B8C5-CDB13693B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9861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03 검색 실험 · 04 서비스·기획 연결</a:t>
            </a:r>
          </a:p>
        </p:txBody>
      </p:sp>
    </p:spTree>
    <p:extLst>
      <p:ext uri="{BB962C8B-B14F-4D97-AF65-F5344CB8AC3E}">
        <p14:creationId xmlns:p14="http://schemas.microsoft.com/office/powerpoint/2010/main" val="526844059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C4E06A-8005-4822-B40B-30AAF8455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98604E-4A5F-4949-9400-B74030BD1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38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F710C3-A96C-43DB-8266-8480CF837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실습 파일 구성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83FEDC-AFED-414B-AE2F-9DCFE1596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55E6C6-403D-493F-BE2B-0949257AD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239522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7734300"/>
              </a:tblGrid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노트북</a:t>
                      </a:r>
                    </a:p>
                  </a:txBody>
                  <a:tcPr marL="91440" marR="91440" marT="45720" marB="45720" anchor="ctr">
                    <a:solidFill>
                      <a:srgbClr val="102747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핵심 실험</a:t>
                      </a:r>
                    </a:p>
                  </a:txBody>
                  <a:tcPr marL="91440" marR="91440" marT="45720" marB="45720" anchor="ctr">
                    <a:solidFill>
                      <a:srgbClr val="102747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01_lexical_search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TF-IDF·BM25·토큰화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02_fusion_reranking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RRF·후보 수·규칙 재정렬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03_search_experiments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변경 비교·실패 질의·확인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04_service_project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API·자기 자료·기획 요구사항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8484042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22B60C-506E-4937-B04D-7B7F654DA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7C93E7-0822-463B-8ACD-8287F9D77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39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DE0364-7581-4F59-9F33-09A2632D1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Notebook 실행과 기록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476C21-3D61-4247-8BEC-870A696F0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47FFD3-15EC-4543-95C7-73E89BB68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0E2DE2-F694-4691-8082-D774D1AB2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BBD8CE-1C53-4552-8D71-F7587DDD7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771650"/>
            <a:ext cx="3000375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예측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D924A4-5F65-48A1-A0AA-75B5304D8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71650"/>
            <a:ext cx="67818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결과를 보기 전 정답 문서·순위 예상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C47791-43AB-4A10-AD62-54B09F347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223897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E9986D-1B3E-4F9D-A151-F2D5134E3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4872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99DAD8-222E-40A1-9168-81779DBCA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385822"/>
            <a:ext cx="3000375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DF2B86-8555-4EA9-A30D-8D92FE1C0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385822"/>
            <a:ext cx="67818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셀 순서대로 실행 · 설정 하나 변경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D0B883-48A1-4FA6-A592-DF7B0F594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838069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A60866-1478-4759-9F8B-20E7D640D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19044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3B6B66-1DA2-460D-AB20-6EB770EA5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999994"/>
            <a:ext cx="3000375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해석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811E59-E13B-4430-9218-A74E173C9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999994"/>
            <a:ext cx="67818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실패 질의·남은 한계·다음 확인 기록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5A5DA5-5DC3-4F24-BBF3-202361C06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45224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465749235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D658ED-9601-43A8-A58B-4B060E1B2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14421C-8E80-4ED3-AE34-CD92BACEC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B2CC5E-9A22-4C7F-B576-BDA291C0A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실습 01 · 토큰 확인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E81B36-5B88-4A37-9B4B-3E60DE792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F793DF-93B5-4495-B602-972C2DAC2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0203E9-5500-4D75-89BA-C1B0F527D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4689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FD1839-A1F6-41E2-AAB7-0523181A1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477500" cy="4263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7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tokenize('반품은 수령 후 가능합니다', False)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FED9E3-DAE9-440F-A75A-C5F657228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3789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tokenize('반품은 수령 후 가능합니다', True)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D5A812-76DB-400B-B1D2-EB1DED5D2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6536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단어·부분 조각이 실제 검색에 어떻게 사용되는지 확인</a:t>
            </a:r>
          </a:p>
        </p:txBody>
      </p:sp>
    </p:spTree>
    <p:extLst>
      <p:ext uri="{BB962C8B-B14F-4D97-AF65-F5344CB8AC3E}">
        <p14:creationId xmlns:p14="http://schemas.microsoft.com/office/powerpoint/2010/main" val="935471521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442BB3-EB58-4975-B6A9-F98E34B11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FA7A26-E5FB-43FF-B52D-4109B4E67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41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C0123E-90E3-4029-82BF-B3CF0E3F6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실습 01 · 검색 방식 비교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1ADE58-857D-439F-8000-7F3A0AAFB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4D8DEC-F5BD-4F44-A8A4-8F4A25178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862B3C-D729-4BC7-919A-5796B3446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150342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7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A098AF-BE2D-442B-AD43-023A92466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86000"/>
            <a:ext cx="10477500" cy="9319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for method in ['tfidf', 'bm25']: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r = retrieve('반품 배송비', method=method)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print([h['chunk']['doc_id'] for h in r['hits']])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1302E0-41D1-42AD-84AE-942DDD506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자료·질의·청킹·k를 고정하고 method만 변경</a:t>
            </a:r>
          </a:p>
        </p:txBody>
      </p:sp>
    </p:spTree>
    <p:extLst>
      <p:ext uri="{BB962C8B-B14F-4D97-AF65-F5344CB8AC3E}">
        <p14:creationId xmlns:p14="http://schemas.microsoft.com/office/powerpoint/2010/main" val="971383339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A91C77-12FD-4BD7-BF7B-499ACA36F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80C63E-20D1-4F3A-A343-FD7C57BC7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42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0CCD37-C503-4D5A-BA28-846C54A6D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실습 01 · 길이 보정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35B2E9-3CE2-426D-A996-9D202BAB9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23D2AD-20E1-4E74-8B5E-3BCF84B15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666750" y="1809750"/>
          <a:ext xmlns:a="http://schemas.openxmlformats.org/drawingml/2006/main" cx="108585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949eeaec9cd4bb7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66A132-C730-43A6-A8A8-DCB1BE75D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b만 바꿔 짧은 문서·긴 문서의 상대 점수 비교</a:t>
            </a:r>
          </a:p>
        </p:txBody>
      </p:sp>
    </p:spTree>
    <p:extLst>
      <p:ext uri="{BB962C8B-B14F-4D97-AF65-F5344CB8AC3E}">
        <p14:creationId xmlns:p14="http://schemas.microsoft.com/office/powerpoint/2010/main" val="1433196981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5DD35F-8D63-4DCD-A5B8-5A35A9B98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A0AA4F-DB40-4F73-97F4-4081C3588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43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D5407C-3DCE-4D64-B7B0-7106D5A6F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실습 01 · 표현 실패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AF2C87-4DD2-4875-91D5-BC8D8F252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E041CF-BEF9-4D13-9DA0-7BBBBE38F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CDC9E6-C31B-4036-8667-792C90094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4689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21B282-18F2-42EF-A6D0-FEE81D4CD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477500" cy="4263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7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문서 용어: 환불 처리 기간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CCEE80-97B6-4B60-B46C-812601C98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3789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사용자 표현: 돈은 언제 돌려줘요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EA8B96-54F1-4EB6-9B45-A7AE6E8CD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6536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동의어 확장의 효과와 잘못된 확장 사례를 함께 확인</a:t>
            </a:r>
          </a:p>
        </p:txBody>
      </p:sp>
    </p:spTree>
    <p:extLst>
      <p:ext uri="{BB962C8B-B14F-4D97-AF65-F5344CB8AC3E}">
        <p14:creationId xmlns:p14="http://schemas.microsoft.com/office/powerpoint/2010/main" val="392833527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82B8C5-A50C-4AAC-8A89-88A706D81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5A0D55-A3AE-4D2F-B237-FD7D7A303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44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281658-11A7-4C33-8586-A56C91761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실습 02 · 후보 비교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6B2395-FC10-4520-9AED-6A00F8F12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EDD6B1-67EB-4133-A279-A7041434E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A4A656-B4B8-41C8-A1F0-A40920D72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BM25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23BCCD-E133-4CCA-AAF3-05043FF94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019300"/>
            <a:ext cx="8477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원문 조각의 순위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0EDE55-D337-426C-9D5D-2FE5A2019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762250"/>
            <a:ext cx="8724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A09FF3-F2D2-42FD-A1E0-05204BDEA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95625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TF-IDF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B2959A-8747-4F92-A1FD-BC16BEE63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095625"/>
            <a:ext cx="8477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어휘 벡터 유사도 순위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CE1D9F-BCB2-4848-B59E-3D5FE4327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838575"/>
            <a:ext cx="8724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12B358-ADB2-4B07-A65A-7245475A9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RRF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C0A36B-0EAF-4C05-AFAB-C6FA7B02C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171950"/>
            <a:ext cx="8477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공통 후보·순위 역수 결합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B017B3-7A37-48E0-BCDA-E66D78F45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914900"/>
            <a:ext cx="8724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27773B-EC24-460F-95A1-430EB6A7B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같은 자료에 대한 두 어휘 기준선 비교 · 실제 모델 기반 dense 검색은 선택</a:t>
            </a:r>
          </a:p>
        </p:txBody>
      </p:sp>
    </p:spTree>
    <p:extLst>
      <p:ext uri="{BB962C8B-B14F-4D97-AF65-F5344CB8AC3E}">
        <p14:creationId xmlns:p14="http://schemas.microsoft.com/office/powerpoint/2010/main" val="236450968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F5F2F8-F922-438A-B30A-647477296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E22973-107C-4450-BDC1-D483F4ACA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45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B80EDC-AB8F-494F-9D34-D239BD372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실습 02 · RRF 실행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CA95C1-C659-4662-AACB-63B1D699A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D211C8-BD60-48A9-A81B-4F888E15F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18611C-00FC-4BAA-8CDC-89BD147FD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17823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7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7D3A4E-A17F-480F-9354-211169C13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86000"/>
            <a:ext cx="10477500" cy="12108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bm = index.search(query, 'bm25', 8)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tf = index.search(query, 'tfidf', 8)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hits = reciprocal_rank_fusion([bm, tf],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                      constant=60, k=5)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3F3217-A0AC-442C-B105-25EB5454E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중복 후보가 두 번 기여하지 않는지 assertion 확인</a:t>
            </a:r>
          </a:p>
        </p:txBody>
      </p:sp>
    </p:spTree>
    <p:extLst>
      <p:ext uri="{BB962C8B-B14F-4D97-AF65-F5344CB8AC3E}">
        <p14:creationId xmlns:p14="http://schemas.microsoft.com/office/powerpoint/2010/main" val="450517511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F07057-7D16-48ED-9BA7-DB6176F9D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2626BB-2674-4AB7-9007-82B84C2CF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46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24B6C5-3B88-4A9C-B491-42B2ED954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실습 02 · constant 비교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235CFD-E115-4B1C-98A3-0B6F13E05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976F73-990C-401C-A7B5-1B0EC9AB5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666750" y="1809750"/>
          <a:ext xmlns:a="http://schemas.openxmlformats.org/drawingml/2006/main" cx="108585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47f01230f3c4252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8F3874-E78C-4C44-9F3B-812325C51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1위와 5위 후보의 단일 기여값 · 상수 증가 시 순위 차이 완화</a:t>
            </a:r>
          </a:p>
        </p:txBody>
      </p:sp>
    </p:spTree>
    <p:extLst>
      <p:ext uri="{BB962C8B-B14F-4D97-AF65-F5344CB8AC3E}">
        <p14:creationId xmlns:p14="http://schemas.microsoft.com/office/powerpoint/2010/main" val="789315191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0BC3AF-58A1-4E0D-B132-8C3BBB966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F7C41F-0F4B-4CCD-A028-B3DD5D5D8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47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07F05A-F56C-40B7-9E6B-F1802FE05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실습 02 · 재정렬 실행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B81149-9E2B-4089-8122-A649E979A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B2720D-B858-4690-B3C0-AF33A4126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7AD7AA-7ACD-403B-8C09-559EC2DAB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17823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7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FCC859-CFA7-4F36-9C30-DD5AF95F9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86000"/>
            <a:ext cx="10477500" cy="12108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hits = retrieve(query, method='rrf', k=5)['hits']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reranked = rerank_by_coverage(query, hits)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print([(h['chunk']['doc_id'], h['score'])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for h in reranked])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872310-54DD-4B3F-99DE-E9F6768A1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원래 순위·재정렬 점수·새 순위를 같이 보관</a:t>
            </a:r>
          </a:p>
        </p:txBody>
      </p:sp>
    </p:spTree>
    <p:extLst>
      <p:ext uri="{BB962C8B-B14F-4D97-AF65-F5344CB8AC3E}">
        <p14:creationId xmlns:p14="http://schemas.microsoft.com/office/powerpoint/2010/main" val="1311159543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01EB83-79BF-420F-A9F3-A71E67622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D01F74-C190-47E0-8763-7BB94F59F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48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BC8A2A-D679-42E0-9039-6EE73DD64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실습 02 · 복합 질문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E68427-0BEB-4DDC-AECF-F7F138789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C2CC38-6608-4262-843A-EBB46A904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9C9387-BBB7-4CCE-ACE7-7D631EA90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4689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447317-FCB1-43BB-9082-27BCBB3DB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477500" cy="4263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7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반품 배송비와 환불 처리 기간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4C16F0-E754-4E81-B90E-597477C13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3789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단일 검색: 어떤 근거가 빠지는지 확인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451B9B-8E7F-4044-8270-06CD2F5CA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6536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분리 검색: 두 질문의 문서 ID를 각각 확인</a:t>
            </a:r>
          </a:p>
        </p:txBody>
      </p:sp>
    </p:spTree>
    <p:extLst>
      <p:ext uri="{BB962C8B-B14F-4D97-AF65-F5344CB8AC3E}">
        <p14:creationId xmlns:p14="http://schemas.microsoft.com/office/powerpoint/2010/main" val="1885592865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10274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84CA4F-0818-403A-B076-8580FBAA3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B8C4D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B8C4D4"/>
                </a:solidFill>
                <a:latin typeface="AppleGothic"/>
                <a:ea typeface="AppleGothic"/>
                <a:cs typeface="AppleGothic"/>
              </a:rPr>
              <a:t>W05 / 49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7F0C1D-AE28-4D3E-AAE2-272AB8B5D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휴식과 설정 점검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1823EE-DE5B-455D-B64F-163A6FE5F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57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51CA44-3E57-4535-A3BA-6E037A36F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5분 · 커널·포트·Notebook 확인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02F670-463B-40B0-8517-A4F9454E4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9861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개발 질의만 사용 · 확인 질의는 선택 뒤 사용</a:t>
            </a:r>
          </a:p>
        </p:txBody>
      </p:sp>
    </p:spTree>
    <p:extLst>
      <p:ext uri="{BB962C8B-B14F-4D97-AF65-F5344CB8AC3E}">
        <p14:creationId xmlns:p14="http://schemas.microsoft.com/office/powerpoint/2010/main" val="1113750263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10274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E1232D-AC19-41C3-8DD7-B4EB3CF1E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B8C4D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B8C4D4"/>
                </a:solidFill>
                <a:latin typeface="AppleGothic"/>
                <a:ea typeface="AppleGothic"/>
                <a:cs typeface="AppleGothic"/>
              </a:rPr>
              <a:t>W05 / 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5B2C32-5E28-4041-93A0-994ECCFA2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검색 실험과 선택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2C75CB-3375-4B96-B0F9-C392E5B03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57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95E967-6D78-45D1-8D33-CCD783097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변경 변수·데이터·지표·실패 사례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81C4FC-ECC5-4647-91E7-98617B854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9861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평균값과 위험·복잡도를 함께 비교</a:t>
            </a:r>
          </a:p>
        </p:txBody>
      </p:sp>
    </p:spTree>
    <p:extLst>
      <p:ext uri="{BB962C8B-B14F-4D97-AF65-F5344CB8AC3E}">
        <p14:creationId xmlns:p14="http://schemas.microsoft.com/office/powerpoint/2010/main" val="812673028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3E7801-280C-4D48-9062-36938C381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E00E68-3D50-487F-9CAB-60234A7CB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51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42886C-B312-45B1-9F6F-6938D4AD5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실습 03 · 기준 설정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097CBF-8FE0-4D7B-BFE1-9A486FA20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706F75-568B-44D6-B8F7-977EE3639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1F66C7-1FAF-481C-B456-91EE8622A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150342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7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75F04A-0CEF-4EBA-B2E5-E79CBD491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86000"/>
            <a:ext cx="10477500" cy="9319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baseline = {'method': 'bm25', 'size': 120,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    'overlap': 24, 'k': 3,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    'expand': False, 'rerank': False}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518730-FFEF-4B03-BBB1-74DED2EEE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기준 설정을 먼저 기록 · 개선 결과에 맞춰 기준을 바꾸지 않음</a:t>
            </a:r>
          </a:p>
        </p:txBody>
      </p:sp>
    </p:spTree>
    <p:extLst>
      <p:ext uri="{BB962C8B-B14F-4D97-AF65-F5344CB8AC3E}">
        <p14:creationId xmlns:p14="http://schemas.microsoft.com/office/powerpoint/2010/main" val="1425056333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20C265-5668-41E0-9365-E2409FDB8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B84044-645D-4AB3-806F-CCC3B1EC9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52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EB0AC8-C8CD-481A-839C-4D30BBDCF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실습 03 · 변경 비교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807958-083F-45E3-9DD3-F1C3F6D68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EC693F-5B04-42EF-B519-D8AFBA3CC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666750" y="1809750"/>
          <a:ext xmlns:a="http://schemas.openxmlformats.org/drawingml/2006/main" cx="108585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ce862d303fe4ae7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04EC30-AD60-4ACB-AB85-0E74657A4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개발 질의 8개 · 정답 문서가 있는 6개만 Recall·MRR 평균에 포함</a:t>
            </a:r>
          </a:p>
        </p:txBody>
      </p:sp>
    </p:spTree>
    <p:extLst>
      <p:ext uri="{BB962C8B-B14F-4D97-AF65-F5344CB8AC3E}">
        <p14:creationId xmlns:p14="http://schemas.microsoft.com/office/powerpoint/2010/main" val="2142753845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9B86DE-14E1-434B-B029-53E29EF71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53B5DE-2D10-41DC-A922-EB1C69404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53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9D0D8D-BD99-486F-AB68-B69CA45EB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질의별 비교 기록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5BB654-F5C9-4EBB-B6BA-B1A011480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E2C130-9D70-45BC-A8CD-A1FB03544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239522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7734300"/>
              </a:tblGrid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항목</a:t>
                      </a:r>
                    </a:p>
                  </a:txBody>
                  <a:tcPr marL="91440" marR="91440" marT="45720" marB="45720" anchor="ctr">
                    <a:solidFill>
                      <a:srgbClr val="102747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기록</a:t>
                      </a:r>
                    </a:p>
                  </a:txBody>
                  <a:tcPr marL="91440" marR="91440" marT="45720" marB="45720" anchor="ctr">
                    <a:solidFill>
                      <a:srgbClr val="102747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질의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질의 ID·사용자 표현·정답 문서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변경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변수 하나·이전 값·새 값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결과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검색 순위·누락·잘못된 발췌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판단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적용·보류·다음 확인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73425954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11A438-7D9C-4B8E-99CF-7E50FB0DF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A9736B-79FF-413E-822F-E2E8F995D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54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D14C10-94F6-4077-8B92-8C8F3C32C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Recall@k와 MRR@k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8ADF14-6181-4A94-AE49-3C7E02ED4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520ADF-8A86-474D-94E7-B92B306A4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DDDD80-7704-4951-BF91-8A56BA9E0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8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8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Recall: 필요한 문서를 얼마나 찾았는가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9513FC-DF2A-467D-9766-07983942E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521926-1C61-49D3-96C2-72F8DF772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668000" cy="352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MRR: 첫 관련 문서가 얼마나 빨리 나왔는가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85D8C7-C50A-4483-BBB1-EC97645D1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67479"/>
            <a:ext cx="10668000" cy="352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답 없는 질의: 올바른 보류율로 별도 집계</a:t>
            </a:r>
          </a:p>
        </p:txBody>
      </p:sp>
    </p:spTree>
    <p:extLst>
      <p:ext uri="{BB962C8B-B14F-4D97-AF65-F5344CB8AC3E}">
        <p14:creationId xmlns:p14="http://schemas.microsoft.com/office/powerpoint/2010/main" val="2003476580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C96611-E704-492A-8612-B8897A6BB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69450E-531F-45B5-A42A-53D7EF87B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55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80A8FD-0303-48E5-AE15-D5DBAFFC2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k 증가의 효과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870102-EB5B-4AB3-8485-7DCCC2A36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80AC7B-F080-420F-B5A6-0331A8539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666750" y="1809750"/>
          <a:ext xmlns:a="http://schemas.openxmlformats.org/drawingml/2006/main" cx="108585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5e40e30b3574895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4F5BA9-DEC3-458A-B998-3F7F025EF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같은 합성 개발 질의에서 k만 변경 · 비용·잡음 증가도 별도 고려</a:t>
            </a:r>
          </a:p>
        </p:txBody>
      </p:sp>
    </p:spTree>
    <p:extLst>
      <p:ext uri="{BB962C8B-B14F-4D97-AF65-F5344CB8AC3E}">
        <p14:creationId xmlns:p14="http://schemas.microsoft.com/office/powerpoint/2010/main" val="1026363872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FB3861-0E53-454B-9D1E-6B8405A23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903313-93EA-4165-9569-89D2BEED5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56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F30E6E-F98B-4F13-B603-93A649830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평균 결과와 실패 질의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7B6326-F23F-4359-BBB9-0B1EDA23B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81ABE6-A535-410C-A74A-48CED96E4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7D6C4C-E147-4853-8353-5845302F4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529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평균 결과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B7D0A2-D750-4001-A38F-534A1920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FD4365-DBCC-4038-AD03-8668CBA59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전체 변화의 요약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9D39C6-CF71-4CCD-B5A5-1D00BE9CF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9822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소수의 중요한 실패가 가려질 수 있음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E3B74B-6B6D-47F3-A2DD-B0E47611B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76450"/>
            <a:ext cx="529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질의별 상세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3C1F98-8DA3-4C0F-B0E0-0D3DFBBBE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914650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0BB9B1-D2DA-4E76-904E-B5A6E5433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86125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악화·누락·권한·날짜 확인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24A53C-10CD-4E28-892F-5D0FDFABF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09822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운영 위험과 수정 위치 설명</a:t>
            </a:r>
          </a:p>
        </p:txBody>
      </p:sp>
    </p:spTree>
    <p:extLst>
      <p:ext uri="{BB962C8B-B14F-4D97-AF65-F5344CB8AC3E}">
        <p14:creationId xmlns:p14="http://schemas.microsoft.com/office/powerpoint/2010/main" val="1669594450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DA80E4-449C-4DD0-B5AA-883EB3E9C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7E5E98-C5C7-42DE-AC4C-DB93F9E7E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57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1BD667-BFD4-4C40-844F-BD701C687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로컬 응답 시간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899399-54CC-4064-8433-A3A6E4EA7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C37B90-866C-428D-908C-3484BAD54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666750" y="1809750"/>
          <a:ext xmlns:a="http://schemas.openxmlformats.org/drawingml/2006/main" cx="108585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8238c4e69654bc3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72BB21-DCA9-487F-886F-C0526ED99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이번 기기·작은 자료·모델 없는 검색 20회 · 운영 지연 보장 아님</a:t>
            </a:r>
          </a:p>
        </p:txBody>
      </p:sp>
    </p:spTree>
    <p:extLst>
      <p:ext uri="{BB962C8B-B14F-4D97-AF65-F5344CB8AC3E}">
        <p14:creationId xmlns:p14="http://schemas.microsoft.com/office/powerpoint/2010/main" val="528863362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E9F8D0-D12E-46DE-9D33-3CBCB8046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877BD7-24B2-485D-A920-CC017EC76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58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74FD51-3FDF-4F4D-8C2B-A3FA22A40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p95의 해석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23CF03-6524-4234-A767-87536BEE1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CEAFDD-A228-457A-8A03-371A417E1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FC323E-2CCB-4FB2-B17B-D69790676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8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8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95th percentile · 95백분위 응답 시간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5F58B6-50E2-4E47-816C-D6AE23C97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FD3071-5BF3-4F39-B2B6-B316BAFA4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668000" cy="352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실습: 20회 정렬 후 ceil(0.95 × 20)번째 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8B198E-A3C1-496E-879A-A236CD660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67479"/>
            <a:ext cx="10668000" cy="352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자료 규모·기기·예열·동시 요청·모델 시간을 분리</a:t>
            </a:r>
          </a:p>
        </p:txBody>
      </p:sp>
    </p:spTree>
    <p:extLst>
      <p:ext uri="{BB962C8B-B14F-4D97-AF65-F5344CB8AC3E}">
        <p14:creationId xmlns:p14="http://schemas.microsoft.com/office/powerpoint/2010/main" val="2047223307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92780C-6800-4DA2-9381-7E59EF310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45E157-F42A-4315-873E-CF4145D38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59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A40CD0-520C-41C2-AD1A-292441CC2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재현 가능한 실험 기록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A2F47B-B872-4F40-9140-DA5060616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153684-2984-4354-B5D6-C894AC553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B54F4E-48BC-4AD2-9035-261DD7DBE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7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자료 해시 + 코드 버전 + 설정 + 질의 세트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DEF977-B472-4B46-BC73-C0B2E1383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BEC69B-6DA5-4AF2-8A9D-D580E4ED1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90925"/>
            <a:ext cx="10668000" cy="352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실행 시점·측정 범위·실패 사례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71E181-1A7F-4550-9CF6-6C62F1309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304"/>
            <a:ext cx="10668000" cy="352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외부 모델 실험은 모델명·입력 제한·예열 상태 추가</a:t>
            </a:r>
          </a:p>
        </p:txBody>
      </p:sp>
    </p:spTree>
    <p:extLst>
      <p:ext uri="{BB962C8B-B14F-4D97-AF65-F5344CB8AC3E}">
        <p14:creationId xmlns:p14="http://schemas.microsoft.com/office/powerpoint/2010/main" val="1486000761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227B5E-708D-4E6A-8FE4-CF3DA76F7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5C1573-CA3A-45A3-96C5-E2DB0CBA4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60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7A8133-33F0-437E-A3A0-89CB7C8AB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설정 선택과 확인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FAFAFD-01A6-40CE-A744-70A4DB0AF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36F8AD-C56C-4EE1-A47A-B8F304349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B57A42-2AD2-428B-8B47-9004FD610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529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선택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E63873-FFC7-41D7-BE29-8ED656495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3348EE-7322-4AB1-99B5-16B4A5E56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개발 질의로 후보 비교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C81547-D1B8-4CB1-A391-CA457BD20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9822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단순한 기준선과 비용도 검토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27E75D-2705-48F9-ABA3-22AE9BB65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76450"/>
            <a:ext cx="529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6DDFB4-E447-4FE5-BB04-87967E7B6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914650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5AE042-FEA0-48E2-AAD6-30745DD57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86125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선택 설정을 새 질의에서 확인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7D33C5-9AF1-4A9F-9753-239EF3B57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09822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확인 뒤 수정하면 새 검증 필요</a:t>
            </a:r>
          </a:p>
        </p:txBody>
      </p:sp>
    </p:spTree>
    <p:extLst>
      <p:ext uri="{BB962C8B-B14F-4D97-AF65-F5344CB8AC3E}">
        <p14:creationId xmlns:p14="http://schemas.microsoft.com/office/powerpoint/2010/main" val="596811265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353A82-038E-4D94-BCFD-DC844B0D3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3206FA-35D7-4628-8261-329DC8FFF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61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A1DDCD-CCB2-458D-B401-AF4624F67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검색 실험실 · 평가 화면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19DB46-D40B-4BB4-9643-4B3DB4527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5CBC2B-B5FD-4927-9CFE-F733A5226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b88ffc77eb4772"/>
          <a:stretch xmlns:a="http://schemas.openxmlformats.org/drawingml/2006/main"/>
        </p:blipFill>
        <p:spPr>
          <a:xfrm xmlns:a="http://schemas.openxmlformats.org/drawingml/2006/main">
            <a:off x="1147564" y="1600200"/>
            <a:ext cx="5020071" cy="36195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EE1C07-DC97-491A-86AB-14F3BC0DC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885950"/>
            <a:ext cx="428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01 · 검색 지표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BDE069-3D8D-4A0C-BB8A-9D4CFCBB6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514600"/>
            <a:ext cx="4286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정답 문서 회수율과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첫 관련 문서의 순위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6F5D6D-77AA-4E3C-8F98-C081BA5CC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562350"/>
            <a:ext cx="4286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90ACAC-4B25-40C1-B763-26A314E2F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848100"/>
            <a:ext cx="428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02 · 답변 보류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AA4D30-0690-4BC1-9081-E61C0B3D6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457700"/>
            <a:ext cx="4286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답이 있는 질의와 없는 질의를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분리해서 확인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C9F0DB-8382-43BA-8E9A-0FE0999BD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6257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7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7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같은 질의로 BM25·TF-IDF·RRF 비교 · 보고서 JSON과 실패 질의 보관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1D4FCB-7191-4931-8A0C-F028861FD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실제 로컬 실행 화면 · 합성 자료 · 규칙 재정렬</a:t>
            </a:r>
          </a:p>
        </p:txBody>
      </p:sp>
    </p:spTree>
    <p:extLst>
      <p:ext uri="{BB962C8B-B14F-4D97-AF65-F5344CB8AC3E}">
        <p14:creationId xmlns:p14="http://schemas.microsoft.com/office/powerpoint/2010/main" val="2025779974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0732AF-2C59-4726-9D38-C217429C6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B97209-5308-4621-9F1E-2FA7E49E1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62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735C2D-10D1-47A1-A280-C042CCCF0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검색 실험실 실행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3DAA5B-99FA-4DDC-8D73-4C31430DF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DB50D9-B2AA-4BAB-B6BC-28504D263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340610-D009-4A7B-B774-036BDE578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122453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7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878B59-A69A-40E0-B950-5D60A6768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86000"/>
            <a:ext cx="10477500" cy="6530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python -m uvicorn week05.lab.search05.main:app \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--host 127.0.0.1 --port 8005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4DC6B1-F2BC-45DA-BD7A-B6991A2C3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브라우저 http://127.0.0.1:8005 · JSON 저장으로 실험 기록 보관</a:t>
            </a:r>
          </a:p>
        </p:txBody>
      </p:sp>
    </p:spTree>
    <p:extLst>
      <p:ext uri="{BB962C8B-B14F-4D97-AF65-F5344CB8AC3E}">
        <p14:creationId xmlns:p14="http://schemas.microsoft.com/office/powerpoint/2010/main" val="1843291245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07B76D-7E7F-468C-BA28-E7C4B9FAE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084911-6106-41A6-8697-4DF93C871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63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C37CF0-D8B3-41F3-A10F-3F4B1F517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실습 04 · API 검증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49A1C2-9A83-4D60-AAB8-FB53CBA26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694F38-BCE0-4515-B053-58585AAB0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E0964D-8C98-48E8-93C8-0CB6978CA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4689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1F7AD9-0783-4743-9E77-0DE8B2797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477500" cy="4263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7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TestClient로 health·검색 요청 확인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FDB1AA-B958-4A07-A8FA-5710F25DA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3789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빈 질문·잘못된 overlap·미허용 role → HTTP 422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F4B379-1B22-43BF-916E-006F6E91E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6536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프로세스 내 테스트와 실제 네트워크 테스트 구분</a:t>
            </a:r>
          </a:p>
        </p:txBody>
      </p:sp>
    </p:spTree>
    <p:extLst>
      <p:ext uri="{BB962C8B-B14F-4D97-AF65-F5344CB8AC3E}">
        <p14:creationId xmlns:p14="http://schemas.microsoft.com/office/powerpoint/2010/main" val="216172338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1BC9FD-E2BA-4CB9-8461-7DB38EFD3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BE9257-69A1-49E0-982A-518966DB8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64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D1FEDC-9D08-443E-8C0F-E9B851416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자기 서비스 자료 적용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57F5DD-F5F7-473C-B0C4-9DBC3B392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D3803A-40A5-4701-A204-86C445042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366889-02D8-48CD-895B-BBAEA3E39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32BC69-D46B-4361-8F55-4B7807C69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21CE03-C26C-4075-BF54-9AB928D62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합성 문서 5개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F8C002-F569-48D9-ABED-D1080AE4B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AAC43A-3D1F-430B-AC0C-FF310E726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00D9A6-3A79-4E60-80EC-8DB7FA78A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정답 질의 10개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17C8F1-B9D9-4802-9C79-EFF128486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13A8C4-361B-4A0E-AB3D-6045A47B3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C26440-3806-4B47-8698-D2E3ED722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실패 분석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3F0019-05A2-4809-B2F6-CF75B0706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307B2B-652A-443B-B9F8-F92C5961B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46DEF0-F0E3-4CC2-ADDF-E2132DB88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기획 요구사항</a:t>
            </a:r>
          </a:p>
        </p:txBody>
      </p:sp>
      <p:cxnSp>
        <p:nvCxnSpPr>
          <p:cNvPr id="39" name=""/>
          <p:cNvCxnSpPr>
            <a:stCxn xmlns:a="http://schemas.openxmlformats.org/drawingml/2006/main" id="6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124200" y="337185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cxnSp>
        <p:nvCxnSpPr>
          <p:cNvPr id="40" name=""/>
          <p:cNvCxnSpPr>
            <a:stCxn xmlns:a="http://schemas.openxmlformats.org/drawingml/2006/main" id="9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5943600" y="337185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cxnSp>
        <p:nvCxnSpPr>
          <p:cNvPr id="41" name=""/>
          <p:cNvCxnSpPr>
            <a:stCxn xmlns:a="http://schemas.openxmlformats.org/drawingml/2006/main" id="12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763000" y="337185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353928-59A1-4C20-8305-89EAB7C92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학생 연락처·실제 내부 자료·API 키를 공개 저장소에 넣지 않음</a:t>
            </a:r>
          </a:p>
        </p:txBody>
      </p:sp>
    </p:spTree>
    <p:extLst>
      <p:ext uri="{BB962C8B-B14F-4D97-AF65-F5344CB8AC3E}">
        <p14:creationId xmlns:p14="http://schemas.microsoft.com/office/powerpoint/2010/main" val="216853979"/>
      </p:ext>
    </p:extLst>
  </p:cSld>
</p:sld>
</file>

<file path=ppt/slides/slide65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8145C7-5043-4BF7-8C85-763857396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7C93AF-2700-4A37-BE9B-86903E1B2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65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24A984-4992-4D35-A00B-266DB7024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글쓰기 개선 서비스 예시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35A28C-EC1B-4051-A333-4832C764F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572826-EBAD-4307-89D0-AE7E6C778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1A9A0B-3FFD-4310-89FD-A21058926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DD90DB-052F-401A-9904-31C076E0A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5780AB-329D-4806-BA81-AE9A9E29B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원문 구조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037EB7-0E91-45C0-9070-5D2570F39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4F79FC-00BD-4778-B58A-7D4710878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84744C-7ADD-4DA7-8128-BFA328AEE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기준별 평가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C0BA1E-2417-425F-A48D-59AAEF143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8EC6E3-B8D8-4AD7-821B-7AD469188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8DC87B-85A5-4502-A793-F5E097349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근거 피드백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155C93-DC71-4CC5-A9B7-72D6C7343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E67BA4-1C2B-4349-8AAA-968C32094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FA85D1-DD92-4617-B3B8-A63181A50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사용자 수정</a:t>
            </a:r>
          </a:p>
        </p:txBody>
      </p:sp>
      <p:cxnSp>
        <p:nvCxnSpPr>
          <p:cNvPr id="39" name=""/>
          <p:cNvCxnSpPr>
            <a:stCxn xmlns:a="http://schemas.openxmlformats.org/drawingml/2006/main" id="6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124200" y="337185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cxnSp>
        <p:nvCxnSpPr>
          <p:cNvPr id="40" name=""/>
          <p:cNvCxnSpPr>
            <a:stCxn xmlns:a="http://schemas.openxmlformats.org/drawingml/2006/main" id="9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5943600" y="337185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cxnSp>
        <p:nvCxnSpPr>
          <p:cNvPr id="41" name=""/>
          <p:cNvCxnSpPr>
            <a:stCxn xmlns:a="http://schemas.openxmlformats.org/drawingml/2006/main" id="12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763000" y="337185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41E219-9529-41F6-8519-B5D1F84C8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서론·본론1·본론2·결론 분리 · 구조·근거·유창성·이해도 별도 평가</a:t>
            </a:r>
          </a:p>
        </p:txBody>
      </p:sp>
    </p:spTree>
    <p:extLst>
      <p:ext uri="{BB962C8B-B14F-4D97-AF65-F5344CB8AC3E}">
        <p14:creationId xmlns:p14="http://schemas.microsoft.com/office/powerpoint/2010/main" val="1274742935"/>
      </p:ext>
    </p:extLst>
  </p:cSld>
</p:sld>
</file>

<file path=ppt/slides/slide66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8BF730-A2E8-4532-8C00-20CD6FE6B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1FC87A-E38C-4893-AC1D-CADD0537C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66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DCC539-0F79-4B4C-A65E-BEBD1F5E9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글쓰기 평가 기준의 분리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DB35FE-626F-49A5-91E6-46ADFD91F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DFE718-369A-4F64-A3EE-DAB1548BB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239522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7734300"/>
              </a:tblGrid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평가 항목</a:t>
                      </a:r>
                    </a:p>
                  </a:txBody>
                  <a:tcPr marL="91440" marR="91440" marT="45720" marB="45720" anchor="ctr">
                    <a:solidFill>
                      <a:srgbClr val="102747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검토</a:t>
                      </a:r>
                    </a:p>
                  </a:txBody>
                  <a:tcPr marL="91440" marR="91440" marT="45720" marB="45720" anchor="ctr">
                    <a:solidFill>
                      <a:srgbClr val="102747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구조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서론·본론1·본론2·결론의 역할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논증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주장1·2 각각의 근거·연결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유창성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문장 연결·표현 명료성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이해도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주제·주장·근거 관계 설명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65889520"/>
      </p:ext>
    </p:extLst>
  </p:cSld>
</p:sld>
</file>

<file path=ppt/slides/slide67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BB69359-F592-455B-A6AF-A0D9A6E40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F2C0EF-3742-4185-85BB-AFB5F95F7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67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8DB0BF-C963-4C5C-AB7C-3B395387A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근거 있는 개선 피드백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817E41-BE13-4164-92AB-1FA907A29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208028-0316-4808-A28C-F99A343A9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B36CAA-7297-4685-BF57-57AD6A0A8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3C9137-858D-4398-BAEA-0709055BA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7ABE9A-1E29-4DBB-A652-719CB9BB7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기준 ID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8815FB-0287-4E3E-B812-78FE179DC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48A1CE-1381-45EA-87FF-BFFBC0C73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3DE977-AC99-43C9-85A4-607EE20E4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원문 구간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D318D0-2696-46D8-8A9A-18D31234C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EF01A6-0F9A-4A21-8987-F4B026F3D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D4E11A-066B-4C41-B091-B77ACB41F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구체적 문제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BE14C2-529E-4244-AB3C-08E7CBD99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F75E31-B067-4542-8CF5-3B4611E36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1E6B47-78F8-4242-A71C-D7833253C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수정 제안</a:t>
            </a:r>
          </a:p>
        </p:txBody>
      </p:sp>
      <p:cxnSp>
        <p:nvCxnSpPr>
          <p:cNvPr id="39" name=""/>
          <p:cNvCxnSpPr>
            <a:stCxn xmlns:a="http://schemas.openxmlformats.org/drawingml/2006/main" id="6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124200" y="337185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cxnSp>
        <p:nvCxnSpPr>
          <p:cNvPr id="40" name=""/>
          <p:cNvCxnSpPr>
            <a:stCxn xmlns:a="http://schemas.openxmlformats.org/drawingml/2006/main" id="9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5943600" y="337185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cxnSp>
        <p:nvCxnSpPr>
          <p:cNvPr id="41" name=""/>
          <p:cNvCxnSpPr>
            <a:stCxn xmlns:a="http://schemas.openxmlformats.org/drawingml/2006/main" id="12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763000" y="337185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41F35B-4309-4B1B-8718-08FB5A686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키워드 유무만으로 이해도를 자동 판정하지 않음 · 사람의 검토·수정 경로</a:t>
            </a:r>
          </a:p>
        </p:txBody>
      </p:sp>
    </p:spTree>
    <p:extLst>
      <p:ext uri="{BB962C8B-B14F-4D97-AF65-F5344CB8AC3E}">
        <p14:creationId xmlns:p14="http://schemas.microsoft.com/office/powerpoint/2010/main" val="193890303"/>
      </p:ext>
    </p:extLst>
  </p:cSld>
</p:sld>
</file>

<file path=ppt/slides/slide68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9B0EF3-095F-44CF-BF7B-15D44A073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6E3B90-1A5A-4C7F-9659-7CB16616C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68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0532DA-B99A-4624-8ED1-A4D2323B0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8주차 기획서 제출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E06487-557B-4D8B-8F6E-B802F6BB5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2A0026-12BB-412D-9631-ED3AFA781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239522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7734300"/>
              </a:tblGrid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구분</a:t>
                      </a:r>
                    </a:p>
                  </a:txBody>
                  <a:tcPr marL="91440" marR="91440" marT="45720" marB="45720" anchor="ctr">
                    <a:solidFill>
                      <a:srgbClr val="102747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구성·제출</a:t>
                      </a:r>
                    </a:p>
                  </a:txBody>
                  <a:tcPr marL="91440" marR="91440" marT="45720" marB="45720" anchor="ctr">
                    <a:solidFill>
                      <a:srgbClr val="102747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아주대AI대학원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2–4인 자율 팀 · 팀 지원 URL 등록 · LMS 제출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군산대·국립창원대 등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개인 기획서 · 이메일 제출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공통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10.23 온라인 제출·평가 · 실시간 수업·중간고사 없음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형식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HTML·Word·PDF·PPT 자유 · 열리는 링크·파일 확인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12010147"/>
      </p:ext>
    </p:extLst>
  </p:cSld>
</p:sld>
</file>

<file path=ppt/slides/slide69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7451EB7-052B-4072-B238-392B8B0A3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E8BA70-3BD3-4B2E-A644-A2927753B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69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929E0D-2D76-4C3B-905F-35CEE509B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기획서 제출 구성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F1A27E-932D-46A2-B242-968553C63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803507-365E-4630-A66F-5407B9291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20696E-161A-4487-95C6-AAE5D4D2C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3344B3-0B89-4C24-B097-01BB67CD2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62827C-53A1-4175-8262-61ACCD2FC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제안 요약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7AD9DC-37B0-48D0-95C0-BB0EA24FC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6E87C5-E205-4CAA-B713-B8C1ACEF2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916AE6-610B-4524-A0DE-8C46CB5A4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요구사항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8421F6-DAEC-4466-94DC-4870214AE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C68588-1513-4C47-A06B-095FC8156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4B97D5-5E19-4613-8193-2A142BD5E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화면 시안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FEBDF3-813D-4B95-98BC-43AF08149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3A91D8-B762-473A-8110-1580CF1D6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22ECAA-7488-434F-A03C-A670407AD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데모·근거</a:t>
            </a:r>
          </a:p>
        </p:txBody>
      </p:sp>
      <p:cxnSp>
        <p:nvCxnSpPr>
          <p:cNvPr id="39" name=""/>
          <p:cNvCxnSpPr>
            <a:stCxn xmlns:a="http://schemas.openxmlformats.org/drawingml/2006/main" id="6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124200" y="337185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cxnSp>
        <p:nvCxnSpPr>
          <p:cNvPr id="40" name=""/>
          <p:cNvCxnSpPr>
            <a:stCxn xmlns:a="http://schemas.openxmlformats.org/drawingml/2006/main" id="9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5943600" y="337185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cxnSp>
        <p:nvCxnSpPr>
          <p:cNvPr id="41" name=""/>
          <p:cNvCxnSpPr>
            <a:stCxn xmlns:a="http://schemas.openxmlformats.org/drawingml/2006/main" id="12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763000" y="337185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661EF7-BF42-45CA-969C-F613A2818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형식은 자유 · 시안·영상은 선택 · 중복 제출과 유료 도구 사용 불필요</a:t>
            </a:r>
          </a:p>
        </p:txBody>
      </p:sp>
    </p:spTree>
    <p:extLst>
      <p:ext uri="{BB962C8B-B14F-4D97-AF65-F5344CB8AC3E}">
        <p14:creationId xmlns:p14="http://schemas.microsoft.com/office/powerpoint/2010/main" val="32595928"/>
      </p:ext>
    </p:extLst>
  </p:cSld>
</p:sld>
</file>

<file path=ppt/slides/slide70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E48336-C80D-4C57-8522-1088E312F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083B00-1F91-4E6B-8257-1A28D58DB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70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DBAB1D-56F7-4512-96C4-9059CADD2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세 관점의 피드백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2A719B-E599-486D-A439-2A5CCB65D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30BF60-D906-41DE-B03F-9913CB989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1916176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7734300"/>
              </a:tblGrid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관점</a:t>
                      </a:r>
                    </a:p>
                  </a:txBody>
                  <a:tcPr marL="91440" marR="91440" marT="45720" marB="45720" anchor="ctr">
                    <a:solidFill>
                      <a:srgbClr val="102747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검토 질문</a:t>
                      </a:r>
                    </a:p>
                  </a:txBody>
                  <a:tcPr marL="91440" marR="91440" marT="45720" marB="45720" anchor="ctr">
                    <a:solidFill>
                      <a:srgbClr val="102747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대표·사업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누구의 어떤 문제인가 · 대안 대비 가치가 있는가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UX 디자이너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사용 흐름이 이해되는가 · 실패·보류·수정이 가능한가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개발자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데이터·권한·구현 범위·평가·운영이 가능한가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67F99B-10FC-4022-B00E-A88782B85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UX · User Experience · 사용자 경험</a:t>
            </a:r>
          </a:p>
        </p:txBody>
      </p:sp>
    </p:spTree>
    <p:extLst>
      <p:ext uri="{BB962C8B-B14F-4D97-AF65-F5344CB8AC3E}">
        <p14:creationId xmlns:p14="http://schemas.microsoft.com/office/powerpoint/2010/main" val="387328481"/>
      </p:ext>
    </p:extLst>
  </p:cSld>
</p:sld>
</file>

<file path=ppt/slides/slide71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1F6BD3-16EC-46AD-9328-98924A687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BB0487-F2A5-4C12-A904-2C1C246EF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71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E08F6C-EF35-4F87-B2C2-D4331B8C5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프로젝트 아이디어 예시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9BF628-5226-48BD-A04E-56A9ACCB5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3927EF-4180-4194-9E14-34E73FEFD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DE045D-F07D-4CFA-A51B-AF8E34FF8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5238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7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글쓰기 코치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311C57-A46A-44A8-AAD5-7ECFA11DB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71775"/>
            <a:ext cx="5257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10CD11-249E-421F-83EF-27EADB9D4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5238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구조·논증·피드백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3FEEB7-4366-4C03-8C32-B15747AAD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81200"/>
            <a:ext cx="5238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7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업무 지식 검색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8FB3C6-1361-499F-9A33-0ACC2EBD1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71775"/>
            <a:ext cx="5257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1C5761-32BB-423D-AA5D-B78AC4E93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048000"/>
            <a:ext cx="5238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버전·출처·보류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F410E2-C8F1-4946-B804-62FAB6B95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5238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7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개발 지원 Agent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66EE7F-0C31-4696-9559-311F9D06E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5257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89EDCE-6809-4B54-AB74-0FB6C12F1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91100"/>
            <a:ext cx="5238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도구 권한·실행 승인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509BFC-311E-4799-B9BC-CF944B4B3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24300"/>
            <a:ext cx="5238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7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리서치 보조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D569F0-7BA5-47CB-984B-D9D5D4131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714875"/>
            <a:ext cx="5257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AF67EA-6B4F-4B89-AD6D-D4FC99A58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991100"/>
            <a:ext cx="5238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원출처·근거 비교</a:t>
            </a:r>
          </a:p>
        </p:txBody>
      </p:sp>
    </p:spTree>
    <p:extLst>
      <p:ext uri="{BB962C8B-B14F-4D97-AF65-F5344CB8AC3E}">
        <p14:creationId xmlns:p14="http://schemas.microsoft.com/office/powerpoint/2010/main" val="1510555801"/>
      </p:ext>
    </p:extLst>
  </p:cSld>
</p:sld>
</file>

<file path=ppt/slides/slide72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350059-A142-457B-A681-68A7FA8C3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FB4F8D-337A-43B0-82BD-72D4EEF5E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72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30D042-4DFB-4F0D-8994-5DED2501D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리서치와 프로토타입 도구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587254-B215-4D1D-8A23-6FA658C10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3DC112-2B86-4E25-A981-13AF69D79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239522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7734300"/>
              </a:tblGrid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목적</a:t>
                      </a:r>
                    </a:p>
                  </a:txBody>
                  <a:tcPr marL="91440" marR="91440" marT="45720" marB="45720" anchor="ctr">
                    <a:solidFill>
                      <a:srgbClr val="102747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선택 도구·확인</a:t>
                      </a:r>
                    </a:p>
                  </a:txBody>
                  <a:tcPr marL="91440" marR="91440" marT="45720" marB="45720" anchor="ctr">
                    <a:solidFill>
                      <a:srgbClr val="102747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자료 조사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Gemini Deep Research · 원출처 재확인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코드·시안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Codex / Claude Code · 실제 실행·오류 확인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디자인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Figma 또는 HTML · 핵심 흐름과 실패 상태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데모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60–120초 권장 · 합성 자료·동작 범위 명시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62687244"/>
      </p:ext>
    </p:extLst>
  </p:cSld>
</p:sld>
</file>

<file path=ppt/slides/slide73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5E06D4-AF28-40E9-8660-EE20478CE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D548D7-CE62-48FC-B80D-6E367B2C0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73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4AAE05-D095-471F-8428-E6527F81D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과제 02 피드백 기준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610E7E-340C-4539-9094-2B0CE2BF4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CE7F2D-7499-4173-AE34-70D2BF31D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2A8ACF-5F7C-46FB-8857-E36CBA41A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C1DB14-CDAE-4EFA-8B52-32CC924F4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771650"/>
            <a:ext cx="3000375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재현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4344CC-6297-4C68-919A-0AEE3677A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71650"/>
            <a:ext cx="67818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Notebook Restart 후 Run All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A9D09D-D112-4DD5-8812-2EC9BD6ED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223897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E4A44C-1CC7-4012-9717-0FF2C9B44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4872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A3DFC3-C870-44E4-ABE2-AFEC153E3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385822"/>
            <a:ext cx="3000375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분석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DE0507-8775-4CBE-95AD-F692C030F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385822"/>
            <a:ext cx="67818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개선·악화·보류 사례 설명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324D46-A100-4A2B-943F-2571A40A5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838069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C673CF-52C7-4C6F-8D8A-F0EA77E5C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19044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36672E-9974-4846-A4A5-0EFC5CDE8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999994"/>
            <a:ext cx="3000375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연결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8D3973-1B94-4994-BA5D-E0969D450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999994"/>
            <a:ext cx="67818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평가 조건과 PRD 요구사항 일치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3138AC-2806-42B6-AD6B-6341BEB91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45224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235409470"/>
      </p:ext>
    </p:extLst>
  </p:cSld>
</p:sld>
</file>

<file path=ppt/slides/slide74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012CB3-7B9A-4C69-8BE7-9C52DCAB7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F09AB9-5C95-4D95-B149-9FC59B3CB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74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A54AB9-6930-4B17-875E-B01080D65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6주차 연결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FF64E5-AA60-4BAE-80EF-73830AA67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6C4FE2-6E50-4DE4-B34B-F73AA8E64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057596-084F-4C88-AD34-52C4B246D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572750" cy="4705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0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데이터 설계와 모델 개선의 선택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F4B511-4AC7-40FE-B784-D44376CE7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10572750" cy="352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10.09 한글날 · 실시간 강의 대신 녹화영상 업로드</a:t>
            </a:r>
          </a:p>
        </p:txBody>
      </p:sp>
    </p:spTree>
    <p:extLst>
      <p:ext uri="{BB962C8B-B14F-4D97-AF65-F5344CB8AC3E}">
        <p14:creationId xmlns:p14="http://schemas.microsoft.com/office/powerpoint/2010/main" val="1910142568"/>
      </p:ext>
    </p:extLst>
  </p:cSld>
</p:sld>
</file>

<file path=ppt/slides/slide75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76A035-288D-4C13-9E10-9B0757DDC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8971C3-98D0-4988-AC72-AA430A57C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75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0C98B3-05DF-4AEE-B76E-E6B4110E5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참고 자료와 실행 위치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7E55EF-1DA5-49D6-A1F2-3094AF72B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97663F-16E2-4218-BB89-DD1E0312A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비교 · 순위 결합 · 실패 질의 · 실험 기록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A2C0D1-E061-46FC-B2B9-82CFCD6F8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4689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6C8547-50CA-4965-82D6-A72C6328C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477500" cy="4263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7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Stanford IR · RRF 원 논문 · Ollama 공식 문서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559940-3D0C-4FC2-9070-7E59EF0AD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3789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week05/lab/notebooks · week05/lab/README.md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3438DC-8D8D-4AA3-A1EB-03F7E3D6E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6536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과제 02 · 8주차 기획서 HTML</a:t>
            </a:r>
          </a:p>
        </p:txBody>
      </p:sp>
    </p:spTree>
    <p:extLst>
      <p:ext uri="{BB962C8B-B14F-4D97-AF65-F5344CB8AC3E}">
        <p14:creationId xmlns:p14="http://schemas.microsoft.com/office/powerpoint/2010/main" val="1731740465"/>
      </p:ext>
    </p:extLst>
  </p:cSld>
</p:sld>
</file>

<file path=ppt/theme/theme1.xml><?xml version="1.0" encoding="utf-8"?>
<a:theme xmlns:a="http://schemas.openxmlformats.org/drawingml/2006/main" name="ChatGPT">
  <a:themeElements>
    <a:clrScheme name="BLACK WHITE BLUE">
      <a:dk1>
        <a:srgbClr val="08090B"/>
      </a:dk1>
      <a:lt1>
        <a:srgbClr val="FFFFFF"/>
      </a:lt1>
      <a:dk2>
        <a:srgbClr val="102747"/>
      </a:dk2>
      <a:lt2>
        <a:srgbClr val="F6F7F9"/>
      </a:lt2>
      <a:accent1>
        <a:srgbClr val="2563EB"/>
      </a:accent1>
      <a:accent2>
        <a:srgbClr val="102747"/>
      </a:accent2>
      <a:accent3>
        <a:srgbClr val="536174"/>
      </a:accent3>
      <a:accent4>
        <a:srgbClr val="E8F0FF"/>
      </a:accent4>
      <a:accent5>
        <a:srgbClr val="151719"/>
      </a:accent5>
      <a:accent6>
        <a:srgbClr val="D4DAE3"/>
      </a:accent6>
      <a:hlink>
        <a:srgbClr val="2563EB"/>
      </a:hlink>
      <a:folHlink>
        <a:srgbClr val="102747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BLACK WHITE BLU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2026-09-29T15:44:28.1950000Z</dcterms:created>
  <dcterms:modified xsi:type="dcterms:W3CDTF">2026-09-29T15:44:28.1950000Z</dcterms:modified>
</coreProperties>
</file>